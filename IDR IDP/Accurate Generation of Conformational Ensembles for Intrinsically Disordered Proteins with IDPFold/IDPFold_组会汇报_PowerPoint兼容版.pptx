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SCIENCE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6132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0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Accurate Generation of Conformational Ensembles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20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Intrinsically Disordered Proteins with IDPFold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0" y="21488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Junjie Zhu et al.  ·  Advanced Science  ·  2025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97280" y="2743200"/>
            <a:ext cx="9966960" cy="0"/>
          </a:xfrm>
          <a:prstGeom prst="line">
            <a:avLst/>
          </a:prstGeom>
          <a:noFill/>
          <a:ln w="12700">
            <a:solidFill>
              <a:srgbClr val="D7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3063240"/>
            <a:ext cx="978408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从单条氨基酸序列直接生成内在无序蛋白构象系综：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ESM2序列表征 + SE(3)等变几何扩散 + 主链框架去噪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97280" y="4160520"/>
            <a:ext cx="9966960" cy="0"/>
          </a:xfrm>
          <a:prstGeom prst="line">
            <a:avLst/>
          </a:prstGeom>
          <a:noFill/>
          <a:ln w="12700">
            <a:solidFill>
              <a:srgbClr val="D7E0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5029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汇报人：李叶霖    时间：2026.09.20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94560" y="58064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50" kern="0" dirty="0">
                <a:solidFill>
                  <a:srgbClr val="A5AA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U A Z H O N G   A G R I C U L T U R A L   U N I V E R S I T 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研究问题与现有方法的不足</a:t>
            </a:r>
            <a:endParaRPr lang="en-US" sz="2400" dirty="0"/>
          </a:p>
        </p:txBody>
      </p:sp>
      <p:pic>
        <p:nvPicPr>
          <p:cNvPr id="5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58368" y="841248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AF4EE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891540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1261872"/>
            <a:ext cx="106070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9550" indent="-209550">
              <a:buSzPct val="100000"/>
              <a:buChar char="•"/>
            </a:pPr>
            <a:r>
              <a:rPr lang="en-US" sz="165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IDP/IDR不存在唯一稳定结构，功能来自整个构象分布，而不是单一“最优结构”。</a:t>
            </a:r>
            <a:endParaRPr lang="en-US" sz="1650" dirty="0"/>
          </a:p>
          <a:p>
            <a:pPr marL="209550" indent="-209550">
              <a:buSzPct val="100000"/>
              <a:buChar char="•"/>
            </a:pPr>
            <a:r>
              <a:rPr lang="en-US" sz="165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评价对象应从一个坐标文件转向 p(X | sequence)：尺寸、接触、局部二级结构及实验平均量。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658368" y="2578608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EAF4EE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2628900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现有方法的不足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77240" y="306324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6FAF7"/>
          </a:solidFill>
          <a:ln w="12700">
            <a:solidFill>
              <a:srgbClr val="B9D2C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23544" y="32461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全原子MD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960120" y="3675888"/>
            <a:ext cx="297180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局部细节充分，但长时间采样昂贵，结果受力场和收敛影响。</a:t>
            </a:r>
            <a:endParaRPr lang="en-US" sz="1320" dirty="0"/>
          </a:p>
        </p:txBody>
      </p:sp>
      <p:sp>
        <p:nvSpPr>
          <p:cNvPr id="17" name="Shape 14"/>
          <p:cNvSpPr/>
          <p:nvPr/>
        </p:nvSpPr>
        <p:spPr>
          <a:xfrm>
            <a:off x="4507992" y="306324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6FAF7"/>
          </a:solidFill>
          <a:ln w="12700">
            <a:solidFill>
              <a:srgbClr val="B9D2C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54296" y="32461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粗粒化MD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4690872" y="3675888"/>
            <a:ext cx="297180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可覆盖整体尺寸与相行为，但局部主链和侧链细节有限。</a:t>
            </a:r>
            <a:endParaRPr lang="en-US" sz="1320" dirty="0"/>
          </a:p>
        </p:txBody>
      </p:sp>
      <p:sp>
        <p:nvSpPr>
          <p:cNvPr id="20" name="Shape 17"/>
          <p:cNvSpPr/>
          <p:nvPr/>
        </p:nvSpPr>
        <p:spPr>
          <a:xfrm>
            <a:off x="8238744" y="306324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7EEF0"/>
          </a:solidFill>
          <a:ln w="12700">
            <a:solidFill>
              <a:srgbClr val="D9A2A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85048" y="32461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单结构预测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421624" y="3675888"/>
            <a:ext cx="297180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AlphaFold类模型给出单个构象，不能代表IDP的宽分布。</a:t>
            </a:r>
            <a:endParaRPr lang="en-US" sz="1320" dirty="0"/>
          </a:p>
        </p:txBody>
      </p:sp>
      <p:sp>
        <p:nvSpPr>
          <p:cNvPr id="23" name="Shape 20"/>
          <p:cNvSpPr/>
          <p:nvPr/>
        </p:nvSpPr>
        <p:spPr>
          <a:xfrm>
            <a:off x="1005840" y="4983480"/>
            <a:ext cx="10149840" cy="777240"/>
          </a:xfrm>
          <a:prstGeom prst="roundRect">
            <a:avLst>
              <a:gd name="adj" fmla="val 7059"/>
            </a:avLst>
          </a:prstGeom>
          <a:solidFill>
            <a:srgbClr val="EAF4EE"/>
          </a:solidFill>
          <a:ln w="19050">
            <a:solidFill>
              <a:srgbClr val="007A3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234440" y="5202936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核心问题：能否只输入氨基酸序列，快速生成兼顾全局尺寸与局部主链细节的 IDP 构象系综？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核心思路与创新点</a:t>
            </a:r>
            <a:endParaRPr lang="en-US" sz="2400" dirty="0"/>
          </a:p>
        </p:txBody>
      </p:sp>
      <p:pic>
        <p:nvPicPr>
          <p:cNvPr id="5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30352" y="114300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5240">
            <a:solidFill>
              <a:srgbClr val="CCD6D0"/>
            </a:solidFill>
            <a:prstDash val="solid"/>
          </a:ln>
          <a:effectLst>
            <a:outerShdw sx="100000" sy="100000" kx="0" ky="0" algn="bl" rotWithShape="0" blurRad="12700" dist="50800" dir="2700000">
              <a:srgbClr val="B8C0BB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30352" y="1143000"/>
            <a:ext cx="3566160" cy="530352"/>
          </a:xfrm>
          <a:prstGeom prst="rect">
            <a:avLst/>
          </a:prstGeom>
          <a:solidFill>
            <a:srgbClr val="2E6FA3"/>
          </a:solidFill>
          <a:ln w="12700">
            <a:solidFill>
              <a:srgbClr val="2E6FA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1280160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 Sequence-to-ensemble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04672" y="2029968"/>
            <a:ext cx="301752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ESM2-650M提取单序列上下文；条件扩散从随机主链框架反复采样，输出多个构象。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786384" y="3840480"/>
            <a:ext cx="30540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6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→ p(X|s)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416552" y="114300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5240">
            <a:solidFill>
              <a:srgbClr val="CCD6D0"/>
            </a:solidFill>
            <a:prstDash val="solid"/>
          </a:ln>
          <a:effectLst>
            <a:outerShdw sx="100000" sy="100000" kx="0" ky="0" algn="bl" rotWithShape="0" blurRad="12700" dist="50800" dir="2700000">
              <a:srgbClr val="B8C0BB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416552" y="1143000"/>
            <a:ext cx="3566160" cy="530352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26280" y="1280160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 两阶段训练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690872" y="2029968"/>
            <a:ext cx="301752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先用实验折叠结构学习合法主链几何，再用IDP模拟系综微调分布。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4672584" y="3840480"/>
            <a:ext cx="30540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8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folded geometry → IDP ensemble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302752" y="114300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5240">
            <a:solidFill>
              <a:srgbClr val="CCD6D0"/>
            </a:solidFill>
            <a:prstDash val="solid"/>
          </a:ln>
          <a:effectLst>
            <a:outerShdw sx="100000" sy="100000" kx="0" ky="0" algn="bl" rotWithShape="0" blurRad="12700" dist="50800" dir="2700000">
              <a:srgbClr val="B8C0BB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302752" y="1143000"/>
            <a:ext cx="3566160" cy="530352"/>
          </a:xfrm>
          <a:prstGeom prst="rect">
            <a:avLst/>
          </a:prstGeom>
          <a:solidFill>
            <a:srgbClr val="7357A6"/>
          </a:solidFill>
          <a:ln w="12700">
            <a:solidFill>
              <a:srgbClr val="7357A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12480" y="1280160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 全局与局部兼顾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577072" y="2029968"/>
            <a:ext cx="301752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同时检查 Rg、构象分布、二级结构、化学位移和J-coupling，而非只匹配平均尺寸。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8558784" y="3840480"/>
            <a:ext cx="30540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35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size + local structure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1097280" y="4983480"/>
            <a:ext cx="9966960" cy="713232"/>
          </a:xfrm>
          <a:prstGeom prst="roundRect">
            <a:avLst>
              <a:gd name="adj" fmla="val 6410"/>
            </a:avLst>
          </a:prstGeom>
          <a:solidFill>
            <a:srgbClr val="F6FAF7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325880" y="518464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与STARLING的侧重点不同：IDPFold更强调原子级主链几何与局部实验观测；代价是采样速度明显慢于秒级生成模型。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Method：IDPFold整体框架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76656" y="530352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单序列条件下的SE(3)扩散生成</a:t>
            </a:r>
            <a:endParaRPr lang="en-US" sz="1050" dirty="0"/>
          </a:p>
        </p:txBody>
      </p:sp>
      <p:pic>
        <p:nvPicPr>
          <p:cNvPr id="6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pic>
        <p:nvPicPr>
          <p:cNvPr id="10" name="Image 1" descr="E:\Obsidian\paper\论文\IDR IDP\Accurate Generation of Conformational Ensembles for Intrinsically Disordered Proteins with IDPFold\Figures\Figure 1 IDPFold模型架构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841248"/>
            <a:ext cx="10972800" cy="44348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22960" y="5349240"/>
            <a:ext cx="10561320" cy="658368"/>
          </a:xfrm>
          <a:prstGeom prst="roundRect">
            <a:avLst>
              <a:gd name="adj" fmla="val 6944"/>
            </a:avLst>
          </a:prstGeom>
          <a:solidFill>
            <a:srgbClr val="F6FAF7"/>
          </a:solidFill>
          <a:ln w="12700">
            <a:solidFill>
              <a:srgbClr val="B7CCB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051560" y="5541264"/>
            <a:ext cx="10104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输入序列 → ESM2特征 → 初始化 s₀、z₀ 与带噪框架 Tₜ → 4个Denoising Blocks → 预测干净主链；重复随机采样得到ensemble</a:t>
            </a:r>
            <a:endParaRPr lang="en-US" sz="15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Method：Denoising Block的数据流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76656" y="530352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同一扩散时刻t内，4个网络层逐步精修表示与框架</a:t>
            </a:r>
            <a:endParaRPr lang="en-US" sz="1050" dirty="0"/>
          </a:p>
        </p:txBody>
      </p:sp>
      <p:pic>
        <p:nvPicPr>
          <p:cNvPr id="6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40080" y="1234440"/>
            <a:ext cx="19659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25400">
            <a:solidFill>
              <a:srgbClr val="D982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952" y="13441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982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sₗ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307592" y="1344168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残基特征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L × 256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640080" y="2423160"/>
            <a:ext cx="19659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25400">
            <a:solidFill>
              <a:srgbClr val="7357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8952" y="25328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7357A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zₗ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307592" y="2532888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残基对特征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L × L × 128</a:t>
            </a:r>
            <a:endParaRPr lang="en-US" sz="1220" dirty="0"/>
          </a:p>
        </p:txBody>
      </p:sp>
      <p:sp>
        <p:nvSpPr>
          <p:cNvPr id="16" name="Shape 13"/>
          <p:cNvSpPr/>
          <p:nvPr/>
        </p:nvSpPr>
        <p:spPr>
          <a:xfrm>
            <a:off x="640080" y="3611880"/>
            <a:ext cx="19659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25400">
            <a:solidFill>
              <a:srgbClr val="2E6FA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8952" y="37216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6FA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Tₜ⁽ˡ⁾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1307592" y="3721608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位置 + 朝向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刚体框架</a:t>
            </a:r>
            <a:endParaRPr lang="en-US" sz="1220" dirty="0"/>
          </a:p>
        </p:txBody>
      </p:sp>
      <p:sp>
        <p:nvSpPr>
          <p:cNvPr id="19" name="Shape 16"/>
          <p:cNvSpPr/>
          <p:nvPr/>
        </p:nvSpPr>
        <p:spPr>
          <a:xfrm>
            <a:off x="3063240" y="2084832"/>
            <a:ext cx="1234440" cy="713232"/>
          </a:xfrm>
          <a:prstGeom prst="roundRect">
            <a:avLst>
              <a:gd name="adj" fmla="val 6410"/>
            </a:avLst>
          </a:prstGeom>
          <a:solidFill>
            <a:srgbClr val="F7F8F7"/>
          </a:solidFill>
          <a:ln w="19050">
            <a:solidFill>
              <a:srgbClr val="2E6FA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136392" y="2240280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rPr>
              <a:t>IPA</a:t>
            </a:r>
            <a:endParaRPr lang="en-US" sz="1320" dirty="0"/>
          </a:p>
        </p:txBody>
      </p:sp>
      <p:sp>
        <p:nvSpPr>
          <p:cNvPr id="21" name="Shape 18"/>
          <p:cNvSpPr/>
          <p:nvPr/>
        </p:nvSpPr>
        <p:spPr>
          <a:xfrm>
            <a:off x="4325112" y="2276856"/>
            <a:ext cx="274320" cy="310896"/>
          </a:xfrm>
          <a:prstGeom prst="chevron">
            <a:avLst/>
          </a:prstGeom>
          <a:solidFill>
            <a:srgbClr val="A8B3AC"/>
          </a:solidFill>
          <a:ln w="12700">
            <a:solidFill>
              <a:srgbClr val="A8B3A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63440" y="2084832"/>
            <a:ext cx="1234440" cy="713232"/>
          </a:xfrm>
          <a:prstGeom prst="roundRect">
            <a:avLst>
              <a:gd name="adj" fmla="val 6410"/>
            </a:avLst>
          </a:prstGeom>
          <a:solidFill>
            <a:srgbClr val="F7F8F7"/>
          </a:solidFill>
          <a:ln w="19050">
            <a:solidFill>
              <a:srgbClr val="5F666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36592" y="2240280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残差 +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LayerNorm</a:t>
            </a:r>
            <a:endParaRPr lang="en-US" sz="1320" dirty="0"/>
          </a:p>
        </p:txBody>
      </p:sp>
      <p:sp>
        <p:nvSpPr>
          <p:cNvPr id="24" name="Shape 21"/>
          <p:cNvSpPr/>
          <p:nvPr/>
        </p:nvSpPr>
        <p:spPr>
          <a:xfrm>
            <a:off x="5925312" y="2276856"/>
            <a:ext cx="274320" cy="310896"/>
          </a:xfrm>
          <a:prstGeom prst="chevron">
            <a:avLst/>
          </a:prstGeom>
          <a:solidFill>
            <a:srgbClr val="A8B3AC"/>
          </a:solidFill>
          <a:ln w="12700">
            <a:solidFill>
              <a:srgbClr val="A8B3A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263640" y="2084832"/>
            <a:ext cx="1234440" cy="713232"/>
          </a:xfrm>
          <a:prstGeom prst="roundRect">
            <a:avLst>
              <a:gd name="adj" fmla="val 6410"/>
            </a:avLst>
          </a:prstGeom>
          <a:solidFill>
            <a:srgbClr val="F7F8F7"/>
          </a:solidFill>
          <a:ln w="19050">
            <a:solidFill>
              <a:srgbClr val="7357A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36792" y="2240280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7357A6"/>
                </a:solidFill>
                <a:latin typeface="Microsoft YaHei"/>
                <a:ea typeface="Microsoft YaHei"/>
                <a:cs typeface="Microsoft YaHei"/>
              </a:rPr>
              <a:t>Transformer</a:t>
            </a:r>
            <a:endParaRPr lang="en-US" sz="1320" dirty="0"/>
          </a:p>
        </p:txBody>
      </p:sp>
      <p:sp>
        <p:nvSpPr>
          <p:cNvPr id="27" name="Shape 24"/>
          <p:cNvSpPr/>
          <p:nvPr/>
        </p:nvSpPr>
        <p:spPr>
          <a:xfrm>
            <a:off x="7525512" y="2276856"/>
            <a:ext cx="274320" cy="310896"/>
          </a:xfrm>
          <a:prstGeom prst="chevron">
            <a:avLst/>
          </a:prstGeom>
          <a:solidFill>
            <a:srgbClr val="A8B3AC"/>
          </a:solidFill>
          <a:ln w="12700">
            <a:solidFill>
              <a:srgbClr val="A8B3A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863840" y="2084832"/>
            <a:ext cx="1234440" cy="713232"/>
          </a:xfrm>
          <a:prstGeom prst="roundRect">
            <a:avLst>
              <a:gd name="adj" fmla="val 6410"/>
            </a:avLst>
          </a:prstGeom>
          <a:solidFill>
            <a:srgbClr val="F7F8F7"/>
          </a:solidFill>
          <a:ln w="19050">
            <a:solidFill>
              <a:srgbClr val="D9822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2240280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Node MLP</a:t>
            </a:r>
            <a:endParaRPr lang="en-US" sz="1320" dirty="0"/>
          </a:p>
        </p:txBody>
      </p:sp>
      <p:sp>
        <p:nvSpPr>
          <p:cNvPr id="30" name="Shape 27"/>
          <p:cNvSpPr/>
          <p:nvPr/>
        </p:nvSpPr>
        <p:spPr>
          <a:xfrm>
            <a:off x="9125712" y="2276856"/>
            <a:ext cx="274320" cy="310896"/>
          </a:xfrm>
          <a:prstGeom prst="chevron">
            <a:avLst/>
          </a:prstGeom>
          <a:solidFill>
            <a:srgbClr val="A8B3AC"/>
          </a:solidFill>
          <a:ln w="12700">
            <a:solidFill>
              <a:srgbClr val="A8B3A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464040" y="2084832"/>
            <a:ext cx="1234440" cy="713232"/>
          </a:xfrm>
          <a:prstGeom prst="roundRect">
            <a:avLst>
              <a:gd name="adj" fmla="val 6410"/>
            </a:avLst>
          </a:prstGeom>
          <a:solidFill>
            <a:srgbClr val="E8F4EC"/>
          </a:solidFill>
          <a:ln w="19050">
            <a:solidFill>
              <a:srgbClr val="007A3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537192" y="2240280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Frame Update</a:t>
            </a:r>
            <a:endParaRPr lang="en-US" sz="1320" dirty="0"/>
          </a:p>
        </p:txBody>
      </p:sp>
      <p:sp>
        <p:nvSpPr>
          <p:cNvPr id="33" name="Shape 30"/>
          <p:cNvSpPr/>
          <p:nvPr/>
        </p:nvSpPr>
        <p:spPr>
          <a:xfrm>
            <a:off x="2606040" y="1636776"/>
            <a:ext cx="457200" cy="786384"/>
          </a:xfrm>
          <a:prstGeom prst="line">
            <a:avLst/>
          </a:prstGeom>
          <a:noFill/>
          <a:ln w="19050">
            <a:solidFill>
              <a:srgbClr val="D9822B"/>
            </a:solidFill>
            <a:prstDash val="solid"/>
            <a:headEnd type="none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2606040" y="2825496"/>
            <a:ext cx="457200" cy="-420624"/>
          </a:xfrm>
          <a:prstGeom prst="line">
            <a:avLst/>
          </a:prstGeom>
          <a:noFill/>
          <a:ln w="19050">
            <a:solidFill>
              <a:srgbClr val="7357A6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2606040" y="4014216"/>
            <a:ext cx="457200" cy="-1581912"/>
          </a:xfrm>
          <a:prstGeom prst="line">
            <a:avLst/>
          </a:prstGeom>
          <a:noFill/>
          <a:ln w="19050">
            <a:solidFill>
              <a:srgbClr val="2E6FA3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6492240" y="3383280"/>
            <a:ext cx="1874520" cy="594360"/>
          </a:xfrm>
          <a:prstGeom prst="roundRect">
            <a:avLst>
              <a:gd name="adj" fmla="val 7692"/>
            </a:avLst>
          </a:prstGeom>
          <a:solidFill>
            <a:srgbClr val="F3EFF9"/>
          </a:solidFill>
          <a:ln w="17780">
            <a:solidFill>
              <a:srgbClr val="7357A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629400" y="357530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7357A6"/>
                </a:solidFill>
                <a:latin typeface="Microsoft YaHei"/>
                <a:ea typeface="Microsoft YaHei"/>
                <a:cs typeface="Microsoft YaHei"/>
              </a:rPr>
              <a:t>Edge Update</a:t>
            </a:r>
            <a:endParaRPr lang="en-US" sz="1450" dirty="0"/>
          </a:p>
        </p:txBody>
      </p:sp>
      <p:sp>
        <p:nvSpPr>
          <p:cNvPr id="38" name="Shape 35"/>
          <p:cNvSpPr/>
          <p:nvPr/>
        </p:nvSpPr>
        <p:spPr>
          <a:xfrm>
            <a:off x="7114032" y="2816352"/>
            <a:ext cx="0" cy="548640"/>
          </a:xfrm>
          <a:prstGeom prst="line">
            <a:avLst/>
          </a:prstGeom>
          <a:noFill/>
          <a:ln w="16510">
            <a:solidFill>
              <a:srgbClr val="7357A6"/>
            </a:solidFill>
            <a:prstDash val="solid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8366760" y="3675888"/>
            <a:ext cx="914400" cy="0"/>
          </a:xfrm>
          <a:prstGeom prst="line">
            <a:avLst/>
          </a:prstGeom>
          <a:noFill/>
          <a:ln w="16510">
            <a:solidFill>
              <a:srgbClr val="7357A6"/>
            </a:solidFill>
            <a:prstDash val="solid"/>
            <a:tailEnd type="triangle"/>
          </a:ln>
        </p:spPr>
      </p:sp>
      <p:sp>
        <p:nvSpPr>
          <p:cNvPr id="40" name="Text 37"/>
          <p:cNvSpPr/>
          <p:nvPr/>
        </p:nvSpPr>
        <p:spPr>
          <a:xfrm>
            <a:off x="9326880" y="34930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357A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zₗ₊₁</a:t>
            </a:r>
            <a:endParaRPr lang="en-US" sz="1900" dirty="0"/>
          </a:p>
        </p:txBody>
      </p:sp>
      <p:sp>
        <p:nvSpPr>
          <p:cNvPr id="41" name="Text 38"/>
          <p:cNvSpPr/>
          <p:nvPr/>
        </p:nvSpPr>
        <p:spPr>
          <a:xfrm>
            <a:off x="3108960" y="4343400"/>
            <a:ext cx="69951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注意：t 是扩散噪声等级；l 是Denoising Block层号。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zₗ不是概率，Tₜ才是当前带噪三维结构。</a:t>
            </a:r>
            <a:endParaRPr lang="en-US" sz="1500" dirty="0"/>
          </a:p>
        </p:txBody>
      </p:sp>
      <p:sp>
        <p:nvSpPr>
          <p:cNvPr id="42" name="Shape 39"/>
          <p:cNvSpPr/>
          <p:nvPr/>
        </p:nvSpPr>
        <p:spPr>
          <a:xfrm>
            <a:off x="685800" y="5349240"/>
            <a:ext cx="10744200" cy="548640"/>
          </a:xfrm>
          <a:prstGeom prst="roundRect">
            <a:avLst>
              <a:gd name="adj" fmla="val 6667"/>
            </a:avLst>
          </a:prstGeom>
          <a:solidFill>
            <a:srgbClr val="EAF4EE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14400" y="5513832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外层约1000个扩散步反复调用这套4-block网络：网络先预测 T̂₀，再由FrameDiffuser计算score并执行 Tₜ → Tₜ₋Δₜ。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Method：训练策略与目标函数</a:t>
            </a:r>
            <a:endParaRPr lang="en-US" sz="2400" dirty="0"/>
          </a:p>
        </p:txBody>
      </p:sp>
      <p:pic>
        <p:nvPicPr>
          <p:cNvPr id="5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85800" y="105156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EDF5FA"/>
          </a:solidFill>
          <a:ln w="19050">
            <a:solidFill>
              <a:srgbClr val="2E6FA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129844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rPr>
              <a:t>Stage 1  实验结构预训练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005840" y="1783080"/>
            <a:ext cx="44348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学习合法的局部主链几何与蛋白结构先验</a:t>
            </a:r>
            <a:endParaRPr lang="en-US" sz="1420" dirty="0"/>
          </a:p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训练样本覆盖大量折叠蛋白实验结构</a:t>
            </a:r>
            <a:endParaRPr lang="en-US" sz="1420" dirty="0"/>
          </a:p>
        </p:txBody>
      </p:sp>
      <p:sp>
        <p:nvSpPr>
          <p:cNvPr id="12" name="Shape 9"/>
          <p:cNvSpPr/>
          <p:nvPr/>
        </p:nvSpPr>
        <p:spPr>
          <a:xfrm>
            <a:off x="5879592" y="1645920"/>
            <a:ext cx="502920" cy="548640"/>
          </a:xfrm>
          <a:prstGeom prst="chevron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92240" y="1051560"/>
            <a:ext cx="4983480" cy="1828800"/>
          </a:xfrm>
          <a:prstGeom prst="roundRect">
            <a:avLst>
              <a:gd name="adj" fmla="val 4000"/>
            </a:avLst>
          </a:prstGeom>
          <a:solidFill>
            <a:srgbClr val="F8F1E8"/>
          </a:solidFill>
          <a:ln w="19050">
            <a:solidFill>
              <a:srgbClr val="D982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66560" y="129844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Stage 2  IDP系综微调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812280" y="1783080"/>
            <a:ext cx="43434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利用IDP模拟构象学习宽分布与无序特征</a:t>
            </a:r>
            <a:endParaRPr lang="en-US" sz="1420" dirty="0"/>
          </a:p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模型继承模拟数据与力场的偏差</a:t>
            </a:r>
            <a:endParaRPr lang="en-US" sz="1420" dirty="0"/>
          </a:p>
        </p:txBody>
      </p:sp>
      <p:sp>
        <p:nvSpPr>
          <p:cNvPr id="16" name="Text 13"/>
          <p:cNvSpPr/>
          <p:nvPr/>
        </p:nvSpPr>
        <p:spPr>
          <a:xfrm>
            <a:off x="914400" y="324612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训练时：从真实结构 T₀ 随机抽 t ~ Uniform(0.01,1)，直接构造带噪框架 Tₜ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868680" y="388620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6FAF7"/>
          </a:solidFill>
          <a:ln w="12700">
            <a:solidFill>
              <a:srgbClr val="BFD0C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05840" y="40873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DSM / score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1051560" y="44805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学习逆扩散方向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051560" y="482803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66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= 1.00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636008" y="388620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6FAF7"/>
          </a:solidFill>
          <a:ln w="12700">
            <a:solidFill>
              <a:srgbClr val="BFD0C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73168" y="40873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Backbone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4818888" y="44805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约束主链原子几何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4818888" y="482803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66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= 0.25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8403336" y="388620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6FAF7"/>
          </a:solidFill>
          <a:ln w="12700">
            <a:solidFill>
              <a:srgbClr val="BFD0C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540496" y="40873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Pairwise distance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8586216" y="44805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约束整体残基距离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8586216" y="482803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66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= 0.25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914400" y="551383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辅助几何损失主要在低噪声阶段启用；模型输出的是平衡分布样本，不是带物理时间的MD轨迹。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Result：全局尺寸预测与方法对照</a:t>
            </a:r>
            <a:endParaRPr lang="en-US" sz="2400" dirty="0"/>
          </a:p>
        </p:txBody>
      </p:sp>
      <p:pic>
        <p:nvPicPr>
          <p:cNvPr id="5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pic>
        <p:nvPicPr>
          <p:cNvPr id="9" name="Image 1" descr="E:\Obsidian\paper\论文\IDR IDP\Accurate Generation of Conformational Ensembles for Intrinsically Disordered Proteins with IDPFold\Figures\Figure 2 全局Rg验证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6903720" cy="4526280"/>
          </a:xfrm>
          <a:prstGeom prst="rect">
            <a:avLst/>
          </a:prstGeom>
        </p:spPr>
      </p:pic>
      <p:pic>
        <p:nvPicPr>
          <p:cNvPr id="10" name="Image 2" descr="E:\Obsidian\paper\论文\IDR IDP\Accurate Generation of Conformational Ensembles for Intrinsically Disordered Proteins with IDPFold\Figures\Table 1 方法基准比较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914400"/>
            <a:ext cx="4069080" cy="224028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635240" y="3429000"/>
            <a:ext cx="3840480" cy="1965960"/>
          </a:xfrm>
          <a:prstGeom prst="roundRect">
            <a:avLst>
              <a:gd name="adj" fmla="val 2791"/>
            </a:avLst>
          </a:prstGeom>
          <a:solidFill>
            <a:srgbClr val="F6FAF7"/>
          </a:solidFill>
          <a:ln w="12700">
            <a:solidFill>
              <a:srgbClr val="BFD0C5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7863840" y="36393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核心观察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7882128" y="4041648"/>
            <a:ext cx="3337560" cy="11155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58个去除训练重叠的IDP体系上，平均Rg相对误差约 −0.06。</a:t>
            </a:r>
            <a:endParaRPr lang="en-US" sz="1320" dirty="0"/>
          </a:p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不仅比较平均Rg，还比较完整Rg分布。</a:t>
            </a:r>
            <a:endParaRPr lang="en-US" sz="1320" dirty="0"/>
          </a:p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并非每项都最优：CALVADOS 2的 |εRg|=0.02；J-coupling也不是表中最佳。</a:t>
            </a:r>
            <a:endParaRPr lang="en-US" sz="1320" dirty="0"/>
          </a:p>
        </p:txBody>
      </p:sp>
      <p:sp>
        <p:nvSpPr>
          <p:cNvPr id="14" name="Text 9"/>
          <p:cNvSpPr/>
          <p:nvPr/>
        </p:nvSpPr>
        <p:spPr>
          <a:xfrm>
            <a:off x="868680" y="564184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结论应表述为“多项全局与局部指标取得较好平衡”，而不是全面超过所有方法。</a:t>
            </a:r>
            <a:endParaRPr lang="en-US" sz="15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Result：是否学到正确的构象分布？</a:t>
            </a:r>
            <a:endParaRPr lang="en-US" sz="2400" dirty="0"/>
          </a:p>
        </p:txBody>
      </p:sp>
      <p:pic>
        <p:nvPicPr>
          <p:cNvPr id="5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pic>
        <p:nvPicPr>
          <p:cNvPr id="9" name="Image 1" descr="E:\Obsidian\paper\论文\IDR IDP\Accurate Generation of Conformational Ensembles for Intrinsically Disordered Proteins with IDPFold\Figures\Figure 3 系综分布与聚类比较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7452360" cy="52578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138160" y="1051560"/>
            <a:ext cx="3474720" cy="4434840"/>
          </a:xfrm>
          <a:prstGeom prst="roundRect">
            <a:avLst>
              <a:gd name="adj" fmla="val 1842"/>
            </a:avLst>
          </a:prstGeom>
          <a:solidFill>
            <a:srgbClr val="F6FAF7"/>
          </a:solidFill>
          <a:ln w="12700">
            <a:solidFill>
              <a:srgbClr val="BFD0C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366760" y="1325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Figure 3读图主线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8394192" y="1847088"/>
            <a:ext cx="2971800" cy="2697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比较IDPFold、CALVADOS与参考模拟系综。</a:t>
            </a:r>
            <a:endParaRPr lang="en-US" sz="1420" dirty="0"/>
          </a:p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Rg–RMSD二维密度展示构象覆盖范围，而非单个平均值。</a:t>
            </a:r>
            <a:endParaRPr lang="en-US" sz="1420" dirty="0"/>
          </a:p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聚类权重检验模型能否覆盖多个主要构象亚群。</a:t>
            </a:r>
            <a:endParaRPr lang="en-US" sz="1420" dirty="0"/>
          </a:p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二维投影仍可能掩盖高维差异，需要距离图、接触图和实验观测继续验证。</a:t>
            </a:r>
            <a:endParaRPr lang="en-US" sz="1420" dirty="0"/>
          </a:p>
        </p:txBody>
      </p:sp>
      <p:sp>
        <p:nvSpPr>
          <p:cNvPr id="13" name="Text 9"/>
          <p:cNvSpPr/>
          <p:nvPr/>
        </p:nvSpPr>
        <p:spPr>
          <a:xfrm>
            <a:off x="8366760" y="48920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重点：IDP任务要比较“分布形状与亚群权重”，不能只看一个Rg。</a:t>
            </a:r>
            <a:endParaRPr lang="en-US" sz="14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Result与评价：局部结构、实验一致性及局限</a:t>
            </a:r>
            <a:endParaRPr lang="en-US" sz="2400" dirty="0"/>
          </a:p>
        </p:txBody>
      </p:sp>
      <p:pic>
        <p:nvPicPr>
          <p:cNvPr id="5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pic>
        <p:nvPicPr>
          <p:cNvPr id="9" name="Image 1" descr="E:\Obsidian\paper\论文\IDR IDP\Accurate Generation of Conformational Ensembles for Intrinsically Disordered Proteins with IDPFold\Figures\Figure 4 全原子MD与实验比较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6812280" cy="52578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543800" y="932688"/>
            <a:ext cx="4069080" cy="1920240"/>
          </a:xfrm>
          <a:prstGeom prst="roundRect">
            <a:avLst>
              <a:gd name="adj" fmla="val 2857"/>
            </a:avLst>
          </a:prstGeom>
          <a:solidFill>
            <a:srgbClr val="EAF4EE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818120" y="11612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主要价值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7818120" y="1572768"/>
            <a:ext cx="352044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主链框架允许直接评价二级结构、chemical shift和J-coupling。</a:t>
            </a:r>
            <a:endParaRPr lang="en-US" sz="1420" dirty="0"/>
          </a:p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局部指标用于排除“Rg正确但内部结构错误”的随机链。</a:t>
            </a:r>
            <a:endParaRPr lang="en-US" sz="1420" dirty="0"/>
          </a:p>
        </p:txBody>
      </p:sp>
      <p:sp>
        <p:nvSpPr>
          <p:cNvPr id="13" name="Shape 9"/>
          <p:cNvSpPr/>
          <p:nvPr/>
        </p:nvSpPr>
        <p:spPr>
          <a:xfrm>
            <a:off x="7543800" y="3090672"/>
            <a:ext cx="4069080" cy="2450592"/>
          </a:xfrm>
          <a:prstGeom prst="roundRect">
            <a:avLst>
              <a:gd name="adj" fmla="val 2239"/>
            </a:avLst>
          </a:prstGeom>
          <a:solidFill>
            <a:srgbClr val="FAF0F0"/>
          </a:solidFill>
          <a:ln w="12700">
            <a:solidFill>
              <a:srgbClr val="D8A4A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818120" y="33375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必须保留的局限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7818120" y="3721608"/>
            <a:ext cx="3520440" cy="1536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训练目标依赖模拟系综，可能继承力场偏差。</a:t>
            </a:r>
            <a:endParaRPr lang="en-US" sz="1320" dirty="0"/>
          </a:p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主要benchmark体系数量有限，外推范围尚不充分。</a:t>
            </a:r>
            <a:endParaRPr lang="en-US" sz="1320" dirty="0"/>
          </a:p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模型生成独立样本，不提供转换速率和亚稳态寿命。</a:t>
            </a:r>
            <a:endParaRPr lang="en-US" sz="1320" dirty="0"/>
          </a:p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未显式输入温度、pH、盐浓度等环境条件。</a:t>
            </a:r>
            <a:endParaRPr lang="en-US" sz="1320" dirty="0"/>
          </a:p>
        </p:txBody>
      </p:sp>
      <p:sp>
        <p:nvSpPr>
          <p:cNvPr id="16" name="Text 12"/>
          <p:cNvSpPr/>
          <p:nvPr/>
        </p:nvSpPr>
        <p:spPr>
          <a:xfrm>
            <a:off x="914400" y="569671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总体判断：这是“序列 → 主链级构象系综”的有力证明，但还不是替代实验和MD的最终答案。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研究启发与汇报结论</a:t>
            </a:r>
            <a:endParaRPr lang="en-US" sz="2400" dirty="0"/>
          </a:p>
        </p:txBody>
      </p:sp>
      <p:pic>
        <p:nvPicPr>
          <p:cNvPr id="5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777240" y="960120"/>
            <a:ext cx="10652760" cy="749808"/>
          </a:xfrm>
          <a:prstGeom prst="roundRect">
            <a:avLst>
              <a:gd name="adj" fmla="val 4878"/>
            </a:avLst>
          </a:prstGeom>
          <a:solidFill>
            <a:srgbClr val="F2F7F4"/>
          </a:solidFill>
          <a:ln w="10160">
            <a:solidFill>
              <a:srgbClr val="C4D3C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11430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① 最值得借鉴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697480" y="110642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把问题定义为sequence-to-ensemble，而不是单结构预测；评价必须覆盖分布。</a:t>
            </a:r>
            <a:endParaRPr lang="en-US" sz="1480" dirty="0"/>
          </a:p>
        </p:txBody>
      </p:sp>
      <p:sp>
        <p:nvSpPr>
          <p:cNvPr id="12" name="Shape 9"/>
          <p:cNvSpPr/>
          <p:nvPr/>
        </p:nvSpPr>
        <p:spPr>
          <a:xfrm>
            <a:off x="777240" y="1947672"/>
            <a:ext cx="1065276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C4D3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0120" y="213055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② 模型主线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697480" y="2093976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ESM2编码序列；IPA在三维几何中传播信息；扩散从随机刚体框架生成多个主链构象。</a:t>
            </a:r>
            <a:endParaRPr lang="en-US" sz="1480" dirty="0"/>
          </a:p>
        </p:txBody>
      </p:sp>
      <p:sp>
        <p:nvSpPr>
          <p:cNvPr id="15" name="Shape 12"/>
          <p:cNvSpPr/>
          <p:nvPr/>
        </p:nvSpPr>
        <p:spPr>
          <a:xfrm>
            <a:off x="777240" y="2935224"/>
            <a:ext cx="10652760" cy="749808"/>
          </a:xfrm>
          <a:prstGeom prst="roundRect">
            <a:avLst>
              <a:gd name="adj" fmla="val 4878"/>
            </a:avLst>
          </a:prstGeom>
          <a:solidFill>
            <a:srgbClr val="F2F7F4"/>
          </a:solidFill>
          <a:ln w="10160">
            <a:solidFill>
              <a:srgbClr val="C4D3C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0120" y="31181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③ 不能过度解读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697480" y="30815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没有动力学时间；没有给每个构象显式概率；部分组件也缺少针对性消融。</a:t>
            </a:r>
            <a:endParaRPr lang="en-US" sz="1480" dirty="0"/>
          </a:p>
        </p:txBody>
      </p:sp>
      <p:sp>
        <p:nvSpPr>
          <p:cNvPr id="18" name="Shape 15"/>
          <p:cNvSpPr/>
          <p:nvPr/>
        </p:nvSpPr>
        <p:spPr>
          <a:xfrm>
            <a:off x="777240" y="3922776"/>
            <a:ext cx="1065276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C4D3C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0120" y="410565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④ 可继续推进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2697480" y="40690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加入离子强度/温度等条件，扩充实验约束，和STARLING、CALVADOS做统一benchmark。</a:t>
            </a:r>
            <a:endParaRPr lang="en-US" sz="1480" dirty="0"/>
          </a:p>
        </p:txBody>
      </p:sp>
      <p:pic>
        <p:nvPicPr>
          <p:cNvPr id="21" name="Image 1" descr="E:\Obsidian\paper\论文\IDR IDP\Accurate Generation of Conformational Ensembles for Intrinsically Disordered Proteins with IDPFold\template_assets\image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4983480"/>
            <a:ext cx="6263640" cy="71323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297680" y="570585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谢谢！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Huazhong Agricultural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Accurate Generation of Conformational Ensembles for Intrinsically Disordered Proteins with IDPFold</dc:title>
  <dc:subject>IDPFold论文组会汇报</dc:subject>
  <dc:creator>李叶霖</dc:creator>
  <cp:lastModifiedBy>李叶霖</cp:lastModifiedBy>
  <cp:revision>1</cp:revision>
  <dcterms:created xsi:type="dcterms:W3CDTF">2026-09-20T02:39:56Z</dcterms:created>
  <dcterms:modified xsi:type="dcterms:W3CDTF">2026-09-20T02:39:56Z</dcterms:modified>
</cp:coreProperties>
</file>