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730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现在这个是全原子构象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altLang="zh-CN" dirty="0"/>
              <a:t>i</a:t>
            </a:r>
            <a:r>
              <a:rPr lang="zh-CN" altLang="en-US" dirty="0"/>
              <a:t>：残基局部坐标系的旋转，</a:t>
            </a:r>
            <a:r>
              <a:rPr lang="en-US" altLang="zh-CN" dirty="0"/>
              <a:t>xi</a:t>
            </a:r>
            <a:r>
              <a:rPr lang="zh-CN" altLang="en-US" dirty="0"/>
              <a:t>残基在三维空间的位置</a:t>
            </a:r>
            <a:br>
              <a:rPr lang="en-US" altLang="zh-CN" dirty="0"/>
            </a:br>
            <a:r>
              <a:rPr lang="en-US" altLang="zh-CN" dirty="0" err="1"/>
              <a:t>IDPFold</a:t>
            </a:r>
            <a:r>
              <a:rPr lang="zh-CN" altLang="en-US" dirty="0"/>
              <a:t>的核心是把</a:t>
            </a:r>
            <a:r>
              <a:rPr lang="en-US" altLang="zh-CN" dirty="0"/>
              <a:t>IDP</a:t>
            </a:r>
            <a:r>
              <a:rPr lang="zh-CN" altLang="en-US" dirty="0"/>
              <a:t>系综预测建模为一个由氨基酸序列约束的三维扩散生成问题。模型以</a:t>
            </a:r>
            <a:r>
              <a:rPr lang="en-US" altLang="zh-CN" dirty="0"/>
              <a:t>ESM2</a:t>
            </a:r>
            <a:r>
              <a:rPr lang="zh-CN" altLang="en-US" dirty="0"/>
              <a:t>提取的单序列特征作为条件，在残基旋转和平移空间中逐步去噪，每次生成一个构象，通过重复采样得到构象系综。其主要创新在于将蛋白质语言模型、刚体扩散、</a:t>
            </a:r>
            <a:r>
              <a:rPr lang="en-US" altLang="zh-CN" dirty="0"/>
              <a:t>IPA</a:t>
            </a:r>
            <a:r>
              <a:rPr lang="zh-CN" altLang="en-US" dirty="0"/>
              <a:t>几何建模和两阶段训练结合起来，从而在不依赖</a:t>
            </a:r>
            <a:r>
              <a:rPr lang="en-US" altLang="zh-CN" dirty="0"/>
              <a:t>MSA</a:t>
            </a:r>
            <a:r>
              <a:rPr lang="zh-CN" altLang="en-US" dirty="0"/>
              <a:t>、模板和实验约束的情况下，生成比已有粗粒化深度学习方法更细致的</a:t>
            </a:r>
            <a:r>
              <a:rPr lang="en-US" altLang="zh-CN" dirty="0"/>
              <a:t>IDP</a:t>
            </a:r>
            <a:r>
              <a:rPr lang="zh-CN" altLang="en-US" dirty="0"/>
              <a:t>构象系综。</a:t>
            </a:r>
            <a:br>
              <a:rPr lang="en-US" altLang="zh-CN" dirty="0"/>
            </a:br>
            <a:r>
              <a:rPr lang="zh-CN" altLang="en-US" dirty="0"/>
              <a:t>“刚体”主要是一种结构表示方法：在一个框架更新过程中，局部参考结构作为整体进行旋转和平移，局部原子的相对位置暂时保持固定。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里面的加号实际上是拼接，输入</a:t>
            </a:r>
            <a:r>
              <a:rPr lang="en-US" altLang="zh-CN" dirty="0"/>
              <a:t>t</a:t>
            </a:r>
            <a:r>
              <a:rPr lang="zh-CN" altLang="en-US" dirty="0"/>
              <a:t>是噪声等级，之后</a:t>
            </a:r>
            <a:r>
              <a:rPr lang="en-US" altLang="zh-CN" dirty="0"/>
              <a:t>MLP</a:t>
            </a:r>
            <a:r>
              <a:rPr lang="zh-CN" altLang="en-US" dirty="0"/>
              <a:t>之后与</a:t>
            </a:r>
            <a:r>
              <a:rPr lang="en-US" altLang="zh-CN" dirty="0"/>
              <a:t>ESM2</a:t>
            </a:r>
            <a:r>
              <a:rPr lang="zh-CN" altLang="en-US" dirty="0"/>
              <a:t>生成的序列进行拼接，变成了加噪的单个表示，但是没有其他的位置信息，下面的加噪蛋白结构是序列加上随机生成的每个蛋白的位置，之后经过</a:t>
            </a:r>
            <a:r>
              <a:rPr lang="en-US" altLang="zh-CN" dirty="0"/>
              <a:t>GSO</a:t>
            </a:r>
            <a:r>
              <a:rPr lang="zh-CN" altLang="en-US" dirty="0"/>
              <a:t>正交化生成</a:t>
            </a:r>
            <a:r>
              <a:rPr lang="en-US" altLang="zh-CN" dirty="0"/>
              <a:t>T0</a:t>
            </a:r>
            <a:r>
              <a:rPr lang="zh-CN" altLang="en-US" dirty="0"/>
              <a:t>，下面的部分</a:t>
            </a:r>
            <a:r>
              <a:rPr lang="en-US" altLang="zh-CN" dirty="0" err="1"/>
              <a:t>zl</a:t>
            </a:r>
            <a:r>
              <a:rPr lang="zh-CN" altLang="en-US" dirty="0"/>
              <a:t>也是事先生成的，图里没表示，是序列位置，就是第一个和第</a:t>
            </a:r>
            <a:r>
              <a:rPr lang="en-US" altLang="zh-CN" dirty="0"/>
              <a:t>30</a:t>
            </a:r>
            <a:r>
              <a:rPr lang="zh-CN" altLang="en-US" dirty="0"/>
              <a:t>个的相对表示没有三维表示，之后经过</a:t>
            </a:r>
            <a:r>
              <a:rPr lang="en-US" altLang="zh-CN" dirty="0"/>
              <a:t>IPA</a:t>
            </a:r>
            <a:r>
              <a:rPr lang="zh-CN" altLang="en-US" dirty="0"/>
              <a:t>输出特征更新向量，学习了相对位置和绝对位置，和初始</a:t>
            </a:r>
            <a:r>
              <a:rPr lang="en-US" altLang="zh-CN" dirty="0"/>
              <a:t>s0</a:t>
            </a:r>
            <a:r>
              <a:rPr lang="zh-CN" altLang="en-US" dirty="0"/>
              <a:t>压缩后拼接，之后进入</a:t>
            </a:r>
            <a:r>
              <a:rPr lang="en-US" altLang="zh-CN" dirty="0"/>
              <a:t>transformer</a:t>
            </a:r>
            <a:r>
              <a:rPr lang="zh-CN" altLang="en-US" dirty="0"/>
              <a:t>学习上下文之后再进行残差连接，进入</a:t>
            </a:r>
            <a:r>
              <a:rPr lang="en-US" altLang="zh-CN" dirty="0"/>
              <a:t>MLP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zh-CN" altLang="en-US" dirty="0"/>
              <a:t>是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58</a:t>
            </a:r>
            <a:r>
              <a:rPr lang="zh-CN" altLang="en-US" dirty="0"/>
              <a:t>条</a:t>
            </a:r>
            <a:r>
              <a:rPr lang="en-US" altLang="zh-CN" dirty="0"/>
              <a:t>ensemble</a:t>
            </a:r>
            <a:r>
              <a:rPr lang="zh-CN" altLang="en-US" dirty="0"/>
              <a:t>与真实的对比，</a:t>
            </a:r>
            <a:r>
              <a:rPr lang="en-US" altLang="zh-CN" dirty="0" err="1"/>
              <a:t>DeltaRg</a:t>
            </a:r>
            <a:r>
              <a:rPr lang="en-US" altLang="zh-CN" dirty="0"/>
              <a:t>=</a:t>
            </a:r>
            <a:r>
              <a:rPr lang="zh-CN" altLang="en-US" dirty="0"/>
              <a:t>实验室</a:t>
            </a:r>
            <a:r>
              <a:rPr lang="en-US" altLang="zh-CN" dirty="0"/>
              <a:t>-</a:t>
            </a:r>
            <a:r>
              <a:rPr lang="zh-CN" altLang="en-US" dirty="0"/>
              <a:t>真实值，也就是和实验的对比，然后发现平均的是</a:t>
            </a:r>
            <a:r>
              <a:rPr lang="en-US" altLang="zh-CN" dirty="0"/>
              <a:t>-0.06</a:t>
            </a:r>
            <a:r>
              <a:rPr lang="zh-CN" altLang="en-US" dirty="0"/>
              <a:t>也就是会预测差距</a:t>
            </a:r>
            <a:r>
              <a:rPr lang="en-US" altLang="zh-CN" dirty="0"/>
              <a:t>0.06</a:t>
            </a:r>
            <a:r>
              <a:rPr lang="zh-CN" altLang="en-US" dirty="0"/>
              <a:t>但也还可以了。</a:t>
            </a:r>
            <a:r>
              <a:rPr lang="en-US" dirty="0"/>
              <a:t>B</a:t>
            </a:r>
            <a:r>
              <a:rPr lang="zh-CN" altLang="en-US" dirty="0"/>
              <a:t>里面彩色虚线是</a:t>
            </a:r>
            <a:r>
              <a:rPr lang="en-US" altLang="zh-CN" dirty="0" err="1"/>
              <a:t>IDPFold</a:t>
            </a:r>
            <a:r>
              <a:rPr lang="zh-CN" altLang="en-US" dirty="0"/>
              <a:t>黑色虚线是</a:t>
            </a:r>
            <a:r>
              <a:rPr lang="en-US" altLang="zh-CN" dirty="0"/>
              <a:t>CALVADOS,</a:t>
            </a:r>
            <a:r>
              <a:rPr lang="zh-CN" altLang="en-US" dirty="0"/>
              <a:t>之后横坐标是回转半径，虽然黑色虚线更近但是彩色虚线也还可以，纵坐标是概率密度也就是底下面积为</a:t>
            </a:r>
            <a:r>
              <a:rPr lang="en-US" altLang="zh-CN" dirty="0"/>
              <a:t>1</a:t>
            </a:r>
            <a:r>
              <a:rPr lang="zh-CN" altLang="en-US" dirty="0"/>
              <a:t>，表</a:t>
            </a:r>
            <a:r>
              <a:rPr lang="en-US" altLang="zh-CN" dirty="0"/>
              <a:t>1</a:t>
            </a:r>
            <a:r>
              <a:rPr lang="zh-CN" altLang="en-US" dirty="0"/>
              <a:t>中的值除了第一列其他都是越小越好。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</a:t>
            </a:r>
            <a:r>
              <a:rPr lang="zh-CN" altLang="en-US" dirty="0"/>
              <a:t>代表了和</a:t>
            </a:r>
            <a:r>
              <a:rPr lang="en-US" altLang="zh-CN" dirty="0"/>
              <a:t>CALVADOS</a:t>
            </a:r>
            <a:r>
              <a:rPr lang="zh-CN" altLang="en-US" dirty="0"/>
              <a:t>的相似度下面是代表生成的可能构象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SCIENCE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61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Accurate Generation of Conformational Ensembles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Intrinsically Disordered Proteins with IDPFold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148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Junjie Zhu et al.  ·  Advanced Science  · 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063240"/>
            <a:ext cx="97840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从单条氨基酸序列直接生成内在无序蛋白构象系综：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ESM2序列表征 + SE(3)等变几何扩散 + 主链框架去噪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汇报人</a:t>
            </a:r>
            <a:r>
              <a:rPr lang="en-US" sz="14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4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武文泽</a:t>
            </a:r>
            <a:r>
              <a:rPr lang="en-US" sz="14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    时间：2026.09.20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5806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50" dirty="0">
                <a:solidFill>
                  <a:srgbClr val="A5A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U A Z H O N G   A G R I C U L T U R A L   U N I V E R S I T 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研究问题与现有方法的不足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84124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89154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1261872"/>
            <a:ext cx="8997075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9550" indent="-209550">
              <a:lnSpc>
                <a:spcPct val="150000"/>
              </a:lnSpc>
              <a:buSzPct val="100000"/>
              <a:buChar char="•"/>
            </a:pPr>
            <a:r>
              <a:rPr lang="en-US" altLang="zh-CN" sz="1650" dirty="0">
                <a:solidFill>
                  <a:srgbClr val="202420"/>
                </a:solidFill>
                <a:ea typeface="Microsoft YaHei"/>
                <a:cs typeface="Microsoft YaHei"/>
              </a:rPr>
              <a:t>IDP/IDR </a:t>
            </a:r>
            <a:r>
              <a:rPr lang="en-US" altLang="zh-CN" sz="1650" dirty="0" err="1">
                <a:solidFill>
                  <a:srgbClr val="202420"/>
                </a:solidFill>
                <a:ea typeface="Microsoft YaHei"/>
                <a:cs typeface="Microsoft YaHei"/>
              </a:rPr>
              <a:t>不存在唯一稳定结构</a:t>
            </a:r>
            <a:r>
              <a:rPr lang="en-US" altLang="zh-CN" sz="1650" dirty="0">
                <a:solidFill>
                  <a:srgbClr val="202420"/>
                </a:solidFill>
                <a:ea typeface="Microsoft YaHei"/>
                <a:cs typeface="Microsoft YaHei"/>
              </a:rPr>
              <a:t> ，</a:t>
            </a:r>
            <a:r>
              <a:rPr lang="en-US" altLang="zh-CN" sz="1650" dirty="0" err="1">
                <a:solidFill>
                  <a:srgbClr val="202420"/>
                </a:solidFill>
                <a:ea typeface="Microsoft YaHei"/>
                <a:cs typeface="Microsoft YaHei"/>
              </a:rPr>
              <a:t>功能来自整个构象分布</a:t>
            </a:r>
            <a:r>
              <a:rPr lang="en-US" altLang="zh-CN" sz="1650" dirty="0">
                <a:solidFill>
                  <a:srgbClr val="202420"/>
                </a:solidFill>
                <a:ea typeface="Microsoft YaHei"/>
                <a:cs typeface="Microsoft YaHei"/>
              </a:rPr>
              <a:t> ，</a:t>
            </a:r>
            <a:r>
              <a:rPr lang="zh-CN" altLang="en-US" sz="1650" dirty="0">
                <a:solidFill>
                  <a:srgbClr val="202420"/>
                </a:solidFill>
                <a:ea typeface="Microsoft YaHei"/>
                <a:cs typeface="Microsoft YaHei"/>
              </a:rPr>
              <a:t>没有稳定的三维结构，所以预测的时候不可以预测一个静态结构，而要去预测大量构象及其分布组成的构象</a:t>
            </a:r>
            <a:r>
              <a:rPr lang="en-US" altLang="zh-CN" sz="1650" dirty="0">
                <a:solidFill>
                  <a:srgbClr val="202420"/>
                </a:solidFill>
                <a:ea typeface="Microsoft YaHei"/>
                <a:cs typeface="Microsoft YaHei"/>
              </a:rPr>
              <a:t>ensemble</a:t>
            </a:r>
            <a:endParaRPr lang="en-US" altLang="zh-CN" sz="1650" dirty="0"/>
          </a:p>
        </p:txBody>
      </p:sp>
      <p:sp>
        <p:nvSpPr>
          <p:cNvPr id="12" name="Shape 9"/>
          <p:cNvSpPr/>
          <p:nvPr/>
        </p:nvSpPr>
        <p:spPr>
          <a:xfrm>
            <a:off x="658368" y="2578608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289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现有方法的不足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07720" y="5308092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EAF4EE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7720" y="551383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核心问题：能否只输入氨基酸序列，快速生成兼顾全局尺寸与局部主链细节的 IDP 构象系综？</a:t>
            </a:r>
            <a:endParaRPr lang="en-US" sz="1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581504-212F-E2D5-0ED3-EFD25A09113F}"/>
              </a:ext>
            </a:extLst>
          </p:cNvPr>
          <p:cNvSpPr txBox="1"/>
          <p:nvPr/>
        </p:nvSpPr>
        <p:spPr>
          <a:xfrm>
            <a:off x="777240" y="2829889"/>
            <a:ext cx="8997075" cy="212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AlphaFold2</a:t>
            </a:r>
            <a:r>
              <a:rPr lang="zh-CN" altLang="en-US" dirty="0"/>
              <a:t>、</a:t>
            </a:r>
            <a:r>
              <a:rPr lang="en-US" altLang="zh-CN" dirty="0" err="1"/>
              <a:t>ESMFold</a:t>
            </a:r>
            <a:r>
              <a:rPr lang="zh-CN" altLang="en-US" dirty="0"/>
              <a:t>等方法主要预测：一个最可能的稳定结构，但</a:t>
            </a:r>
            <a:r>
              <a:rPr lang="en-US" altLang="zh-CN" dirty="0"/>
              <a:t>IDP</a:t>
            </a:r>
            <a:r>
              <a:rPr lang="zh-CN" altLang="en-US" dirty="0"/>
              <a:t>并不存在唯一稳定结构。它在许多构象之间快速转换，因此一个静态结构无法完整描述。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此外</a:t>
            </a:r>
            <a:r>
              <a:rPr lang="en-US" altLang="zh-CN" dirty="0" err="1"/>
              <a:t>ESMFold</a:t>
            </a:r>
            <a:r>
              <a:rPr lang="zh-CN" altLang="en-US" dirty="0"/>
              <a:t>确定能预测某个区域是无序的但是没办法预测构象。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MD</a:t>
            </a:r>
            <a:r>
              <a:rPr lang="zh-CN" altLang="en-US" dirty="0"/>
              <a:t>方法也可以去预测但是计算成本高。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IDPGAN</a:t>
            </a:r>
            <a:r>
              <a:rPr lang="zh-CN" altLang="en-US" dirty="0"/>
              <a:t>可以生成大量构象，但生成的是粗粒化结构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核心思路与创新点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0351" y="1143000"/>
            <a:ext cx="4654207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blurRad="12700" dist="50800" dir="2700000" algn="bl" rotWithShape="0">
              <a:srgbClr val="B8C0B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9765" y="1170432"/>
            <a:ext cx="4654206" cy="53035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79" y="1280160"/>
            <a:ext cx="4393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zh-CN" alt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、单条序列生成</a:t>
            </a:r>
            <a:r>
              <a:rPr lang="en-US" altLang="zh-CN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ensemble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04671" y="2029968"/>
            <a:ext cx="3847227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550" dirty="0" err="1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IDPF</a:t>
            </a:r>
            <a:r>
              <a:rPr lang="en-US" altLang="zh-CN" sz="1550" dirty="0" err="1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old</a:t>
            </a:r>
            <a:r>
              <a:rPr lang="zh-CN" alt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可以从单条序列生成</a:t>
            </a:r>
            <a:r>
              <a:rPr lang="en-US" altLang="zh-CN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ensemble</a:t>
            </a:r>
            <a:r>
              <a:rPr lang="zh-CN" alt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而不需要提供初始的</a:t>
            </a:r>
            <a:r>
              <a:rPr lang="en-US" altLang="zh-CN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MD</a:t>
            </a:r>
            <a:r>
              <a:rPr lang="zh-CN" alt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轨迹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96124" y="3758184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→ p(X|s)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262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两阶段训练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4124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全局与局部兼顾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97280" y="4983480"/>
            <a:ext cx="9966960" cy="713232"/>
          </a:xfrm>
          <a:prstGeom prst="roundRect">
            <a:avLst>
              <a:gd name="adj" fmla="val 6410"/>
            </a:avLst>
          </a:prstGeom>
          <a:solidFill>
            <a:srgbClr val="F6FAF7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25880" y="5184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与STARLING的侧重点不同：IDPFold更强调原子级主链几何与局部实验观测；代价是采样速度明显慢于秒级生成模型。</a:t>
            </a:r>
            <a:endParaRPr lang="en-US" sz="155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6D844B79-67E4-2B0B-9DC9-5646C7C6BB06}"/>
              </a:ext>
            </a:extLst>
          </p:cNvPr>
          <p:cNvSpPr/>
          <p:nvPr/>
        </p:nvSpPr>
        <p:spPr>
          <a:xfrm>
            <a:off x="6391745" y="1143000"/>
            <a:ext cx="4654207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blurRad="12700" dist="50800" dir="2700000" algn="bl" rotWithShape="0">
              <a:srgbClr val="B8C0BB">
                <a:alpha val="18000"/>
              </a:srgbClr>
            </a:outerShdw>
          </a:effectLst>
        </p:spPr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55E7B73C-DA94-B72D-00A0-696977EA978F}"/>
              </a:ext>
            </a:extLst>
          </p:cNvPr>
          <p:cNvSpPr/>
          <p:nvPr/>
        </p:nvSpPr>
        <p:spPr>
          <a:xfrm>
            <a:off x="6391746" y="1143000"/>
            <a:ext cx="4654206" cy="530352"/>
          </a:xfrm>
          <a:prstGeom prst="rect">
            <a:avLst/>
          </a:prstGeom>
          <a:solidFill>
            <a:srgbClr val="C00000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2F6AFB38-2754-4817-BD81-06DEA55E4C75}"/>
              </a:ext>
            </a:extLst>
          </p:cNvPr>
          <p:cNvSpPr/>
          <p:nvPr/>
        </p:nvSpPr>
        <p:spPr>
          <a:xfrm>
            <a:off x="6501474" y="1280160"/>
            <a:ext cx="4334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、在残基刚体框架上进行扩散</a:t>
            </a:r>
            <a:endParaRPr lang="en-US" sz="17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AD795EF5-16D0-4D9C-4536-A390F9B7332E}"/>
              </a:ext>
            </a:extLst>
          </p:cNvPr>
          <p:cNvSpPr/>
          <p:nvPr/>
        </p:nvSpPr>
        <p:spPr>
          <a:xfrm>
            <a:off x="6666065" y="2029968"/>
            <a:ext cx="3847227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550" dirty="0" err="1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IDPF</a:t>
            </a:r>
            <a:r>
              <a:rPr lang="en-US" altLang="zh-CN" sz="1550" dirty="0" err="1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old</a:t>
            </a:r>
            <a:r>
              <a:rPr lang="zh-CN" alt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是对每个残基的三维框架进行扩散，而不是对氨基酸序列加噪</a:t>
            </a:r>
            <a:endParaRPr lang="en-US" sz="15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 10">
                <a:extLst>
                  <a:ext uri="{FF2B5EF4-FFF2-40B4-BE49-F238E27FC236}">
                    <a16:creationId xmlns:a16="http://schemas.microsoft.com/office/drawing/2014/main" id="{F1AA39C0-A6E2-69D3-015E-2CE8BE20AC89}"/>
                  </a:ext>
                </a:extLst>
              </p:cNvPr>
              <p:cNvSpPr/>
              <p:nvPr/>
            </p:nvSpPr>
            <p:spPr>
              <a:xfrm>
                <a:off x="6957518" y="3758184"/>
                <a:ext cx="3054096" cy="3017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3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300" dirty="0"/>
              </a:p>
            </p:txBody>
          </p:sp>
        </mc:Choice>
        <mc:Fallback>
          <p:sp>
            <p:nvSpPr>
              <p:cNvPr id="30" name="Text 10">
                <a:extLst>
                  <a:ext uri="{FF2B5EF4-FFF2-40B4-BE49-F238E27FC236}">
                    <a16:creationId xmlns:a16="http://schemas.microsoft.com/office/drawing/2014/main" id="{F1AA39C0-A6E2-69D3-015E-2CE8BE20AC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518" y="3758184"/>
                <a:ext cx="3054096" cy="3017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FE5DA61-84D3-3D24-17E5-C0C3E6A4C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126" y="128016"/>
            <a:ext cx="7289634" cy="6426909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Method：IDPFold整体框架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单序列条件下的SE(3)扩散生成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pic>
        <p:nvPicPr>
          <p:cNvPr id="6" name="Image 0" descr="E:\Obsidian\paper\论文\IDR IDP\Accurate Generation of Conformational Ensembles for Intrinsically Disordered Proteins with IDPFold\template_assets\imag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DB2258-A16F-D939-31C6-09A37E3EA67C}"/>
              </a:ext>
            </a:extLst>
          </p:cNvPr>
          <p:cNvSpPr txBox="1"/>
          <p:nvPr/>
        </p:nvSpPr>
        <p:spPr>
          <a:xfrm>
            <a:off x="658368" y="1869823"/>
            <a:ext cx="46726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Figure A</a:t>
            </a:r>
            <a:r>
              <a:rPr lang="zh-CN" altLang="en-US" dirty="0"/>
              <a:t>：去噪以及加噪，先去生成一个近似的随机结构，之后去噪也就是扩散模型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Figure B</a:t>
            </a:r>
            <a:r>
              <a:rPr lang="zh-CN" altLang="en-US" dirty="0"/>
              <a:t>：整个</a:t>
            </a:r>
            <a:r>
              <a:rPr lang="en-US" altLang="zh-CN" dirty="0" err="1"/>
              <a:t>IDPFold</a:t>
            </a:r>
            <a:r>
              <a:rPr lang="zh-CN" altLang="en-US" dirty="0"/>
              <a:t>的完整过程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Figure C</a:t>
            </a:r>
            <a:r>
              <a:rPr lang="zh-CN" altLang="en-US" dirty="0"/>
              <a:t>：上半部分是</a:t>
            </a:r>
            <a:r>
              <a:rPr lang="en-US" altLang="zh-CN" dirty="0"/>
              <a:t>Initialization Block</a:t>
            </a:r>
          </a:p>
          <a:p>
            <a:r>
              <a:rPr lang="zh-CN" altLang="en-US" dirty="0"/>
              <a:t>下半部分是</a:t>
            </a:r>
            <a:r>
              <a:rPr lang="en-US" altLang="zh-CN" dirty="0"/>
              <a:t>Denoising Block</a:t>
            </a:r>
          </a:p>
          <a:p>
            <a:endParaRPr lang="en-US" altLang="zh-CN" dirty="0"/>
          </a:p>
          <a:p>
            <a:r>
              <a:rPr lang="zh-CN" altLang="en-US" dirty="0"/>
              <a:t>整个模型就是输入安白纸序列输出去噪后的可能的蛋白质构象。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A2F9A8D-381A-9491-8450-28390E0F9CB9}"/>
              </a:ext>
            </a:extLst>
          </p:cNvPr>
          <p:cNvCxnSpPr/>
          <p:nvPr/>
        </p:nvCxnSpPr>
        <p:spPr>
          <a:xfrm flipH="1">
            <a:off x="9659177" y="2692588"/>
            <a:ext cx="1420238" cy="194030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Result：全局尺寸预测与方法对照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2 全局Rg验证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914400"/>
            <a:ext cx="6903720" cy="4526280"/>
          </a:xfrm>
          <a:prstGeom prst="rect">
            <a:avLst/>
          </a:prstGeom>
        </p:spPr>
      </p:pic>
      <p:pic>
        <p:nvPicPr>
          <p:cNvPr id="10" name="Image 2" descr="E:\Obsidian\paper\论文\IDR IDP\Accurate Generation of Conformational Ensembles for Intrinsically Disordered Proteins with IDPFold\Figures\Table 1 方法基准比较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914400"/>
            <a:ext cx="4069080" cy="22402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635240" y="3429000"/>
            <a:ext cx="3840480" cy="1965960"/>
          </a:xfrm>
          <a:prstGeom prst="roundRect">
            <a:avLst>
              <a:gd name="adj" fmla="val 2791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86384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核心观察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882128" y="4041648"/>
            <a:ext cx="333756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58个去除训练重叠的IDP体系上，平均Rg相对误差约 −0.06。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不仅比较平均Rg，还比较完整Rg分布。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并非每项都最优：CALVADOS 2的 |εRg|=0.02；J-coupling也不是表中最佳。</a:t>
            </a:r>
            <a:endParaRPr lang="en-US" sz="1320" dirty="0"/>
          </a:p>
        </p:txBody>
      </p:sp>
      <p:sp>
        <p:nvSpPr>
          <p:cNvPr id="14" name="Text 9"/>
          <p:cNvSpPr/>
          <p:nvPr/>
        </p:nvSpPr>
        <p:spPr>
          <a:xfrm>
            <a:off x="868680" y="56418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结论应表述为“多项全局与局部指标取得较好平衡”，而不是全面超过所有方法。</a:t>
            </a:r>
            <a:endParaRPr lang="en-US" sz="15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Result：是否学到正确的构象分布？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3 系综分布与聚类比较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822960"/>
            <a:ext cx="745236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051560"/>
            <a:ext cx="3474720" cy="4434840"/>
          </a:xfrm>
          <a:prstGeom prst="roundRect">
            <a:avLst>
              <a:gd name="adj" fmla="val 1842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6676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Figure 3读图主线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394192" y="1847088"/>
            <a:ext cx="297180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比较IDPFold、CALVADOS与参考模拟系综。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Rg–RMSD二维密度展示构象覆盖范围，而非单个平均值。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聚类权重检验模型能否覆盖多个主要构象亚群。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二维投影仍可能掩盖高维差异，需要距离图、接触图和实验观测继续验证。</a:t>
            </a:r>
            <a:endParaRPr lang="en-US" sz="1420" dirty="0"/>
          </a:p>
        </p:txBody>
      </p:sp>
      <p:sp>
        <p:nvSpPr>
          <p:cNvPr id="13" name="Text 9"/>
          <p:cNvSpPr/>
          <p:nvPr/>
        </p:nvSpPr>
        <p:spPr>
          <a:xfrm>
            <a:off x="8366760" y="4892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重点：IDP任务要比较“分布形状与亚群权重”，不能只看一个Rg。</a:t>
            </a:r>
            <a:endParaRPr lang="en-US" sz="14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Result与评价：局部结构验证及局限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4 全原子MD与实验比较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822960"/>
            <a:ext cx="681228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5797296"/>
            <a:ext cx="6812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543800" y="932688"/>
            <a:ext cx="4069080" cy="1920240"/>
          </a:xfrm>
          <a:prstGeom prst="roundRect">
            <a:avLst>
              <a:gd name="adj" fmla="val 285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主要价值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818120" y="1572768"/>
            <a:ext cx="35204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主链框架允许直接评价二级结构、chemical shift和J-coupling。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局部指标用于排除“Rg正确但内部结构错误”的随机链。</a:t>
            </a:r>
            <a:endParaRPr lang="en-US" sz="1420" dirty="0"/>
          </a:p>
        </p:txBody>
      </p:sp>
      <p:sp>
        <p:nvSpPr>
          <p:cNvPr id="14" name="Shape 10"/>
          <p:cNvSpPr/>
          <p:nvPr/>
        </p:nvSpPr>
        <p:spPr>
          <a:xfrm>
            <a:off x="7543800" y="3090672"/>
            <a:ext cx="4069080" cy="2450592"/>
          </a:xfrm>
          <a:prstGeom prst="roundRect">
            <a:avLst>
              <a:gd name="adj" fmla="val 2239"/>
            </a:avLst>
          </a:prstGeom>
          <a:solidFill>
            <a:srgbClr val="FAF0F0"/>
          </a:solidFill>
          <a:ln w="12700">
            <a:solidFill>
              <a:srgbClr val="D8A4A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18120" y="3337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必须保留的局限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818120" y="3721608"/>
            <a:ext cx="35204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训练目标依赖模拟系综，可能继承力场偏差。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主要benchmark体系数量有限，外推范围尚不充分。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模型生成独立样本，不提供转换速率和亚稳态寿命。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未显式输入温度、pH、盐浓度等环境条件。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研究启发与汇报结论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pic>
        <p:nvPicPr>
          <p:cNvPr id="21" name="Image 1" descr="E:\Obsidian\paper\论文\IDR IDP\Accurate Generation of Conformational Ensembles for Intrinsically Disordered Proteins with IDPFold\template_assets\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369" y="1349405"/>
            <a:ext cx="6263640" cy="251238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97680" y="3656533"/>
            <a:ext cx="3566160" cy="613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谢谢！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890</Words>
  <Application>Microsoft Office PowerPoint</Application>
  <PresentationFormat>宽屏</PresentationFormat>
  <Paragraphs>82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</vt:lpstr>
      <vt:lpstr>Arial</vt:lpstr>
      <vt:lpstr>Cambria Math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Huazhong Agricultural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Accurate Generation of Conformational Ensembles for Intrinsically Disordered Proteins with IDPFold</dc:title>
  <dc:subject>IDPFold论文组会汇报</dc:subject>
  <dc:creator>李叶霖</dc:creator>
  <cp:lastModifiedBy>文泽 武</cp:lastModifiedBy>
  <cp:revision>9</cp:revision>
  <dcterms:created xsi:type="dcterms:W3CDTF">2026-09-20T02:51:12Z</dcterms:created>
  <dcterms:modified xsi:type="dcterms:W3CDTF">2026-09-21T06:48:22Z</dcterms:modified>
</cp:coreProperties>
</file>