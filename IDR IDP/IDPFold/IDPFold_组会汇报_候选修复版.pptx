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SCIENCE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613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0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Accurate Generation of Conformational Ensembles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20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Intrinsically Disordered Proteins with IDPFold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21488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Junjie Zhu et al.  ·  Advanced Science  ·  2025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2743200"/>
            <a:ext cx="9966960" cy="0"/>
          </a:xfrm>
          <a:prstGeom prst="line">
            <a:avLst/>
          </a:prstGeom>
          <a:noFill/>
          <a:ln w="12700">
            <a:solidFill>
              <a:srgbClr val="D7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063240"/>
            <a:ext cx="97840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从单条氨基酸序列直接生成内在无序蛋白构象系综：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ESM2序列表征 + SE(3)等变几何扩散 + 主链框架去噪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4160520"/>
            <a:ext cx="9966960" cy="0"/>
          </a:xfrm>
          <a:prstGeom prst="line">
            <a:avLst/>
          </a:prstGeom>
          <a:noFill/>
          <a:ln w="12700">
            <a:solidFill>
              <a:srgbClr val="D7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5029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汇报人：李叶霖    时间：2026.09.20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5806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50" kern="0" dirty="0">
                <a:solidFill>
                  <a:srgbClr val="A5A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U A Z H O N G   A G R I C U L T U R A L   U N I V E R S I T 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研究问题与现有方法的不足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58368" y="84124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89154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1261872"/>
            <a:ext cx="10607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IDP/IDR不存在唯一稳定结构，功能来自整个构象分布，而不是单一“最优结构”。</a:t>
            </a:r>
            <a:endParaRPr lang="en-US" sz="1650" dirty="0"/>
          </a:p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评价对象应从一个坐标文件转向 p(X | sequence)：尺寸、接触、局部二级结构及实验平均量。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58368" y="2578608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62890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现有方法的不足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6FAF7"/>
          </a:solidFill>
          <a:ln w="12700">
            <a:solidFill>
              <a:srgbClr val="B9D2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3544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全原子MD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60120" y="3675888"/>
            <a:ext cx="29718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局部细节充分，但长时间采样昂贵，结果受力场和收敛影响。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4507992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6FAF7"/>
          </a:solidFill>
          <a:ln w="12700">
            <a:solidFill>
              <a:srgbClr val="B9D2C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54296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粗粒化MD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690872" y="3675888"/>
            <a:ext cx="29718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可覆盖整体尺寸与相行为，但局部主链和侧链细节有限。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8238744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7EEF0"/>
          </a:solidFill>
          <a:ln w="12700">
            <a:solidFill>
              <a:srgbClr val="D9A2A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85048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单结构预测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421624" y="3675888"/>
            <a:ext cx="29718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AlphaFold类模型给出单个构象，不能代表IDP的宽分布。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1005840" y="4983480"/>
            <a:ext cx="10149840" cy="777240"/>
          </a:xfrm>
          <a:prstGeom prst="roundRect">
            <a:avLst>
              <a:gd name="adj" fmla="val 7059"/>
            </a:avLst>
          </a:prstGeom>
          <a:solidFill>
            <a:srgbClr val="EAF4EE"/>
          </a:solidFill>
          <a:ln w="19050">
            <a:solidFill>
              <a:srgbClr val="007A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34440" y="520293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核心问题：能否只输入氨基酸序列，快速生成兼顾全局尺寸与局部主链细节的 IDP 构象系综？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核心思路与创新点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30352" y="11430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CD6D0"/>
            </a:solidFill>
            <a:prstDash val="solid"/>
          </a:ln>
          <a:effectLst>
            <a:outerShdw sx="100000" sy="100000" kx="0" ky="0" algn="bl" rotWithShape="0" blurRad="12700" dist="50800" dir="2700000">
              <a:srgbClr val="B8C0B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" y="1143000"/>
            <a:ext cx="3566160" cy="530352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1280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Sequence-to-ensemble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04672" y="2029968"/>
            <a:ext cx="30175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ESM2-650M提取单序列上下文；条件扩散从随机主链框架反复采样，输出多个构象。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86384" y="3840480"/>
            <a:ext cx="3054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→ p(X|s)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16552" y="11430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CD6D0"/>
            </a:solidFill>
            <a:prstDash val="solid"/>
          </a:ln>
          <a:effectLst>
            <a:outerShdw sx="100000" sy="100000" kx="0" ky="0" algn="bl" rotWithShape="0" blurRad="12700" dist="50800" dir="2700000">
              <a:srgbClr val="B8C0BB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16552" y="1143000"/>
            <a:ext cx="3566160" cy="530352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26280" y="1280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两阶段训练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690872" y="2029968"/>
            <a:ext cx="30175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先用实验折叠结构学习合法主链几何，再用IDP模拟系综微调分布。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4672584" y="3840480"/>
            <a:ext cx="3054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folded geometry → IDP ensemble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302752" y="11430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CD6D0"/>
            </a:solidFill>
            <a:prstDash val="solid"/>
          </a:ln>
          <a:effectLst>
            <a:outerShdw sx="100000" sy="100000" kx="0" ky="0" algn="bl" rotWithShape="0" blurRad="12700" dist="50800" dir="2700000">
              <a:srgbClr val="B8C0BB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02752" y="1143000"/>
            <a:ext cx="3566160" cy="530352"/>
          </a:xfrm>
          <a:prstGeom prst="rect">
            <a:avLst/>
          </a:prstGeom>
          <a:solidFill>
            <a:srgbClr val="7357A6"/>
          </a:solidFill>
          <a:ln w="12700">
            <a:solidFill>
              <a:srgbClr val="7357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0" y="1280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全局与局部兼顾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577072" y="2029968"/>
            <a:ext cx="30175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同时检查 Rg、构象分布、二级结构、化学位移和J-coupling，而非只匹配平均尺寸。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8558784" y="3840480"/>
            <a:ext cx="3054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3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size + local structure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097280" y="4983480"/>
            <a:ext cx="9966960" cy="713232"/>
          </a:xfrm>
          <a:prstGeom prst="roundRect">
            <a:avLst>
              <a:gd name="adj" fmla="val 6410"/>
            </a:avLst>
          </a:prstGeom>
          <a:solidFill>
            <a:srgbClr val="F6FAF7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25880" y="5184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与STARLING的侧重点不同：IDPFold更强调原子级主链几何与局部实验观测；代价是采样速度明显慢于秒级生成模型。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Method：IDPFold整体框架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53035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单序列条件下的SE(3)扩散生成</a:t>
            </a:r>
            <a:endParaRPr lang="en-US" sz="1050" dirty="0"/>
          </a:p>
        </p:txBody>
      </p:sp>
      <p:pic>
        <p:nvPicPr>
          <p:cNvPr id="6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pic>
        <p:nvPicPr>
          <p:cNvPr id="10" name="Image 1" descr="E:\Obsidian\paper\论文\IDR IDP\Accurate Generation of Conformational Ensembles for Intrinsically Disordered Proteins with IDPFold\Figures\Figure 1 IDPFold模型架构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841248"/>
            <a:ext cx="10972800" cy="44348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2960" y="5349240"/>
            <a:ext cx="10561320" cy="658368"/>
          </a:xfrm>
          <a:prstGeom prst="roundRect">
            <a:avLst>
              <a:gd name="adj" fmla="val 6944"/>
            </a:avLst>
          </a:prstGeom>
          <a:solidFill>
            <a:srgbClr val="F6FAF7"/>
          </a:solidFill>
          <a:ln w="12700">
            <a:solidFill>
              <a:srgbClr val="B7CCB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51560" y="5541264"/>
            <a:ext cx="10104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输入序列 → ESM2特征 → 初始化 s₀、z₀ 与带噪框架 Tₜ → 4个Denoising Blocks → 预测干净主链；重复随机采样得到ensemble</a:t>
            </a:r>
            <a:endParaRPr lang="en-US" sz="15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Method：Denoising Block的数据流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53035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同一扩散时刻t内，4个网络层逐步精修表示与框架</a:t>
            </a:r>
            <a:endParaRPr lang="en-US" sz="1050" dirty="0"/>
          </a:p>
        </p:txBody>
      </p:sp>
      <p:pic>
        <p:nvPicPr>
          <p:cNvPr id="6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40080" y="12344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D982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13441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82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sₗ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307592" y="134416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残基特征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L × 256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640080" y="242316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7357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" y="25328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357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zₗ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307592" y="253288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残基对特征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L × L × 128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640080" y="361188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2E6FA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" y="37216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6FA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Tₜ⁽ˡ⁾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307592" y="372160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位置 + 朝向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刚体框架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30632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2E6FA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363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IPA</a:t>
            </a:r>
            <a:endParaRPr lang="en-US" sz="1320" dirty="0"/>
          </a:p>
        </p:txBody>
      </p:sp>
      <p:sp>
        <p:nvSpPr>
          <p:cNvPr id="21" name="Shape 18"/>
          <p:cNvSpPr/>
          <p:nvPr/>
        </p:nvSpPr>
        <p:spPr>
          <a:xfrm>
            <a:off x="43251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5F66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365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残差 +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LayerNorm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59253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636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7357A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367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7357A6"/>
                </a:solidFill>
                <a:latin typeface="Microsoft YaHei"/>
                <a:ea typeface="Microsoft YaHei"/>
                <a:cs typeface="Microsoft YaHei"/>
              </a:rPr>
              <a:t>Transformer</a:t>
            </a:r>
            <a:endParaRPr lang="en-US" sz="1320" dirty="0"/>
          </a:p>
        </p:txBody>
      </p:sp>
      <p:sp>
        <p:nvSpPr>
          <p:cNvPr id="27" name="Shape 24"/>
          <p:cNvSpPr/>
          <p:nvPr/>
        </p:nvSpPr>
        <p:spPr>
          <a:xfrm>
            <a:off x="75255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638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Node MLP</a:t>
            </a:r>
            <a:endParaRPr lang="en-US" sz="1320" dirty="0"/>
          </a:p>
        </p:txBody>
      </p:sp>
      <p:sp>
        <p:nvSpPr>
          <p:cNvPr id="30" name="Shape 27"/>
          <p:cNvSpPr/>
          <p:nvPr/>
        </p:nvSpPr>
        <p:spPr>
          <a:xfrm>
            <a:off x="91257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4640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E8F4EC"/>
          </a:solidFill>
          <a:ln w="19050">
            <a:solidFill>
              <a:srgbClr val="007A3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5371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Frame Update</a:t>
            </a:r>
            <a:endParaRPr lang="en-US" sz="1320" dirty="0"/>
          </a:p>
        </p:txBody>
      </p:sp>
      <p:sp>
        <p:nvSpPr>
          <p:cNvPr id="33" name="Shape 30"/>
          <p:cNvSpPr/>
          <p:nvPr/>
        </p:nvSpPr>
        <p:spPr>
          <a:xfrm>
            <a:off x="2606040" y="1636776"/>
            <a:ext cx="457200" cy="786384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2606040" y="2825496"/>
            <a:ext cx="201168" cy="0"/>
          </a:xfrm>
          <a:prstGeom prst="line">
            <a:avLst/>
          </a:prstGeom>
          <a:noFill/>
          <a:ln w="19050">
            <a:solidFill>
              <a:srgbClr val="7357A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807208" y="2432304"/>
            <a:ext cx="0" cy="393192"/>
          </a:xfrm>
          <a:prstGeom prst="line">
            <a:avLst/>
          </a:prstGeom>
          <a:noFill/>
          <a:ln w="19050">
            <a:solidFill>
              <a:srgbClr val="7357A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807208" y="2432304"/>
            <a:ext cx="256032" cy="0"/>
          </a:xfrm>
          <a:prstGeom prst="line">
            <a:avLst/>
          </a:prstGeom>
          <a:noFill/>
          <a:ln w="19050">
            <a:solidFill>
              <a:srgbClr val="7357A6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2606040" y="4014216"/>
            <a:ext cx="201168" cy="0"/>
          </a:xfrm>
          <a:prstGeom prst="line">
            <a:avLst/>
          </a:prstGeom>
          <a:noFill/>
          <a:ln w="19050">
            <a:solidFill>
              <a:srgbClr val="2E6FA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807208" y="2578608"/>
            <a:ext cx="0" cy="1435608"/>
          </a:xfrm>
          <a:prstGeom prst="line">
            <a:avLst/>
          </a:prstGeom>
          <a:noFill/>
          <a:ln w="19050">
            <a:solidFill>
              <a:srgbClr val="2E6FA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807208" y="2578608"/>
            <a:ext cx="256032" cy="0"/>
          </a:xfrm>
          <a:prstGeom prst="line">
            <a:avLst/>
          </a:prstGeom>
          <a:noFill/>
          <a:ln w="19050">
            <a:solidFill>
              <a:srgbClr val="2E6FA3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7543800" y="338328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3EFF9"/>
          </a:solidFill>
          <a:ln w="17780">
            <a:solidFill>
              <a:srgbClr val="7357A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680960" y="357530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357A6"/>
                </a:solidFill>
                <a:latin typeface="Microsoft YaHei"/>
                <a:ea typeface="Microsoft YaHei"/>
                <a:cs typeface="Microsoft YaHei"/>
              </a:rPr>
              <a:t>Edge Update</a:t>
            </a:r>
            <a:endParaRPr lang="en-US" sz="1450" dirty="0"/>
          </a:p>
        </p:txBody>
      </p:sp>
      <p:sp>
        <p:nvSpPr>
          <p:cNvPr id="42" name="Shape 39"/>
          <p:cNvSpPr/>
          <p:nvPr/>
        </p:nvSpPr>
        <p:spPr>
          <a:xfrm>
            <a:off x="8476488" y="2816352"/>
            <a:ext cx="0" cy="548640"/>
          </a:xfrm>
          <a:prstGeom prst="line">
            <a:avLst/>
          </a:prstGeom>
          <a:noFill/>
          <a:ln w="16510">
            <a:solidFill>
              <a:srgbClr val="7357A6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9418320" y="3675888"/>
            <a:ext cx="640080" cy="0"/>
          </a:xfrm>
          <a:prstGeom prst="line">
            <a:avLst/>
          </a:prstGeom>
          <a:noFill/>
          <a:ln w="16510">
            <a:solidFill>
              <a:srgbClr val="7357A6"/>
            </a:solidFill>
            <a:prstDash val="solid"/>
            <a:tailEnd type="triangle"/>
          </a:ln>
        </p:spPr>
      </p:sp>
      <p:sp>
        <p:nvSpPr>
          <p:cNvPr id="44" name="Text 41"/>
          <p:cNvSpPr/>
          <p:nvPr/>
        </p:nvSpPr>
        <p:spPr>
          <a:xfrm>
            <a:off x="10113264" y="34930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357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zₗ₊₁</a:t>
            </a:r>
            <a:endParaRPr lang="en-US" sz="1900" dirty="0"/>
          </a:p>
        </p:txBody>
      </p:sp>
      <p:sp>
        <p:nvSpPr>
          <p:cNvPr id="45" name="Shape 42"/>
          <p:cNvSpPr/>
          <p:nvPr/>
        </p:nvSpPr>
        <p:spPr>
          <a:xfrm>
            <a:off x="2606040" y="2907792"/>
            <a:ext cx="0" cy="603504"/>
          </a:xfrm>
          <a:prstGeom prst="line">
            <a:avLst/>
          </a:prstGeom>
          <a:noFill/>
          <a:ln w="13970">
            <a:solidFill>
              <a:srgbClr val="7357A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606040" y="3511296"/>
            <a:ext cx="4919472" cy="0"/>
          </a:xfrm>
          <a:prstGeom prst="line">
            <a:avLst/>
          </a:prstGeom>
          <a:noFill/>
          <a:ln w="13970">
            <a:solidFill>
              <a:srgbClr val="7357A6"/>
            </a:solidFill>
            <a:prstDash val="solid"/>
            <a:tailEnd type="triangle"/>
          </a:ln>
        </p:spPr>
      </p:sp>
      <p:sp>
        <p:nvSpPr>
          <p:cNvPr id="47" name="Text 44"/>
          <p:cNvSpPr/>
          <p:nvPr/>
        </p:nvSpPr>
        <p:spPr>
          <a:xfrm>
            <a:off x="4800600" y="32552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357A6"/>
                </a:solidFill>
                <a:latin typeface="Microsoft YaHei"/>
                <a:ea typeface="Microsoft YaHei"/>
                <a:cs typeface="Microsoft YaHei"/>
              </a:rPr>
              <a:t>zₗ支路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3108960" y="4343400"/>
            <a:ext cx="6995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注意：t 是扩散噪声等级；l 是Denoising Block层号。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zₗ不是概率，Tₜ才是当前带噪三维结构。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685800" y="5349240"/>
            <a:ext cx="10744200" cy="548640"/>
          </a:xfrm>
          <a:prstGeom prst="roundRect">
            <a:avLst>
              <a:gd name="adj" fmla="val 666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14400" y="5513832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外层约1000个扩散步反复调用这套4-block网络：网络先预测 T̂₀，再由FrameDiffuser计算score并执行 Tₜ → Tₜ₋Δₜ。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Method：训练策略与目标函数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85800" y="105156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EDF5FA"/>
          </a:solidFill>
          <a:ln w="19050">
            <a:solidFill>
              <a:srgbClr val="2E6FA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29844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Stage 1  实验结构预训练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05840" y="1783080"/>
            <a:ext cx="4434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学习合法的局部主链几何与蛋白结构先验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训练样本覆盖大量折叠蛋白实验结构</a:t>
            </a:r>
            <a:endParaRPr lang="en-US" sz="1420" dirty="0"/>
          </a:p>
        </p:txBody>
      </p:sp>
      <p:sp>
        <p:nvSpPr>
          <p:cNvPr id="12" name="Shape 9"/>
          <p:cNvSpPr/>
          <p:nvPr/>
        </p:nvSpPr>
        <p:spPr>
          <a:xfrm>
            <a:off x="5879592" y="1645920"/>
            <a:ext cx="502920" cy="548640"/>
          </a:xfrm>
          <a:prstGeom prst="chevron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105156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F8F1E8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0" y="129844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Stage 2  IDP系综微调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812280" y="1783080"/>
            <a:ext cx="43434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利用IDP模拟构象学习宽分布与无序特征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模型继承模拟数据与力场的偏差</a:t>
            </a:r>
            <a:endParaRPr lang="en-US" sz="1420" dirty="0"/>
          </a:p>
        </p:txBody>
      </p:sp>
      <p:sp>
        <p:nvSpPr>
          <p:cNvPr id="16" name="Text 13"/>
          <p:cNvSpPr/>
          <p:nvPr/>
        </p:nvSpPr>
        <p:spPr>
          <a:xfrm>
            <a:off x="914400" y="32461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训练时：从真实结构 T₀ 随机抽 t ~ Uniform(0.01,1)，直接构造带噪框架 Tₜ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68680" y="38862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4087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DSM / score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051560" y="4480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学习逆扩散方向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51560" y="48280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1.00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636008" y="38862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73168" y="4087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Backbone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818888" y="4480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约束主链原子几何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818888" y="48280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0.25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403336" y="38862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0496" y="4087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Pairwise distance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586216" y="4480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约束整体残基距离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586216" y="48280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0.25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914400" y="551383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辅助几何损失主要在低噪声阶段启用；模型输出的是平衡分布样本，不是带物理时间的MD轨迹。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Result：全局尺寸预测与方法对照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2 全局Rg验证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6903720" cy="4526280"/>
          </a:xfrm>
          <a:prstGeom prst="rect">
            <a:avLst/>
          </a:prstGeom>
        </p:spPr>
      </p:pic>
      <p:pic>
        <p:nvPicPr>
          <p:cNvPr id="10" name="Image 2" descr="E:\Obsidian\paper\论文\IDR IDP\Accurate Generation of Conformational Ensembles for Intrinsically Disordered Proteins with IDPFold\Figures\Table 1 方法基准比较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914400"/>
            <a:ext cx="4069080" cy="22402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635240" y="3429000"/>
            <a:ext cx="3840480" cy="1965960"/>
          </a:xfrm>
          <a:prstGeom prst="roundRect">
            <a:avLst>
              <a:gd name="adj" fmla="val 2791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863840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核心观察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7882128" y="4041648"/>
            <a:ext cx="3337560" cy="11155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58个去除训练重叠的IDP体系上，平均Rg相对误差约 −0.06。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不仅比较平均Rg，还比较完整Rg分布。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并非每项都最优：CALVADOS 2的 |εRg|=0.02；J-coupling也不是表中最佳。</a:t>
            </a:r>
            <a:endParaRPr lang="en-US" sz="1320" dirty="0"/>
          </a:p>
        </p:txBody>
      </p:sp>
      <p:sp>
        <p:nvSpPr>
          <p:cNvPr id="14" name="Text 9"/>
          <p:cNvSpPr/>
          <p:nvPr/>
        </p:nvSpPr>
        <p:spPr>
          <a:xfrm>
            <a:off x="868680" y="564184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结论应表述为“多项全局与局部指标取得较好平衡”，而不是全面超过所有方法。</a:t>
            </a:r>
            <a:endParaRPr lang="en-US" sz="15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Result：是否学到正确的构象分布？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3 系综分布与聚类比较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7452360" cy="5257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051560"/>
            <a:ext cx="3474720" cy="4434840"/>
          </a:xfrm>
          <a:prstGeom prst="roundRect">
            <a:avLst>
              <a:gd name="adj" fmla="val 1842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36676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Figure 3读图主线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394192" y="1847088"/>
            <a:ext cx="2971800" cy="2697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比较IDPFold、CALVADOS与参考模拟系综。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Rg–RMSD二维密度展示构象覆盖范围，而非单个平均值。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聚类权重检验模型能否覆盖多个主要构象亚群。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二维投影仍可能掩盖高维差异，需要距离图、接触图和实验观测继续验证。</a:t>
            </a:r>
            <a:endParaRPr lang="en-US" sz="1420" dirty="0"/>
          </a:p>
        </p:txBody>
      </p:sp>
      <p:sp>
        <p:nvSpPr>
          <p:cNvPr id="13" name="Text 9"/>
          <p:cNvSpPr/>
          <p:nvPr/>
        </p:nvSpPr>
        <p:spPr>
          <a:xfrm>
            <a:off x="8366760" y="4892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重点：IDP任务要比较“分布形状与亚群权重”，不能只看一个Rg。</a:t>
            </a:r>
            <a:endParaRPr lang="en-US" sz="14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Result与评价：局部结构验证及局限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4 全原子MD与实验比较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6812280" cy="5257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5797296"/>
            <a:ext cx="6812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543800" y="932688"/>
            <a:ext cx="4069080" cy="1920240"/>
          </a:xfrm>
          <a:prstGeom prst="roundRect">
            <a:avLst>
              <a:gd name="adj" fmla="val 285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18120" y="1161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主要价值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818120" y="1572768"/>
            <a:ext cx="35204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主链框架允许直接评价二级结构、chemical shift和J-coupling。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局部指标用于排除“Rg正确但内部结构错误”的随机链。</a:t>
            </a:r>
            <a:endParaRPr lang="en-US" sz="1420" dirty="0"/>
          </a:p>
        </p:txBody>
      </p:sp>
      <p:sp>
        <p:nvSpPr>
          <p:cNvPr id="14" name="Shape 10"/>
          <p:cNvSpPr/>
          <p:nvPr/>
        </p:nvSpPr>
        <p:spPr>
          <a:xfrm>
            <a:off x="7543800" y="3090672"/>
            <a:ext cx="4069080" cy="2450592"/>
          </a:xfrm>
          <a:prstGeom prst="roundRect">
            <a:avLst>
              <a:gd name="adj" fmla="val 2239"/>
            </a:avLst>
          </a:prstGeom>
          <a:solidFill>
            <a:srgbClr val="FAF0F0"/>
          </a:solidFill>
          <a:ln w="12700">
            <a:solidFill>
              <a:srgbClr val="D8A4A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818120" y="33375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必须保留的局限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818120" y="3721608"/>
            <a:ext cx="35204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训练目标依赖模拟系综，可能继承力场偏差。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主要benchmark体系数量有限，外推范围尚不充分。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模型生成独立样本，不提供转换速率和亚稳态寿命。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未显式输入温度、pH、盐浓度等环境条件。</a:t>
            </a:r>
            <a:endParaRPr lang="en-US" sz="13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研究启发与汇报结论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77240" y="960120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2F7F4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1430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① 最值得借鉴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697480" y="110642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把问题定义为sequence-to-ensemble，而不是单结构预测；评价必须覆盖分布。</a:t>
            </a:r>
            <a:endParaRPr lang="en-US" sz="1480" dirty="0"/>
          </a:p>
        </p:txBody>
      </p:sp>
      <p:sp>
        <p:nvSpPr>
          <p:cNvPr id="12" name="Shape 9"/>
          <p:cNvSpPr/>
          <p:nvPr/>
        </p:nvSpPr>
        <p:spPr>
          <a:xfrm>
            <a:off x="777240" y="1947672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21305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② 模型主线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697480" y="209397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ESM2编码序列；IPA在三维几何中传播信息；扩散从随机刚体框架生成多个主链构象。</a:t>
            </a:r>
            <a:endParaRPr lang="en-US" sz="1480" dirty="0"/>
          </a:p>
        </p:txBody>
      </p:sp>
      <p:sp>
        <p:nvSpPr>
          <p:cNvPr id="15" name="Shape 12"/>
          <p:cNvSpPr/>
          <p:nvPr/>
        </p:nvSpPr>
        <p:spPr>
          <a:xfrm>
            <a:off x="777240" y="2935224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2F7F4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3118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③ 不能过度解读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697480" y="30815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没有动力学时间；没有给每个构象显式概率；部分组件也缺少针对性消融。</a:t>
            </a:r>
            <a:endParaRPr lang="en-US" sz="1480" dirty="0"/>
          </a:p>
        </p:txBody>
      </p:sp>
      <p:sp>
        <p:nvSpPr>
          <p:cNvPr id="18" name="Shape 15"/>
          <p:cNvSpPr/>
          <p:nvPr/>
        </p:nvSpPr>
        <p:spPr>
          <a:xfrm>
            <a:off x="777240" y="3922776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0120" y="41056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④ 可继续推进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697480" y="4069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加入离子强度/温度等条件，扩充实验约束，和STARLING、CALVADOS做统一benchmark。</a:t>
            </a:r>
            <a:endParaRPr lang="en-US" sz="1480" dirty="0"/>
          </a:p>
        </p:txBody>
      </p:sp>
      <p:pic>
        <p:nvPicPr>
          <p:cNvPr id="21" name="Image 1" descr="E:\Obsidian\paper\论文\IDR IDP\Accurate Generation of Conformational Ensembles for Intrinsically Disordered Proteins with IDPFold\template_assets\image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4983480"/>
            <a:ext cx="6263640" cy="7132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97680" y="570585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谢谢！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Huazhong Agricultural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Accurate Generation of Conformational Ensembles for Intrinsically Disordered Proteins with IDPFold</dc:title>
  <dc:subject>IDPFold论文组会汇报</dc:subject>
  <dc:creator>李叶霖</dc:creator>
  <cp:lastModifiedBy>李叶霖</cp:lastModifiedBy>
  <cp:revision>1</cp:revision>
  <dcterms:created xsi:type="dcterms:W3CDTF">2026-09-20T02:51:12Z</dcterms:created>
  <dcterms:modified xsi:type="dcterms:W3CDTF">2026-09-20T02:51:12Z</dcterms:modified>
</cp:coreProperties>
</file>