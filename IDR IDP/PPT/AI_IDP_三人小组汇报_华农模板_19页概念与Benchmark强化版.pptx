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这一页解决最容易混淆的几个词。conformer 是某一瞬间的一种三维结构；conformational collection 只是若干构象的集合，还没有说明每个构象出现的概率；statistical ensemble 则是构象集合加统计权重；conformational state 是由该 ensemble 描述的热力学状态。因此模型随机生成一千个不同结构，不代表已经恢复了真实 ensemble，关键还包括样本覆盖和权重。forward model 负责把每个构象转成实验可观测量，再按权重求平均。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为什么无序蛋白不能只预测一个结构？因为同一序列在同一环境下可访问多个构象，实验往往测到的是这些构象的加权平均或距离分布。ensemble 至少回答三件事：哪些构象存在、各自出现多少、环境改变后权重怎样变化。困难在于，不同分布可能产生非常接近的平均值，所以从少量实验反演 ensemble 是一个欠定问题。后面评价模型时，必须同时看全局、局部、分布和多种互补实验，而不能只看一个 Rg。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证据与边界必须分开。论文的强证据是部分设计在实验中表现出纳摩尔级亲和力、特异性和高稳定性，说明无序靶片段可以在结合时形成兼容构象。没有被证明的是一个 binder 能识别该 IDR 的全部自由构象，也不能把 AlphaFold 的高置信度当作真实结合证据。一个长 IDR 可能包含多个靶片段，不同 binder 可以针对不同片段；但每个设计任务都需要明确靶位点和实验终点。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grpSp>
        <p:nvGrpSpPr>
          <p:cNvPr id="4" name="cover-kicker"/>
          <p:cNvGrpSpPr/>
          <p:nvPr/>
        </p:nvGrpSpPr>
        <p:grpSpPr>
          <a:xfrm>
            <a:off x="753618" y="812482"/>
            <a:ext cx="4918710" cy="322707"/>
            <a:chOff x="753618" y="812482"/>
            <a:chExt cx="4918710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753618" y="812482"/>
              <a:ext cx="4918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 / IDR × ARTIFICIAL INTELLIGENCE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742950" y="1565910"/>
            <a:ext cx="6822948" cy="1235202"/>
            <a:chOff x="742950" y="1565910"/>
            <a:chExt cx="6822948" cy="1235202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56591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无序蛋白人工智能研究进展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8858" y="233172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序列、构象系综、功能与设计</a:t>
              </a:r>
            </a:p>
          </p:txBody>
        </p:sp>
      </p:grpSp>
      <p:grpSp>
        <p:nvGrpSpPr>
          <p:cNvPr id="10" name="cover-sub"/>
          <p:cNvGrpSpPr/>
          <p:nvPr/>
        </p:nvGrpSpPr>
        <p:grpSpPr>
          <a:xfrm>
            <a:off x="771906" y="3329940"/>
            <a:ext cx="6800088" cy="763905"/>
            <a:chOff x="771906" y="3329940"/>
            <a:chExt cx="6800088" cy="763905"/>
          </a:xfrm>
        </p:grpSpPr>
        <p:sp>
          <p:nvSpPr>
            <p:cNvPr id="8" name="TextBox 8"/>
            <p:cNvSpPr txBox="1"/>
            <p:nvPr/>
          </p:nvSpPr>
          <p:spPr>
            <a:xfrm>
              <a:off x="771906" y="3329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三人小组文献调研与研究路线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3430" y="3800475"/>
              <a:ext cx="679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以六篇代表性工作为节点，梳理 AI–IDP 的任务链、验证边界与可行研究方向</a:t>
              </a:r>
            </a:p>
          </p:txBody>
        </p:sp>
      </p:grpSp>
      <p:grpSp>
        <p:nvGrpSpPr>
          <p:cNvPr id="16" name="cover-meta"/>
          <p:cNvGrpSpPr/>
          <p:nvPr/>
        </p:nvGrpSpPr>
        <p:grpSpPr>
          <a:xfrm>
            <a:off x="774192" y="5048250"/>
            <a:ext cx="11074908" cy="1657350"/>
            <a:chOff x="774192" y="5048250"/>
            <a:chExt cx="11074908" cy="1657350"/>
          </a:xfrm>
        </p:grpSpPr>
        <p:sp>
          <p:nvSpPr>
            <p:cNvPr id="11" name="TextBox 11"/>
            <p:cNvSpPr txBox="1"/>
            <p:nvPr/>
          </p:nvSpPr>
          <p:spPr>
            <a:xfrm>
              <a:off x="774192" y="5454968"/>
              <a:ext cx="3023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汇报人：A、B、C 时间：2026.__.__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954" y="5947410"/>
              <a:ext cx="7313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3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U A Z H O N G A G R I C U L T U R A L U N I V E R S I T Y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7000" y="5048250"/>
              <a:ext cx="1066800" cy="10668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9997" y="6479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94056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先分清 IDP 与 IDR：蛋白质整体，还是其中一段？</a:t>
              </a:r>
            </a:p>
          </p:txBody>
        </p:sp>
      </p:grpSp>
      <p:grpSp>
        <p:nvGrpSpPr>
          <p:cNvPr id="15" name="idp-card"/>
          <p:cNvGrpSpPr/>
          <p:nvPr/>
        </p:nvGrpSpPr>
        <p:grpSpPr>
          <a:xfrm>
            <a:off x="609600" y="1333500"/>
            <a:ext cx="5143500" cy="3857625"/>
            <a:chOff x="609600" y="1333500"/>
            <a:chExt cx="5143500" cy="385762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143500" cy="3857625"/>
            </a:xfrm>
            <a:prstGeom prst="roundRect">
              <a:avLst>
                <a:gd name="adj" fmla="val 988"/>
              </a:avLst>
            </a:prstGeom>
            <a:solidFill>
              <a:schemeClr val="lt2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5632" y="1525905"/>
              <a:ext cx="24393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IDP｜内在无序蛋白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8680" y="1990725"/>
              <a:ext cx="3253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整条蛋白链在生理条件下不形成唯一、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稳定的有序三维结构。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061" y="428482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研究对象：整条链的构象分布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823" y="4672489"/>
              <a:ext cx="364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“无序”不是没有结构，而是没有单一主导结构。</a:t>
              </a:r>
            </a:p>
          </p:txBody>
        </p:sp>
      </p:grpSp>
      <p:grpSp>
        <p:nvGrpSpPr>
          <p:cNvPr id="24" name="idr-card"/>
          <p:cNvGrpSpPr/>
          <p:nvPr/>
        </p:nvGrpSpPr>
        <p:grpSpPr>
          <a:xfrm>
            <a:off x="5981700" y="1333500"/>
            <a:ext cx="5600700" cy="3857625"/>
            <a:chOff x="5981700" y="1333500"/>
            <a:chExt cx="5600700" cy="3857625"/>
          </a:xfrm>
        </p:grpSpPr>
        <p:sp>
          <p:nvSpPr>
            <p:cNvPr id="16" name="Rectangle 16"/>
            <p:cNvSpPr/>
            <p:nvPr/>
          </p:nvSpPr>
          <p:spPr>
            <a:xfrm>
              <a:off x="5981700" y="1333500"/>
              <a:ext cx="5600700" cy="3857625"/>
            </a:xfrm>
            <a:prstGeom prst="roundRect">
              <a:avLst>
                <a:gd name="adj" fmla="val 988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7732" y="1525905"/>
              <a:ext cx="21566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IDR｜内在无序区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0780" y="199072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一条蛋白质中的某个区域不形成稳定结构；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同一蛋白可同时含有折叠结构域与 IDR。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1161" y="453247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研究对象：蛋白内部特定区域的构象分布</a:t>
              </a:r>
            </a:p>
          </p:txBody>
        </p:sp>
      </p:grpSp>
      <p:grpSp>
        <p:nvGrpSpPr>
          <p:cNvPr id="28" name="distinction"/>
          <p:cNvGrpSpPr/>
          <p:nvPr/>
        </p:nvGrpSpPr>
        <p:grpSpPr>
          <a:xfrm>
            <a:off x="609600" y="5391150"/>
            <a:ext cx="10972800" cy="666750"/>
            <a:chOff x="609600" y="5391150"/>
            <a:chExt cx="10972800" cy="666750"/>
          </a:xfrm>
        </p:grpSpPr>
        <p:sp>
          <p:nvSpPr>
            <p:cNvPr id="25" name="Rectangle 25"/>
            <p:cNvSpPr/>
            <p:nvPr/>
          </p:nvSpPr>
          <p:spPr>
            <a:xfrm>
              <a:off x="609600" y="5391150"/>
              <a:ext cx="109728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5514975"/>
              <a:ext cx="8854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共同点：都需要用多个快速互变的构象描述。　区别：IDP 指整条蛋白，IDR 指蛋白中的局部区域。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485" y="5812631"/>
              <a:ext cx="6928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AF4EE"/>
                  </a:solidFill>
                  <a:latin typeface="+mn-lt"/>
                  <a:ea typeface="+mn-ea"/>
                  <a:cs typeface="+mn-cs"/>
                </a:rPr>
                <a:t>术语依据：Towards a Unified Framework… Box 1；文献中有时用“IDPs”统称两者，本汇报保持区分。</a:t>
              </a:r>
            </a:p>
          </p:txBody>
        </p:sp>
      </p:grp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904875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1619250"/>
                </a:moveTo>
                <a:cubicBezTo>
                  <a:pt x="2476500" y="142875"/>
                  <a:pt x="4476750" y="2857500"/>
                  <a:pt x="6858000" y="1428750"/>
                </a:cubicBezTo>
                <a:cubicBezTo>
                  <a:pt x="9239250" y="0"/>
                  <a:pt x="10001250" y="619125"/>
                  <a:pt x="12192000" y="242887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90410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从一个构象到 ensemble：差别在“集合 + 权重”</a:t>
              </a:r>
            </a:p>
          </p:txBody>
        </p:sp>
      </p:grpSp>
      <p:grpSp>
        <p:nvGrpSpPr>
          <p:cNvPr id="10" name="term-1"/>
          <p:cNvGrpSpPr/>
          <p:nvPr/>
        </p:nvGrpSpPr>
        <p:grpSpPr>
          <a:xfrm>
            <a:off x="609600" y="1381125"/>
            <a:ext cx="2371695" cy="2381250"/>
            <a:chOff x="609600" y="1381125"/>
            <a:chExt cx="2371695" cy="23812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2324100" cy="2381250"/>
            </a:xfrm>
            <a:prstGeom prst="roundRect">
              <a:avLst>
                <a:gd name="adj" fmla="val 1639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0387" y="1566386"/>
              <a:ext cx="217090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　构象 conformer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95350" y="1819275"/>
              <a:ext cx="1724025" cy="1085850"/>
            </a:xfrm>
            <a:custGeom>
              <a:avLst/>
              <a:gdLst/>
              <a:ahLst/>
              <a:cxnLst/>
              <a:rect l="l" t="t" r="r" b="b"/>
              <a:pathLst>
                <a:path w="1724025" h="1085850">
                  <a:moveTo>
                    <a:pt x="0" y="609600"/>
                  </a:moveTo>
                  <a:cubicBezTo>
                    <a:pt x="247650" y="133350"/>
                    <a:pt x="533400" y="1085850"/>
                    <a:pt x="819150" y="542925"/>
                  </a:cubicBezTo>
                  <a:cubicBezTo>
                    <a:pt x="1104900" y="0"/>
                    <a:pt x="1371600" y="228600"/>
                    <a:pt x="1724025" y="828675"/>
                  </a:cubicBez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2292" y="303561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蛋白链在某一瞬间的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一个三维结构。</a:t>
              </a:r>
            </a:p>
          </p:txBody>
        </p:sp>
      </p:grpSp>
      <p:grpSp>
        <p:nvGrpSpPr>
          <p:cNvPr id="16" name="term-2"/>
          <p:cNvGrpSpPr/>
          <p:nvPr/>
        </p:nvGrpSpPr>
        <p:grpSpPr>
          <a:xfrm>
            <a:off x="3295650" y="1381125"/>
            <a:ext cx="2324100" cy="2381250"/>
            <a:chOff x="3295650" y="1381125"/>
            <a:chExt cx="2324100" cy="2381250"/>
          </a:xfrm>
        </p:grpSpPr>
        <p:sp>
          <p:nvSpPr>
            <p:cNvPr id="11" name="Rectangle 11"/>
            <p:cNvSpPr/>
            <p:nvPr/>
          </p:nvSpPr>
          <p:spPr>
            <a:xfrm>
              <a:off x="3295650" y="1381125"/>
              <a:ext cx="2324100" cy="2381250"/>
            </a:xfrm>
            <a:prstGeom prst="roundRect">
              <a:avLst>
                <a:gd name="adj" fmla="val 1639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96437" y="1566386"/>
              <a:ext cx="13089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　构象集合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600450" y="1809750"/>
              <a:ext cx="1685925" cy="762000"/>
            </a:xfrm>
            <a:custGeom>
              <a:avLst/>
              <a:gdLst/>
              <a:ahLst/>
              <a:cxnLst/>
              <a:rect l="l" t="t" r="r" b="b"/>
              <a:pathLst>
                <a:path w="1685925" h="762000">
                  <a:moveTo>
                    <a:pt x="0" y="428625"/>
                  </a:moveTo>
                  <a:cubicBezTo>
                    <a:pt x="257175" y="95250"/>
                    <a:pt x="476250" y="762000"/>
                    <a:pt x="762000" y="381000"/>
                  </a:cubicBezTo>
                  <a:cubicBezTo>
                    <a:pt x="1047750" y="0"/>
                    <a:pt x="1304925" y="142875"/>
                    <a:pt x="1685925" y="619125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00450" y="2143125"/>
              <a:ext cx="1685925" cy="857250"/>
            </a:xfrm>
            <a:custGeom>
              <a:avLst/>
              <a:gdLst/>
              <a:ahLst/>
              <a:cxnLst/>
              <a:rect l="l" t="t" r="r" b="b"/>
              <a:pathLst>
                <a:path w="1685925" h="857250">
                  <a:moveTo>
                    <a:pt x="0" y="523875"/>
                  </a:moveTo>
                  <a:cubicBezTo>
                    <a:pt x="285750" y="95250"/>
                    <a:pt x="590550" y="857250"/>
                    <a:pt x="876300" y="428625"/>
                  </a:cubicBezTo>
                  <a:cubicBezTo>
                    <a:pt x="1162050" y="0"/>
                    <a:pt x="1400175" y="238125"/>
                    <a:pt x="1685925" y="714375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98342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多个可能构象的集合，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尚未说明各自概率。</a:t>
              </a:r>
            </a:p>
          </p:txBody>
        </p:sp>
      </p:grpSp>
      <p:grpSp>
        <p:nvGrpSpPr>
          <p:cNvPr id="23" name="term-3"/>
          <p:cNvGrpSpPr/>
          <p:nvPr/>
        </p:nvGrpSpPr>
        <p:grpSpPr>
          <a:xfrm>
            <a:off x="5981700" y="1381125"/>
            <a:ext cx="2324100" cy="2381250"/>
            <a:chOff x="5981700" y="1381125"/>
            <a:chExt cx="23241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5981700" y="1381125"/>
              <a:ext cx="2324100" cy="2381250"/>
            </a:xfrm>
            <a:prstGeom prst="roundRect">
              <a:avLst>
                <a:gd name="adj" fmla="val 1639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82487" y="1566386"/>
              <a:ext cx="197640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　统计 ensemble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238875" y="2095500"/>
              <a:ext cx="514350" cy="514350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6981825" y="2152650"/>
              <a:ext cx="400050" cy="40005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648575" y="2219325"/>
              <a:ext cx="266700" cy="266700"/>
            </a:xfrm>
            <a:prstGeom prst="ellipse">
              <a:avLst/>
            </a:prstGeom>
            <a:solidFill>
              <a:schemeClr val="accent5">
                <a:alpha val="18000"/>
              </a:schemeClr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4392" y="3035618"/>
              <a:ext cx="19168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构象集合 + 统计权重，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描述“出现多少”的分布。</a:t>
              </a:r>
            </a:p>
          </p:txBody>
        </p:sp>
      </p:grpSp>
      <p:grpSp>
        <p:nvGrpSpPr>
          <p:cNvPr id="28" name="term-4"/>
          <p:cNvGrpSpPr/>
          <p:nvPr/>
        </p:nvGrpSpPr>
        <p:grpSpPr>
          <a:xfrm>
            <a:off x="8667750" y="1381125"/>
            <a:ext cx="2914650" cy="2381250"/>
            <a:chOff x="8667750" y="1381125"/>
            <a:chExt cx="2914650" cy="2381250"/>
          </a:xfrm>
        </p:grpSpPr>
        <p:sp>
          <p:nvSpPr>
            <p:cNvPr id="24" name="Rectangle 24"/>
            <p:cNvSpPr/>
            <p:nvPr/>
          </p:nvSpPr>
          <p:spPr>
            <a:xfrm>
              <a:off x="8667750" y="1381125"/>
              <a:ext cx="2914650" cy="2381250"/>
            </a:xfrm>
            <a:prstGeom prst="roundRect">
              <a:avLst>
                <a:gd name="adj" fmla="val 160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68537" y="1566386"/>
              <a:ext cx="13089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　构象状态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3438" y="2092642"/>
              <a:ext cx="21032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P(X | 条件)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70442" y="3035618"/>
              <a:ext cx="18910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由统计 ensemble 描述的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热力学状态。</a:t>
              </a:r>
            </a:p>
          </p:txBody>
        </p:sp>
      </p:grpSp>
      <p:grpSp>
        <p:nvGrpSpPr>
          <p:cNvPr id="30" name="arrow-1"/>
          <p:cNvGrpSpPr/>
          <p:nvPr/>
        </p:nvGrpSpPr>
        <p:grpSpPr>
          <a:xfrm>
            <a:off x="3104007" y="2230755"/>
            <a:ext cx="176822" cy="410718"/>
            <a:chOff x="3104007" y="2230755"/>
            <a:chExt cx="176822" cy="410718"/>
          </a:xfrm>
        </p:grpSpPr>
        <p:sp>
          <p:nvSpPr>
            <p:cNvPr id="29" name="TextBox 29"/>
            <p:cNvSpPr txBox="1"/>
            <p:nvPr/>
          </p:nvSpPr>
          <p:spPr>
            <a:xfrm>
              <a:off x="3104007" y="22307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32" name="arrow-2"/>
          <p:cNvGrpSpPr/>
          <p:nvPr/>
        </p:nvGrpSpPr>
        <p:grpSpPr>
          <a:xfrm>
            <a:off x="5790057" y="2230755"/>
            <a:ext cx="176822" cy="410718"/>
            <a:chOff x="5790057" y="2230755"/>
            <a:chExt cx="176822" cy="410718"/>
          </a:xfrm>
        </p:grpSpPr>
        <p:sp>
          <p:nvSpPr>
            <p:cNvPr id="31" name="TextBox 31"/>
            <p:cNvSpPr txBox="1"/>
            <p:nvPr/>
          </p:nvSpPr>
          <p:spPr>
            <a:xfrm>
              <a:off x="5790057" y="22307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34" name="arrow-3"/>
          <p:cNvGrpSpPr/>
          <p:nvPr/>
        </p:nvGrpSpPr>
        <p:grpSpPr>
          <a:xfrm>
            <a:off x="8476107" y="2230755"/>
            <a:ext cx="176822" cy="410718"/>
            <a:chOff x="8476107" y="2230755"/>
            <a:chExt cx="176822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8476107" y="22307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40" name="forward-model"/>
          <p:cNvGrpSpPr/>
          <p:nvPr/>
        </p:nvGrpSpPr>
        <p:grpSpPr>
          <a:xfrm>
            <a:off x="609600" y="4095750"/>
            <a:ext cx="10972800" cy="1381125"/>
            <a:chOff x="609600" y="4095750"/>
            <a:chExt cx="10972800" cy="1381125"/>
          </a:xfrm>
        </p:grpSpPr>
        <p:sp>
          <p:nvSpPr>
            <p:cNvPr id="35" name="Rectangle 35"/>
            <p:cNvSpPr/>
            <p:nvPr/>
          </p:nvSpPr>
          <p:spPr>
            <a:xfrm>
              <a:off x="609600" y="4095750"/>
              <a:ext cx="10972800" cy="1381125"/>
            </a:xfrm>
            <a:prstGeom prst="roundRect">
              <a:avLst>
                <a:gd name="adj" fmla="val 2759"/>
              </a:avLst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9818" y="4298632"/>
              <a:ext cx="32858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为什么还需要 forward model？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961" y="470392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逐构象计算实验可观测量，再按统计权重求平均：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7975" y="4674394"/>
              <a:ext cx="20319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〈O〉 = Σ pᵢ Oᵢ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342" y="5093018"/>
              <a:ext cx="5965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因此，“模型生成很多不同结构”不自动等于得到了可信的统计 ensemble。</a:t>
              </a:r>
            </a:p>
          </p:txBody>
        </p:sp>
      </p:grpSp>
      <p:grpSp>
        <p:nvGrpSpPr>
          <p:cNvPr id="42" name="source-3"/>
          <p:cNvGrpSpPr/>
          <p:nvPr/>
        </p:nvGrpSpPr>
        <p:grpSpPr>
          <a:xfrm>
            <a:off x="603885" y="5755481"/>
            <a:ext cx="5695198" cy="220028"/>
            <a:chOff x="603885" y="5755481"/>
            <a:chExt cx="5695198" cy="220028"/>
          </a:xfrm>
        </p:grpSpPr>
        <p:sp>
          <p:nvSpPr>
            <p:cNvPr id="41" name="TextBox 41"/>
            <p:cNvSpPr txBox="1"/>
            <p:nvPr/>
          </p:nvSpPr>
          <p:spPr>
            <a:xfrm>
              <a:off x="603885" y="5755481"/>
              <a:ext cx="569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术语依据：Towards a Unified Framework… Box 1；权重示意不代表具体实验数值。</a:t>
              </a:r>
            </a:p>
          </p:txBody>
        </p:sp>
      </p:grpSp>
      <p:grpSp>
        <p:nvGrpSpPr>
          <p:cNvPr id="46" name="footer-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4" name="Rectangle 4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4"/>
          <p:cNvSpPr/>
          <p:nvPr/>
        </p:nvSpPr>
        <p:spPr>
          <a:xfrm>
            <a:off x="0" y="1905000"/>
            <a:ext cx="12192000" cy="2381250"/>
          </a:xfrm>
          <a:custGeom>
            <a:avLst/>
            <a:gdLst/>
            <a:ahLst/>
            <a:cxnLst/>
            <a:rect l="l" t="t" r="r" b="b"/>
            <a:pathLst>
              <a:path w="12192000" h="2381250">
                <a:moveTo>
                  <a:pt x="0" y="2381250"/>
                </a:moveTo>
                <a:cubicBezTo>
                  <a:pt x="2333625" y="381000"/>
                  <a:pt x="4286250" y="1524000"/>
                  <a:pt x="6477000" y="1238250"/>
                </a:cubicBezTo>
                <a:cubicBezTo>
                  <a:pt x="8667750" y="952500"/>
                  <a:pt x="9715500" y="0"/>
                  <a:pt x="12192000" y="14287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102092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为什么不能只预测一个结构？实验看到的是分布的投影</a:t>
              </a:r>
            </a:p>
          </p:txBody>
        </p:sp>
      </p:grpSp>
      <p:grpSp>
        <p:nvGrpSpPr>
          <p:cNvPr id="16" name="ensemble-panel"/>
          <p:cNvGrpSpPr/>
          <p:nvPr/>
        </p:nvGrpSpPr>
        <p:grpSpPr>
          <a:xfrm>
            <a:off x="609600" y="1333500"/>
            <a:ext cx="6667500" cy="3810000"/>
            <a:chOff x="609600" y="1333500"/>
            <a:chExt cx="6667500" cy="3810000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6667500" cy="3810000"/>
            </a:xfrm>
            <a:prstGeom prst="roundRect">
              <a:avLst>
                <a:gd name="adj" fmla="val 100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106" y="15392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同一序列在同一条件下，可快速访问多个构象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000125" y="1866900"/>
              <a:ext cx="2190750" cy="1276350"/>
            </a:xfrm>
            <a:custGeom>
              <a:avLst/>
              <a:gdLst/>
              <a:ahLst/>
              <a:cxnLst/>
              <a:rect l="l" t="t" r="r" b="b"/>
              <a:pathLst>
                <a:path w="2190750" h="1276350">
                  <a:moveTo>
                    <a:pt x="0" y="704850"/>
                  </a:moveTo>
                  <a:cubicBezTo>
                    <a:pt x="333375" y="180975"/>
                    <a:pt x="714375" y="1276350"/>
                    <a:pt x="1095375" y="638175"/>
                  </a:cubicBezTo>
                  <a:cubicBezTo>
                    <a:pt x="1476375" y="0"/>
                    <a:pt x="1781175" y="276225"/>
                    <a:pt x="2190750" y="942975"/>
                  </a:cubicBez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714625" y="2571750"/>
              <a:ext cx="2476500" cy="1428750"/>
            </a:xfrm>
            <a:custGeom>
              <a:avLst/>
              <a:gdLst/>
              <a:ahLst/>
              <a:cxnLst/>
              <a:rect l="l" t="t" r="r" b="b"/>
              <a:pathLst>
                <a:path w="2476500" h="1428750">
                  <a:moveTo>
                    <a:pt x="0" y="904875"/>
                  </a:moveTo>
                  <a:cubicBezTo>
                    <a:pt x="428625" y="285750"/>
                    <a:pt x="857250" y="1428750"/>
                    <a:pt x="1285875" y="714375"/>
                  </a:cubicBezTo>
                  <a:cubicBezTo>
                    <a:pt x="1714500" y="0"/>
                    <a:pt x="2000250" y="333375"/>
                    <a:pt x="2476500" y="10668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62500" y="1724025"/>
              <a:ext cx="2095500" cy="1276350"/>
            </a:xfrm>
            <a:custGeom>
              <a:avLst/>
              <a:gdLst/>
              <a:ahLst/>
              <a:cxnLst/>
              <a:rect l="l" t="t" r="r" b="b"/>
              <a:pathLst>
                <a:path w="2095500" h="1276350">
                  <a:moveTo>
                    <a:pt x="0" y="733425"/>
                  </a:moveTo>
                  <a:cubicBezTo>
                    <a:pt x="381000" y="257175"/>
                    <a:pt x="762000" y="1276350"/>
                    <a:pt x="1143000" y="638175"/>
                  </a:cubicBezTo>
                  <a:cubicBezTo>
                    <a:pt x="1524000" y="0"/>
                    <a:pt x="1714500" y="466725"/>
                    <a:pt x="2095500" y="1057275"/>
                  </a:cubicBez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0223" y="2949892"/>
              <a:ext cx="134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构象 A：权重 p₁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82848" y="4045268"/>
              <a:ext cx="134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A6423"/>
                  </a:solidFill>
                  <a:latin typeface="+mn-lt"/>
                  <a:ea typeface="+mn-ea"/>
                  <a:cs typeface="+mn-cs"/>
                </a:rPr>
                <a:t>构象 B：权重 p₂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59273" y="2949892"/>
              <a:ext cx="134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构象 C：权重 p₃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011" y="4551521"/>
              <a:ext cx="5502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SAXS、PRE、FRET 等通常反映这些构象的加权平均或距离分布。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535" y="4860131"/>
              <a:ext cx="3720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p₁、p₂、p₃ 仅表示概率概念，不是本页给出的实验值。</a:t>
              </a:r>
            </a:p>
          </p:txBody>
        </p:sp>
      </p:grpSp>
      <p:grpSp>
        <p:nvGrpSpPr>
          <p:cNvPr id="26" name="three-reasons"/>
          <p:cNvGrpSpPr/>
          <p:nvPr/>
        </p:nvGrpSpPr>
        <p:grpSpPr>
          <a:xfrm>
            <a:off x="7543800" y="1333500"/>
            <a:ext cx="4038600" cy="3810000"/>
            <a:chOff x="7543800" y="1333500"/>
            <a:chExt cx="40386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7543800" y="1333500"/>
              <a:ext cx="4038600" cy="3810000"/>
            </a:xfrm>
            <a:prstGeom prst="roundRect">
              <a:avLst>
                <a:gd name="adj" fmla="val 1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82306" y="1548765"/>
              <a:ext cx="2655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ensemble 决定三个问题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83830" y="2047875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① 哪些构象出现？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13192" y="2368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覆盖范围与构象多样性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3830" y="2867025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② 各出现多少？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13192" y="31880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统计权重与全局/局部分布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83830" y="3686175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③ 条件改变后怎样变？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3192" y="4007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盐浓度、温度、伙伴改变权重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4592" y="4550092"/>
              <a:ext cx="274834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相同平均值可能来自不同分布：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这就是 ensemble 推断的非唯一性。</a:t>
              </a:r>
            </a:p>
          </p:txBody>
        </p:sp>
      </p:grpSp>
      <p:grpSp>
        <p:nvGrpSpPr>
          <p:cNvPr id="30" name="takeaway-4"/>
          <p:cNvGrpSpPr/>
          <p:nvPr/>
        </p:nvGrpSpPr>
        <p:grpSpPr>
          <a:xfrm>
            <a:off x="609600" y="5410200"/>
            <a:ext cx="10972800" cy="651034"/>
            <a:chOff x="609600" y="5410200"/>
            <a:chExt cx="10972800" cy="651034"/>
          </a:xfrm>
        </p:grpSpPr>
        <p:sp>
          <p:nvSpPr>
            <p:cNvPr id="27" name="Rectangle 27"/>
            <p:cNvSpPr/>
            <p:nvPr/>
          </p:nvSpPr>
          <p:spPr>
            <a:xfrm>
              <a:off x="609600" y="5410200"/>
              <a:ext cx="109728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199" y="5544979"/>
              <a:ext cx="96365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核心任务不是“画出一条链”，而是学习条件依赖的 P(构象 | 序列，环境)，并证明该分布与实验一致。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485" y="5841206"/>
              <a:ext cx="7754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AF4EE"/>
                  </a:solidFill>
                  <a:latin typeface="+mn-lt"/>
                  <a:ea typeface="+mn-ea"/>
                  <a:cs typeface="+mn-cs"/>
                </a:rPr>
                <a:t>依据：Towards a Unified Framework… 关于 ensemble-averaged observables 与 underdetermination 的讨论。</a:t>
              </a:r>
            </a:p>
          </p:txBody>
        </p:sp>
      </p:grpSp>
      <p:grpSp>
        <p:nvGrpSpPr>
          <p:cNvPr id="34" name="footer-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61550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AI–IDP 研究链条与三个判断问题</a:t>
              </a:r>
            </a:p>
          </p:txBody>
        </p:sp>
      </p:grpSp>
      <p:grpSp>
        <p:nvGrpSpPr>
          <p:cNvPr id="23" name="chain"/>
          <p:cNvGrpSpPr/>
          <p:nvPr/>
        </p:nvGrpSpPr>
        <p:grpSpPr>
          <a:xfrm>
            <a:off x="648310" y="1394460"/>
            <a:ext cx="10485272" cy="1371791"/>
            <a:chOff x="648310" y="1394460"/>
            <a:chExt cx="10485272" cy="1371791"/>
          </a:xfrm>
        </p:grpSpPr>
        <p:sp>
          <p:nvSpPr>
            <p:cNvPr id="6" name="Line 6"/>
            <p:cNvSpPr/>
            <p:nvPr/>
          </p:nvSpPr>
          <p:spPr>
            <a:xfrm>
              <a:off x="1000125" y="20955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8310" y="2502218"/>
              <a:ext cx="703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6860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824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序列性质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638675" y="1828800"/>
              <a:ext cx="533400" cy="5334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35043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构象系综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59130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66028" y="2502218"/>
              <a:ext cx="1383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相互作用 / LLPS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5439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9424" y="2502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生物学功能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4965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929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工程设计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754" y="1394460"/>
              <a:ext cx="576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2447" y="1394460"/>
              <a:ext cx="154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STARLING / IDPFold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176" y="1394460"/>
              <a:ext cx="779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9078" y="1394460"/>
              <a:ext cx="2183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binder / interface peptide</a:t>
              </a:r>
            </a:p>
          </p:txBody>
        </p:sp>
      </p:grpSp>
      <p:grpSp>
        <p:nvGrpSpPr>
          <p:cNvPr id="28" name="question-1"/>
          <p:cNvGrpSpPr/>
          <p:nvPr/>
        </p:nvGrpSpPr>
        <p:grpSpPr>
          <a:xfrm>
            <a:off x="609600" y="3476625"/>
            <a:ext cx="3333750" cy="2000250"/>
            <a:chOff x="609600" y="3476625"/>
            <a:chExt cx="333375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 生成是否可信？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580" y="4124325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能否从一条序列生成覆盖合理、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局部结构可信的 ensemble？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72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关注：分布覆盖、实验约束、非唯一性</a:t>
              </a:r>
            </a:p>
          </p:txBody>
        </p:sp>
      </p:grpSp>
      <p:grpSp>
        <p:nvGrpSpPr>
          <p:cNvPr id="33" name="question-2"/>
          <p:cNvGrpSpPr/>
          <p:nvPr/>
        </p:nvGrpSpPr>
        <p:grpSpPr>
          <a:xfrm>
            <a:off x="4429125" y="3476625"/>
            <a:ext cx="3333750" cy="2000250"/>
            <a:chOff x="4429125" y="3476625"/>
            <a:chExt cx="3333750" cy="2000250"/>
          </a:xfrm>
        </p:grpSpPr>
        <p:sp>
          <p:nvSpPr>
            <p:cNvPr id="29" name="Rectangle 29"/>
            <p:cNvSpPr/>
            <p:nvPr/>
          </p:nvSpPr>
          <p:spPr>
            <a:xfrm>
              <a:off x="4429125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0867" y="3711892"/>
              <a:ext cx="248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 ensemble 是否真的有用？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0486" y="4132421"/>
              <a:ext cx="2926969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sequence + environment 之外，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 能否稳定提升功能预测？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1248" y="49582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关注：严格对照、跨环境泛化、消融</a:t>
              </a:r>
            </a:p>
          </p:txBody>
        </p:sp>
      </p:grpSp>
      <p:grpSp>
        <p:nvGrpSpPr>
          <p:cNvPr id="38" name="question-3"/>
          <p:cNvGrpSpPr/>
          <p:nvPr/>
        </p:nvGrpSpPr>
        <p:grpSpPr>
          <a:xfrm>
            <a:off x="8248650" y="3476625"/>
            <a:ext cx="3333750" cy="2000250"/>
            <a:chOff x="8248650" y="3476625"/>
            <a:chExt cx="3333750" cy="2000250"/>
          </a:xfrm>
        </p:grpSpPr>
        <p:sp>
          <p:nvSpPr>
            <p:cNvPr id="34" name="Rectangle 34"/>
            <p:cNvSpPr/>
            <p:nvPr/>
          </p:nvSpPr>
          <p:spPr>
            <a:xfrm>
              <a:off x="824865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039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 能否走向设计？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9630" y="4124325"/>
              <a:ext cx="2558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能否设计 IDR 序列、binder 或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凝聚体界面定位肽？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77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关注：设计目标、筛选终点、实验验证</a:t>
              </a:r>
            </a:p>
          </p:txBody>
        </p:sp>
      </p:grp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4232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GOOSE：可控 IDR 序列设计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985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GOOSE 核心流程图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建议选择：用户指定性质、序列生成、性质检查三部分均出现的图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怎样根据预设的序列或聚合物性质反向生成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408045" cy="1000125"/>
            <a:chOff x="6858000" y="2333625"/>
            <a:chExt cx="3408045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22516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输入：长度、电荷、疏水性、κ 等目标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输出：满足约束的 IDR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41470" cy="1000125"/>
            <a:chOff x="6858000" y="3333750"/>
            <a:chExt cx="414147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展示性质命中率、序列多样性，以及与天然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的比较。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284345" cy="1217295"/>
            <a:chOff x="6858000" y="4333875"/>
            <a:chExt cx="42843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1014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 主要设计序列，不直接输出具有统计权重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的三维 ensemble。</a:t>
              </a:r>
            </a:p>
          </p:txBody>
        </p:sp>
      </p:grp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8008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STARLING：快速构象系综生成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4084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STARLING 模型与输出图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建议选择：sequence / ionic strength 输入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以及距离图或三维构象输出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能否从序列和条件快速生成大量相互一致的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379470" cy="1000125"/>
            <a:chOff x="6858000" y="2333625"/>
            <a:chExt cx="337947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196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输入：IDR 序列及论文支持的环境条件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输出：残基距离表示和三维构象集合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60520" cy="1000125"/>
            <a:chOff x="6858000" y="3333750"/>
            <a:chExt cx="41605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776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突出采样速度、全局尺寸分布和与参考 ensemb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 的一致性。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808095" cy="1217295"/>
            <a:chOff x="6858000" y="4333875"/>
            <a:chExt cx="380809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62521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模型生成的样本仍受训练 ensemble 和力场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质量限制。</a:t>
              </a:r>
            </a:p>
          </p:txBody>
        </p:sp>
      </p:grp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7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4587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IDPFold：残基刚体扩散生成 ensemble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75989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IDPFold Figure 1C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 sequence feature、Initialization Block、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Denoising Block 和输出路径</a:t>
              </a:r>
            </a:p>
          </p:txBody>
        </p:sp>
      </p:grpSp>
      <p:grpSp>
        <p:nvGrpSpPr>
          <p:cNvPr id="16" name="method-summary"/>
          <p:cNvGrpSpPr/>
          <p:nvPr/>
        </p:nvGrpSpPr>
        <p:grpSpPr>
          <a:xfrm>
            <a:off x="6858000" y="1333500"/>
            <a:ext cx="3102229" cy="2095500"/>
            <a:chOff x="6858000" y="1333500"/>
            <a:chExt cx="3102229" cy="2095500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209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59549" y="14682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输入、输出与证据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0311" y="1894046"/>
              <a:ext cx="2899918" cy="13836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输入：氨基酸序列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输出：多次采样的主链构象与扭转角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证据：同时检查全局尺寸和局部结构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边界：样本不提供状态转换速率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也不能自动解释为真实平衡权重</a:t>
              </a:r>
            </a:p>
          </p:txBody>
        </p:sp>
      </p:grpSp>
      <p:grpSp>
        <p:nvGrpSpPr>
          <p:cNvPr id="21" name="compact-comparison"/>
          <p:cNvGrpSpPr/>
          <p:nvPr/>
        </p:nvGrpSpPr>
        <p:grpSpPr>
          <a:xfrm>
            <a:off x="6858000" y="3714750"/>
            <a:ext cx="4724400" cy="1952625"/>
            <a:chOff x="6858000" y="3714750"/>
            <a:chExt cx="4724400" cy="1952625"/>
          </a:xfrm>
        </p:grpSpPr>
        <p:sp>
          <p:nvSpPr>
            <p:cNvPr id="17" name="Rectangle 17"/>
            <p:cNvSpPr/>
            <p:nvPr/>
          </p:nvSpPr>
          <p:spPr>
            <a:xfrm>
              <a:off x="6858000" y="3714750"/>
              <a:ext cx="4724400" cy="1952625"/>
            </a:xfrm>
            <a:prstGeom prst="roundRect">
              <a:avLst>
                <a:gd name="adj" fmla="val 19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8980" y="3886200"/>
              <a:ext cx="2896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页内小节：与 STARLING 的区别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86600" y="4219575"/>
              <a:ext cx="4248150" cy="9525"/>
            </a:xfrm>
            <a:custGeom>
              <a:avLst/>
              <a:gdLst/>
              <a:ahLst/>
              <a:cxnLst/>
              <a:rect l="l" t="t" r="r" b="b"/>
              <a:pathLst>
                <a:path w="4248150" h="9525">
                  <a:moveTo>
                    <a:pt x="0" y="0"/>
                  </a:moveTo>
                  <a:lnTo>
                    <a:pt x="4248150" y="0"/>
                  </a:lnTo>
                </a:path>
              </a:pathLst>
            </a:custGeom>
            <a:noFill/>
            <a:ln w="9525">
              <a:solidFill>
                <a:srgbClr val="7FA99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42" y="4397692"/>
              <a:ext cx="35798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STARLING：强调快速采样与距离表示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IDPFold：强调残基刚体、主链几何与扩散生成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共同局限：都依赖参考 ensemble / 模拟分布，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“生成得像”不等于“真实权重和动力学正确”</a:t>
              </a:r>
            </a:p>
          </p:txBody>
        </p:sp>
      </p:grp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9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108383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Unified framework：生成只是起点，必须形成验证闭环</a:t>
              </a:r>
            </a:p>
          </p:txBody>
        </p:sp>
      </p:grpSp>
      <p:grpSp>
        <p:nvGrpSpPr>
          <p:cNvPr id="9" name="module-exp"/>
          <p:cNvGrpSpPr/>
          <p:nvPr/>
        </p:nvGrpSpPr>
        <p:grpSpPr>
          <a:xfrm>
            <a:off x="609600" y="1381125"/>
            <a:ext cx="3048000" cy="1809750"/>
            <a:chOff x="609600" y="1381125"/>
            <a:chExt cx="30480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304800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567815"/>
              <a:ext cx="12038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实验观测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961" y="2036921"/>
              <a:ext cx="2124456" cy="869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SAXS：全局尺寸/形状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PRE、smFRET：距离/接触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NMR：局部构象倾向</a:t>
              </a:r>
            </a:p>
          </p:txBody>
        </p:sp>
      </p:grpSp>
      <p:grpSp>
        <p:nvGrpSpPr>
          <p:cNvPr id="13" name="module-gen"/>
          <p:cNvGrpSpPr/>
          <p:nvPr/>
        </p:nvGrpSpPr>
        <p:grpSpPr>
          <a:xfrm>
            <a:off x="4572000" y="1381125"/>
            <a:ext cx="3048000" cy="1809750"/>
            <a:chOff x="4572000" y="1381125"/>
            <a:chExt cx="3048000" cy="1809750"/>
          </a:xfrm>
        </p:grpSpPr>
        <p:sp>
          <p:nvSpPr>
            <p:cNvPr id="10" name="Rectangle 10"/>
            <p:cNvSpPr/>
            <p:nvPr/>
          </p:nvSpPr>
          <p:spPr>
            <a:xfrm>
              <a:off x="4572000" y="1381125"/>
              <a:ext cx="3048000" cy="1809750"/>
            </a:xfrm>
            <a:prstGeom prst="roundRect">
              <a:avLst>
                <a:gd name="adj" fmla="val 21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91456" y="1567815"/>
              <a:ext cx="19307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计算生成与整合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3361" y="2036921"/>
              <a:ext cx="1745742" cy="869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/ 粗粒化 / 知识库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机器学习生成模型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最大熵或统计重加权</a:t>
              </a:r>
            </a:p>
          </p:txBody>
        </p:sp>
      </p:grpSp>
      <p:grpSp>
        <p:nvGrpSpPr>
          <p:cNvPr id="17" name="module-val"/>
          <p:cNvGrpSpPr/>
          <p:nvPr/>
        </p:nvGrpSpPr>
        <p:grpSpPr>
          <a:xfrm>
            <a:off x="8534400" y="1381125"/>
            <a:ext cx="3048000" cy="1809750"/>
            <a:chOff x="8534400" y="1381125"/>
            <a:chExt cx="3048000" cy="1809750"/>
          </a:xfrm>
        </p:grpSpPr>
        <p:sp>
          <p:nvSpPr>
            <p:cNvPr id="14" name="Rectangle 14"/>
            <p:cNvSpPr/>
            <p:nvPr/>
          </p:nvSpPr>
          <p:spPr>
            <a:xfrm>
              <a:off x="8534400" y="1381125"/>
              <a:ext cx="3048000" cy="1809750"/>
            </a:xfrm>
            <a:prstGeom prst="roundRect">
              <a:avLst>
                <a:gd name="adj" fmla="val 21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3856" y="1567815"/>
              <a:ext cx="1446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验证与比较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55761" y="2036921"/>
              <a:ext cx="1817878" cy="869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物理与几何合理性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互补实验交叉验证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分布距离与功能相关性</a:t>
              </a:r>
            </a:p>
          </p:txBody>
        </p:sp>
      </p:grpSp>
      <p:grpSp>
        <p:nvGrpSpPr>
          <p:cNvPr id="19" name="arrow-left"/>
          <p:cNvGrpSpPr/>
          <p:nvPr/>
        </p:nvGrpSpPr>
        <p:grpSpPr>
          <a:xfrm>
            <a:off x="3940683" y="2188845"/>
            <a:ext cx="202082" cy="469392"/>
            <a:chOff x="3940683" y="2188845"/>
            <a:chExt cx="202082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3940683" y="2188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1" name="arrow-right"/>
          <p:cNvGrpSpPr/>
          <p:nvPr/>
        </p:nvGrpSpPr>
        <p:grpSpPr>
          <a:xfrm>
            <a:off x="7903083" y="2188845"/>
            <a:ext cx="202082" cy="469392"/>
            <a:chOff x="7903083" y="2188845"/>
            <a:chExt cx="202082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7903083" y="2188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33" name="loop-panel"/>
          <p:cNvGrpSpPr/>
          <p:nvPr/>
        </p:nvGrpSpPr>
        <p:grpSpPr>
          <a:xfrm>
            <a:off x="609600" y="3619500"/>
            <a:ext cx="10972800" cy="1905000"/>
            <a:chOff x="609600" y="3619500"/>
            <a:chExt cx="109728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619500"/>
              <a:ext cx="1097280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437" y="3823811"/>
              <a:ext cx="38154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闭环中的关键桥梁：forward model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961" y="4246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候选构象与权重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13507" y="41738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1761" y="42467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预测实验可观测量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23357" y="41738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0661" y="4246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与真实观测比较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71282" y="41738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89061" y="4246721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调整权重 / 模型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19250" y="4610100"/>
              <a:ext cx="8715375" cy="676275"/>
            </a:xfrm>
            <a:custGeom>
              <a:avLst/>
              <a:gdLst/>
              <a:ahLst/>
              <a:cxnLst/>
              <a:rect l="l" t="t" r="r" b="b"/>
              <a:pathLst>
                <a:path w="8715375" h="676275">
                  <a:moveTo>
                    <a:pt x="8715375" y="0"/>
                  </a:moveTo>
                  <a:cubicBezTo>
                    <a:pt x="8477250" y="628650"/>
                    <a:pt x="1000125" y="676275"/>
                    <a:pt x="0" y="1524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28107" y="5073968"/>
              <a:ext cx="4535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互补数据约束同一个 ensemble，避免只拟合一个平均量</a:t>
              </a:r>
            </a:p>
          </p:txBody>
        </p:sp>
      </p:grpSp>
      <p:grpSp>
        <p:nvGrpSpPr>
          <p:cNvPr id="35" name="takeaway-9"/>
          <p:cNvGrpSpPr/>
          <p:nvPr/>
        </p:nvGrpSpPr>
        <p:grpSpPr>
          <a:xfrm>
            <a:off x="602742" y="5769292"/>
            <a:ext cx="7568513" cy="264033"/>
            <a:chOff x="602742" y="5769292"/>
            <a:chExt cx="7568513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602742" y="5769292"/>
              <a:ext cx="7568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综述在本汇报中承担“评价框架”：判断 STARLING、IDPFold 等输出是否真的可解释、可比较。</a:t>
              </a:r>
            </a:p>
          </p:txBody>
        </p:sp>
      </p:grp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0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101725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Benchmark 不是“再测一次”，而是统一条件下的盲测</a:t>
              </a:r>
            </a:p>
          </p:txBody>
        </p:sp>
      </p:grpSp>
      <p:grpSp>
        <p:nvGrpSpPr>
          <p:cNvPr id="10" name="benchmark-definition"/>
          <p:cNvGrpSpPr/>
          <p:nvPr/>
        </p:nvGrpSpPr>
        <p:grpSpPr>
          <a:xfrm>
            <a:off x="609600" y="1238250"/>
            <a:ext cx="10972800" cy="685800"/>
            <a:chOff x="609600" y="1238250"/>
            <a:chExt cx="10972800" cy="685800"/>
          </a:xfrm>
        </p:grpSpPr>
        <p:sp>
          <p:nvSpPr>
            <p:cNvPr id="6" name="Rectangle 6"/>
            <p:cNvSpPr/>
            <p:nvPr/>
          </p:nvSpPr>
          <p:spPr>
            <a:xfrm>
              <a:off x="609600" y="123825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199" y="1363504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6761" y="1379696"/>
              <a:ext cx="8043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固定靶标、环境条件、可观测量与评分规则，用未公开验证数据比较不同方法的真实泛化能力。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7904" y="166116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普通论文自测常使用不同数据、不同参考系综与不同指标，结果不能直接横向比较。</a:t>
              </a:r>
            </a:p>
          </p:txBody>
        </p:sp>
      </p:grpSp>
      <p:grpSp>
        <p:nvGrpSpPr>
          <p:cNvPr id="16" name="stage-1"/>
          <p:cNvGrpSpPr/>
          <p:nvPr/>
        </p:nvGrpSpPr>
        <p:grpSpPr>
          <a:xfrm>
            <a:off x="609600" y="2238375"/>
            <a:ext cx="2381250" cy="1714500"/>
            <a:chOff x="609600" y="2238375"/>
            <a:chExt cx="2381250" cy="1714500"/>
          </a:xfrm>
        </p:grpSpPr>
        <p:sp>
          <p:nvSpPr>
            <p:cNvPr id="11" name="Rectangle 11"/>
            <p:cNvSpPr/>
            <p:nvPr/>
          </p:nvSpPr>
          <p:spPr>
            <a:xfrm>
              <a:off x="609600" y="2238375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242887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7217" y="25293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0818" y="24984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独立整理数据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2987992"/>
              <a:ext cx="1085278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多类 IDP / IDR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多种互补实验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明确实验条件</a:t>
              </a:r>
            </a:p>
          </p:txBody>
        </p:sp>
      </p:grpSp>
      <p:grpSp>
        <p:nvGrpSpPr>
          <p:cNvPr id="22" name="stage-2"/>
          <p:cNvGrpSpPr/>
          <p:nvPr/>
        </p:nvGrpSpPr>
        <p:grpSpPr>
          <a:xfrm>
            <a:off x="3476625" y="2238375"/>
            <a:ext cx="2381250" cy="1714500"/>
            <a:chOff x="3476625" y="2238375"/>
            <a:chExt cx="2381250" cy="1714500"/>
          </a:xfrm>
        </p:grpSpPr>
        <p:sp>
          <p:nvSpPr>
            <p:cNvPr id="17" name="Rectangle 17"/>
            <p:cNvSpPr/>
            <p:nvPr/>
          </p:nvSpPr>
          <p:spPr>
            <a:xfrm>
              <a:off x="3476625" y="2238375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29025" y="242887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44242" y="25293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77843" y="2498408"/>
              <a:ext cx="1545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提交 ensemble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8367" y="2987992"/>
              <a:ext cx="138531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统一输入格式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禁止查看盲测标签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同时报告计算成本</a:t>
              </a:r>
            </a:p>
          </p:txBody>
        </p:sp>
      </p:grpSp>
      <p:grpSp>
        <p:nvGrpSpPr>
          <p:cNvPr id="28" name="stage-3"/>
          <p:cNvGrpSpPr/>
          <p:nvPr/>
        </p:nvGrpSpPr>
        <p:grpSpPr>
          <a:xfrm>
            <a:off x="6343650" y="2238375"/>
            <a:ext cx="2381250" cy="1714500"/>
            <a:chOff x="6343650" y="2238375"/>
            <a:chExt cx="2381250" cy="1714500"/>
          </a:xfrm>
        </p:grpSpPr>
        <p:sp>
          <p:nvSpPr>
            <p:cNvPr id="23" name="Rectangle 23"/>
            <p:cNvSpPr/>
            <p:nvPr/>
          </p:nvSpPr>
          <p:spPr>
            <a:xfrm>
              <a:off x="6343650" y="2238375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496050" y="242887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1267" y="25293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44868" y="24984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统一自动评分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2987992"/>
              <a:ext cx="1436751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held-out 数据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全局 + 局部 + 分布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不确定性与残差</a:t>
              </a:r>
            </a:p>
          </p:txBody>
        </p:sp>
      </p:grpSp>
      <p:grpSp>
        <p:nvGrpSpPr>
          <p:cNvPr id="34" name="stage-4"/>
          <p:cNvGrpSpPr/>
          <p:nvPr/>
        </p:nvGrpSpPr>
        <p:grpSpPr>
          <a:xfrm>
            <a:off x="9210675" y="2238375"/>
            <a:ext cx="2371725" cy="1714500"/>
            <a:chOff x="9210675" y="2238375"/>
            <a:chExt cx="2371725" cy="1714500"/>
          </a:xfrm>
        </p:grpSpPr>
        <p:sp>
          <p:nvSpPr>
            <p:cNvPr id="29" name="Rectangle 29"/>
            <p:cNvSpPr/>
            <p:nvPr/>
          </p:nvSpPr>
          <p:spPr>
            <a:xfrm>
              <a:off x="9210675" y="2238375"/>
              <a:ext cx="2371725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363075" y="242887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78292" y="25293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1893" y="24984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持续公开结果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32417" y="2987992"/>
              <a:ext cx="15567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方法排名与指标剖面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失败案例可追踪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新数据循环更新</a:t>
              </a:r>
            </a:p>
          </p:txBody>
        </p:sp>
      </p:grpSp>
      <p:grpSp>
        <p:nvGrpSpPr>
          <p:cNvPr id="36" name="arrow-1"/>
          <p:cNvGrpSpPr/>
          <p:nvPr/>
        </p:nvGrpSpPr>
        <p:grpSpPr>
          <a:xfrm>
            <a:off x="3122676" y="2927509"/>
            <a:ext cx="183507" cy="425386"/>
            <a:chOff x="3122676" y="2927509"/>
            <a:chExt cx="183507" cy="425386"/>
          </a:xfrm>
        </p:grpSpPr>
        <p:sp>
          <p:nvSpPr>
            <p:cNvPr id="35" name="TextBox 35"/>
            <p:cNvSpPr txBox="1"/>
            <p:nvPr/>
          </p:nvSpPr>
          <p:spPr>
            <a:xfrm>
              <a:off x="3122676" y="2927509"/>
              <a:ext cx="18350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38" name="arrow-2"/>
          <p:cNvGrpSpPr/>
          <p:nvPr/>
        </p:nvGrpSpPr>
        <p:grpSpPr>
          <a:xfrm>
            <a:off x="5989701" y="2927509"/>
            <a:ext cx="183507" cy="425386"/>
            <a:chOff x="5989701" y="2927509"/>
            <a:chExt cx="183507" cy="425386"/>
          </a:xfrm>
        </p:grpSpPr>
        <p:sp>
          <p:nvSpPr>
            <p:cNvPr id="37" name="TextBox 37"/>
            <p:cNvSpPr txBox="1"/>
            <p:nvPr/>
          </p:nvSpPr>
          <p:spPr>
            <a:xfrm>
              <a:off x="5989701" y="2927509"/>
              <a:ext cx="18350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40" name="arrow-3"/>
          <p:cNvGrpSpPr/>
          <p:nvPr/>
        </p:nvGrpSpPr>
        <p:grpSpPr>
          <a:xfrm>
            <a:off x="8856726" y="2927509"/>
            <a:ext cx="183507" cy="425386"/>
            <a:chOff x="8856726" y="2927509"/>
            <a:chExt cx="183507" cy="425386"/>
          </a:xfrm>
        </p:grpSpPr>
        <p:sp>
          <p:nvSpPr>
            <p:cNvPr id="39" name="TextBox 39"/>
            <p:cNvSpPr txBox="1"/>
            <p:nvPr/>
          </p:nvSpPr>
          <p:spPr>
            <a:xfrm>
              <a:off x="8856726" y="2927509"/>
              <a:ext cx="18350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45" name="benchmark-controls"/>
          <p:cNvGrpSpPr/>
          <p:nvPr/>
        </p:nvGrpSpPr>
        <p:grpSpPr>
          <a:xfrm>
            <a:off x="609600" y="4324350"/>
            <a:ext cx="10972800" cy="1238250"/>
            <a:chOff x="609600" y="4324350"/>
            <a:chExt cx="10972800" cy="1238250"/>
          </a:xfrm>
        </p:grpSpPr>
        <p:sp>
          <p:nvSpPr>
            <p:cNvPr id="41" name="Rectangle 41"/>
            <p:cNvSpPr/>
            <p:nvPr/>
          </p:nvSpPr>
          <p:spPr>
            <a:xfrm>
              <a:off x="609600" y="4324350"/>
              <a:ext cx="10972800" cy="1238250"/>
            </a:xfrm>
            <a:prstGeom prst="roundRect">
              <a:avLst>
                <a:gd name="adj" fmla="val 3077"/>
              </a:avLst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9818" y="4508182"/>
              <a:ext cx="25486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IDP-Bench 要控制的变量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342" y="4902518"/>
              <a:ext cx="9763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同一靶标与条件　｜　同一实验观测　｜　同一 forward model 或明确版本　｜　同一评分代码　｜　盲测集不参与训练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723" y="5205889"/>
              <a:ext cx="6578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目标不是选出“万能冠军”，而是知道每种方法在哪类序列、尺度与观测上可靠或失效。</a:t>
              </a:r>
            </a:p>
          </p:txBody>
        </p:sp>
      </p:grpSp>
      <p:grpSp>
        <p:nvGrpSpPr>
          <p:cNvPr id="47" name="source-10"/>
          <p:cNvGrpSpPr/>
          <p:nvPr/>
        </p:nvGrpSpPr>
        <p:grpSpPr>
          <a:xfrm>
            <a:off x="603885" y="5803106"/>
            <a:ext cx="5983074" cy="220028"/>
            <a:chOff x="603885" y="5803106"/>
            <a:chExt cx="5983074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603885" y="5803106"/>
              <a:ext cx="5983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依据：Towards a Unified Framework… 提出的 IDP-Bench 四阶段双年周期与盲测原则。</a:t>
              </a:r>
            </a:p>
          </p:txBody>
        </p:sp>
      </p:grp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1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93113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怎么评价 ensemble：几何、实验、分布与稳健性</a:t>
              </a:r>
            </a:p>
          </p:txBody>
        </p:sp>
      </p:grpSp>
      <p:grpSp>
        <p:nvGrpSpPr>
          <p:cNvPr id="9" name="metric-physical"/>
          <p:cNvGrpSpPr/>
          <p:nvPr/>
        </p:nvGrpSpPr>
        <p:grpSpPr>
          <a:xfrm>
            <a:off x="609600" y="1285875"/>
            <a:ext cx="3429000" cy="1666875"/>
            <a:chOff x="609600" y="1285875"/>
            <a:chExt cx="3429000" cy="1666875"/>
          </a:xfrm>
        </p:grpSpPr>
        <p:sp>
          <p:nvSpPr>
            <p:cNvPr id="6" name="Rectangle 6"/>
            <p:cNvSpPr/>
            <p:nvPr/>
          </p:nvSpPr>
          <p:spPr>
            <a:xfrm>
              <a:off x="609600" y="1285875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199" y="1468279"/>
              <a:ext cx="21759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物理与几何有效性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1854518"/>
              <a:ext cx="2431161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键长、键角、扭转角、碰撞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作用：先排除“不像蛋白”的样本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但通过这一层不等于分布正确</a:t>
              </a:r>
            </a:p>
          </p:txBody>
        </p:sp>
      </p:grpSp>
      <p:grpSp>
        <p:nvGrpSpPr>
          <p:cNvPr id="13" name="metric-global"/>
          <p:cNvGrpSpPr/>
          <p:nvPr/>
        </p:nvGrpSpPr>
        <p:grpSpPr>
          <a:xfrm>
            <a:off x="4381500" y="1285875"/>
            <a:ext cx="3429000" cy="1666875"/>
            <a:chOff x="4381500" y="1285875"/>
            <a:chExt cx="3429000" cy="1666875"/>
          </a:xfrm>
        </p:grpSpPr>
        <p:sp>
          <p:nvSpPr>
            <p:cNvPr id="10" name="Rectangle 10"/>
            <p:cNvSpPr/>
            <p:nvPr/>
          </p:nvSpPr>
          <p:spPr>
            <a:xfrm>
              <a:off x="4381500" y="1285875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02099" y="1468279"/>
              <a:ext cx="26433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全局 ensemble 一致性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3242" y="1854518"/>
              <a:ext cx="231114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 χ²：散射曲线拟合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P(r) KL：整体距离分布差异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同时报告 Rg、端到端距离分布</a:t>
              </a:r>
            </a:p>
          </p:txBody>
        </p:sp>
      </p:grpSp>
      <p:grpSp>
        <p:nvGrpSpPr>
          <p:cNvPr id="17" name="metric-local"/>
          <p:cNvGrpSpPr/>
          <p:nvPr/>
        </p:nvGrpSpPr>
        <p:grpSpPr>
          <a:xfrm>
            <a:off x="8153400" y="1285875"/>
            <a:ext cx="3429000" cy="1666875"/>
            <a:chOff x="8153400" y="1285875"/>
            <a:chExt cx="3429000" cy="1666875"/>
          </a:xfrm>
        </p:grpSpPr>
        <p:sp>
          <p:nvSpPr>
            <p:cNvPr id="14" name="Rectangle 14"/>
            <p:cNvSpPr/>
            <p:nvPr/>
          </p:nvSpPr>
          <p:spPr>
            <a:xfrm>
              <a:off x="8153400" y="1285875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3999" y="1468279"/>
              <a:ext cx="19632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局部与长程约束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5142" y="1854518"/>
              <a:ext cx="255117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 RMSE：瞬时长程接触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RDC Q-factor：局部取向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smFRET Wasserstein：距离分布</a:t>
              </a:r>
            </a:p>
          </p:txBody>
        </p:sp>
      </p:grpSp>
      <p:grpSp>
        <p:nvGrpSpPr>
          <p:cNvPr id="21" name="metric-distribution"/>
          <p:cNvGrpSpPr/>
          <p:nvPr/>
        </p:nvGrpSpPr>
        <p:grpSpPr>
          <a:xfrm>
            <a:off x="609600" y="3238500"/>
            <a:ext cx="3429000" cy="1666875"/>
            <a:chOff x="609600" y="3238500"/>
            <a:chExt cx="3429000" cy="1666875"/>
          </a:xfrm>
        </p:grpSpPr>
        <p:sp>
          <p:nvSpPr>
            <p:cNvPr id="18" name="Rectangle 18"/>
            <p:cNvSpPr/>
            <p:nvPr/>
          </p:nvSpPr>
          <p:spPr>
            <a:xfrm>
              <a:off x="609600" y="3238500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199" y="3420904"/>
              <a:ext cx="21759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　分布而非只看均值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3807142"/>
              <a:ext cx="234543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 / Wasserstein / Hellinger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距离图与接触概率的完整分布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检查覆盖不足与模式坍缩</a:t>
              </a:r>
            </a:p>
          </p:txBody>
        </p:sp>
      </p:grpSp>
      <p:grpSp>
        <p:nvGrpSpPr>
          <p:cNvPr id="25" name="metric-robustness"/>
          <p:cNvGrpSpPr/>
          <p:nvPr/>
        </p:nvGrpSpPr>
        <p:grpSpPr>
          <a:xfrm>
            <a:off x="4381500" y="3238500"/>
            <a:ext cx="3429000" cy="1666875"/>
            <a:chOff x="4381500" y="3238500"/>
            <a:chExt cx="3429000" cy="1666875"/>
          </a:xfrm>
        </p:grpSpPr>
        <p:sp>
          <p:nvSpPr>
            <p:cNvPr id="22" name="Rectangle 22"/>
            <p:cNvSpPr/>
            <p:nvPr/>
          </p:nvSpPr>
          <p:spPr>
            <a:xfrm>
              <a:off x="4381500" y="3238500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2099" y="3420904"/>
              <a:ext cx="19632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　泛化与交叉验证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3242" y="3807142"/>
              <a:ext cx="22425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留出一种观测，再预测它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新序列 / 新长度 / 新环境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避免只复现训练或重加权数据</a:t>
              </a:r>
            </a:p>
          </p:txBody>
        </p:sp>
      </p:grpSp>
      <p:grpSp>
        <p:nvGrpSpPr>
          <p:cNvPr id="29" name="metric-uncertainty"/>
          <p:cNvGrpSpPr/>
          <p:nvPr/>
        </p:nvGrpSpPr>
        <p:grpSpPr>
          <a:xfrm>
            <a:off x="8153400" y="3238500"/>
            <a:ext cx="3429000" cy="1666875"/>
            <a:chOff x="8153400" y="3238500"/>
            <a:chExt cx="3429000" cy="1666875"/>
          </a:xfrm>
        </p:grpSpPr>
        <p:sp>
          <p:nvSpPr>
            <p:cNvPr id="26" name="Rectangle 26"/>
            <p:cNvSpPr/>
            <p:nvPr/>
          </p:nvSpPr>
          <p:spPr>
            <a:xfrm>
              <a:off x="8153400" y="3238500"/>
              <a:ext cx="3429000" cy="1666875"/>
            </a:xfrm>
            <a:prstGeom prst="roundRect">
              <a:avLst>
                <a:gd name="adj" fmla="val 2286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73999" y="3420904"/>
              <a:ext cx="19632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　不确定性与效率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142" y="3807142"/>
              <a:ext cx="2499741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实验误差 + forward model 误差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bootstrap / 置信区间 / 残差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采样成本与有效独立样本数</a:t>
              </a:r>
            </a:p>
          </p:txBody>
        </p:sp>
      </p:grpSp>
      <p:grpSp>
        <p:nvGrpSpPr>
          <p:cNvPr id="33" name="takeaway-11"/>
          <p:cNvGrpSpPr/>
          <p:nvPr/>
        </p:nvGrpSpPr>
        <p:grpSpPr>
          <a:xfrm>
            <a:off x="609600" y="5191125"/>
            <a:ext cx="10972800" cy="857250"/>
            <a:chOff x="609600" y="5191125"/>
            <a:chExt cx="10972800" cy="857250"/>
          </a:xfrm>
        </p:grpSpPr>
        <p:sp>
          <p:nvSpPr>
            <p:cNvPr id="30" name="Rectangle 30"/>
            <p:cNvSpPr/>
            <p:nvPr/>
          </p:nvSpPr>
          <p:spPr>
            <a:xfrm>
              <a:off x="609600" y="5191125"/>
              <a:ext cx="109728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961" y="5313521"/>
              <a:ext cx="6771818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评分原则：综合分数便于排序，但必须公开各指标剖面；单一 Rg、距离图或实验拟合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都不足以证明 ensemble 正确。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866" y="5811202"/>
              <a:ext cx="8021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AF4EE"/>
                  </a:solidFill>
                  <a:latin typeface="+mn-lt"/>
                  <a:ea typeface="+mn-ea"/>
                  <a:cs typeface="+mn-cs"/>
                </a:rPr>
                <a:t>示例：SAXS χ²、P(r) KL、PRE RMSE、RDC Q-factor、smFRET Wasserstein；同时报告实验与 forward-model 不确定性。</a:t>
              </a:r>
            </a:p>
          </p:txBody>
        </p:sp>
      </p:grp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8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101060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LLPSense：环境信息有用，但 ensemble 机制尚未证明</a:t>
              </a:r>
            </a:p>
          </p:txBody>
        </p:sp>
      </p:grpSp>
      <p:grpSp>
        <p:nvGrpSpPr>
          <p:cNvPr id="17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83444" y="1588294"/>
              <a:ext cx="271462" cy="286543"/>
              <a:chOff x="883444" y="1588294"/>
              <a:chExt cx="271462" cy="28654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28687" y="1588294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90487"/>
                    </a:moveTo>
                    <a:cubicBezTo>
                      <a:pt x="0" y="140462"/>
                      <a:pt x="40513" y="180975"/>
                      <a:pt x="90487" y="180975"/>
                    </a:cubicBezTo>
                    <a:cubicBezTo>
                      <a:pt x="140462" y="180975"/>
                      <a:pt x="180975" y="140462"/>
                      <a:pt x="180975" y="90487"/>
                    </a:cubicBezTo>
                    <a:cubicBezTo>
                      <a:pt x="180975" y="40513"/>
                      <a:pt x="140462" y="0"/>
                      <a:pt x="90487" y="0"/>
                    </a:cubicBezTo>
                    <a:cubicBezTo>
                      <a:pt x="40513" y="0"/>
                      <a:pt x="0" y="40513"/>
                      <a:pt x="0" y="90487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19175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0" y="0"/>
                    </a:moveTo>
                    <a:cubicBezTo>
                      <a:pt x="20103" y="5022"/>
                      <a:pt x="30162" y="35184"/>
                      <a:pt x="30162" y="90487"/>
                    </a:cubicBezTo>
                    <a:cubicBezTo>
                      <a:pt x="30162" y="145790"/>
                      <a:pt x="20103" y="175953"/>
                      <a:pt x="0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9012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30162" y="0"/>
                    </a:moveTo>
                    <a:cubicBezTo>
                      <a:pt x="10059" y="5022"/>
                      <a:pt x="0" y="35184"/>
                      <a:pt x="0" y="90487"/>
                    </a:cubicBezTo>
                    <a:cubicBezTo>
                      <a:pt x="0" y="145790"/>
                      <a:pt x="10059" y="175953"/>
                      <a:pt x="30162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8687" y="1678781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3444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9337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9012" y="181451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9175" y="176926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0"/>
                    </a:moveTo>
                    <a:lnTo>
                      <a:pt x="0" y="45244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69442" y="2092642"/>
              <a:ext cx="37513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LLPSense 数据流与结果图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优先显示 sequence、environment 与 LLPS 输出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并标出独立测试或环境信息带来的增益</a:t>
              </a:r>
            </a:p>
          </p:txBody>
        </p:sp>
      </p:grpSp>
      <p:grpSp>
        <p:nvGrpSpPr>
          <p:cNvPr id="21" name="llps-evidence"/>
          <p:cNvGrpSpPr/>
          <p:nvPr/>
        </p:nvGrpSpPr>
        <p:grpSpPr>
          <a:xfrm>
            <a:off x="6849999" y="1458754"/>
            <a:ext cx="4732401" cy="1922621"/>
            <a:chOff x="6849999" y="1458754"/>
            <a:chExt cx="4732401" cy="1922621"/>
          </a:xfrm>
        </p:grpSpPr>
        <p:sp>
          <p:nvSpPr>
            <p:cNvPr id="18" name="TextBox 18"/>
            <p:cNvSpPr txBox="1"/>
            <p:nvPr/>
          </p:nvSpPr>
          <p:spPr>
            <a:xfrm>
              <a:off x="6849999" y="145875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论文能够支持的判断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0" y="1809750"/>
              <a:ext cx="4724400" cy="1571625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361" y="1998821"/>
              <a:ext cx="3107309" cy="110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输入：序列特征 + 原文定义的环境变量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输出：分类、分数或相边界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重点：环境条件是否改善独立测试表现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意义：功能行为不能只看序列本身</a:t>
              </a:r>
            </a:p>
          </p:txBody>
        </p:sp>
      </p:grpSp>
      <p:grpSp>
        <p:nvGrpSpPr>
          <p:cNvPr id="25" name="llps-gap"/>
          <p:cNvGrpSpPr/>
          <p:nvPr/>
        </p:nvGrpSpPr>
        <p:grpSpPr>
          <a:xfrm>
            <a:off x="6849999" y="3792379"/>
            <a:ext cx="4732401" cy="1874996"/>
            <a:chOff x="6849999" y="3792379"/>
            <a:chExt cx="4732401" cy="1874996"/>
          </a:xfrm>
        </p:grpSpPr>
        <p:sp>
          <p:nvSpPr>
            <p:cNvPr id="22" name="TextBox 22"/>
            <p:cNvSpPr txBox="1"/>
            <p:nvPr/>
          </p:nvSpPr>
          <p:spPr>
            <a:xfrm>
              <a:off x="6849999" y="379237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论文尚不能支持的判断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4143375"/>
              <a:ext cx="4724400" cy="1524000"/>
            </a:xfrm>
            <a:prstGeom prst="roundRect">
              <a:avLst>
                <a:gd name="adj" fmla="val 2500"/>
              </a:avLst>
            </a:prstGeom>
            <a:solidFill>
              <a:srgbClr val="FFF7F5"/>
            </a:solidFill>
            <a:ln w="9525">
              <a:solidFill>
                <a:srgbClr val="E2B0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9361" y="4322921"/>
              <a:ext cx="3729482" cy="1078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没有显式使用 ensemble，就不能说明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“构象分布 → 多价相互作用 → LLPS”机制成立。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真正的断点：ensemble 是否比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environment 提供额外信息？</a:t>
              </a:r>
            </a:p>
          </p:txBody>
        </p:sp>
      </p:grp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3246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如何验证 ensemble 是否提供额外信息</a:t>
              </a:r>
            </a:p>
          </p:txBody>
        </p:sp>
      </p:grpSp>
      <p:grpSp>
        <p:nvGrpSpPr>
          <p:cNvPr id="19" name="models"/>
          <p:cNvGrpSpPr/>
          <p:nvPr/>
        </p:nvGrpSpPr>
        <p:grpSpPr>
          <a:xfrm>
            <a:off x="601218" y="1393508"/>
            <a:ext cx="5628132" cy="2854642"/>
            <a:chOff x="601218" y="1393508"/>
            <a:chExt cx="5628132" cy="2854642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393508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一、固定数据与划分，只改变模型输入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949768"/>
              <a:ext cx="881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 仅序列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4392" y="1949768"/>
              <a:ext cx="1448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→ LLPS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326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回答：序列本身能做到什么程度？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62890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rgbClr val="7FA9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768918"/>
              <a:ext cx="1282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M2 序列 + 环境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4392" y="2768918"/>
              <a:ext cx="2466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condition → LLPS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0518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回答：盐、温度、浓度等条件是否带来增益？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448050"/>
              <a:ext cx="5619750" cy="800100"/>
            </a:xfrm>
            <a:prstGeom prst="roundRect">
              <a:avLst>
                <a:gd name="adj" fmla="val 4762"/>
              </a:avLst>
            </a:prstGeom>
            <a:solidFill>
              <a:srgbClr val="F0F7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342" y="3588068"/>
              <a:ext cx="233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M3 序列 + 环境 + ensemble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6392" y="3588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加入构象统计特征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104" y="3870960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回答：在公平对照下，ensemble 是否仍提供额外信息？</a:t>
              </a:r>
            </a:p>
          </p:txBody>
        </p:sp>
      </p:grpSp>
      <p:grpSp>
        <p:nvGrpSpPr>
          <p:cNvPr id="27" name="validation"/>
          <p:cNvGrpSpPr/>
          <p:nvPr/>
        </p:nvGrpSpPr>
        <p:grpSpPr>
          <a:xfrm>
            <a:off x="6659118" y="1393508"/>
            <a:ext cx="4923282" cy="2801493"/>
            <a:chOff x="6659118" y="1393508"/>
            <a:chExt cx="4923282" cy="2801493"/>
          </a:xfrm>
        </p:grpSpPr>
        <p:sp>
          <p:nvSpPr>
            <p:cNvPr id="20" name="TextBox 20"/>
            <p:cNvSpPr txBox="1"/>
            <p:nvPr/>
          </p:nvSpPr>
          <p:spPr>
            <a:xfrm>
              <a:off x="6659118" y="1393508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二、避免“看起来提升”的四项检查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667500" y="180975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数据划分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按蛋白而不是按样本随机划分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502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跨环境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训练条件之外测试泛化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55892" y="2978468"/>
              <a:ext cx="3364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消融实验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去掉 Rg、接触或局部结构特征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55892" y="3454718"/>
              <a:ext cx="408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跨生成器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更换 STARLING / IDPFold / CALVADOS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9309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预测性能、校准、跨条件稳定性</a:t>
              </a:r>
            </a:p>
          </p:txBody>
        </p:sp>
      </p:grpSp>
      <p:grpSp>
        <p:nvGrpSpPr>
          <p:cNvPr id="32" name="decision"/>
          <p:cNvGrpSpPr/>
          <p:nvPr/>
        </p:nvGrpSpPr>
        <p:grpSpPr>
          <a:xfrm>
            <a:off x="609600" y="4762500"/>
            <a:ext cx="10972800" cy="1190625"/>
            <a:chOff x="609600" y="4762500"/>
            <a:chExt cx="10972800" cy="1190625"/>
          </a:xfrm>
        </p:grpSpPr>
        <p:sp>
          <p:nvSpPr>
            <p:cNvPr id="28" name="Rectangle 28"/>
            <p:cNvSpPr/>
            <p:nvPr/>
          </p:nvSpPr>
          <p:spPr>
            <a:xfrm>
              <a:off x="609600" y="4762500"/>
              <a:ext cx="10972800" cy="1190625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943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判定标准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5293042"/>
              <a:ext cx="553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 在蛋白级划分、跨环境和跨生成器测试中仍稳定优于 M2。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342" y="5607368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提升只来自数据泄漏、某个生成器偏差，或加入序列长度等简单特征后消失。</a:t>
              </a:r>
            </a:p>
          </p:txBody>
        </p:sp>
      </p:grp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5664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柔性 IDR 靶标的 binder 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5828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Diffusing binders Figure 1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保留靶序列、共同扩散、ProteinMPNN、AF2筛选和实验验证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770120" cy="1000125"/>
            <a:chOff x="6858000" y="1333500"/>
            <a:chExt cx="477012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靶标没有固定结构时，怎样设计能够结合它的有结构蛋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4389120" cy="1000125"/>
            <a:chOff x="6858000" y="2333625"/>
            <a:chExt cx="4389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4206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输入：选定 IDR 靶序列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输出：结合态靶构象、binder 主链和 binder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842510" cy="1000125"/>
            <a:chOff x="6858000" y="3333750"/>
            <a:chExt cx="484251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选择一个结合亲和力结果和一个代表性复合物结构。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941445" cy="1217295"/>
            <a:chOff x="6858000" y="4333875"/>
            <a:chExt cx="39414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7585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生成的是候选结合态，不是自由态 ensemble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的统计重建。</a:t>
              </a:r>
            </a:p>
          </p:txBody>
        </p:sp>
      </p:grp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4"/>
          <p:cNvSpPr/>
          <p:nvPr/>
        </p:nvSpPr>
        <p:spPr>
          <a:xfrm>
            <a:off x="0" y="15240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714500"/>
                </a:moveTo>
                <a:cubicBezTo>
                  <a:pt x="2095500" y="857250"/>
                  <a:pt x="4000500" y="2762250"/>
                  <a:pt x="6667500" y="1381125"/>
                </a:cubicBezTo>
                <a:cubicBezTo>
                  <a:pt x="9334500" y="0"/>
                  <a:pt x="10287000" y="2190750"/>
                  <a:pt x="12192000" y="2286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641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binder 设计的证据与适用边界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81125"/>
            <a:ext cx="10972800" cy="1809750"/>
            <a:chOff x="609600" y="1381125"/>
            <a:chExt cx="109728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10972800" cy="1809750"/>
            </a:xfrm>
            <a:prstGeom prst="roundRect">
              <a:avLst>
                <a:gd name="adj" fmla="val 2105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635919"/>
              <a:ext cx="183925" cy="271462"/>
              <a:chOff x="927212" y="1635919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635919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726406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635919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8680" y="2124075"/>
              <a:ext cx="3263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放置代表性靶标结果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建议只选一个：G3BP1、PrP 或 IL-2RG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显示靶片段、设计复合物和实验亲和力</a:t>
              </a:r>
            </a:p>
          </p:txBody>
        </p:sp>
      </p:grpSp>
      <p:grpSp>
        <p:nvGrpSpPr>
          <p:cNvPr id="17" name="proved"/>
          <p:cNvGrpSpPr/>
          <p:nvPr/>
        </p:nvGrpSpPr>
        <p:grpSpPr>
          <a:xfrm>
            <a:off x="599694" y="3742372"/>
            <a:ext cx="4632579" cy="1608773"/>
            <a:chOff x="599694" y="3742372"/>
            <a:chExt cx="4632579" cy="1608773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37423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论文证明了什么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38625"/>
              <a:ext cx="4630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柔性靶序列可以在设计过程中形成兼容的结合构象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4648200"/>
              <a:ext cx="2742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设计的 binder 具有稳定折叠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5057775"/>
              <a:ext cx="3216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部分候选通过亲和力和特异性实验</a:t>
              </a:r>
            </a:p>
          </p:txBody>
        </p:sp>
      </p:grpSp>
      <p:grpSp>
        <p:nvGrpSpPr>
          <p:cNvPr id="22" name="not-proved"/>
          <p:cNvGrpSpPr/>
          <p:nvPr/>
        </p:nvGrpSpPr>
        <p:grpSpPr>
          <a:xfrm>
            <a:off x="6324219" y="3742372"/>
            <a:ext cx="3552254" cy="1608773"/>
            <a:chOff x="6324219" y="3742372"/>
            <a:chExt cx="3552254" cy="1608773"/>
          </a:xfrm>
        </p:grpSpPr>
        <p:sp>
          <p:nvSpPr>
            <p:cNvPr id="18" name="TextBox 18"/>
            <p:cNvSpPr txBox="1"/>
            <p:nvPr/>
          </p:nvSpPr>
          <p:spPr>
            <a:xfrm>
              <a:off x="6324219" y="3742372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论文没有证明什么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6505" y="4238625"/>
              <a:ext cx="2944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没有恢复完整自由态 ensemble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6505" y="4648200"/>
              <a:ext cx="3549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一个 binder 不需要覆盖所有自由构象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6505" y="5057775"/>
              <a:ext cx="2834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AF2 置信度不能替代结合实验</a:t>
              </a:r>
            </a:p>
          </p:txBody>
        </p:sp>
      </p:grpSp>
      <p:grpSp>
        <p:nvGrpSpPr>
          <p:cNvPr id="26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18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凝聚体界面的 de novo 肽设计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1285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interface peptide 设计流程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建议包括序列设计、凝聚体定位和界面富集的显微证据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5044440" cy="1000125"/>
            <a:chOff x="6858000" y="1333500"/>
            <a:chExt cx="504444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怎样设计能够优先定位在生物分子凝聚体界面的短肽？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246120" cy="1000125"/>
            <a:chOff x="6858000" y="2333625"/>
            <a:chExt cx="3246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063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输入：按原文填写凝聚体与设计条件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输出：具有界面定位偏好的新肽序列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用显微图和定量富集指标证明肽位于界面，而不是只进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入凝聚体内部。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503420" cy="1217295"/>
            <a:chOff x="6858000" y="4333875"/>
            <a:chExt cx="4503420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3205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这项工作面向凝聚体介观环境，不等同于针对单个 I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 靶点设计 binder。</a:t>
              </a:r>
            </a:p>
          </p:txBody>
        </p:sp>
      </p:grp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" name="header-17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从六篇论文得到的证据、缺口与可做任务</a:t>
              </a:r>
            </a:p>
          </p:txBody>
        </p:sp>
      </p:grpSp>
      <p:grpSp>
        <p:nvGrpSpPr>
          <p:cNvPr id="51" name="matrix"/>
          <p:cNvGrpSpPr/>
          <p:nvPr/>
        </p:nvGrpSpPr>
        <p:grpSpPr>
          <a:xfrm>
            <a:off x="514350" y="1238250"/>
            <a:ext cx="11163300" cy="4333875"/>
            <a:chOff x="514350" y="1238250"/>
            <a:chExt cx="11163300" cy="4333875"/>
          </a:xfrm>
        </p:grpSpPr>
        <p:sp>
          <p:nvSpPr>
            <p:cNvPr id="6" name="Rectangle 6"/>
            <p:cNvSpPr/>
            <p:nvPr/>
          </p:nvSpPr>
          <p:spPr>
            <a:xfrm>
              <a:off x="514350" y="1238250"/>
              <a:ext cx="11163300" cy="433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238250"/>
              <a:ext cx="111633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47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研究环节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00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代表工作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214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439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仍未证明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185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可做任务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383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76275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2868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4350" y="1752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473" y="193881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性质 → 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0023" y="1938814"/>
              <a:ext cx="58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2529" y="1870710"/>
              <a:ext cx="1840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可按长度、电荷、疏水性等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性质生成多样IDR序列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4779" y="1870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目标性质是否转化为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18904" y="1870710"/>
              <a:ext cx="11323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加入ensemble或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功能奖励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14350" y="2514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4350" y="2514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6473" y="2700814"/>
              <a:ext cx="1352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序列 → ensemble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0404" y="2632710"/>
              <a:ext cx="64465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252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可快速生成大量构象，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覆盖全局与局部统计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477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真实平衡权重、动力学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及跨条件迁移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8904" y="2632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统一数据与实验约束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下的模型评测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14350" y="3276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350" y="3276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62814"/>
              <a:ext cx="998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环境 → LLPS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70023" y="3462814"/>
              <a:ext cx="79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3252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环境信息有助于预测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相分离相关行为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477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ensemble是否提供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额外且可迁移的信息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M1/M2/M3严格对照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与跨环境测试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14350" y="4038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" y="4038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473" y="4224814"/>
              <a:ext cx="104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IDR → binder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404" y="4156710"/>
              <a:ext cx="1155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Diffusing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protein binders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32529" y="4156710"/>
              <a:ext cx="154381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可生成稳定binder识别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兼容结合构象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4779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是否覆盖多状态与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动态靶向需求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18904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多构象条件设计与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鲁棒性筛选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14350" y="4800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4350" y="4800600"/>
              <a:ext cx="11163300" cy="771525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6473" y="498681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 → 定位肽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0404" y="4918710"/>
              <a:ext cx="13228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interface peptide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32529" y="4918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可设计界面富集的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短肽分子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94779" y="4918710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跨凝聚体泛化与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机制可解释性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8904" y="4918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环境依赖的功能设计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与多目标优化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06730" y="5819775"/>
            <a:ext cx="8958215" cy="293370"/>
            <a:chOff x="506730" y="5819775"/>
            <a:chExt cx="8958215" cy="293370"/>
          </a:xfrm>
        </p:grpSpPr>
        <p:sp>
          <p:nvSpPr>
            <p:cNvPr id="52" name="TextBox 52"/>
            <p:cNvSpPr txBox="1"/>
            <p:nvPr/>
          </p:nvSpPr>
          <p:spPr>
            <a:xfrm>
              <a:off x="506730" y="5819775"/>
              <a:ext cx="8958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综合判断：论文已解决局部任务，但“ensemble → function”的可迁移连接仍是最清楚的研究缺口。</a:t>
              </a:r>
            </a:p>
          </p:txBody>
        </p:sp>
      </p:grp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三个可落地的计算研究方向</a:t>
              </a:r>
            </a:p>
          </p:txBody>
        </p:sp>
      </p:grpSp>
      <p:grpSp>
        <p:nvGrpSpPr>
          <p:cNvPr id="11" name="direction-1"/>
          <p:cNvGrpSpPr/>
          <p:nvPr/>
        </p:nvGrpSpPr>
        <p:grpSpPr>
          <a:xfrm>
            <a:off x="609600" y="1333500"/>
            <a:ext cx="3371850" cy="4333875"/>
            <a:chOff x="609600" y="1333500"/>
            <a:chExt cx="33718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723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低风险 / 先建立基线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294" y="1884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方向一　统一评测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723" y="2510314"/>
              <a:ext cx="2638298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相同序列、条件与观测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 / IDPFold /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CALVADOS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Rg、接触、局部结构、覆盖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benchmark、误差分析、工具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创新性取决于数据与评价设计</a:t>
              </a:r>
            </a:p>
          </p:txBody>
        </p:sp>
      </p:grpSp>
      <p:grpSp>
        <p:nvGrpSpPr>
          <p:cNvPr id="17" name="direction-2"/>
          <p:cNvGrpSpPr/>
          <p:nvPr/>
        </p:nvGrpSpPr>
        <p:grpSpPr>
          <a:xfrm>
            <a:off x="4410075" y="1333500"/>
            <a:ext cx="3371850" cy="4333875"/>
            <a:chOff x="4410075" y="1333500"/>
            <a:chExt cx="3371850" cy="4333875"/>
          </a:xfrm>
        </p:grpSpPr>
        <p:sp>
          <p:nvSpPr>
            <p:cNvPr id="12" name="Rectangle 12"/>
            <p:cNvSpPr/>
            <p:nvPr/>
          </p:nvSpPr>
          <p:spPr>
            <a:xfrm>
              <a:off x="4410075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32198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中风险 / 最推荐切入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1055" y="1933575"/>
              <a:ext cx="2772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方向二　ensemble 增强 LLPS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638675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32198" y="2510314"/>
              <a:ext cx="2776474" cy="1678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序列、环境、LLPS标签/读数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M1序列；M2序列+环境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M3加入ensemble统计特征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性能、校准、跨环境泛化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模型、消融、机制关联分析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必须控制数据泄漏与生成器偏差</a:t>
              </a:r>
            </a:p>
          </p:txBody>
        </p:sp>
      </p:grpSp>
      <p:grpSp>
        <p:nvGrpSpPr>
          <p:cNvPr id="23" name="direction-3"/>
          <p:cNvGrpSpPr/>
          <p:nvPr/>
        </p:nvGrpSpPr>
        <p:grpSpPr>
          <a:xfrm>
            <a:off x="8210550" y="1333500"/>
            <a:ext cx="3371850" cy="4333875"/>
            <a:chOff x="8210550" y="1333500"/>
            <a:chExt cx="3371850" cy="4333875"/>
          </a:xfrm>
        </p:grpSpPr>
        <p:sp>
          <p:nvSpPr>
            <p:cNvPr id="18" name="Rectangle 18"/>
            <p:cNvSpPr/>
            <p:nvPr/>
          </p:nvSpPr>
          <p:spPr>
            <a:xfrm>
              <a:off x="821055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2673" y="154828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高风险 / 后续拓展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1530" y="1933575"/>
              <a:ext cx="29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方向三　ensemble-aware 设计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3915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673" y="2510314"/>
              <a:ext cx="2613914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IDR序列、binder或定位肽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奖励：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ensemble、LLPS、聚集风险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与序列多样性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单状态或单目标设计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鲁棒性、特异性、跨状态表现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验证成本最高，需外部合作</a:t>
              </a:r>
            </a:p>
          </p:txBody>
        </p:sp>
      </p:grpSp>
      <p:grpSp>
        <p:nvGrpSpPr>
          <p:cNvPr id="25" name="final-judgment"/>
          <p:cNvGrpSpPr/>
          <p:nvPr/>
        </p:nvGrpSpPr>
        <p:grpSpPr>
          <a:xfrm>
            <a:off x="601980" y="5915025"/>
            <a:ext cx="7812262" cy="293370"/>
            <a:chOff x="601980" y="5915025"/>
            <a:chExt cx="7812262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5915025"/>
              <a:ext cx="7812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建议顺序：统一评测建立可信基线 → 验证 ensemble 的功能增益 → 再进入多目标设计。</a:t>
              </a:r>
            </a:p>
          </p:txBody>
        </p:sp>
      </p:grp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grpSp>
        <p:nvGrpSpPr>
          <p:cNvPr id="5" name="end-title"/>
          <p:cNvGrpSpPr/>
          <p:nvPr/>
        </p:nvGrpSpPr>
        <p:grpSpPr>
          <a:xfrm>
            <a:off x="726948" y="850583"/>
            <a:ext cx="2892552" cy="616077"/>
            <a:chOff x="726948" y="850583"/>
            <a:chExt cx="2892552" cy="616077"/>
          </a:xfrm>
        </p:grpSpPr>
        <p:sp>
          <p:nvSpPr>
            <p:cNvPr id="3" name="TextBox 3"/>
            <p:cNvSpPr txBox="1"/>
            <p:nvPr/>
          </p:nvSpPr>
          <p:spPr>
            <a:xfrm>
              <a:off x="726948" y="850583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讨论与建议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42950" y="14287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7" name="motto"/>
          <p:cNvGrpSpPr/>
          <p:nvPr/>
        </p:nvGrpSpPr>
        <p:grpSpPr>
          <a:xfrm>
            <a:off x="1619250" y="2381250"/>
            <a:ext cx="8953500" cy="2743200"/>
            <a:chOff x="1619250" y="2381250"/>
            <a:chExt cx="8953500" cy="2743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2381250"/>
              <a:ext cx="8953500" cy="2743200"/>
            </a:xfrm>
            <a:prstGeom prst="rect">
              <a:avLst/>
            </a:prstGeom>
          </p:spPr>
        </p:pic>
      </p:grpSp>
      <p:grpSp>
        <p:nvGrpSpPr>
          <p:cNvPr id="12" name="thanks"/>
          <p:cNvGrpSpPr/>
          <p:nvPr/>
        </p:nvGrpSpPr>
        <p:grpSpPr>
          <a:xfrm>
            <a:off x="723900" y="5191125"/>
            <a:ext cx="11125200" cy="1514475"/>
            <a:chOff x="723900" y="5191125"/>
            <a:chExt cx="11125200" cy="1514475"/>
          </a:xfrm>
        </p:grpSpPr>
        <p:sp>
          <p:nvSpPr>
            <p:cNvPr id="8" name="TextBox 8"/>
            <p:cNvSpPr txBox="1"/>
            <p:nvPr/>
          </p:nvSpPr>
          <p:spPr>
            <a:xfrm>
              <a:off x="723900" y="5404485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谢谢！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4625" y="5191125"/>
              <a:ext cx="1047750" cy="1047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98534" y="6479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4715</Words>
  <Application>Microsoft Office PowerPoint</Application>
  <PresentationFormat>宽屏</PresentationFormat>
  <Paragraphs>298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2</cp:revision>
  <dcterms:created xsi:type="dcterms:W3CDTF">2026-09-25T08:55:11Z</dcterms:created>
  <dcterms:modified xsi:type="dcterms:W3CDTF">2026-09-25T08:58:22Z</dcterms:modified>
  <cp:category/>
  <cp:contentStatus/>
  <dc:language>zh-CN</dc:language>
</cp:coreProperties>
</file>