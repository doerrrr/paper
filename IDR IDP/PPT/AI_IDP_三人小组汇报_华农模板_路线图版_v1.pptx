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e2b7783c740e5" /><Relationship Type="http://schemas.openxmlformats.org/officeDocument/2006/relationships/extended-properties" Target="/docProps/app.xml" Id="R47b683e96c2a4dbd" /><Relationship Type="http://schemas.openxmlformats.org/officeDocument/2006/relationships/officeDocument" Target="/ppt/presentation.xml" Id="R747416ef2329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6b6b8cc464974"/>
  </p:sldMasterIdLst>
  <p:notesMasterIdLst>
    <p:notesMasterId xmlns:r="http://schemas.openxmlformats.org/officeDocument/2006/relationships" r:id="R09fc0439d60a417b"/>
  </p:notesMasterIdLst>
  <p:sldIdLst>
    <p:sldId xmlns:r="http://schemas.openxmlformats.org/officeDocument/2006/relationships" id="256" r:id="R732aded453d74bad"/>
    <p:sldId xmlns:r="http://schemas.openxmlformats.org/officeDocument/2006/relationships" id="257" r:id="R25c79cbc9fe74f14"/>
    <p:sldId xmlns:r="http://schemas.openxmlformats.org/officeDocument/2006/relationships" id="258" r:id="R6cde81e0ca3d4328"/>
    <p:sldId xmlns:r="http://schemas.openxmlformats.org/officeDocument/2006/relationships" id="259" r:id="R4e69977ed3a8402e"/>
    <p:sldId xmlns:r="http://schemas.openxmlformats.org/officeDocument/2006/relationships" id="260" r:id="R95b4b2c8bcd04416"/>
    <p:sldId xmlns:r="http://schemas.openxmlformats.org/officeDocument/2006/relationships" id="261" r:id="Rf729a6e494c3466f"/>
    <p:sldId xmlns:r="http://schemas.openxmlformats.org/officeDocument/2006/relationships" id="262" r:id="R49b58b7db7e3456d"/>
    <p:sldId xmlns:r="http://schemas.openxmlformats.org/officeDocument/2006/relationships" id="263" r:id="Rf7f9eb4840be4e0f"/>
    <p:sldId xmlns:r="http://schemas.openxmlformats.org/officeDocument/2006/relationships" id="264" r:id="R7a8dc089280c4f38"/>
    <p:sldId xmlns:r="http://schemas.openxmlformats.org/officeDocument/2006/relationships" id="265" r:id="R6ab9cf4c44224a0f"/>
    <p:sldId xmlns:r="http://schemas.openxmlformats.org/officeDocument/2006/relationships" id="266" r:id="Red1a34c7c6b8455d"/>
    <p:sldId xmlns:r="http://schemas.openxmlformats.org/officeDocument/2006/relationships" id="267" r:id="R12638d0ba7c14cfc"/>
    <p:sldId xmlns:r="http://schemas.openxmlformats.org/officeDocument/2006/relationships" id="268" r:id="Ra5a884562f78452e"/>
    <p:sldId xmlns:r="http://schemas.openxmlformats.org/officeDocument/2006/relationships" id="269" r:id="R17eb31c4c98c49e4"/>
    <p:sldId xmlns:r="http://schemas.openxmlformats.org/officeDocument/2006/relationships" id="270" r:id="Rb4cb82f9c2de46d2"/>
    <p:sldId xmlns:r="http://schemas.openxmlformats.org/officeDocument/2006/relationships" id="271" r:id="R7c88fab8ebc0492b"/>
    <p:sldId xmlns:r="http://schemas.openxmlformats.org/officeDocument/2006/relationships" id="272" r:id="R64c0715ea0bd4e17"/>
    <p:sldId xmlns:r="http://schemas.openxmlformats.org/officeDocument/2006/relationships" id="273" r:id="R10d4fbd2c1124424"/>
    <p:sldId xmlns:r="http://schemas.openxmlformats.org/officeDocument/2006/relationships" id="274" r:id="R13d539d47882496d"/>
    <p:sldId xmlns:r="http://schemas.openxmlformats.org/officeDocument/2006/relationships" id="275" r:id="Rb7c39f189c134a5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0e9d8b5344c00" /><Relationship Type="http://schemas.openxmlformats.org/officeDocument/2006/relationships/slideMaster" Target="/ppt/slideMasters/slideMaster1.xml" Id="Rab46b6b8cc464974" /><Relationship Type="http://schemas.openxmlformats.org/officeDocument/2006/relationships/notesMaster" Target="/ppt/notesMasters/notesMaster1.xml" Id="R09fc0439d60a417b" /><Relationship Type="http://schemas.openxmlformats.org/officeDocument/2006/relationships/presProps" Target="/ppt/presProps.xml" Id="Rcf6fd4c43bda4b00" /><Relationship Type="http://schemas.openxmlformats.org/officeDocument/2006/relationships/viewProps" Target="/ppt/viewProps.xml" Id="R5d3c65eced304bb4" /><Relationship Type="http://schemas.openxmlformats.org/officeDocument/2006/relationships/tableStyles" Target="/ppt/tableStyles.xml" Id="R120b8b5ca94445d1" /><Relationship Type="http://schemas.openxmlformats.org/officeDocument/2006/relationships/slide" Target="/ppt/slides/slide1.xml" Id="R732aded453d74bad" /><Relationship Type="http://schemas.openxmlformats.org/officeDocument/2006/relationships/slide" Target="/ppt/slides/slide2.xml" Id="R25c79cbc9fe74f14" /><Relationship Type="http://schemas.openxmlformats.org/officeDocument/2006/relationships/slide" Target="/ppt/slides/slide3.xml" Id="R6cde81e0ca3d4328" /><Relationship Type="http://schemas.openxmlformats.org/officeDocument/2006/relationships/slide" Target="/ppt/slides/slide4.xml" Id="R4e69977ed3a8402e" /><Relationship Type="http://schemas.openxmlformats.org/officeDocument/2006/relationships/slide" Target="/ppt/slides/slide5.xml" Id="R95b4b2c8bcd04416" /><Relationship Type="http://schemas.openxmlformats.org/officeDocument/2006/relationships/slide" Target="/ppt/slides/slide6.xml" Id="Rf729a6e494c3466f" /><Relationship Type="http://schemas.openxmlformats.org/officeDocument/2006/relationships/slide" Target="/ppt/slides/slide7.xml" Id="R49b58b7db7e3456d" /><Relationship Type="http://schemas.openxmlformats.org/officeDocument/2006/relationships/slide" Target="/ppt/slides/slide8.xml" Id="Rf7f9eb4840be4e0f" /><Relationship Type="http://schemas.openxmlformats.org/officeDocument/2006/relationships/slide" Target="/ppt/slides/slide9.xml" Id="R7a8dc089280c4f38" /><Relationship Type="http://schemas.openxmlformats.org/officeDocument/2006/relationships/slide" Target="/ppt/slides/slide10.xml" Id="R6ab9cf4c44224a0f" /><Relationship Type="http://schemas.openxmlformats.org/officeDocument/2006/relationships/slide" Target="/ppt/slides/slide11.xml" Id="Red1a34c7c6b8455d" /><Relationship Type="http://schemas.openxmlformats.org/officeDocument/2006/relationships/slide" Target="/ppt/slides/slide12.xml" Id="R12638d0ba7c14cfc" /><Relationship Type="http://schemas.openxmlformats.org/officeDocument/2006/relationships/slide" Target="/ppt/slides/slide13.xml" Id="Ra5a884562f78452e" /><Relationship Type="http://schemas.openxmlformats.org/officeDocument/2006/relationships/slide" Target="/ppt/slides/slide14.xml" Id="R17eb31c4c98c49e4" /><Relationship Type="http://schemas.openxmlformats.org/officeDocument/2006/relationships/slide" Target="/ppt/slides/slide15.xml" Id="Rb4cb82f9c2de46d2" /><Relationship Type="http://schemas.openxmlformats.org/officeDocument/2006/relationships/slide" Target="/ppt/slides/slide16.xml" Id="R7c88fab8ebc0492b" /><Relationship Type="http://schemas.openxmlformats.org/officeDocument/2006/relationships/slide" Target="/ppt/slides/slide17.xml" Id="R64c0715ea0bd4e17" /><Relationship Type="http://schemas.openxmlformats.org/officeDocument/2006/relationships/slide" Target="/ppt/slides/slide18.xml" Id="R10d4fbd2c1124424" /><Relationship Type="http://schemas.openxmlformats.org/officeDocument/2006/relationships/slide" Target="/ppt/slides/slide19.xml" Id="R13d539d47882496d" /><Relationship Type="http://schemas.openxmlformats.org/officeDocument/2006/relationships/slide" Target="/ppt/slides/slide20.xml" Id="Rb7c39f189c134a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400e4d8974f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a72e5605a4859" /><Relationship Type="http://schemas.openxmlformats.org/officeDocument/2006/relationships/notesMaster" Target="/ppt/notesMasters/notesMaster1.xml" Id="R04f37ee354e0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45ebb76b949d2" /><Relationship Type="http://schemas.openxmlformats.org/officeDocument/2006/relationships/notesMaster" Target="/ppt/notesMasters/notesMaster1.xml" Id="Rc6249ae6c872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bf2d002504407" /><Relationship Type="http://schemas.openxmlformats.org/officeDocument/2006/relationships/notesMaster" Target="/ppt/notesMasters/notesMaster1.xml" Id="R7469ed613dc0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d1b5e69744853" /><Relationship Type="http://schemas.openxmlformats.org/officeDocument/2006/relationships/notesMaster" Target="/ppt/notesMasters/notesMaster1.xml" Id="Rc8e3715a776648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18559907f4693" /><Relationship Type="http://schemas.openxmlformats.org/officeDocument/2006/relationships/notesMaster" Target="/ppt/notesMasters/notesMaster1.xml" Id="R32c6069a323340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beada894d34fc0" /><Relationship Type="http://schemas.openxmlformats.org/officeDocument/2006/relationships/notesMaster" Target="/ppt/notesMasters/notesMaster1.xml" Id="R1a851a281e1a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744dc70a24565" /><Relationship Type="http://schemas.openxmlformats.org/officeDocument/2006/relationships/notesMaster" Target="/ppt/notesMasters/notesMaster1.xml" Id="R5be2cc2c336e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2e1c0a6e8348ad" /><Relationship Type="http://schemas.openxmlformats.org/officeDocument/2006/relationships/notesMaster" Target="/ppt/notesMasters/notesMaster1.xml" Id="R4e5e0f3809c5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9b25a5b9fe41e5" /><Relationship Type="http://schemas.openxmlformats.org/officeDocument/2006/relationships/notesMaster" Target="/ppt/notesMasters/notesMaster1.xml" Id="R8d251feaf42642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ec16a5519841fb" /><Relationship Type="http://schemas.openxmlformats.org/officeDocument/2006/relationships/notesMaster" Target="/ppt/notesMasters/notesMaster1.xml" Id="Rf03a94e69ec745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07d62babc43b4" /><Relationship Type="http://schemas.openxmlformats.org/officeDocument/2006/relationships/notesMaster" Target="/ppt/notesMasters/notesMaster1.xml" Id="R918eccd5232448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d8437d8c6f45f7" /><Relationship Type="http://schemas.openxmlformats.org/officeDocument/2006/relationships/notesMaster" Target="/ppt/notesMasters/notesMaster1.xml" Id="Rf6a52c58959242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d7ac2d726e44b3" /><Relationship Type="http://schemas.openxmlformats.org/officeDocument/2006/relationships/notesMaster" Target="/ppt/notesMasters/notesMaster1.xml" Id="Rf5bc1c32c9724d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297dd7048946f3" /><Relationship Type="http://schemas.openxmlformats.org/officeDocument/2006/relationships/notesMaster" Target="/ppt/notesMasters/notesMaster1.xml" Id="Rb5e13c698eb046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16c97380ad4479" /><Relationship Type="http://schemas.openxmlformats.org/officeDocument/2006/relationships/notesMaster" Target="/ppt/notesMasters/notesMaster1.xml" Id="R6e9a8082113e4c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3ae7a1ef054cfd" /><Relationship Type="http://schemas.openxmlformats.org/officeDocument/2006/relationships/notesMaster" Target="/ppt/notesMasters/notesMaster1.xml" Id="R8412abbc378b40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38b49eeb2945bf" /><Relationship Type="http://schemas.openxmlformats.org/officeDocument/2006/relationships/notesMaster" Target="/ppt/notesMasters/notesMaster1.xml" Id="R0f4b6d6452ae4e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34cdbcd147467d" /><Relationship Type="http://schemas.openxmlformats.org/officeDocument/2006/relationships/notesMaster" Target="/ppt/notesMasters/notesMaster1.xml" Id="Rde625fa77a464b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86580e1ea84afb" /><Relationship Type="http://schemas.openxmlformats.org/officeDocument/2006/relationships/notesMaster" Target="/ppt/notesMasters/notesMaster1.xml" Id="R5849b03e66ff4d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6d29ae483b4610" /><Relationship Type="http://schemas.openxmlformats.org/officeDocument/2006/relationships/notesMaster" Target="/ppt/notesMasters/notesMaster1.xml" Id="R2132767b5509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填写三位汇报人姓名和正式日期。封面沿用修改后的华中农业大学模板。</a:t>
            </a:r>
            <a:endParaRPr/>
          </a:p>
          <a:p xmlns:a="http://schemas.openxmlformats.org/drawingml/2006/main">
            <a:r>
              <a:t>建议汇报时长：30–40分钟。内容页共18页。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全组共同。控制在2分钟。只建立ensemble、环境依赖和验证三个概念。不要在此处展开全部生物学背景。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全组共同。此图是整场汇报的导航图。第一次展示全链条，后续每一部分回到对应节点。不要声称六篇论文已经组成真实流水线。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全组共同。此页说明叙事结构。每位同学的论文应当服务于一个问题，不要形成三段独立论文汇报。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</a:t>
            </a:r>
            <a:endParaRPr/>
          </a:p>
          <a:p xmlns:a="http://schemas.openxmlformats.org/drawingml/2006/main">
            <a:r>
              <a:t>讲解时间建议3分钟。先说明GOOSE在总路线中的位置，再讲规则和可控变量。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</a:t>
            </a:r>
            <a:endParaRPr/>
          </a:p>
          <a:p xmlns:a="http://schemas.openxmlformats.org/drawingml/2006/main">
            <a:r>
              <a:t>讲解时间建议3分钟。需要解释距离图代表每个构象中的残基间距离，不能把模型输出理解成一个结构。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</a:t>
            </a:r>
            <a:endParaRPr/>
          </a:p>
          <a:p xmlns:a="http://schemas.openxmlformats.org/drawingml/2006/main">
            <a:r>
              <a:t>讲解时间建议4分钟。详细网络内容保留在答疑，不在大汇报中逐一解释IPA、GSO和所有MLP。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负责人：A与你共同完成。表格中四处“填写”需要根据原文补齐，尤其是环境输入和速度。若没有统一基准，保留不可直接比较的结论。此表必须保持为可编辑原生表格。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负责人：你。建议3分钟。Unified ensemble framework作为评价框架使用，不作为独立论文精讲。强调forward model和非唯一性即可。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全组共同。此页是汇报的逻辑转折。不要声称有了ensemble就自动获得功能。引出LLPSense和后续设计工作。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负责人：B</a:t>
            </a:r>
            <a:endParaRPr/>
          </a:p>
          <a:p xmlns:a="http://schemas.openxmlformats.org/drawingml/2006/main">
            <a:r>
              <a:t>讲解时间建议3分钟。需要严格核对输入、输出和环境变量。若论文没有显式ensemble，不要补写这一层。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B负责，全组讨论。此页不是现有论文结论，而是从文献链条提出的研究假设。汇报时必须明确标注为未来工作。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</a:t>
            </a:r>
            <a:endParaRPr/>
          </a:p>
          <a:p xmlns:a="http://schemas.openxmlformats.org/drawingml/2006/main">
            <a:r>
              <a:t>讲解时间建议4分钟。重点讲自由态ensemble和结合态构象的区别，以及ProteinMPNN和AF2在流程中的作用。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负责人：你。此页用于纠正常见误解。只用一个案例，不需要详细展开三个靶标的生物学背景。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负责人：B</a:t>
            </a:r>
            <a:endParaRPr/>
          </a:p>
          <a:p xmlns:a="http://schemas.openxmlformats.org/drawingml/2006/main">
            <a:r>
              <a:t>讲解时间建议4分钟。重点区分预测LLPS和设计能在凝聚体中执行定位功能的分子。</a:t>
            </a:r>
            <a:endParaRPr/>
          </a:p>
          <a:p xmlns:a="http://schemas.openxmlformats.org/drawingml/2006/main">
            <a:r>
              <a:t>图像占位区用于替换为论文原图，保持当前位置和大小。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负责人：你和B共同完成。界面肽的结构假设一栏必须按原文补充，不能根据binder论文推断。此表必须保持为可编辑原生表格。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全组共同。与第3页不同，此页在读完六篇论文后总结证据层级和缺口。红色箭头标出ensemble到环境依赖行为之间的关键断点。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全组共同。每条局限都应当能够回扣前面的论文，不新增未经讨论的结论。建议2分钟。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全组共同。明确三个方向的风险和工作量递增。若老师要求选择课题，优先推荐方向一或方向二。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结束页。可在答疑时返回第17页研究链条或第19页可行方向。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3ced0034c4b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08176d3584f5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1a9ec41f1442c" /><Relationship Type="http://schemas.openxmlformats.org/officeDocument/2006/relationships/slideLayout" Target="/ppt/slideLayouts/slideLayout1.xml" Id="R8d82e5740e774014" /><Relationship Type="http://schemas.openxmlformats.org/officeDocument/2006/relationships/slideLayout" Target="/ppt/slideLayouts/slideLayout2.xml" Id="R3c0ba11cb42541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2e5740e774014"/>
    <p:sldLayoutId xmlns:r="http://schemas.openxmlformats.org/officeDocument/2006/relationships" id="2147483650" r:id="R3c0ba11cb42541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0846ea90d43e7" /><Relationship Type="http://schemas.openxmlformats.org/officeDocument/2006/relationships/notesSlide" Target="/ppt/notesSlides/notesSlide1.xml" Id="R61bdeb180896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0a395f9cb4596" /><Relationship Type="http://schemas.openxmlformats.org/officeDocument/2006/relationships/image" Target="/ppt/media/image.jpeg" Id="R60d998bf52fd4348" /><Relationship Type="http://schemas.openxmlformats.org/officeDocument/2006/relationships/notesSlide" Target="/ppt/notesSlides/notesSlide2.xml" Id="Rcac4dd72906848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225ccbd4b4baa" /><Relationship Type="http://schemas.openxmlformats.org/officeDocument/2006/relationships/image" Target="/ppt/media/image.jpeg" Id="R49847e47fa894716" /><Relationship Type="http://schemas.openxmlformats.org/officeDocument/2006/relationships/notesSlide" Target="/ppt/notesSlides/notesSlide3.xml" Id="R27359d15def24b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81028bc824ce8" /><Relationship Type="http://schemas.openxmlformats.org/officeDocument/2006/relationships/image" Target="/ppt/media/image.jpeg" Id="R809593022ddf4cdc" /><Relationship Type="http://schemas.openxmlformats.org/officeDocument/2006/relationships/notesSlide" Target="/ppt/notesSlides/notesSlide4.xml" Id="Raf71cab0af78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4ee827187474c" /><Relationship Type="http://schemas.openxmlformats.org/officeDocument/2006/relationships/image" Target="/ppt/media/image.jpeg" Id="R1ccb11edd1f34e9b" /><Relationship Type="http://schemas.openxmlformats.org/officeDocument/2006/relationships/notesSlide" Target="/ppt/notesSlides/notesSlide5.xml" Id="R53d0e6a8a04c41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6c460cb52244f0" /><Relationship Type="http://schemas.openxmlformats.org/officeDocument/2006/relationships/image" Target="/ppt/media/image.jpeg" Id="R85b055e56b9a4b96" /><Relationship Type="http://schemas.openxmlformats.org/officeDocument/2006/relationships/notesSlide" Target="/ppt/notesSlides/notesSlide6.xml" Id="R4093b9052d3f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e79991e8944a38" /><Relationship Type="http://schemas.openxmlformats.org/officeDocument/2006/relationships/image" Target="/ppt/media/image.jpeg" Id="R6409485fb1ea4f19" /><Relationship Type="http://schemas.openxmlformats.org/officeDocument/2006/relationships/notesSlide" Target="/ppt/notesSlides/notesSlide7.xml" Id="Re8fcdefa2c1144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4e52b49b96488b" /><Relationship Type="http://schemas.openxmlformats.org/officeDocument/2006/relationships/image" Target="/ppt/media/image.jpeg" Id="R5a6710368b6645ed" /><Relationship Type="http://schemas.openxmlformats.org/officeDocument/2006/relationships/notesSlide" Target="/ppt/notesSlides/notesSlide8.xml" Id="Rc0e48d5b40c444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2aa18e16c4125" /><Relationship Type="http://schemas.openxmlformats.org/officeDocument/2006/relationships/image" Target="/ppt/media/image.jpeg" Id="R3601398220d945a7" /><Relationship Type="http://schemas.openxmlformats.org/officeDocument/2006/relationships/notesSlide" Target="/ppt/notesSlides/notesSlide9.xml" Id="Rfd14659f12f3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a4dcd20eb4632" /><Relationship Type="http://schemas.openxmlformats.org/officeDocument/2006/relationships/image" Target="/ppt/media/image.jpeg" Id="Rea1b8ddab92042dc" /><Relationship Type="http://schemas.openxmlformats.org/officeDocument/2006/relationships/notesSlide" Target="/ppt/notesSlides/notesSlide10.xml" Id="R0e7b0559aaa3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a685e974c4e4b" /><Relationship Type="http://schemas.openxmlformats.org/officeDocument/2006/relationships/image" Target="/ppt/media/image.jpeg" Id="R65bf4c880e584d0b" /><Relationship Type="http://schemas.openxmlformats.org/officeDocument/2006/relationships/notesSlide" Target="/ppt/notesSlides/notesSlide11.xml" Id="Rf68b91fca7a645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83844263e4885" /><Relationship Type="http://schemas.openxmlformats.org/officeDocument/2006/relationships/image" Target="/ppt/media/image.jpeg" Id="R06beeb89fb3c406e" /><Relationship Type="http://schemas.openxmlformats.org/officeDocument/2006/relationships/notesSlide" Target="/ppt/notesSlides/notesSlide12.xml" Id="R4f4972ef234f49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abb428e8a421f" /><Relationship Type="http://schemas.openxmlformats.org/officeDocument/2006/relationships/image" Target="/ppt/media/image.jpeg" Id="R6b25488a192e4bf0" /><Relationship Type="http://schemas.openxmlformats.org/officeDocument/2006/relationships/notesSlide" Target="/ppt/notesSlides/notesSlide13.xml" Id="Rdb9c1755c5e04d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28bcc316340c3" /><Relationship Type="http://schemas.openxmlformats.org/officeDocument/2006/relationships/image" Target="/ppt/media/image.jpeg" Id="R73fef4c8d9ae45c9" /><Relationship Type="http://schemas.openxmlformats.org/officeDocument/2006/relationships/notesSlide" Target="/ppt/notesSlides/notesSlide14.xml" Id="R5917b13d4b7f49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8d3bcbed24d31" /><Relationship Type="http://schemas.openxmlformats.org/officeDocument/2006/relationships/image" Target="/ppt/media/image.jpeg" Id="R09d3eb11e39d4c82" /><Relationship Type="http://schemas.openxmlformats.org/officeDocument/2006/relationships/notesSlide" Target="/ppt/notesSlides/notesSlide15.xml" Id="Ra10b34a6915b49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30eed2965449c5" /><Relationship Type="http://schemas.openxmlformats.org/officeDocument/2006/relationships/image" Target="/ppt/media/image.jpeg" Id="Rf50d0924d0a34f27" /><Relationship Type="http://schemas.openxmlformats.org/officeDocument/2006/relationships/notesSlide" Target="/ppt/notesSlides/notesSlide16.xml" Id="Re64d61f61cfd47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73c0a57cc4947" /><Relationship Type="http://schemas.openxmlformats.org/officeDocument/2006/relationships/image" Target="/ppt/media/image.jpeg" Id="Rfcc03d42bb7e49bb" /><Relationship Type="http://schemas.openxmlformats.org/officeDocument/2006/relationships/notesSlide" Target="/ppt/notesSlides/notesSlide17.xml" Id="Re80fb4ea755b4c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9bf862e184fc9" /><Relationship Type="http://schemas.openxmlformats.org/officeDocument/2006/relationships/image" Target="/ppt/media/image.jpeg" Id="R8988bbe4854d4e64" /><Relationship Type="http://schemas.openxmlformats.org/officeDocument/2006/relationships/notesSlide" Target="/ppt/notesSlides/notesSlide18.xml" Id="R69890be712c145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955b4a95f4707" /><Relationship Type="http://schemas.openxmlformats.org/officeDocument/2006/relationships/image" Target="/ppt/media/image.jpeg" Id="R0604c203fabd4026" /><Relationship Type="http://schemas.openxmlformats.org/officeDocument/2006/relationships/notesSlide" Target="/ppt/notesSlides/notesSlide19.xml" Id="R3dde628231324e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d5467c85040a7" /><Relationship Type="http://schemas.openxmlformats.org/officeDocument/2006/relationships/image" Target="/ppt/media/image.jpeg" Id="Rf74466f29dd0497d" /><Relationship Type="http://schemas.openxmlformats.org/officeDocument/2006/relationships/image" Target="/ppt/media/image.png" Id="R8127aa0763204321" /><Relationship Type="http://schemas.openxmlformats.org/officeDocument/2006/relationships/notesSlide" Target="/ppt/notesSlides/notesSlide20.xml" Id="R6c54e4ab374c41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941349-F1CC-4DFD-9F27-689C718A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6FA3"/>
                </a:solidFill>
                <a:latin typeface="Arial"/>
                <a:ea typeface="Arial"/>
                <a:cs typeface="Arial"/>
              </a:rPr>
              <a:t>IDP / IDR × ARTIFICIAL INTELLIGENCE</a:t>
            </a:r>
            <a:endParaRPr sz="1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B43457-B0E3-41A5-82E5-16CCFBD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613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02420"/>
                </a:solidFill>
                <a:latin typeface="Times New Roman"/>
                <a:ea typeface="Times New Roman"/>
                <a:cs typeface="Times New Roman"/>
              </a:rPr>
              <a:t>无序蛋白人工智能研究进展</a:t>
            </a:r>
            <a:endParaRPr sz="2800"/>
          </a:p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02420"/>
                </a:solidFill>
                <a:latin typeface="Times New Roman"/>
                <a:ea typeface="Times New Roman"/>
                <a:cs typeface="Times New Roman"/>
              </a:rPr>
              <a:t>序列、构象系综、功能与设计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4CEB5-C220-44B0-AF69-2E782969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48840"/>
            <a:ext cx="8503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三人小组文献调研与研究路线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15A03DA-4704-496A-A135-8074CFFE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D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3F8E60-CFA1-4D56-BA9B-7B387798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63240"/>
            <a:ext cx="9784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以六篇代表性工作为节点，梳理 AI–IDP 的任务链、验证边界与可行研究方向</a:t>
            </a:r>
            <a:endParaRPr sz="17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FF35AF-A9BE-404A-88E7-2C0924B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6052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E0D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5CF090-1BF1-44DE-9F08-5ED0579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5029200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汇报人：A、B、C    时间：2026.__.__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C2FF7C-84EE-42CF-88D3-ACBC0C91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80644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250">
                <a:solidFill>
                  <a:srgbClr val="A5AAA7"/>
                </a:solidFill>
                <a:latin typeface="Arial"/>
                <a:ea typeface="Arial"/>
                <a:cs typeface="Arial"/>
              </a:rPr>
              <a:t>H U A Z H O N G   A G R I C U L T U R A L   U N I V E R S I T Y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123DA4-DB87-43D1-829B-471493C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D520930-EF61-490B-BA2D-4F9DA1B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1D91D2-5917-4835-9975-3FCD0F63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91544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IDP/IDR 的研究对象</a:t>
            </a:r>
            <a:endParaRPr sz="2400"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998bf52fd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2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06A04-282B-4063-90C0-A521679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折叠蛋白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B613A-5919-4490-AC36-EAFDEF68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A9BCCB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氨基酸序列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F1E1E-FDE5-4D10-9E0D-23784E9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6B7"/>
          </a:solidFill>
          <a:ln xmlns:a="http://schemas.openxmlformats.org/drawingml/2006/main" w="0">
            <a:solidFill>
              <a:srgbClr val="8FA6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06899-6B20-4137-9D53-E232A66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28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少数主导结构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8A444-C6F9-4C50-A617-E622C79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 / IDR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929C2D-5780-4877-8708-A5597698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序列 + 环境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BC9DA-5FFE-4054-B2CD-E05166E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A88E"/>
          </a:solidFill>
          <a:ln xmlns:a="http://schemas.openxmlformats.org/drawingml/2006/main" w="0">
            <a:solidFill>
              <a:srgbClr val="78A88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422D40-A532-49BF-B41C-2AF105E6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337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构象概率分布</a:t>
            </a:r>
          </a:p>
          <a:p xmlns:a="http://schemas.openxmlformats.org/drawingml/2006/main">
            <a:pPr algn="ctr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多个状态与不同权重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156AE-F4B0-42AD-A81B-27DB09F6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研究对象不再是一张结构图，而是受条件影响的构象分布。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881440-1C80-4C37-A224-D1D9E686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汇报所需基础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EB9163-1BC8-44AB-B93F-7B75442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ensemble 表示多个构象及其统计权重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盐浓度、温度和结合伙伴会改变分布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评价模型时必须同时看全局尺寸、局部结构和分布覆盖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9A3BB8-08D3-4D1A-B36A-5DAB4F3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44291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后续六篇论文分别处理这条任务链中的不同环节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AI–IDP 任务地图</a:t>
            </a:r>
            <a:endParaRPr sz="2400"/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47e47fa89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3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1A7B4-43BB-4341-9F7D-7304033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IDR 序列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265F9-69AF-44FD-8DFF-5A601C38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1D535-C30A-4C01-8FB9-71AB7B9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4C89A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C8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89A8"/>
                </a:solidFill>
                <a:latin typeface="Microsoft YaHei"/>
                <a:ea typeface="Microsoft YaHei"/>
                <a:cs typeface="Microsoft YaHei"/>
              </a:rPr>
              <a:t>序列性质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CFF35-8719-4291-879E-ADA831E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0AEB7-D387-4525-A574-9627FA8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构象系综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7C80E-F83B-4C0C-9160-4CED40D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96562-DB06-43A1-8C33-F8742F9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21865B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865B"/>
                </a:solidFill>
                <a:latin typeface="Microsoft YaHei"/>
                <a:ea typeface="Microsoft YaHei"/>
                <a:cs typeface="Microsoft YaHei"/>
              </a:rPr>
              <a:t>相互作用与 LLPS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AEAEFC-CAAF-4706-976A-F764EA8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65BAE-D5D6-48C1-BF00-A6626F9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667F3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F3C"/>
                </a:solidFill>
                <a:latin typeface="Microsoft YaHei"/>
                <a:ea typeface="Microsoft YaHei"/>
                <a:cs typeface="Microsoft YaHei"/>
              </a:rPr>
              <a:t>生物学功能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9D7D2-A6E5-4D8D-8A22-EE57FC73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9A0"/>
          </a:solidFill>
          <a:ln xmlns:a="http://schemas.openxmlformats.org/drawingml/2006/main" w="0">
            <a:solidFill>
              <a:srgbClr val="9AA9A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3045FA-C784-4647-A7F1-07EFCE22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工程设计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A59DB7-7578-4AE5-825F-3AA6844C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GOOSE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72D40E-0212-4EF8-B2B2-6D5C59A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</a:t>
            </a:r>
          </a:p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D9F334-628C-49AC-B1F9-496C1F5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6F7E0-FF5D-4B8E-ABA8-C69A527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IDR binder</a:t>
            </a:r>
          </a:p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interface peptide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44F466-92F3-432E-969D-E48BAF15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5334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Unified ensemble framework：实验观测、模拟与重加权共同约束构象系综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0DA006-AF89-49E8-9778-BC46FC0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838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当前断点：这些论文覆盖多个节点，但尚未形成经过实验约束的端到端系统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本次汇报的三个问题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593022ddf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4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06383-AC14-40B8-9E7A-634A358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853DC-0003-4F56-9EC6-EE60C8F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可信的构象系综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48093-508D-45BA-8C62-75D4759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AI 能否从一条 IDR 序列生成覆盖合理、局部结构可信的 ensemble？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F6A75-EE4A-4B0E-AF1F-CB982C7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90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598EA-CAE9-4BBD-ADC5-9872B4C9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环境与功能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24D6E-C141-4465-A3A5-DA9DE9CD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sequence、ensemble 和 environment 怎样共同决定 LLPS 与相互作用？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50713E-9619-4D4F-B27F-DDAED45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190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6E502-2BD7-4DA8-90D3-D5ADD39B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功能分子设计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9538A3-5175-40C6-B684-C8FD8DDC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能否围绕 IDR 或凝聚体设计 binder、定位肽和新的 IDR 序列？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40533-9656-4B56-BA9F-7F6B695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六篇论文按照问题出现，不按照阅读人或发表顺序排列。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GOOSE：可控 IDR 序列设计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b11edd1f3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5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18345-E307-4EC5-BF5F-127F8016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GOOSE 核心流程图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建议选择：用户指定性质、序列生成、性质检查三部分均出现的图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4A8D0-BDDA-4291-8D54-118C1AF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92676-999B-4E76-B3CE-2CB0CD9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怎样根据预设的序列或聚合物性质反向生成 IDR 序列？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C0943-D454-4750-B4BC-B9E9CAA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5493F-17EF-442F-BCFA-E292CB1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输入：长度、电荷、疏水性、κ 等目标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输出：满足约束的 IDR 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6E6E3-5F0C-4DD4-B4C6-7C09DFA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A004C-BA08-4E6A-84E6-7EC49A65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展示性质命中率、序列多样性，以及与天然 IDR 的比较。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A6445-6FDB-4333-A466-91F9124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汇报边界：GOOSE 主要设计序列，不直接输出具有统计权重的三维 ensemble。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STARLING：快速构象系综生成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55e56b9a4b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6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F6F88-0E3B-42C0-9272-D33E69B7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STARLING 模型与输出图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建议选择：sequence / ionic strength 输入、距离图或三维构象输出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06C17-DAA3-4A74-805F-3608FA69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8CC76-4216-40E8-BC51-1AA089E4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能否从序列和条件快速生成大量相互一致的 IDR 构象？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78C3A-D840-4556-BFAD-8A91E80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D5F9D-3694-4D0E-8CA7-7B61763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输入：IDR 序列及论文支持的环境条件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输出：残基距离表示和三维构象集合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6C35A-CA5A-4F22-950C-3483C42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61B0E-361C-47DA-A589-DC09C3E7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突出采样速度、全局尺寸分布和与参考 ensemble 的一致性。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45FB5-B063-4783-8A16-A28366E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汇报边界：模型生成的样本仍受训练 ensemble 和力场质量限制。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IDPFold：残基刚体扩散生成 ensemble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9485fb1ea4f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7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7F71B-F814-4737-A6DA-936C631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IDPFold Figure 1C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保留 sequence feature、Initialization Block、Denoising Block 和输出路径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4C9A6-5799-40CC-AF2C-823EB96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52C3E-5456-4806-87DC-34FA646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怎样在原子级主链框架上直接生成多样的 IDP 构象？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C56B4-C1BC-4283-872C-69D47AFE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62220-16D8-4516-9D95-2B1306C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输入：氨基酸序列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输出：多次采样得到的主链构象及扭转角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FB8CA-9078-481E-8C09-BBAD26C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93C02-4B07-464F-8999-7DEC57D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选择一项全局尺寸结果和一项局部结构结果，不逐层讲完全部网络。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089E3-AC93-4586-B897-A62B103D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汇报边界：独立样本不提供构象转换速率，也不能自动解释为真实平衡权重。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 与 IDPFold 的比较</a:t>
            </a:r>
            <a:endParaRPr sz="2400"/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710368b6645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8</a:t>
            </a:r>
            <a:endParaRPr sz="800"/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19125" y="1000125"/>
          <a:ext xmlns:a="http://schemas.openxmlformats.org/drawingml/2006/main" cx="1095375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24125"/>
                <a:gridCol w="2524125"/>
                <a:gridCol w="4095750"/>
              </a:tblGrid>
              <a:tr h="6191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STARLING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IDPFold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汇报中的结论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序列与条件生成 ensemble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序列生成 ensemble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任务相近，建模路线不同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结构表示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按原文填写距离或构象表示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残基刚体框架与扭转角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表示决定可评价的结构细节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填写论文实际支持的条件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填写论文实际支持的条件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不能把未输入的条件当作已建模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计算效率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填写论文报告的速度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填写论文报告的速度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统一硬件和序列长度后再比较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主要证据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全局尺寸、分布和参考系综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全局与局部结构观测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保留实验与模拟来源差异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共同局限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训练数据和力场偏差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训练数据和力场偏差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两者都不能直接证明真实平衡分布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4BEE5-E908-48C3-9DA7-FCD11C8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结论写法：比较建模假设、输出分辨率和验证证据，不简单宣布某个模型更好。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构象系综的确定与验证</a:t>
            </a:r>
            <a:endParaRPr sz="2400"/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1398220d9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9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72DAF-5ADB-424B-8D86-9FCA3BB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候选构象池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C97A0-76A2-4BEF-BFAF-C79BAF7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4F3DF-C689-4288-A25C-36A11492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forward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5F24D-B11E-4813-9650-0A4C501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3DD7B-1334-4A18-A7BA-BEF0974E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实验观测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D176B-4094-46C1-9E7D-D9D6D50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93C04-E038-40F2-9804-0F21226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统计重加权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5B47CA-E5C0-48DF-8897-E3EF0CF5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431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7A69D"/>
          </a:solidFill>
          <a:ln xmlns:a="http://schemas.openxmlformats.org/drawingml/2006/main" w="0">
            <a:solidFill>
              <a:srgbClr val="97A69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799147-30CE-4220-BDCE-5B5FD30B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14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一致的 ensemble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D43B8A-4014-415A-AA89-AF80949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实验约束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94730F-B302-471E-A964-C9BAE5A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SAXS：整体尺寸与形状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PRE：瞬时长程接触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NMR：局部环境与构象倾向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D7819-4CA9-42F3-911C-224F5A9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需要保留的边界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6EF096-24A9-4DE9-A3C1-D6BDED8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实验通常观测 ensemble 的平均量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不同 ensemble 可能产生相似观测</a:t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单一指标不能唯一确定分布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A7DCB3-3FD0-4B19-97BB-3BC7877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857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这篇综述承担评价框架，不需要像研究论文一样展开全部实验技术。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 与功能之间的断点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b8ddab920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10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AF042-65C5-4C56-AF97-546F519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氨基酸序列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42FE4-083B-4BA5-9168-0ACAC53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19375"/>
            <a:ext cx="6667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8E"/>
          </a:solidFill>
          <a:ln xmlns:a="http://schemas.openxmlformats.org/drawingml/2006/main" w="0">
            <a:solidFill>
              <a:srgbClr val="7FA3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41A41-DD7F-4C56-AA63-80B8FCF8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自由态 ensemble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B3116-E558-4D97-9A01-CEF813C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环境、浓度、伙伴分子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57C39-14FA-4CA3-84E9-DA38D1AF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6667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4C02E-E664-4E1D-AF5D-C006120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3362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LLPS / 结合 / 功能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C7833-B8DF-46B5-A7B3-9A3359C7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当前薄弱连接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6887C-B53A-418B-AB33-27A4F2FB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已有模型经常直接从序列预测功能标签，尚未证明 ensemble 是可解释、必要且可迁移的中间变量。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LLPSense：环境依赖的相分离预测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f4c880e58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11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29533-B63D-47C5-8F2A-E94C020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LLPSense 数据流与结果图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优先选择能够同时看出序列、环境输入和相分离输出的图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663FD-B441-465C-A513-158ACF2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356D4-5187-44D6-8221-733B6256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怎样利用序列与环境信息预测相分离相关行为？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DAF34-2D46-4308-AE76-61EBE9B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9D100-F1BC-4DC2-8A45-9CF9670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输入：按原文填写序列特征与环境变量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输出：按原文填写分类、分数或相边界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EAADB-54A8-4A2B-8616-8D852C60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86748B-D94E-433B-A0EB-240BF166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突出环境条件是否真正改善预测，以及采用了什么独立测试。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DA1D20-199F-4581-B9A6-E3280359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汇报边界：确认模型是否显式使用 ensemble，避免把 sequence 到 LLPS 的直接预测说成机制模型。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sequence、ensemble 与 LLPS 的待验证关系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eeb89fb3c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12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827EA-BE70-4D19-A781-A601C58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7E95F-463D-44EE-8BA0-ADF2756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197"/>
          </a:solidFill>
          <a:ln xmlns:a="http://schemas.openxmlformats.org/drawingml/2006/main" w="0">
            <a:solidFill>
              <a:srgbClr val="8FA1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F2331-5DD1-4D6B-8E3C-F0E645E2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conditioned ensemble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CBBC5-7D20-4A56-849F-EB0AF4A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B83506-D762-4895-AF32-BB704AC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multivalent interaction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ED6B0-EDA7-4958-8D12-404B2BE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A197"/>
          </a:solidFill>
          <a:ln xmlns:a="http://schemas.openxmlformats.org/drawingml/2006/main" w="0">
            <a:solidFill>
              <a:srgbClr val="8FA19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3F1B8-7D53-441D-BC7F-8A01304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90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LLPS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51662-5E53-4F91-9E57-335EE5C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需要验证的中间机制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6133B0-732B-4049-8F0D-BD8790B8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推荐比较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仅序列模型</a:t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序列 + 环境模型</a:t>
            </a:r>
          </a:p>
          <a:p xmlns:a="http://schemas.openxmlformats.org/drawingml/2006/main">
            <a:pPr algn="l">
              <a:def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序列 + 环境 + ensemble 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D4561-E77B-4754-AD30-1ECB5A0F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保留蛋白级划分</a:t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更换 ensemble 生成器</a:t>
            </a:r>
          </a:p>
          <a:p xmlns:a="http://schemas.openxmlformats.org/drawingml/2006/main">
            <a:pPr algn="l">
              <a:def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使用实验或独立模拟数据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柔性 IDR 靶标的 binder 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5488a192e4b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13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D5DE7-3F65-4360-A3AA-F4BC1C9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Diffusing binders Figure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保留靶序列、共同扩散、ProteinMPNN、AF2筛选和实验验证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4EC98-A7C2-48AE-9FF9-7F5C517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7AA5E-6BBE-44A2-8C45-4D78F22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靶标没有固定结构时，怎样设计能够结合它的有结构蛋白？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7D993-E625-4E9C-8CB1-BD2D222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FC533-AFFC-4208-94FF-03483FE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输入：选定 IDR 靶序列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输出：结合态靶构象、binder 主链和 binder 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C9643-524B-45C5-AD90-661BC65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006E89-5089-48ED-86DE-47D2F8D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选择一个结合亲和力结果和一个代表性复合物结构。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383786-582F-4AF9-8E10-1158ADD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汇报边界：生成的是候选结合态，不是自由态 ensemble 的统计重建。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binder 设计的证据与适用边界</a:t>
            </a:r>
            <a:endParaRPr sz="24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ef4c8d9ae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14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05EB1-A0A0-4E1F-A49E-086A27C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放置代表性靶标结果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建议只选一个：G3BP1、PrP 或 IL-2RG</a:t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显示靶片段、设计复合物和实验亲和力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1AA43-E8D3-45B0-B7B0-571438A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0"/>
            <a:ext cx="2000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论文证明了什么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32503-F629-4012-850A-7BDF120E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240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柔性靶序列可以在设计过程中形成兼容的结合构象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设计的 binder 具有稳定折叠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• 部分候选通过亲和力和特异性实验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2312E-71DC-46EE-BCB6-B1B502C9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190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论文没有证明什么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F3C51-8440-480D-B3B8-E35DA34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33875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没有恢复完整自由态 ensemble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一个 binder 不需要覆盖所有自由构象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• AF2 置信度不能替代结合实验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凝聚体界面的 de novo 肽设计</a:t>
            </a:r>
            <a:endParaRPr sz="2400"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3eb11e39d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15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33BD1-C45B-43B0-9E67-7197B33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676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B"/>
          </a:solidFill>
          <a:ln xmlns:a="http://schemas.openxmlformats.org/drawingml/2006/main" w="19050">
            <a:solidFill>
              <a:srgbClr val="8EAAA0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放置 interface peptide 设计流程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建议包括序列设计、凝聚体定位和界面富集的显微证据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1CC19-3B81-4C66-98C3-2A9EFA08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84635-5248-4422-9671-F35AA558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怎样设计能够优先定位在生物分子凝聚体界面的短肽？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C08F2-3E46-4505-ABCF-FA85C35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FBB1C-2ADA-4461-8CEC-C4085B0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输入：按原文填写凝聚体与设计条件</a:t>
            </a:r>
          </a:p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输出：具有界面定位偏好的新肽序列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6481F3-122B-422C-9EFC-41355D8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4F56D4-E4F0-4EB4-A762-A4ECC10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67175"/>
            <a:ext cx="385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用显微图和定量富集指标证明肽位于界面，而不是只进入凝聚体内部。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2F792-AAA1-4C5D-AB2B-2F4697B2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D8A4A4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汇报边界：这项工作面向凝聚体介观环境，不等同于针对单个 IDR 靶点设计 binder。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两种功能分子设计路线</a:t>
            </a:r>
            <a:endParaRPr sz="2400"/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d0924d0a34f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16</a:t>
            </a:r>
            <a:endParaRPr sz="800"/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19125" y="1095375"/>
          <a:ext xmlns:a="http://schemas.openxmlformats.org/drawingml/2006/main" cx="109537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714625"/>
                <a:gridCol w="2952750"/>
                <a:gridCol w="3476625"/>
              </a:tblGrid>
              <a:tr h="65881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IDR binder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condensate-interface peptide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汇报中的定位</a:t>
                      </a:r>
                    </a:p>
                  </a:txBody>
                  <a:tcPr marL="76200" marR="76200" marT="57150" marB="57150">
                    <a:solidFill>
                      <a:srgbClr val="007A3D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设计对象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有稳定折叠的蛋白质 binder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短肽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产物尺度不同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识别选定 IDR 靶片段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富集于凝聚体界面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靶向对象不同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结构假设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联合生成候选结合态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按论文实际机制填写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不能套用同一结构逻辑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关键验证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亲和力、特异性、稳定性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显微定位与界面富集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评价终点不同</a:t>
                      </a:r>
                    </a:p>
                  </a:txBody>
                  <a:tcPr marL="76200" marR="76200" marT="57150" marB="57150">
                    <a:solidFill>
                      <a:srgbClr val="F6FAF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主要用途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阻断、捕获或检测靶标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凝聚体界面调控与递送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024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均属于功能工程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79917-802E-42A7-95A1-A939DC5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共同变化：研究目标从“描述 IDP”推进到“设计能够改变或利用 IDP 行为的分子”。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六篇论文在研究链条中的位置</a:t>
            </a:r>
            <a:endParaRPr sz="24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03d42bb7e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17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18A59-44DC-4C1C-BA14-F607C39D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目标性质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2B268-1C01-4344-AE9A-E54A33D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F86D3-6DF4-4154-AB07-D437B0F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2E6FA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IDR 序列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2846D-4C77-4FBE-9EEA-13F84966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88224-5AF0-41D9-B93F-CF51DB7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67B51-5527-48B0-9E83-7BFCF81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C3C"/>
          </a:solidFill>
          <a:ln xmlns:a="http://schemas.openxmlformats.org/drawingml/2006/main" w="0">
            <a:solidFill>
              <a:srgbClr val="C93C3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6A2DF-54E8-44BD-851D-E065AD1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环境依赖行为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B8217-822C-4B8C-A584-BBF48BE6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22E2D-0B15-441E-811A-053691CF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53D26A-DE29-4414-B6FF-772D3F48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383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6A59C"/>
          </a:solidFill>
          <a:ln xmlns:a="http://schemas.openxmlformats.org/drawingml/2006/main" w="0">
            <a:solidFill>
              <a:srgbClr val="96A59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18D40C-66C7-4FB6-9FD0-297F7C8F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4F3E9"/>
          </a:solidFill>
          <a:ln xmlns:a="http://schemas.openxmlformats.org/drawingml/2006/main" w="14288">
            <a:solidFill>
              <a:srgbClr val="8E6E2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工程设计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6439C-7A93-4E8F-9163-6CB99F4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GOOSE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68808A-0A84-4D90-A4D3-D0E7367B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670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STARLING</a:t>
            </a:r>
          </a:p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IDPFold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C949E6-A216-41A8-A81F-6A8D991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LLPSense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B27746-7218-4AD5-94B5-04A5B0C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binder</a:t>
            </a:r>
          </a:p>
          <a:p xmlns:a="http://schemas.openxmlformats.org/drawingml/2006/main">
            <a:pPr algn="ctr">
              <a:def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interface peptide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D100F2-CC20-4C9B-9D75-09D447B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147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A3D"/>
            </a:solidFill>
            <a:prstDash val="dash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Unified framework</a:t>
            </a:r>
          </a:p>
          <a:p xmlns:a="http://schemas.openxmlformats.org/drawingml/2006/main">
            <a:pPr algn="ctr">
              <a:def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实验与模拟约束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DCCB0-5C37-4968-B428-3B242396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E1ACE9-7665-436F-8631-BEB22F6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00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方法在各自任务上已经取得结果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C47EC4-31A5-4AE6-972A-0BD9ABB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428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F0F0"/>
          </a:solidFill>
          <a:ln xmlns:a="http://schemas.openxmlformats.org/drawingml/2006/main" w="14288">
            <a:solidFill>
              <a:srgbClr val="C93C3C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尚未连接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0B8151-2016-4B77-9A24-F7D719E4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00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ensemble、环境与功能之间仍缺统一验证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现有方法的共同局限</a:t>
            </a:r>
            <a:endParaRPr sz="24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8bbe4854d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18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40E1D-CBC9-46A0-B521-CAB3356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A444D-9269-4BA1-9BCB-9C7669B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953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7EF7A-1B66-48EC-8F0D-3A1AF93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763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真实 IDP ensemble 数据稀缺，模型大量依赖模拟与力场。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02304-1FFD-4333-96DD-99FEAB0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56FD0-9BE0-479F-BD72-223C5C5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A0CFB-9A8F-4BA2-AB7A-025FF954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66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评价不唯一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8A3A2E-5EAE-4BEE-A4E3-C5D140C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不同构象分布可能产生相似的平均实验观测。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C757A-3BD4-4B3F-8782-C8D766D9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9D5391-AD83-49B4-9F31-9149353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715D9-1088-4FF7-BE9F-963C00E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84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环境依赖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8F3DDA-9F78-48FF-B8C6-8524AE10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194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温度、盐浓度、浓度和伙伴分子尚未被统一建模。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B36FC-825E-4446-AF7E-095AE6A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26E61C-0B1A-47CA-BED2-0DBBC44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3C8634-4308-46A2-A19F-4B4D100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模块割裂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A0D2CB-18D5-4A59-A6C2-6130DD7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909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sequence、ensemble、function 和 design 通常由不同模型处理。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43D20-67DF-4213-9DF5-119FC85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9AC9-6534-4B1E-A226-0680DB5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0E1376-6F37-44D2-A1C0-5425619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验证成本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B47147-81DE-488F-9B24-DF238CF1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625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计算分数提高不等于真实功能提高，关键设计仍需独立验证。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57AC1A-99FD-4A24-AFEF-B4AC132E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31CA2-5686-4118-B89C-3A0F15E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B3F88-90EE-467F-AB5D-0D577FE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057EEA-4864-437D-AD72-DCAFDEA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可行研究方向与汇报结论</a:t>
            </a:r>
            <a:endParaRPr sz="24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4c203fabd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47AB249-45FC-430F-BA00-9F56CE2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9BC8C3-23A5-4AFC-8CB3-B7D1DED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4A512CE-9EBC-45FF-B05E-76C691A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19</a:t>
            </a:r>
            <a:endParaRPr sz="800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931D8-E98B-4D88-8CCC-A86F953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方向一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D2675-DD2B-44DB-A9F3-321B79D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000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统一评测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89DFF-D339-4E97-9B4A-DCA4DE4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001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在相同序列、环境和观测下比较 STARLING、IDPFold 与 CALVADOS。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233460-EC84-4B51-BEDB-243D0020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方向二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641C0-8F5A-427C-AF09-4AC99A8A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81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ensemble 增强的 LLPS 预测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628A6-B65D-4D80-927D-3F40152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比较仅序列、序列加环境、序列加环境与 ensemble 三种模型。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33D83-C858-4B18-950A-5FA0226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方向三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E5F80-C13D-4CBE-B2F7-63802B2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E6E2F"/>
                </a:solidFill>
                <a:latin typeface="Microsoft YaHei"/>
                <a:ea typeface="Microsoft YaHei"/>
                <a:cs typeface="Microsoft YaHei"/>
              </a:rPr>
              <a:t>ensemble-aware 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7AED5-4D08-448E-B41C-C1121FF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6237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 ensemble、LLPS、聚集风险和多样性组成多目标奖励。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2FE91-0572-44AD-89EE-80819832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7"/>
          </a:solidFill>
          <a:ln xmlns:a="http://schemas.openxmlformats.org/drawingml/2006/main" w="14288">
            <a:solidFill>
              <a:srgbClr val="007A3D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总判断：AI 已覆盖 IDR 研究链条的多个节点，但下一步价值来自节点之间的连接和独立验证。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2673128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F08661-FD41-4971-91CA-2D99A3D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"/>
            <a:ext cx="43891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32F703D-F91B-4802-8010-C07742A2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37160"/>
            <a:ext cx="411480" cy="34747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A277">
              <a:alpha val="85000"/>
            </a:srgbClr>
          </a:solidFill>
          <a:ln xmlns:a="http://schemas.openxmlformats.org/drawingml/2006/main"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71FAF1-DAA4-4179-A75F-F4B969E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讨论与建议</a:t>
            </a:r>
            <a:endParaRPr sz="24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466f29dd049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75720" y="10972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5E27DC4-2D92-41FD-BB2F-10D3D97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88952" cy="38404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9E7"/>
          </a:solidFill>
          <a:ln xmlns:a="http://schemas.openxmlformats.org/drawingml/2006/main" w="12700">
            <a:solidFill>
              <a:srgbClr val="E8E9E7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11E5095-E0C5-4A77-863D-323484D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8895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12700">
            <a:solidFill>
              <a:srgbClr val="007A3D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8639F72-C0F0-43CD-A9FF-85943B3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5508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A817D"/>
                </a:solidFill>
                <a:latin typeface="Arial"/>
                <a:ea typeface="Arial"/>
                <a:cs typeface="Arial"/>
              </a:rPr>
              <a:t>20</a:t>
            </a:r>
            <a:endParaRPr sz="800"/>
          </a:p>
        </p:txBody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7aa0763204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5369" y="1349405"/>
            <a:ext cx="6263640" cy="2512381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556EC82-1594-4161-936D-95DC20E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56533"/>
            <a:ext cx="3566160" cy="613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sz="2600"/>
          </a:p>
        </p:txBody>
      </p:sp>
    </p:spTree>
    <p:extLst>
      <p:ext uri="{BB962C8B-B14F-4D97-AF65-F5344CB8AC3E}">
        <p14:creationId xmlns:p14="http://schemas.microsoft.com/office/powerpoint/2010/main" val="4904667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2026-09-24T06:55:42.5940000Z</dcterms:created>
  <dcterms:modified xsi:type="dcterms:W3CDTF">2026-09-24T06:55:42.5950000Z</dcterms:modified>
</coreProperties>
</file>