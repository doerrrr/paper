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4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封面说明本次不是六篇论文的逐篇汇报，而是一次方向判断：AI与无序蛋白已经覆盖哪些任务，哪些关键连接仍没有被验证，以及小组可以从哪里切入。填写三位汇报人和正式日期，整场控制在三十到四十分钟。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先区分折叠蛋白和内在无序蛋白的研究对象。IDP不是缺少结构，而是在给定环境下对应一组构象及其概率分布。因此评价模型不能只看一张结构图，还要同时看全局尺寸、局部结构和分布覆盖。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同时完成路线导航和问题定义。六篇论文分别位于序列设计、ensemble生成、环境相关预测和功能分子设计等节点，但汇报不按论文顺序展开，而是回答三个问题：生成是否可信，ensemble是否提供额外功能信息，以及能否走向设计。这里不能把各篇论文描述成已经连通的端到端系统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OOSE位于性质到序列的反向设计环节。它根据长度、电荷、疏水性或构象倾向等约束生成多样的IDR序列。需要强调，它解决的是性质约束下的序列生成，不直接输出三维ensemble，也不保证生成序列具有目标生物功能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STARLING从序列和条件快速采样大量构象。距离图描述每个构象中残基对之间的距离，多个样本共同组成ensemble。汇报时选一项速度或规模结果、一项全局尺寸结果和一项分布结果，避免把模型输出说成单一结构。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DPFold在残基刚体与主链几何层面进行扩散生成，多次采样得到构象集合。STARLING更强调快速采样和距离表示，IDPFold更强调刚体框架、扭转角与主链几何。两者共同的边界是：生成样本接近参考分布，并不自动证明真实平衡权重、状态转换速率或动力学正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Unified ensemble framework在汇报中承担评价框架，而不是独立精讲论文。候选构象需要通过forward model转化成可与SAXS、PRE或NMR比较的观测，再通过统计重加权获得与实验一致的ensemble。单一平均观测往往不能唯一决定构象分布，因此需要互补约束。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LPSense说明环境信息对相分离相关预测有价值，但这一结果不能被解释为ensemble机制已经成立。如果模型没有显式使用构象分布，它只支持sequence加environment能够预测LLPS行为。真正需要回答的是：加入ensemble后，是否比sequence加environment获得稳定且可迁移的增益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是全场最具体的研究方案。保持数据、训练集和模型容量尽量一致，只改变输入：M1仅序列，M2加入环境，M3再加入ensemble统计特征。必须使用蛋白级划分、跨环境测试、ensemble特征消融和跨生成器验证。只有M3在这些严格条件下仍稳定优于M2，才能说明ensemble提供了额外信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这项工作针对柔性IDR靶片段生成候选结合态与binder主链，再由ProteinMPNN设计binder序列，并由AlphaFold和实验筛选。它设计的是有稳定折叠的binder及其兼容结合态，不是在恢复IDR的完整自由态ensemble。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这里区分论文证明了什么和没有证明什么。论文证明某些柔性靶序列可以形成可结合构象，并获得具有亲和力和特异性的稳定binder。但一个binder不需要识别全部自由构象，AlphaFold置信度也不能替代真实结合实验。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凝聚体界面肽设计的对象不是某个单一IDR靶点，而是凝聚体的介观界面。关键证据应来自显微定位与定量富集。它与binder路线都属于功能分子设计，但靶向层级、结构假设和验证终点不同。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表格用于比较两条功能分子设计路线。IDR binder强调特定靶片段、复合物结构和结合亲和力；interface peptide强调凝聚体界面、空间定位和富集。共同变化是研究从描述IDP行为推进到设计能够利用或改变这些行为的分子。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研究链第二次出现，因此不再重复导航，而是升级为证据矩阵。每一行同时给出代表论文、已经证明、仍未证明和可执行任务。综合来看，各节点已有局部成果，但ensemble到function之间的可迁移连接仍是最清楚的研究缺口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方向按风险递增。统一评测最容易建立可信基线，但创新性取决于数据与评价设计；ensemble增强的LLPS预测最适合作为当前切入点，因为问题清楚、可以纯计算完成并能做严格消融；ensemble-aware设计潜力最大，但验证成本和外部合作要求最高。建议先完成方向一或方向二，再进入方向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最后把讨论收束到三个选择：先做统一评测，先验证ensemble的功能增益，还是直接进入设计。若老师追问论文覆盖和证据边界，返回第十四页；若讨论具体选题与工作量，返回第十五页。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9/24/2026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_idp_hzau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9/24/2026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</p:sp>
      <p:grpSp>
        <p:nvGrpSpPr>
          <p:cNvPr id="4" name="cover-kicker"/>
          <p:cNvGrpSpPr/>
          <p:nvPr/>
        </p:nvGrpSpPr>
        <p:grpSpPr>
          <a:xfrm>
            <a:off x="753618" y="812482"/>
            <a:ext cx="4918710" cy="322707"/>
            <a:chOff x="753618" y="812482"/>
            <a:chExt cx="4918710" cy="322707"/>
          </a:xfrm>
        </p:grpSpPr>
        <p:sp>
          <p:nvSpPr>
            <p:cNvPr id="3" name="TextBox 3"/>
            <p:cNvSpPr txBox="1"/>
            <p:nvPr/>
          </p:nvSpPr>
          <p:spPr>
            <a:xfrm>
              <a:off x="753618" y="812482"/>
              <a:ext cx="49187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spc="22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IDP / IDR × ARTIFICIAL INTELLIGENCE</a:t>
              </a:r>
            </a:p>
          </p:txBody>
        </p:sp>
      </p:grpSp>
      <p:grpSp>
        <p:nvGrpSpPr>
          <p:cNvPr id="7" name="cover-title"/>
          <p:cNvGrpSpPr/>
          <p:nvPr/>
        </p:nvGrpSpPr>
        <p:grpSpPr>
          <a:xfrm>
            <a:off x="742950" y="1565910"/>
            <a:ext cx="6822948" cy="1235202"/>
            <a:chOff x="742950" y="1565910"/>
            <a:chExt cx="6822948" cy="1235202"/>
          </a:xfrm>
        </p:grpSpPr>
        <p:sp>
          <p:nvSpPr>
            <p:cNvPr id="5" name="TextBox 5"/>
            <p:cNvSpPr txBox="1"/>
            <p:nvPr/>
          </p:nvSpPr>
          <p:spPr>
            <a:xfrm>
              <a:off x="742950" y="1565910"/>
              <a:ext cx="682294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无序蛋白人工智能研究进展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8858" y="2331720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序列、构象系综、功能与设计</a:t>
              </a:r>
            </a:p>
          </p:txBody>
        </p:sp>
      </p:grpSp>
      <p:grpSp>
        <p:nvGrpSpPr>
          <p:cNvPr id="10" name="cover-sub"/>
          <p:cNvGrpSpPr/>
          <p:nvPr/>
        </p:nvGrpSpPr>
        <p:grpSpPr>
          <a:xfrm>
            <a:off x="771906" y="3329940"/>
            <a:ext cx="6800088" cy="763905"/>
            <a:chOff x="771906" y="3329940"/>
            <a:chExt cx="6800088" cy="763905"/>
          </a:xfrm>
        </p:grpSpPr>
        <p:sp>
          <p:nvSpPr>
            <p:cNvPr id="8" name="TextBox 8"/>
            <p:cNvSpPr txBox="1"/>
            <p:nvPr/>
          </p:nvSpPr>
          <p:spPr>
            <a:xfrm>
              <a:off x="771906" y="33299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三人小组文献调研与研究路线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3430" y="3800475"/>
              <a:ext cx="6798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以六篇代表性工作为节点，梳理 AI–IDP 的任务链、验证边界与可行研究方向</a:t>
              </a:r>
            </a:p>
          </p:txBody>
        </p:sp>
      </p:grpSp>
      <p:grpSp>
        <p:nvGrpSpPr>
          <p:cNvPr id="16" name="cover-meta"/>
          <p:cNvGrpSpPr/>
          <p:nvPr/>
        </p:nvGrpSpPr>
        <p:grpSpPr>
          <a:xfrm>
            <a:off x="774192" y="5048250"/>
            <a:ext cx="11074908" cy="1657350"/>
            <a:chOff x="774192" y="5048250"/>
            <a:chExt cx="11074908" cy="1657350"/>
          </a:xfrm>
        </p:grpSpPr>
        <p:sp>
          <p:nvSpPr>
            <p:cNvPr id="11" name="TextBox 11"/>
            <p:cNvSpPr txBox="1"/>
            <p:nvPr/>
          </p:nvSpPr>
          <p:spPr>
            <a:xfrm>
              <a:off x="774192" y="5454968"/>
              <a:ext cx="3023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汇报人：A、B、C 时间：2026.__.__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954" y="5947410"/>
              <a:ext cx="73133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375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 U A Z H O N G A G R I C U L T U R A L U N I V E R S I T Y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87000" y="5048250"/>
              <a:ext cx="1066800" cy="1066800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11525250" y="6381750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639997" y="64793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2"/>
          <p:cNvSpPr/>
          <p:nvPr/>
        </p:nvSpPr>
        <p:spPr>
          <a:xfrm>
            <a:off x="0" y="2381250"/>
            <a:ext cx="12192000" cy="1333500"/>
          </a:xfrm>
          <a:custGeom>
            <a:avLst/>
            <a:gdLst/>
            <a:ahLst/>
            <a:cxnLst/>
            <a:rect l="l" t="t" r="r" b="b"/>
            <a:pathLst>
              <a:path w="12192000" h="1333500">
                <a:moveTo>
                  <a:pt x="0" y="857250"/>
                </a:moveTo>
                <a:cubicBezTo>
                  <a:pt x="2095500" y="0"/>
                  <a:pt x="4000500" y="666750"/>
                  <a:pt x="6667500" y="523875"/>
                </a:cubicBezTo>
                <a:cubicBezTo>
                  <a:pt x="9334500" y="381000"/>
                  <a:pt x="10287000" y="133350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2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38694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IDP/IDR 的研究对象</a:t>
              </a:r>
            </a:p>
          </p:txBody>
        </p:sp>
      </p:grpSp>
      <p:grpSp>
        <p:nvGrpSpPr>
          <p:cNvPr id="18" name="folded"/>
          <p:cNvGrpSpPr/>
          <p:nvPr/>
        </p:nvGrpSpPr>
        <p:grpSpPr>
          <a:xfrm>
            <a:off x="829818" y="1681163"/>
            <a:ext cx="3437382" cy="2681287"/>
            <a:chOff x="829818" y="1681163"/>
            <a:chExt cx="3437382" cy="2681287"/>
          </a:xfrm>
        </p:grpSpPr>
        <p:grpSp>
          <p:nvGrpSpPr>
            <p:cNvPr id="12" name="Group 12"/>
            <p:cNvGrpSpPr/>
            <p:nvPr/>
          </p:nvGrpSpPr>
          <p:grpSpPr>
            <a:xfrm>
              <a:off x="982498" y="1681163"/>
              <a:ext cx="206540" cy="371764"/>
              <a:chOff x="982498" y="1681163"/>
              <a:chExt cx="206540" cy="37176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982498" y="1681163"/>
                <a:ext cx="206540" cy="371764"/>
              </a:xfrm>
              <a:custGeom>
                <a:avLst/>
                <a:gdLst/>
                <a:ahLst/>
                <a:cxnLst/>
                <a:rect l="l" t="t" r="r" b="b"/>
                <a:pathLst>
                  <a:path w="206540" h="371764">
                    <a:moveTo>
                      <a:pt x="206540" y="0"/>
                    </a:moveTo>
                    <a:lnTo>
                      <a:pt x="206540" y="20638"/>
                    </a:lnTo>
                    <a:cubicBezTo>
                      <a:pt x="206334" y="89815"/>
                      <a:pt x="171869" y="144937"/>
                      <a:pt x="103188" y="186027"/>
                    </a:cubicBezTo>
                    <a:cubicBezTo>
                      <a:pt x="34506" y="227095"/>
                      <a:pt x="172034" y="144752"/>
                      <a:pt x="103353" y="185738"/>
                    </a:cubicBezTo>
                    <a:cubicBezTo>
                      <a:pt x="34671" y="226806"/>
                      <a:pt x="165" y="281950"/>
                      <a:pt x="0" y="351127"/>
                    </a:cubicBezTo>
                    <a:lnTo>
                      <a:pt x="0" y="371764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82498" y="1681163"/>
                <a:ext cx="206540" cy="371764"/>
              </a:xfrm>
              <a:custGeom>
                <a:avLst/>
                <a:gdLst/>
                <a:ahLst/>
                <a:cxnLst/>
                <a:rect l="l" t="t" r="r" b="b"/>
                <a:pathLst>
                  <a:path w="206540" h="371764">
                    <a:moveTo>
                      <a:pt x="206540" y="371764"/>
                    </a:moveTo>
                    <a:lnTo>
                      <a:pt x="206540" y="351127"/>
                    </a:lnTo>
                    <a:cubicBezTo>
                      <a:pt x="206334" y="281950"/>
                      <a:pt x="171869" y="226827"/>
                      <a:pt x="103188" y="185738"/>
                    </a:cubicBezTo>
                    <a:cubicBezTo>
                      <a:pt x="34506" y="144669"/>
                      <a:pt x="172034" y="227013"/>
                      <a:pt x="103353" y="186027"/>
                    </a:cubicBezTo>
                    <a:cubicBezTo>
                      <a:pt x="34671" y="144937"/>
                      <a:pt x="165" y="89815"/>
                      <a:pt x="0" y="20638"/>
                    </a:cubicBezTo>
                    <a:lnTo>
                      <a:pt x="0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2663" y="1701800"/>
                <a:ext cx="20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9525">
                    <a:moveTo>
                      <a:pt x="0" y="0"/>
                    </a:moveTo>
                    <a:lnTo>
                      <a:pt x="206375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82663" y="2032001"/>
                <a:ext cx="20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9525">
                    <a:moveTo>
                      <a:pt x="0" y="0"/>
                    </a:moveTo>
                    <a:lnTo>
                      <a:pt x="206375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03300" y="1784350"/>
                <a:ext cx="165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525">
                    <a:moveTo>
                      <a:pt x="0" y="0"/>
                    </a:moveTo>
                    <a:lnTo>
                      <a:pt x="165100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03300" y="1949451"/>
                <a:ext cx="165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525">
                    <a:moveTo>
                      <a:pt x="0" y="0"/>
                    </a:moveTo>
                    <a:lnTo>
                      <a:pt x="165100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513332" y="17259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折叠蛋白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239363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氨基酸序列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143125" y="2505075"/>
              <a:ext cx="1762125" cy="9525"/>
            </a:xfrm>
            <a:custGeom>
              <a:avLst/>
              <a:gdLst/>
              <a:ahLst/>
              <a:cxnLst/>
              <a:rect l="l" t="t" r="r" b="b"/>
              <a:pathLst>
                <a:path w="1762125" h="9525">
                  <a:moveTo>
                    <a:pt x="0" y="0"/>
                  </a:moveTo>
                  <a:lnTo>
                    <a:pt x="1762125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24481" y="28536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少数主导结构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162300" y="3257550"/>
              <a:ext cx="1104900" cy="11049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</p:grpSp>
      <p:grpSp>
        <p:nvGrpSpPr>
          <p:cNvPr id="24" name="disordered"/>
          <p:cNvGrpSpPr/>
          <p:nvPr/>
        </p:nvGrpSpPr>
        <p:grpSpPr>
          <a:xfrm>
            <a:off x="5894832" y="1630680"/>
            <a:ext cx="4392168" cy="3107245"/>
            <a:chOff x="5894832" y="1630680"/>
            <a:chExt cx="4392168" cy="3107245"/>
          </a:xfrm>
        </p:grpSpPr>
        <p:sp>
          <p:nvSpPr>
            <p:cNvPr id="19" name="TextBox 19"/>
            <p:cNvSpPr txBox="1"/>
            <p:nvPr/>
          </p:nvSpPr>
          <p:spPr>
            <a:xfrm>
              <a:off x="5894832" y="1630680"/>
              <a:ext cx="126021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IDP / IDR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897118" y="2155508"/>
              <a:ext cx="11606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序列 + 环境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572250" y="2476500"/>
              <a:ext cx="3714750" cy="1714500"/>
            </a:xfrm>
            <a:custGeom>
              <a:avLst/>
              <a:gdLst/>
              <a:ahLst/>
              <a:cxnLst/>
              <a:rect l="l" t="t" r="r" b="b"/>
              <a:pathLst>
                <a:path w="3714750" h="1714500">
                  <a:moveTo>
                    <a:pt x="666750" y="0"/>
                  </a:moveTo>
                  <a:cubicBezTo>
                    <a:pt x="95250" y="476250"/>
                    <a:pt x="1238250" y="571500"/>
                    <a:pt x="619125" y="1095375"/>
                  </a:cubicBezTo>
                  <a:cubicBezTo>
                    <a:pt x="0" y="1619250"/>
                    <a:pt x="1619250" y="1714500"/>
                    <a:pt x="2286000" y="952500"/>
                  </a:cubicBezTo>
                  <a:cubicBezTo>
                    <a:pt x="2952750" y="190500"/>
                    <a:pt x="3048000" y="190500"/>
                    <a:pt x="3714750" y="904875"/>
                  </a:cubicBez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25868" y="415575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构象概率分布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27392" y="44738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多个状态与不同权重</a:t>
              </a:r>
            </a:p>
          </p:txBody>
        </p:sp>
      </p:grpSp>
      <p:grpSp>
        <p:nvGrpSpPr>
          <p:cNvPr id="30" name="basics"/>
          <p:cNvGrpSpPr/>
          <p:nvPr/>
        </p:nvGrpSpPr>
        <p:grpSpPr>
          <a:xfrm>
            <a:off x="609600" y="4953000"/>
            <a:ext cx="10972800" cy="1047750"/>
            <a:chOff x="609600" y="4953000"/>
            <a:chExt cx="10972800" cy="1047750"/>
          </a:xfrm>
        </p:grpSpPr>
        <p:sp>
          <p:nvSpPr>
            <p:cNvPr id="25" name="Rectangle 25"/>
            <p:cNvSpPr/>
            <p:nvPr/>
          </p:nvSpPr>
          <p:spPr>
            <a:xfrm>
              <a:off x="609600" y="4953000"/>
              <a:ext cx="109728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2480" y="50958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汇报所需基础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3242" y="5435918"/>
              <a:ext cx="64935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-398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ensemble 表示多个构象及其统计权重　 • 盐浓度、温度和结合伙伴会改变分布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3242" y="5712142"/>
              <a:ext cx="4530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-398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评价模型时必须同时看全局尺寸、局部结构和分布覆盖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46392" y="511206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后续六篇论文分别处理这条任务链中的不同环节</a:t>
              </a:r>
            </a:p>
          </p:txBody>
        </p:sp>
      </p:grpSp>
      <p:grpSp>
        <p:nvGrpSpPr>
          <p:cNvPr id="32" name="object-takeaway"/>
          <p:cNvGrpSpPr/>
          <p:nvPr/>
        </p:nvGrpSpPr>
        <p:grpSpPr>
          <a:xfrm>
            <a:off x="602742" y="6007418"/>
            <a:ext cx="4738878" cy="264033"/>
            <a:chOff x="602742" y="6007418"/>
            <a:chExt cx="4738878" cy="264033"/>
          </a:xfrm>
        </p:grpSpPr>
        <p:sp>
          <p:nvSpPr>
            <p:cNvPr id="31" name="TextBox 31"/>
            <p:cNvSpPr txBox="1"/>
            <p:nvPr/>
          </p:nvSpPr>
          <p:spPr>
            <a:xfrm>
              <a:off x="602742" y="600741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研究对象不再是一张结构图，而是受条件影响的构象分布。</a:t>
              </a:r>
            </a:p>
          </p:txBody>
        </p:sp>
      </p:grpSp>
      <p:grpSp>
        <p:nvGrpSpPr>
          <p:cNvPr id="36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1143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952750"/>
                </a:moveTo>
                <a:cubicBezTo>
                  <a:pt x="2381250" y="0"/>
                  <a:pt x="4095750" y="2571750"/>
                  <a:pt x="6858000" y="2190750"/>
                </a:cubicBezTo>
                <a:cubicBezTo>
                  <a:pt x="9620250" y="1809750"/>
                  <a:pt x="10287000" y="476250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5" name="header-3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61550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AI–IDP 研究链条与三个判断问题</a:t>
              </a:r>
            </a:p>
          </p:txBody>
        </p:sp>
      </p:grpSp>
      <p:grpSp>
        <p:nvGrpSpPr>
          <p:cNvPr id="23" name="chain"/>
          <p:cNvGrpSpPr/>
          <p:nvPr/>
        </p:nvGrpSpPr>
        <p:grpSpPr>
          <a:xfrm>
            <a:off x="648310" y="1394460"/>
            <a:ext cx="10485272" cy="1371791"/>
            <a:chOff x="648310" y="1394460"/>
            <a:chExt cx="10485272" cy="1371791"/>
          </a:xfrm>
        </p:grpSpPr>
        <p:sp>
          <p:nvSpPr>
            <p:cNvPr id="6" name="Line 6"/>
            <p:cNvSpPr/>
            <p:nvPr/>
          </p:nvSpPr>
          <p:spPr>
            <a:xfrm>
              <a:off x="1000125" y="2095500"/>
              <a:ext cx="9810750" cy="9525"/>
            </a:xfrm>
            <a:custGeom>
              <a:avLst/>
              <a:gdLst/>
              <a:ahLst/>
              <a:cxnLst/>
              <a:rect l="l" t="t" r="r" b="b"/>
              <a:pathLst>
                <a:path w="9810750" h="9525">
                  <a:moveTo>
                    <a:pt x="0" y="0"/>
                  </a:moveTo>
                  <a:lnTo>
                    <a:pt x="981075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33425" y="1828800"/>
              <a:ext cx="533400" cy="533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8310" y="2502218"/>
              <a:ext cx="7036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IDR 序列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2686050" y="1828800"/>
              <a:ext cx="533400" cy="533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82418" y="2502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序列性质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4638675" y="1828800"/>
              <a:ext cx="533400" cy="5334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35043" y="2502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构象系综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6591300" y="1828800"/>
              <a:ext cx="533400" cy="533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166028" y="2502218"/>
              <a:ext cx="1383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相互作用 / LLPS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543925" y="1828800"/>
              <a:ext cx="533400" cy="533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49424" y="2502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生物学功能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0496550" y="1828800"/>
              <a:ext cx="533400" cy="533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92918" y="2502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工程设计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1754" y="1394460"/>
              <a:ext cx="5767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GOOSE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32447" y="1394460"/>
              <a:ext cx="1545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STARLING / IDPFold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8176" y="1394460"/>
              <a:ext cx="7796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LLPSense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19078" y="1394460"/>
              <a:ext cx="2183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binder / interface peptide</a:t>
              </a:r>
            </a:p>
          </p:txBody>
        </p:sp>
      </p:grpSp>
      <p:grpSp>
        <p:nvGrpSpPr>
          <p:cNvPr id="28" name="question-1"/>
          <p:cNvGrpSpPr/>
          <p:nvPr/>
        </p:nvGrpSpPr>
        <p:grpSpPr>
          <a:xfrm>
            <a:off x="609600" y="3476625"/>
            <a:ext cx="3333750" cy="2000250"/>
            <a:chOff x="609600" y="3476625"/>
            <a:chExt cx="3333750" cy="2000250"/>
          </a:xfrm>
        </p:grpSpPr>
        <p:sp>
          <p:nvSpPr>
            <p:cNvPr id="24" name="Rectangle 24"/>
            <p:cNvSpPr/>
            <p:nvPr/>
          </p:nvSpPr>
          <p:spPr>
            <a:xfrm>
              <a:off x="609600" y="3476625"/>
              <a:ext cx="3333750" cy="2000250"/>
            </a:xfrm>
            <a:prstGeom prst="roundRect">
              <a:avLst>
                <a:gd name="adj" fmla="val 1905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1342" y="3711892"/>
              <a:ext cx="1608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Q1 生成是否可信？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0580" y="4124325"/>
              <a:ext cx="2682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能否从一条序列生成覆盖合理、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局部结构可信的 ensemble？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723" y="495823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关注：分布覆盖、实验约束、非唯一性</a:t>
              </a:r>
            </a:p>
          </p:txBody>
        </p:sp>
      </p:grpSp>
      <p:grpSp>
        <p:nvGrpSpPr>
          <p:cNvPr id="33" name="question-2"/>
          <p:cNvGrpSpPr/>
          <p:nvPr/>
        </p:nvGrpSpPr>
        <p:grpSpPr>
          <a:xfrm>
            <a:off x="4429125" y="3476625"/>
            <a:ext cx="3333750" cy="2000250"/>
            <a:chOff x="4429125" y="3476625"/>
            <a:chExt cx="3333750" cy="2000250"/>
          </a:xfrm>
        </p:grpSpPr>
        <p:sp>
          <p:nvSpPr>
            <p:cNvPr id="29" name="Rectangle 29"/>
            <p:cNvSpPr/>
            <p:nvPr/>
          </p:nvSpPr>
          <p:spPr>
            <a:xfrm>
              <a:off x="4429125" y="3476625"/>
              <a:ext cx="3333750" cy="2000250"/>
            </a:xfrm>
            <a:prstGeom prst="roundRect">
              <a:avLst>
                <a:gd name="adj" fmla="val 1905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50867" y="3711892"/>
              <a:ext cx="2486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Q2 ensemble 是否真的有用？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50486" y="4132421"/>
              <a:ext cx="2926969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sequence + environment 之外，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ensemble 能否稳定提升功能预测？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51248" y="495823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关注：严格对照、跨环境泛化、消融</a:t>
              </a:r>
            </a:p>
          </p:txBody>
        </p:sp>
      </p:grpSp>
      <p:grpSp>
        <p:nvGrpSpPr>
          <p:cNvPr id="38" name="question-3"/>
          <p:cNvGrpSpPr/>
          <p:nvPr/>
        </p:nvGrpSpPr>
        <p:grpSpPr>
          <a:xfrm>
            <a:off x="8248650" y="3476625"/>
            <a:ext cx="3333750" cy="2000250"/>
            <a:chOff x="8248650" y="3476625"/>
            <a:chExt cx="3333750" cy="2000250"/>
          </a:xfrm>
        </p:grpSpPr>
        <p:sp>
          <p:nvSpPr>
            <p:cNvPr id="34" name="Rectangle 34"/>
            <p:cNvSpPr/>
            <p:nvPr/>
          </p:nvSpPr>
          <p:spPr>
            <a:xfrm>
              <a:off x="8248650" y="3476625"/>
              <a:ext cx="3333750" cy="2000250"/>
            </a:xfrm>
            <a:prstGeom prst="roundRect">
              <a:avLst>
                <a:gd name="adj" fmla="val 1905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70392" y="3711892"/>
              <a:ext cx="16084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Q3 能否走向设计？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69630" y="4124325"/>
              <a:ext cx="2558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能否设计 IDR 序列、binder 或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凝聚体界面定位肽？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70773" y="495823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关注：设计目标、筛选终点、实验验证</a:t>
              </a:r>
            </a:p>
          </p:txBody>
        </p:sp>
      </p:grpSp>
      <p:grpSp>
        <p:nvGrpSpPr>
          <p:cNvPr id="42" name="footer-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5"/>
          <p:cNvSpPr/>
          <p:nvPr/>
        </p:nvSpPr>
        <p:spPr>
          <a:xfrm>
            <a:off x="0" y="9525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238250"/>
                </a:moveTo>
                <a:cubicBezTo>
                  <a:pt x="2095500" y="1428750"/>
                  <a:pt x="4000500" y="857250"/>
                  <a:pt x="6667500" y="1095375"/>
                </a:cubicBezTo>
                <a:cubicBezTo>
                  <a:pt x="9334500" y="1333500"/>
                  <a:pt x="10287000" y="276225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5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4232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GOOSE：可控 IDR 序列设计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49857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GOOSE 核心流程图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建议选择：用户指定性质、序列生成、性质检查三部分均出现的图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4141470" cy="1000125"/>
            <a:chOff x="6858000" y="1333500"/>
            <a:chExt cx="414147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39585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怎样根据预设的序列或聚合物性质反向生成 IDR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序列？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3408045" cy="1000125"/>
            <a:chOff x="6858000" y="2333625"/>
            <a:chExt cx="3408045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3225165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输入：长度、电荷、疏水性、κ 等目标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输出：满足约束的 IDR 序列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141470" cy="1000125"/>
            <a:chOff x="6858000" y="3333750"/>
            <a:chExt cx="414147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39585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展示性质命中率、序列多样性，以及与天然 IDR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的比较。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4284345" cy="1217295"/>
            <a:chOff x="6858000" y="4333875"/>
            <a:chExt cx="4284345" cy="121729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4101465" cy="788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GOOSE 主要设计序列，不直接输出具有统计权重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的三维 ensemble。</a:t>
              </a:r>
            </a:p>
          </p:txBody>
        </p:sp>
      </p:grpSp>
      <p:grpSp>
        <p:nvGrpSpPr>
          <p:cNvPr id="31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6"/>
          <p:cNvSpPr/>
          <p:nvPr/>
        </p:nvSpPr>
        <p:spPr>
          <a:xfrm>
            <a:off x="0" y="666750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2571750"/>
                </a:moveTo>
                <a:cubicBezTo>
                  <a:pt x="2095500" y="0"/>
                  <a:pt x="4000500" y="1762125"/>
                  <a:pt x="6667500" y="2238375"/>
                </a:cubicBezTo>
                <a:cubicBezTo>
                  <a:pt x="9334500" y="2714625"/>
                  <a:pt x="10287000" y="952500"/>
                  <a:pt x="12192000" y="100012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6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8008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STARLING：快速构象系综生成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340842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STARLING 模型与输出图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建议选择：sequence / ionic strength 输入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以及距离图或三维构象输出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4141470" cy="1000125"/>
            <a:chOff x="6858000" y="1333500"/>
            <a:chExt cx="414147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39585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能否从序列和条件快速生成大量相互一致的 IDR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构象？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3379470" cy="1000125"/>
            <a:chOff x="6858000" y="2333625"/>
            <a:chExt cx="3379470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319659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输入：IDR 序列及论文支持的环境条件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输出：残基距离表示和三维构象集合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160520" cy="1000125"/>
            <a:chOff x="6858000" y="3333750"/>
            <a:chExt cx="416052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39776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突出采样速度、全局尺寸分布和与参考 ensemb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 的一致性。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3808095" cy="1217295"/>
            <a:chOff x="6858000" y="4333875"/>
            <a:chExt cx="3808095" cy="121729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3625215" cy="788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模型生成的样本仍受训练 ensemble 和力场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质量限制。</a:t>
              </a:r>
            </a:p>
          </p:txBody>
        </p:sp>
      </p:grpSp>
      <p:grpSp>
        <p:nvGrpSpPr>
          <p:cNvPr id="31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5" name="header-7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74587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IDPFold：残基刚体扩散生成 ensemble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3759898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IDPFold Figure 1C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保留 sequence feature、Initialization Block、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Denoising Block 和输出路径</a:t>
              </a:r>
            </a:p>
          </p:txBody>
        </p:sp>
      </p:grpSp>
      <p:grpSp>
        <p:nvGrpSpPr>
          <p:cNvPr id="16" name="method-summary"/>
          <p:cNvGrpSpPr/>
          <p:nvPr/>
        </p:nvGrpSpPr>
        <p:grpSpPr>
          <a:xfrm>
            <a:off x="6858000" y="1333500"/>
            <a:ext cx="3102229" cy="2095500"/>
            <a:chOff x="6858000" y="1333500"/>
            <a:chExt cx="3102229" cy="2095500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2095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59549" y="1468279"/>
              <a:ext cx="17175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输入、输出与证据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60311" y="1894046"/>
              <a:ext cx="2899918" cy="13836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输入：氨基酸序列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输出：多次采样的主链构象与扭转角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证据：同时检查全局尺寸和局部结构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边界：样本不提供状态转换速率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也不能自动解释为真实平衡权重</a:t>
              </a:r>
            </a:p>
          </p:txBody>
        </p:sp>
      </p:grpSp>
      <p:grpSp>
        <p:nvGrpSpPr>
          <p:cNvPr id="21" name="compact-comparison"/>
          <p:cNvGrpSpPr/>
          <p:nvPr/>
        </p:nvGrpSpPr>
        <p:grpSpPr>
          <a:xfrm>
            <a:off x="6858000" y="3714750"/>
            <a:ext cx="4724400" cy="1952625"/>
            <a:chOff x="6858000" y="3714750"/>
            <a:chExt cx="4724400" cy="1952625"/>
          </a:xfrm>
        </p:grpSpPr>
        <p:sp>
          <p:nvSpPr>
            <p:cNvPr id="17" name="Rectangle 17"/>
            <p:cNvSpPr/>
            <p:nvPr/>
          </p:nvSpPr>
          <p:spPr>
            <a:xfrm>
              <a:off x="6858000" y="3714750"/>
              <a:ext cx="4724400" cy="1952625"/>
            </a:xfrm>
            <a:prstGeom prst="roundRect">
              <a:avLst>
                <a:gd name="adj" fmla="val 195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78980" y="3886200"/>
              <a:ext cx="2896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页内小节：与 STARLING 的区别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086600" y="4219575"/>
              <a:ext cx="4248150" cy="9525"/>
            </a:xfrm>
            <a:custGeom>
              <a:avLst/>
              <a:gdLst/>
              <a:ahLst/>
              <a:cxnLst/>
              <a:rect l="l" t="t" r="r" b="b"/>
              <a:pathLst>
                <a:path w="4248150" h="9525">
                  <a:moveTo>
                    <a:pt x="0" y="0"/>
                  </a:moveTo>
                  <a:lnTo>
                    <a:pt x="4248150" y="0"/>
                  </a:lnTo>
                </a:path>
              </a:pathLst>
            </a:custGeom>
            <a:noFill/>
            <a:ln w="9525">
              <a:solidFill>
                <a:srgbClr val="7FA99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42" y="4397692"/>
              <a:ext cx="3579876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STARLING：强调快速采样与距离表示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IDPFold：强调残基刚体、主链几何与扩散生成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共同局限：都依赖参考 ensemble / 模拟分布，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“生成得像”不等于“真实权重和动力学正确”</a:t>
              </a:r>
            </a:p>
          </p:txBody>
        </p:sp>
      </p:grpSp>
      <p:grpSp>
        <p:nvGrpSpPr>
          <p:cNvPr id="25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-190500"/>
            <a:ext cx="12192000" cy="4476750"/>
          </a:xfrm>
          <a:custGeom>
            <a:avLst/>
            <a:gdLst/>
            <a:ahLst/>
            <a:cxnLst/>
            <a:rect l="l" t="t" r="r" b="b"/>
            <a:pathLst>
              <a:path w="12192000" h="4476750">
                <a:moveTo>
                  <a:pt x="0" y="2381250"/>
                </a:moveTo>
                <a:cubicBezTo>
                  <a:pt x="2095500" y="857250"/>
                  <a:pt x="4000500" y="4476750"/>
                  <a:pt x="6667500" y="2238375"/>
                </a:cubicBezTo>
                <a:cubicBezTo>
                  <a:pt x="9334500" y="0"/>
                  <a:pt x="10287000" y="1809750"/>
                  <a:pt x="12192000" y="40005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9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42725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构象系综的确定与验证</a:t>
              </a:r>
            </a:p>
          </p:txBody>
        </p:sp>
      </p:grpSp>
      <p:grpSp>
        <p:nvGrpSpPr>
          <p:cNvPr id="20" name="validation-flow"/>
          <p:cNvGrpSpPr/>
          <p:nvPr/>
        </p:nvGrpSpPr>
        <p:grpSpPr>
          <a:xfrm>
            <a:off x="762000" y="1952625"/>
            <a:ext cx="10239375" cy="666750"/>
            <a:chOff x="762000" y="1952625"/>
            <a:chExt cx="10239375" cy="666750"/>
          </a:xfrm>
        </p:grpSpPr>
        <p:sp>
          <p:nvSpPr>
            <p:cNvPr id="6" name="Rectangle 6"/>
            <p:cNvSpPr/>
            <p:nvPr/>
          </p:nvSpPr>
          <p:spPr>
            <a:xfrm>
              <a:off x="762000" y="1952625"/>
              <a:ext cx="1666875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05535" y="219884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候选构象池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428875" y="22860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905125" y="1952625"/>
              <a:ext cx="1666875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019029" y="2198846"/>
              <a:ext cx="14295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forward model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4572000" y="22860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048250" y="1952625"/>
              <a:ext cx="1666875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87365" y="21988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实验观测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715125" y="22860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191375" y="1952625"/>
              <a:ext cx="1666875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4910" y="219884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统计重加权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858250" y="22860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334500" y="1952625"/>
              <a:ext cx="1666875" cy="6667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02525" y="2198846"/>
              <a:ext cx="15213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一致的 ensemble</a:t>
              </a:r>
            </a:p>
          </p:txBody>
        </p:sp>
      </p:grpSp>
      <p:grpSp>
        <p:nvGrpSpPr>
          <p:cNvPr id="25" name="exp-constraints"/>
          <p:cNvGrpSpPr/>
          <p:nvPr/>
        </p:nvGrpSpPr>
        <p:grpSpPr>
          <a:xfrm>
            <a:off x="656844" y="3694748"/>
            <a:ext cx="2731232" cy="1520095"/>
            <a:chOff x="656844" y="3694748"/>
            <a:chExt cx="2731232" cy="1520095"/>
          </a:xfrm>
        </p:grpSpPr>
        <p:sp>
          <p:nvSpPr>
            <p:cNvPr id="21" name="TextBox 21"/>
            <p:cNvSpPr txBox="1"/>
            <p:nvPr/>
          </p:nvSpPr>
          <p:spPr>
            <a:xfrm>
              <a:off x="656844" y="36947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实验约束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8749" y="4163854"/>
              <a:ext cx="23825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561" indent="-170561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SAXS：整体尺寸与形状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8749" y="4535329"/>
              <a:ext cx="204628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561" indent="-170561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PRE：瞬时长程接触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8749" y="4906804"/>
              <a:ext cx="272932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70561" indent="-170561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NMR：局部环境与构象倾向</a:t>
              </a:r>
            </a:p>
          </p:txBody>
        </p:sp>
      </p:grpSp>
      <p:grpSp>
        <p:nvGrpSpPr>
          <p:cNvPr id="31" name="boundaries"/>
          <p:cNvGrpSpPr/>
          <p:nvPr/>
        </p:nvGrpSpPr>
        <p:grpSpPr>
          <a:xfrm>
            <a:off x="6181344" y="3694748"/>
            <a:ext cx="3274314" cy="2090928"/>
            <a:chOff x="6181344" y="3694748"/>
            <a:chExt cx="3274314" cy="2090928"/>
          </a:xfrm>
        </p:grpSpPr>
        <p:sp>
          <p:nvSpPr>
            <p:cNvPr id="26" name="TextBox 26"/>
            <p:cNvSpPr txBox="1"/>
            <p:nvPr/>
          </p:nvSpPr>
          <p:spPr>
            <a:xfrm>
              <a:off x="6181344" y="3694748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需要保留的边界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83630" y="4171950"/>
              <a:ext cx="31960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实验通常观测 ensemble 的平均量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83630" y="4543425"/>
              <a:ext cx="31960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不同 ensemble 可能产生相似观测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83630" y="4914900"/>
              <a:ext cx="26003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61925" indent="-161925" algn="l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单一指标不能唯一确定分布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84392" y="5283518"/>
              <a:ext cx="3271266" cy="502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这篇综述承担评价框架，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不需要像研究论文一样展开全部实验技术。</a:t>
              </a:r>
            </a:p>
          </p:txBody>
        </p:sp>
      </p:grpSp>
      <p:grpSp>
        <p:nvGrpSpPr>
          <p:cNvPr id="35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3" name="Rectangle 3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666875"/>
            <a:ext cx="12192000" cy="3381375"/>
          </a:xfrm>
          <a:custGeom>
            <a:avLst/>
            <a:gdLst/>
            <a:ahLst/>
            <a:cxnLst/>
            <a:rect l="l" t="t" r="r" b="b"/>
            <a:pathLst>
              <a:path w="12192000" h="3381375">
                <a:moveTo>
                  <a:pt x="0" y="2619375"/>
                </a:moveTo>
                <a:cubicBezTo>
                  <a:pt x="2095500" y="714375"/>
                  <a:pt x="4000500" y="809625"/>
                  <a:pt x="6667500" y="2095500"/>
                </a:cubicBezTo>
                <a:cubicBezTo>
                  <a:pt x="9334500" y="3381375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5" name="header-8"/>
          <p:cNvGrpSpPr/>
          <p:nvPr/>
        </p:nvGrpSpPr>
        <p:grpSpPr>
          <a:xfrm>
            <a:off x="594360" y="457200"/>
            <a:ext cx="10988040" cy="586740"/>
            <a:chOff x="594360" y="457200"/>
            <a:chExt cx="10988040" cy="586740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457200"/>
              <a:ext cx="1010608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LLPSense：环境信息有用，但 ensemble 机制尚未证明</a:t>
              </a:r>
            </a:p>
          </p:txBody>
        </p:sp>
      </p:grpSp>
      <p:grpSp>
        <p:nvGrpSpPr>
          <p:cNvPr id="17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83444" y="1588294"/>
              <a:ext cx="271462" cy="286543"/>
              <a:chOff x="883444" y="1588294"/>
              <a:chExt cx="271462" cy="28654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28687" y="1588294"/>
                <a:ext cx="18097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80975">
                    <a:moveTo>
                      <a:pt x="0" y="90487"/>
                    </a:moveTo>
                    <a:cubicBezTo>
                      <a:pt x="0" y="140462"/>
                      <a:pt x="40513" y="180975"/>
                      <a:pt x="90487" y="180975"/>
                    </a:cubicBezTo>
                    <a:cubicBezTo>
                      <a:pt x="140462" y="180975"/>
                      <a:pt x="180975" y="140462"/>
                      <a:pt x="180975" y="90487"/>
                    </a:cubicBezTo>
                    <a:cubicBezTo>
                      <a:pt x="180975" y="40513"/>
                      <a:pt x="140462" y="0"/>
                      <a:pt x="90487" y="0"/>
                    </a:cubicBezTo>
                    <a:cubicBezTo>
                      <a:pt x="40513" y="0"/>
                      <a:pt x="0" y="40513"/>
                      <a:pt x="0" y="90487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19175" y="1588294"/>
                <a:ext cx="30162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180975">
                    <a:moveTo>
                      <a:pt x="0" y="0"/>
                    </a:moveTo>
                    <a:cubicBezTo>
                      <a:pt x="20103" y="5022"/>
                      <a:pt x="30162" y="35184"/>
                      <a:pt x="30162" y="90487"/>
                    </a:cubicBezTo>
                    <a:cubicBezTo>
                      <a:pt x="30162" y="145790"/>
                      <a:pt x="20103" y="175953"/>
                      <a:pt x="0" y="180975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89012" y="1588294"/>
                <a:ext cx="30162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180975">
                    <a:moveTo>
                      <a:pt x="30162" y="0"/>
                    </a:moveTo>
                    <a:cubicBezTo>
                      <a:pt x="10059" y="5022"/>
                      <a:pt x="0" y="35184"/>
                      <a:pt x="0" y="90487"/>
                    </a:cubicBezTo>
                    <a:cubicBezTo>
                      <a:pt x="0" y="145790"/>
                      <a:pt x="10059" y="175953"/>
                      <a:pt x="30162" y="180975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28687" y="1678781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83444" y="1844674"/>
                <a:ext cx="1055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69" h="9525">
                    <a:moveTo>
                      <a:pt x="0" y="0"/>
                    </a:moveTo>
                    <a:lnTo>
                      <a:pt x="105569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49337" y="1844674"/>
                <a:ext cx="1055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5569" h="9525">
                    <a:moveTo>
                      <a:pt x="0" y="0"/>
                    </a:moveTo>
                    <a:lnTo>
                      <a:pt x="105569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89012" y="1814512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60325">
                    <a:moveTo>
                      <a:pt x="0" y="30162"/>
                    </a:moveTo>
                    <a:cubicBezTo>
                      <a:pt x="0" y="46821"/>
                      <a:pt x="13504" y="60325"/>
                      <a:pt x="30162" y="60325"/>
                    </a:cubicBezTo>
                    <a:cubicBezTo>
                      <a:pt x="46821" y="60325"/>
                      <a:pt x="60325" y="46821"/>
                      <a:pt x="60325" y="30162"/>
                    </a:cubicBezTo>
                    <a:cubicBezTo>
                      <a:pt x="60325" y="13504"/>
                      <a:pt x="46821" y="0"/>
                      <a:pt x="30162" y="0"/>
                    </a:cubicBezTo>
                    <a:cubicBezTo>
                      <a:pt x="13504" y="0"/>
                      <a:pt x="0" y="13504"/>
                      <a:pt x="0" y="30162"/>
                    </a:cubicBez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19175" y="1769268"/>
                <a:ext cx="9525" cy="452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244">
                    <a:moveTo>
                      <a:pt x="0" y="0"/>
                    </a:moveTo>
                    <a:lnTo>
                      <a:pt x="0" y="45244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69442" y="2092642"/>
              <a:ext cx="3751326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LLPSense 数据流与结果图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优先显示 sequence、environment 与 LLPS 输出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并标出独立测试或环境信息带来的增益</a:t>
              </a:r>
            </a:p>
          </p:txBody>
        </p:sp>
      </p:grpSp>
      <p:grpSp>
        <p:nvGrpSpPr>
          <p:cNvPr id="21" name="llps-evidence"/>
          <p:cNvGrpSpPr/>
          <p:nvPr/>
        </p:nvGrpSpPr>
        <p:grpSpPr>
          <a:xfrm>
            <a:off x="6849999" y="1458754"/>
            <a:ext cx="4732401" cy="1922621"/>
            <a:chOff x="6849999" y="1458754"/>
            <a:chExt cx="4732401" cy="1922621"/>
          </a:xfrm>
        </p:grpSpPr>
        <p:sp>
          <p:nvSpPr>
            <p:cNvPr id="18" name="TextBox 18"/>
            <p:cNvSpPr txBox="1"/>
            <p:nvPr/>
          </p:nvSpPr>
          <p:spPr>
            <a:xfrm>
              <a:off x="6849999" y="1458754"/>
              <a:ext cx="19302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论文能够支持的判断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58000" y="1809750"/>
              <a:ext cx="4724400" cy="1571625"/>
            </a:xfrm>
            <a:prstGeom prst="roundRect">
              <a:avLst>
                <a:gd name="adj" fmla="val 24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361" y="1998821"/>
              <a:ext cx="3107309" cy="110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输入：序列特征 + 原文定义的环境变量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输出：分类、分数或相边界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重点：环境条件是否改善独立测试表现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意义：功能行为不能只看序列本身</a:t>
              </a:r>
            </a:p>
          </p:txBody>
        </p:sp>
      </p:grpSp>
      <p:grpSp>
        <p:nvGrpSpPr>
          <p:cNvPr id="25" name="llps-gap"/>
          <p:cNvGrpSpPr/>
          <p:nvPr/>
        </p:nvGrpSpPr>
        <p:grpSpPr>
          <a:xfrm>
            <a:off x="6849999" y="3792379"/>
            <a:ext cx="4732401" cy="1874996"/>
            <a:chOff x="6849999" y="3792379"/>
            <a:chExt cx="4732401" cy="1874996"/>
          </a:xfrm>
        </p:grpSpPr>
        <p:sp>
          <p:nvSpPr>
            <p:cNvPr id="22" name="TextBox 22"/>
            <p:cNvSpPr txBox="1"/>
            <p:nvPr/>
          </p:nvSpPr>
          <p:spPr>
            <a:xfrm>
              <a:off x="6849999" y="3792379"/>
              <a:ext cx="21429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论文尚不能支持的判断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58000" y="4143375"/>
              <a:ext cx="4724400" cy="1524000"/>
            </a:xfrm>
            <a:prstGeom prst="roundRect">
              <a:avLst>
                <a:gd name="adj" fmla="val 2500"/>
              </a:avLst>
            </a:prstGeom>
            <a:solidFill>
              <a:srgbClr val="FFF7F5"/>
            </a:solidFill>
            <a:ln w="9525">
              <a:solidFill>
                <a:srgbClr val="E2B0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79361" y="4322921"/>
              <a:ext cx="3729482" cy="1078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没有显式使用 ensemble，就不能说明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“构象分布 → 多价相互作用 → LLPS”机制成立。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真正的断点：ensemble 是否比</a:t>
              </a:r>
              <a:br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sequence + environment 提供额外信息？</a:t>
              </a:r>
            </a:p>
          </p:txBody>
        </p:sp>
      </p:grpSp>
      <p:grpSp>
        <p:nvGrpSpPr>
          <p:cNvPr id="29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142875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cubicBezTo>
                  <a:pt x="2381250" y="0"/>
                  <a:pt x="4095750" y="2190750"/>
                  <a:pt x="6858000" y="1714500"/>
                </a:cubicBezTo>
                <a:cubicBezTo>
                  <a:pt x="9620250" y="1238250"/>
                  <a:pt x="10287000" y="28575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" name="header-12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732465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如何验证 ensemble 是否提供额外信息</a:t>
              </a:r>
            </a:p>
          </p:txBody>
        </p:sp>
      </p:grpSp>
      <p:grpSp>
        <p:nvGrpSpPr>
          <p:cNvPr id="19" name="models"/>
          <p:cNvGrpSpPr/>
          <p:nvPr/>
        </p:nvGrpSpPr>
        <p:grpSpPr>
          <a:xfrm>
            <a:off x="601218" y="1393508"/>
            <a:ext cx="5628132" cy="2854642"/>
            <a:chOff x="601218" y="1393508"/>
            <a:chExt cx="5628132" cy="2854642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393508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一、固定数据与划分，只改变模型输入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809750"/>
              <a:ext cx="5619750" cy="685800"/>
            </a:xfrm>
            <a:prstGeom prst="roundRect">
              <a:avLst>
                <a:gd name="adj" fmla="val 5556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949768"/>
              <a:ext cx="8815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M1 仅序列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74392" y="1949768"/>
              <a:ext cx="14487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sequence → LLPS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2326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回答：序列本身能做到什么程度？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2628900"/>
              <a:ext cx="5619750" cy="6858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 w="9525">
              <a:solidFill>
                <a:srgbClr val="7FA99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1342" y="2768918"/>
              <a:ext cx="12827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M2 序列 + 环境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74392" y="2768918"/>
              <a:ext cx="24660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sequence + condition → LLPS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2104" y="30518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回答：盐、温度、浓度等条件是否带来增益？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3448050"/>
              <a:ext cx="5619750" cy="800100"/>
            </a:xfrm>
            <a:prstGeom prst="roundRect">
              <a:avLst>
                <a:gd name="adj" fmla="val 4762"/>
              </a:avLst>
            </a:prstGeom>
            <a:solidFill>
              <a:srgbClr val="F0F7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1342" y="3588068"/>
              <a:ext cx="2332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M3 序列 + 环境 + ensemble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36392" y="3588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加入构象统计特征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2104" y="3870960"/>
              <a:ext cx="3994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回答：在公平对照下，ensemble 是否仍提供额外信息？</a:t>
              </a:r>
            </a:p>
          </p:txBody>
        </p:sp>
      </p:grpSp>
      <p:grpSp>
        <p:nvGrpSpPr>
          <p:cNvPr id="27" name="validation"/>
          <p:cNvGrpSpPr/>
          <p:nvPr/>
        </p:nvGrpSpPr>
        <p:grpSpPr>
          <a:xfrm>
            <a:off x="6659118" y="1393508"/>
            <a:ext cx="4923282" cy="2801493"/>
            <a:chOff x="6659118" y="1393508"/>
            <a:chExt cx="4923282" cy="2801493"/>
          </a:xfrm>
        </p:grpSpPr>
        <p:sp>
          <p:nvSpPr>
            <p:cNvPr id="20" name="TextBox 20"/>
            <p:cNvSpPr txBox="1"/>
            <p:nvPr/>
          </p:nvSpPr>
          <p:spPr>
            <a:xfrm>
              <a:off x="6659118" y="1393508"/>
              <a:ext cx="33830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二、避免“看起来提升”的四项检查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667500" y="1809750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55892" y="202596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数据划分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按蛋白而不是按样本随机划分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55892" y="25022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跨环境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训练条件之外测试泛化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55892" y="2978468"/>
              <a:ext cx="3364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消融实验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去掉 Rg、接触或局部结构特征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55892" y="3454718"/>
              <a:ext cx="40889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跨生成器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更换 STARLING / IDPFold / CALVADOS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5892" y="393096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评价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预测性能、校准、跨条件稳定性</a:t>
              </a:r>
            </a:p>
          </p:txBody>
        </p:sp>
      </p:grpSp>
      <p:grpSp>
        <p:nvGrpSpPr>
          <p:cNvPr id="32" name="decision"/>
          <p:cNvGrpSpPr/>
          <p:nvPr/>
        </p:nvGrpSpPr>
        <p:grpSpPr>
          <a:xfrm>
            <a:off x="609600" y="4762500"/>
            <a:ext cx="10972800" cy="1190625"/>
            <a:chOff x="609600" y="4762500"/>
            <a:chExt cx="10972800" cy="1190625"/>
          </a:xfrm>
        </p:grpSpPr>
        <p:sp>
          <p:nvSpPr>
            <p:cNvPr id="28" name="Rectangle 28"/>
            <p:cNvSpPr/>
            <p:nvPr/>
          </p:nvSpPr>
          <p:spPr>
            <a:xfrm>
              <a:off x="609600" y="4762500"/>
              <a:ext cx="10972800" cy="1190625"/>
            </a:xfrm>
            <a:prstGeom prst="roundRect">
              <a:avLst>
                <a:gd name="adj" fmla="val 3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0580" y="49434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判定标准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1342" y="5293042"/>
              <a:ext cx="5535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支持：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M3 在蛋白级划分、跨环境和跨生成器测试中仍稳定优于 M2。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1342" y="5607368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不支持：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提升只来自数据泄漏、某个生成器偏差，或加入序列长度等简单特征后消失。</a:t>
              </a:r>
            </a:p>
          </p:txBody>
        </p:sp>
      </p:grpSp>
      <p:grpSp>
        <p:nvGrpSpPr>
          <p:cNvPr id="36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3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5664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柔性 IDR 靶标的 binder 设计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458285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Diffusing binders Figure 1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保留靶序列、共同扩散、ProteinMPNN、AF2筛选和实验验证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4770120" cy="1000125"/>
            <a:chOff x="6858000" y="1333500"/>
            <a:chExt cx="477012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4587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靶标没有固定结构时，怎样设计能够结合它的有结构蛋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白？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4389120" cy="1000125"/>
            <a:chOff x="6858000" y="2333625"/>
            <a:chExt cx="4389120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4206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输入：选定 IDR 靶序列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输出：结合态靶构象、binder 主链和 binder 序列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842510" cy="1000125"/>
            <a:chOff x="6858000" y="3333750"/>
            <a:chExt cx="484251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选择一个结合亲和力结果和一个代表性复合物结构。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3941445" cy="1217295"/>
            <a:chOff x="6858000" y="4333875"/>
            <a:chExt cx="3941445" cy="121729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3758565" cy="788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生成的是候选结合态，不是自由态 ensemble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的统计重建。</a:t>
              </a:r>
            </a:p>
          </p:txBody>
        </p:sp>
      </p:grpSp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4"/>
          <p:cNvSpPr/>
          <p:nvPr/>
        </p:nvSpPr>
        <p:spPr>
          <a:xfrm>
            <a:off x="0" y="15240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714500"/>
                </a:moveTo>
                <a:cubicBezTo>
                  <a:pt x="2095500" y="857250"/>
                  <a:pt x="4000500" y="2762250"/>
                  <a:pt x="6667500" y="1381125"/>
                </a:cubicBezTo>
                <a:cubicBezTo>
                  <a:pt x="9334500" y="0"/>
                  <a:pt x="10287000" y="2190750"/>
                  <a:pt x="12192000" y="2286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4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7641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binder 设计的证据与适用边界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81125"/>
            <a:ext cx="10972800" cy="1809750"/>
            <a:chOff x="609600" y="1381125"/>
            <a:chExt cx="10972800" cy="1809750"/>
          </a:xfrm>
        </p:grpSpPr>
        <p:sp>
          <p:nvSpPr>
            <p:cNvPr id="6" name="Rectangle 6"/>
            <p:cNvSpPr/>
            <p:nvPr/>
          </p:nvSpPr>
          <p:spPr>
            <a:xfrm>
              <a:off x="609600" y="1381125"/>
              <a:ext cx="10972800" cy="1809750"/>
            </a:xfrm>
            <a:prstGeom prst="roundRect">
              <a:avLst>
                <a:gd name="adj" fmla="val 2105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635919"/>
              <a:ext cx="183925" cy="271462"/>
              <a:chOff x="927212" y="1635919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635919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726406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635919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8680" y="2124075"/>
              <a:ext cx="3263265" cy="826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放置代表性靶标结果</a:t>
              </a:r>
              <a:br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建议只选一个：G3BP1、PrP 或 IL-2RG</a:t>
              </a:r>
              <a:br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显示靶片段、设计复合物和实验亲和力</a:t>
              </a:r>
            </a:p>
          </p:txBody>
        </p:sp>
      </p:grpSp>
      <p:grpSp>
        <p:nvGrpSpPr>
          <p:cNvPr id="17" name="proved"/>
          <p:cNvGrpSpPr/>
          <p:nvPr/>
        </p:nvGrpSpPr>
        <p:grpSpPr>
          <a:xfrm>
            <a:off x="599694" y="3742372"/>
            <a:ext cx="4632579" cy="1608773"/>
            <a:chOff x="599694" y="3742372"/>
            <a:chExt cx="4632579" cy="1608773"/>
          </a:xfrm>
        </p:grpSpPr>
        <p:sp>
          <p:nvSpPr>
            <p:cNvPr id="13" name="TextBox 13"/>
            <p:cNvSpPr txBox="1"/>
            <p:nvPr/>
          </p:nvSpPr>
          <p:spPr>
            <a:xfrm>
              <a:off x="599694" y="3742372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论文证明了什么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980" y="4238625"/>
              <a:ext cx="4630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柔性靶序列可以在设计过程中形成兼容的结合构象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980" y="4648200"/>
              <a:ext cx="27422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设计的 binder 具有稳定折叠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1980" y="5057775"/>
              <a:ext cx="32167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部分候选通过亲和力和特异性实验</a:t>
              </a:r>
            </a:p>
          </p:txBody>
        </p:sp>
      </p:grpSp>
      <p:grpSp>
        <p:nvGrpSpPr>
          <p:cNvPr id="22" name="not-proved"/>
          <p:cNvGrpSpPr/>
          <p:nvPr/>
        </p:nvGrpSpPr>
        <p:grpSpPr>
          <a:xfrm>
            <a:off x="6324219" y="3742372"/>
            <a:ext cx="3552254" cy="1608773"/>
            <a:chOff x="6324219" y="3742372"/>
            <a:chExt cx="3552254" cy="1608773"/>
          </a:xfrm>
        </p:grpSpPr>
        <p:sp>
          <p:nvSpPr>
            <p:cNvPr id="18" name="TextBox 18"/>
            <p:cNvSpPr txBox="1"/>
            <p:nvPr/>
          </p:nvSpPr>
          <p:spPr>
            <a:xfrm>
              <a:off x="6324219" y="3742372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论文没有证明什么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26505" y="4238625"/>
              <a:ext cx="29441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没有恢复完整自由态 ensemble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26505" y="4648200"/>
              <a:ext cx="35499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一个 binder 不需要覆盖所有自由构象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26505" y="5057775"/>
              <a:ext cx="28348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spc="-442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 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• AF2 置信度不能替代结合实验</a:t>
              </a:r>
            </a:p>
          </p:txBody>
        </p:sp>
      </p:grpSp>
      <p:grpSp>
        <p:nvGrpSpPr>
          <p:cNvPr id="26" name="footer-14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4" name="Rectangle 2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5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71855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凝聚体界面的 de novo 肽设计</a:t>
              </a:r>
            </a:p>
          </p:txBody>
        </p:sp>
      </p:grpSp>
      <p:grpSp>
        <p:nvGrpSpPr>
          <p:cNvPr id="12" name="figure-placeholder"/>
          <p:cNvGrpSpPr/>
          <p:nvPr/>
        </p:nvGrpSpPr>
        <p:grpSpPr>
          <a:xfrm>
            <a:off x="609600" y="1333500"/>
            <a:ext cx="5810250" cy="4333875"/>
            <a:chOff x="609600" y="1333500"/>
            <a:chExt cx="58102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5810250" cy="4333875"/>
            </a:xfrm>
            <a:prstGeom prst="roundRect">
              <a:avLst>
                <a:gd name="adj" fmla="val 879"/>
              </a:avLst>
            </a:prstGeom>
            <a:solidFill>
              <a:srgbClr val="F7FAF8"/>
            </a:solidFill>
            <a:ln w="19050">
              <a:solidFill>
                <a:srgbClr val="7FA992"/>
              </a:solidFill>
              <a:custDash>
                <a:ds d="400000" sp="300000"/>
              </a:custDash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27212" y="1588294"/>
              <a:ext cx="183925" cy="271462"/>
              <a:chOff x="927212" y="1588294"/>
              <a:chExt cx="183925" cy="27146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3931" y="1588294"/>
                <a:ext cx="904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9525">
                    <a:moveTo>
                      <a:pt x="0" y="0"/>
                    </a:move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9012" y="1678781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7212" y="1588294"/>
                <a:ext cx="183925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183925" h="271462">
                    <a:moveTo>
                      <a:pt x="61800" y="0"/>
                    </a:moveTo>
                    <a:lnTo>
                      <a:pt x="61800" y="90487"/>
                    </a:lnTo>
                    <a:lnTo>
                      <a:pt x="1475" y="256381"/>
                    </a:lnTo>
                    <a:cubicBezTo>
                      <a:pt x="0" y="259348"/>
                      <a:pt x="4" y="262837"/>
                      <a:pt x="1486" y="265801"/>
                    </a:cubicBezTo>
                    <a:cubicBezTo>
                      <a:pt x="2968" y="268765"/>
                      <a:pt x="5757" y="270861"/>
                      <a:pt x="9016" y="271462"/>
                    </a:cubicBezTo>
                    <a:lnTo>
                      <a:pt x="174909" y="271462"/>
                    </a:lnTo>
                    <a:cubicBezTo>
                      <a:pt x="178169" y="270861"/>
                      <a:pt x="180957" y="268765"/>
                      <a:pt x="182439" y="265801"/>
                    </a:cubicBezTo>
                    <a:cubicBezTo>
                      <a:pt x="183921" y="262837"/>
                      <a:pt x="183925" y="259348"/>
                      <a:pt x="182450" y="256381"/>
                    </a:cubicBezTo>
                    <a:lnTo>
                      <a:pt x="122125" y="90487"/>
                    </a:lnTo>
                    <a:lnTo>
                      <a:pt x="122125" y="0"/>
                    </a:lnTo>
                  </a:path>
                </a:pathLst>
              </a:custGeom>
              <a:noFill/>
              <a:ln w="30162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69442" y="2092642"/>
              <a:ext cx="412851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放置 interface peptide 设计流程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建议包括序列设计、凝聚体定位和界面富集的显微证据</a:t>
              </a:r>
            </a:p>
          </p:txBody>
        </p:sp>
      </p:grpSp>
      <p:grpSp>
        <p:nvGrpSpPr>
          <p:cNvPr id="16" name="info-1"/>
          <p:cNvGrpSpPr/>
          <p:nvPr/>
        </p:nvGrpSpPr>
        <p:grpSpPr>
          <a:xfrm>
            <a:off x="6858000" y="1333500"/>
            <a:ext cx="5044440" cy="1000125"/>
            <a:chOff x="6858000" y="1333500"/>
            <a:chExt cx="5044440" cy="1000125"/>
          </a:xfrm>
        </p:grpSpPr>
        <p:sp>
          <p:nvSpPr>
            <p:cNvPr id="13" name="Rectangle 13"/>
            <p:cNvSpPr/>
            <p:nvPr/>
          </p:nvSpPr>
          <p:spPr>
            <a:xfrm>
              <a:off x="6858000" y="133350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40880" y="1438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核心问题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880" y="176212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怎样设计能够优先定位在生物分子凝聚体界面的短肽？</a:t>
              </a:r>
            </a:p>
          </p:txBody>
        </p:sp>
      </p:grpSp>
      <p:grpSp>
        <p:nvGrpSpPr>
          <p:cNvPr id="20" name="info-2"/>
          <p:cNvGrpSpPr/>
          <p:nvPr/>
        </p:nvGrpSpPr>
        <p:grpSpPr>
          <a:xfrm>
            <a:off x="6858000" y="2333625"/>
            <a:ext cx="3246120" cy="1000125"/>
            <a:chOff x="6858000" y="2333625"/>
            <a:chExt cx="3246120" cy="1000125"/>
          </a:xfrm>
        </p:grpSpPr>
        <p:sp>
          <p:nvSpPr>
            <p:cNvPr id="17" name="Rectangle 17"/>
            <p:cNvSpPr/>
            <p:nvPr/>
          </p:nvSpPr>
          <p:spPr>
            <a:xfrm>
              <a:off x="6858000" y="2333625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4088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输入与输出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0880" y="2762250"/>
              <a:ext cx="3063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输入：按原文填写凝聚体与设计条件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输出：具有界面定位偏好的新肽序列</a:t>
              </a:r>
            </a:p>
          </p:txBody>
        </p:sp>
      </p:grpSp>
      <p:grpSp>
        <p:nvGrpSpPr>
          <p:cNvPr id="24" name="info-3"/>
          <p:cNvGrpSpPr/>
          <p:nvPr/>
        </p:nvGrpSpPr>
        <p:grpSpPr>
          <a:xfrm>
            <a:off x="6858000" y="3333750"/>
            <a:ext cx="4770120" cy="1000125"/>
            <a:chOff x="6858000" y="3333750"/>
            <a:chExt cx="4770120" cy="1000125"/>
          </a:xfrm>
        </p:grpSpPr>
        <p:sp>
          <p:nvSpPr>
            <p:cNvPr id="21" name="Rectangle 21"/>
            <p:cNvSpPr/>
            <p:nvPr/>
          </p:nvSpPr>
          <p:spPr>
            <a:xfrm>
              <a:off x="6858000" y="3333750"/>
              <a:ext cx="47625" cy="1000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40880" y="3438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关键证据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40880" y="3762375"/>
              <a:ext cx="45872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用显微图和定量富集指标证明肽位于界面，而不是只进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入凝聚体内部。</a:t>
              </a:r>
            </a:p>
          </p:txBody>
        </p:sp>
      </p:grpSp>
      <p:grpSp>
        <p:nvGrpSpPr>
          <p:cNvPr id="27" name="info-4"/>
          <p:cNvGrpSpPr/>
          <p:nvPr/>
        </p:nvGrpSpPr>
        <p:grpSpPr>
          <a:xfrm>
            <a:off x="6858000" y="4333875"/>
            <a:ext cx="4503420" cy="1217295"/>
            <a:chOff x="6858000" y="4333875"/>
            <a:chExt cx="4503420" cy="1217295"/>
          </a:xfrm>
        </p:grpSpPr>
        <p:sp>
          <p:nvSpPr>
            <p:cNvPr id="25" name="Rectangle 25"/>
            <p:cNvSpPr/>
            <p:nvPr/>
          </p:nvSpPr>
          <p:spPr>
            <a:xfrm>
              <a:off x="6858000" y="4333875"/>
              <a:ext cx="47625" cy="1000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40880" y="4762500"/>
              <a:ext cx="4320540" cy="788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汇报边界：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这项工作面向凝聚体介观环境，不等同于针对单个 I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DR 靶点设计 binder。</a:t>
              </a:r>
            </a:p>
          </p:txBody>
        </p:sp>
      </p:grp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6"/>
          <p:cNvSpPr/>
          <p:nvPr/>
        </p:nvSpPr>
        <p:spPr>
          <a:xfrm>
            <a:off x="0" y="-47625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1190625"/>
                </a:moveTo>
                <a:cubicBezTo>
                  <a:pt x="2095500" y="1571625"/>
                  <a:pt x="4000500" y="2476500"/>
                  <a:pt x="6667500" y="1238250"/>
                </a:cubicBezTo>
                <a:cubicBezTo>
                  <a:pt x="9334500" y="0"/>
                  <a:pt x="10287000" y="2714625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5" name="header-16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42725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两种功能分子设计路线</a:t>
              </a:r>
            </a:p>
          </p:txBody>
        </p:sp>
      </p:grpSp>
      <p:grpSp>
        <p:nvGrpSpPr>
          <p:cNvPr id="54" name="comparison-table"/>
          <p:cNvGrpSpPr/>
          <p:nvPr/>
        </p:nvGrpSpPr>
        <p:grpSpPr>
          <a:xfrm>
            <a:off x="609600" y="1228535"/>
            <a:ext cx="11162190" cy="4248340"/>
            <a:chOff x="609600" y="1285875"/>
            <a:chExt cx="10972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285875"/>
              <a:ext cx="1619250" cy="6985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C9D9C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97992" y="1378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比较维度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228850" y="1285875"/>
              <a:ext cx="2714625" cy="6985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C9D9C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17242" y="1378268"/>
              <a:ext cx="9372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IDR binder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943475" y="1285875"/>
              <a:ext cx="2714625" cy="6985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C9D9C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031867" y="1378268"/>
              <a:ext cx="1453896" cy="4640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condensate-inte</a:t>
              </a:r>
              <a:br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rface peptide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58100" y="1285875"/>
              <a:ext cx="3924300" cy="6985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C9D9C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46492" y="137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汇报中的定位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1984375"/>
              <a:ext cx="1619250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C9D9C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8754" y="2092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设计对象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228850" y="1984375"/>
              <a:ext cx="2714625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C9D9C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18004" y="2092960"/>
              <a:ext cx="2073314" cy="1876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有稳定折叠的蛋白质 binde</a:t>
              </a: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43475" y="1984375"/>
              <a:ext cx="2714625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C9D9C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32629" y="2092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短肽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58100" y="1984375"/>
              <a:ext cx="3924300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C9D9C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47254" y="2092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产物尺度不同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09600" y="2682875"/>
              <a:ext cx="1619250" cy="698500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rgbClr val="C9D9C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8754" y="27914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228850" y="2682875"/>
              <a:ext cx="2714625" cy="698500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rgbClr val="C9D9C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318004" y="2791460"/>
              <a:ext cx="1484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识别选定 IDR 靶片段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943475" y="2682875"/>
              <a:ext cx="2714625" cy="698500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rgbClr val="C9D9C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32629" y="27914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富集于凝聚体界面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58100" y="2682875"/>
              <a:ext cx="3924300" cy="698500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rgbClr val="C9D9C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47254" y="2791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靶向对象不同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" y="3381375"/>
              <a:ext cx="1619250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C9D9C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8754" y="3489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结构假设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228850" y="3381375"/>
              <a:ext cx="2714625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C9D9C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18004" y="3489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联合生成候选结合态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943475" y="3381375"/>
              <a:ext cx="2714625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C9D9CF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032629" y="3489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按论文实际机制填写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58100" y="3381375"/>
              <a:ext cx="3924300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C9D9C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47254" y="34899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不能套用同一结构逻辑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" y="4079875"/>
              <a:ext cx="1619250" cy="698500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rgbClr val="C9D9C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8754" y="4188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关键验证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228850" y="4079875"/>
              <a:ext cx="2714625" cy="698500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rgbClr val="C9D9C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318004" y="41884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亲和力、特异性、稳定性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943475" y="4079875"/>
              <a:ext cx="2714625" cy="698500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rgbClr val="C9D9C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032629" y="41884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显微定位与界面富集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658100" y="4079875"/>
              <a:ext cx="3924300" cy="698500"/>
            </a:xfrm>
            <a:prstGeom prst="rect">
              <a:avLst/>
            </a:prstGeom>
            <a:solidFill>
              <a:srgbClr val="F1F7F3"/>
            </a:solidFill>
            <a:ln w="9525">
              <a:solidFill>
                <a:srgbClr val="C9D9C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747254" y="4188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评价终点不同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9600" y="4778375"/>
              <a:ext cx="1619250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C9D9C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8754" y="4886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主要用途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228850" y="4778375"/>
              <a:ext cx="2714625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C9D9CF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318004" y="48869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阻断、捕获或检测靶标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943475" y="4778375"/>
              <a:ext cx="2714625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C9D9CF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032629" y="48869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凝聚体界面调控与递送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658100" y="4778375"/>
              <a:ext cx="3924300" cy="698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C9D9C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747254" y="4886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均属于功能工程</a:t>
              </a:r>
            </a:p>
          </p:txBody>
        </p:sp>
      </p:grpSp>
      <p:grpSp>
        <p:nvGrpSpPr>
          <p:cNvPr id="57" name="conclusion"/>
          <p:cNvGrpSpPr/>
          <p:nvPr/>
        </p:nvGrpSpPr>
        <p:grpSpPr>
          <a:xfrm>
            <a:off x="601980" y="5676900"/>
            <a:ext cx="10980420" cy="455295"/>
            <a:chOff x="601980" y="5676900"/>
            <a:chExt cx="10980420" cy="455295"/>
          </a:xfrm>
        </p:grpSpPr>
        <p:sp>
          <p:nvSpPr>
            <p:cNvPr id="55" name="Line 55"/>
            <p:cNvSpPr/>
            <p:nvPr/>
          </p:nvSpPr>
          <p:spPr>
            <a:xfrm>
              <a:off x="609600" y="5676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1980" y="5838825"/>
              <a:ext cx="7375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共同变化：研究目标从“描述 IDP”推进到“设计能够改变或利用 IDP 行为的分子”。</a:t>
              </a:r>
            </a:p>
          </p:txBody>
        </p:sp>
      </p:grpSp>
      <p:grpSp>
        <p:nvGrpSpPr>
          <p:cNvPr id="61" name="footer-1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8" name="Image 5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9" name="Rectangle 5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1714500"/>
                </a:moveTo>
                <a:cubicBezTo>
                  <a:pt x="2476500" y="0"/>
                  <a:pt x="4095750" y="2095500"/>
                  <a:pt x="6858000" y="1428750"/>
                </a:cubicBezTo>
                <a:cubicBezTo>
                  <a:pt x="9620250" y="762000"/>
                  <a:pt x="10287000" y="19050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000"/>
              </a:schemeClr>
            </a:solidFill>
          </a:ln>
        </p:spPr>
      </p:sp>
      <p:grpSp>
        <p:nvGrpSpPr>
          <p:cNvPr id="5" name="header-17"/>
          <p:cNvGrpSpPr/>
          <p:nvPr/>
        </p:nvGrpSpPr>
        <p:grpSpPr>
          <a:xfrm>
            <a:off x="594360" y="457200"/>
            <a:ext cx="10988040" cy="586740"/>
            <a:chOff x="594360" y="457200"/>
            <a:chExt cx="10988040" cy="586740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4360" y="457200"/>
              <a:ext cx="7299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从六篇论文得到的证据、缺口与可做任务</a:t>
              </a:r>
            </a:p>
          </p:txBody>
        </p:sp>
      </p:grpSp>
      <p:grpSp>
        <p:nvGrpSpPr>
          <p:cNvPr id="51" name="matrix"/>
          <p:cNvGrpSpPr/>
          <p:nvPr/>
        </p:nvGrpSpPr>
        <p:grpSpPr>
          <a:xfrm>
            <a:off x="514350" y="1238250"/>
            <a:ext cx="11163300" cy="4333875"/>
            <a:chOff x="514350" y="1238250"/>
            <a:chExt cx="11163300" cy="4333875"/>
          </a:xfrm>
        </p:grpSpPr>
        <p:sp>
          <p:nvSpPr>
            <p:cNvPr id="6" name="Rectangle 6"/>
            <p:cNvSpPr/>
            <p:nvPr/>
          </p:nvSpPr>
          <p:spPr>
            <a:xfrm>
              <a:off x="514350" y="1238250"/>
              <a:ext cx="11163300" cy="43338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7FA99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14350" y="1238250"/>
              <a:ext cx="11163300" cy="514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6473" y="1424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研究环节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70023" y="1424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代表工作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32148" y="1424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已经证明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994398" y="1424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仍未证明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18523" y="14244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可做任务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238375" y="1238250"/>
              <a:ext cx="9525" cy="4333875"/>
            </a:xfrm>
            <a:custGeom>
              <a:avLst/>
              <a:gdLst/>
              <a:ahLst/>
              <a:cxnLst/>
              <a:rect l="l" t="t" r="r" b="b"/>
              <a:pathLst>
                <a:path w="9525" h="4333875">
                  <a:moveTo>
                    <a:pt x="0" y="0"/>
                  </a:moveTo>
                  <a:lnTo>
                    <a:pt x="0" y="4333875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000500" y="1238250"/>
              <a:ext cx="9525" cy="4333875"/>
            </a:xfrm>
            <a:custGeom>
              <a:avLst/>
              <a:gdLst/>
              <a:ahLst/>
              <a:cxnLst/>
              <a:rect l="l" t="t" r="r" b="b"/>
              <a:pathLst>
                <a:path w="9525" h="4333875">
                  <a:moveTo>
                    <a:pt x="0" y="0"/>
                  </a:moveTo>
                  <a:lnTo>
                    <a:pt x="0" y="4333875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762750" y="1238250"/>
              <a:ext cx="9525" cy="4333875"/>
            </a:xfrm>
            <a:custGeom>
              <a:avLst/>
              <a:gdLst/>
              <a:ahLst/>
              <a:cxnLst/>
              <a:rect l="l" t="t" r="r" b="b"/>
              <a:pathLst>
                <a:path w="9525" h="4333875">
                  <a:moveTo>
                    <a:pt x="0" y="0"/>
                  </a:moveTo>
                  <a:lnTo>
                    <a:pt x="0" y="4333875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9286875" y="1238250"/>
              <a:ext cx="9525" cy="4333875"/>
            </a:xfrm>
            <a:custGeom>
              <a:avLst/>
              <a:gdLst/>
              <a:ahLst/>
              <a:cxnLst/>
              <a:rect l="l" t="t" r="r" b="b"/>
              <a:pathLst>
                <a:path w="9525" h="4333875">
                  <a:moveTo>
                    <a:pt x="0" y="0"/>
                  </a:moveTo>
                  <a:lnTo>
                    <a:pt x="0" y="4333875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4350" y="1752600"/>
              <a:ext cx="11163300" cy="762000"/>
            </a:xfrm>
            <a:prstGeom prst="rect">
              <a:avLst/>
            </a:prstGeom>
            <a:solidFill>
              <a:srgbClr val="F7FAF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6473" y="1938814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性质 → 序列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70023" y="1938814"/>
              <a:ext cx="5864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GOOSE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32529" y="1870710"/>
              <a:ext cx="18409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可按长度、电荷、疏水性等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性质生成多样IDR序列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94779" y="1870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目标性质是否转化为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真实功能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518904" y="1870710"/>
              <a:ext cx="113233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加入ensemble或</a:t>
              </a:r>
              <a:br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功能奖励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14350" y="251460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14350" y="2514600"/>
              <a:ext cx="111633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6473" y="2700814"/>
              <a:ext cx="13526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序列 → ensemble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70404" y="2632710"/>
              <a:ext cx="64465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STARLING</a:t>
              </a:r>
              <a:br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IDPFold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32529" y="2632710"/>
              <a:ext cx="15361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可快速生成大量构象，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覆盖全局与局部统计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94779" y="2632710"/>
              <a:ext cx="15361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真实平衡权重、动力学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及跨条件迁移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518904" y="2632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统一数据与实验约束</a:t>
              </a:r>
              <a:br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下的模型评测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14350" y="327660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14350" y="3276600"/>
              <a:ext cx="11163300" cy="762000"/>
            </a:xfrm>
            <a:prstGeom prst="rect">
              <a:avLst/>
            </a:prstGeom>
            <a:solidFill>
              <a:srgbClr val="F7FAF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3462814"/>
              <a:ext cx="9980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环境 → LLPS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70023" y="3462814"/>
              <a:ext cx="7925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LLPSense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32529" y="3394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环境信息有助于预测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相分离相关行为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94779" y="3394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ensemble是否提供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额外且可迁移的信息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18904" y="3394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M1/M2/M3严格对照</a:t>
              </a:r>
              <a:br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与跨环境测试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514350" y="403860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14350" y="4038600"/>
              <a:ext cx="11163300" cy="76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6473" y="4224814"/>
              <a:ext cx="10452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IDR → binder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70404" y="4156710"/>
              <a:ext cx="11551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Diffusing</a:t>
              </a:r>
              <a:br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protein binders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32529" y="4156710"/>
              <a:ext cx="154381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可生成稳定binder识别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兼容结合构象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94779" y="4156710"/>
              <a:ext cx="12313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是否覆盖多状态与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动态靶向需求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18904" y="4156710"/>
              <a:ext cx="12313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多构象条件设计与</a:t>
              </a:r>
              <a:br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鲁棒性筛选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514350" y="480060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9525">
              <a:solidFill>
                <a:srgbClr val="C9D9CF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14350" y="4800600"/>
              <a:ext cx="11163300" cy="771525"/>
            </a:xfrm>
            <a:prstGeom prst="rect">
              <a:avLst/>
            </a:prstGeom>
            <a:solidFill>
              <a:srgbClr val="F7FAF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6473" y="4986814"/>
              <a:ext cx="12549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凝聚体 → 定位肽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470404" y="4918710"/>
              <a:ext cx="132283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interface peptide</a:t>
              </a:r>
              <a:br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design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232529" y="4918710"/>
              <a:ext cx="12313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可设计界面富集的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短肽分子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94779" y="4918710"/>
              <a:ext cx="10789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跨凝聚体泛化与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机制可解释性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18904" y="4918710"/>
              <a:ext cx="1383792" cy="4537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环境依赖的功能设计</a:t>
              </a:r>
              <a:br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与多目标优化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06730" y="5819775"/>
            <a:ext cx="8958215" cy="293370"/>
            <a:chOff x="506730" y="5819775"/>
            <a:chExt cx="8958215" cy="293370"/>
          </a:xfrm>
        </p:grpSpPr>
        <p:sp>
          <p:nvSpPr>
            <p:cNvPr id="52" name="TextBox 52"/>
            <p:cNvSpPr txBox="1"/>
            <p:nvPr/>
          </p:nvSpPr>
          <p:spPr>
            <a:xfrm>
              <a:off x="506730" y="5819775"/>
              <a:ext cx="89582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综合判断：论文已解决局部任务，但“ensemble → function”的可迁移连接仍是最清楚的研究缺口。</a:t>
              </a:r>
            </a:p>
          </p:txBody>
        </p:sp>
      </p:grpSp>
      <p:grpSp>
        <p:nvGrpSpPr>
          <p:cNvPr id="57" name="footer-14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1524000"/>
            <a:ext cx="12192000" cy="2857500"/>
          </a:xfrm>
          <a:custGeom>
            <a:avLst/>
            <a:gdLst/>
            <a:ahLst/>
            <a:cxnLst/>
            <a:rect l="l" t="t" r="r" b="b"/>
            <a:pathLst>
              <a:path w="12192000" h="2857500">
                <a:moveTo>
                  <a:pt x="0" y="2857500"/>
                </a:moveTo>
                <a:cubicBezTo>
                  <a:pt x="2190750" y="0"/>
                  <a:pt x="4095750" y="2762250"/>
                  <a:pt x="6858000" y="2190750"/>
                </a:cubicBezTo>
                <a:cubicBezTo>
                  <a:pt x="9620250" y="1619250"/>
                  <a:pt x="10287000" y="1143000"/>
                  <a:pt x="12192000" y="238125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" name="header-15"/>
          <p:cNvGrpSpPr/>
          <p:nvPr/>
        </p:nvGrpSpPr>
        <p:grpSpPr>
          <a:xfrm>
            <a:off x="593598" y="441008"/>
            <a:ext cx="10988802" cy="616077"/>
            <a:chOff x="593598" y="441008"/>
            <a:chExt cx="10988802" cy="616077"/>
          </a:xfrm>
        </p:grpSpPr>
        <p:sp>
          <p:nvSpPr>
            <p:cNvPr id="3" name="Rectangle 3"/>
            <p:cNvSpPr/>
            <p:nvPr/>
          </p:nvSpPr>
          <p:spPr>
            <a:xfrm>
              <a:off x="609600" y="981075"/>
              <a:ext cx="10972800" cy="14288"/>
            </a:xfrm>
            <a:prstGeom prst="rect">
              <a:avLst/>
            </a:prstGeom>
            <a:solidFill>
              <a:srgbClr val="C9D9C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93598" y="441008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三个可落地的计算研究方向</a:t>
              </a:r>
            </a:p>
          </p:txBody>
        </p:sp>
      </p:grpSp>
      <p:grpSp>
        <p:nvGrpSpPr>
          <p:cNvPr id="11" name="direction-1"/>
          <p:cNvGrpSpPr/>
          <p:nvPr/>
        </p:nvGrpSpPr>
        <p:grpSpPr>
          <a:xfrm>
            <a:off x="609600" y="1333500"/>
            <a:ext cx="3371850" cy="4333875"/>
            <a:chOff x="609600" y="1333500"/>
            <a:chExt cx="3371850" cy="4333875"/>
          </a:xfrm>
        </p:grpSpPr>
        <p:sp>
          <p:nvSpPr>
            <p:cNvPr id="6" name="Rectangle 6"/>
            <p:cNvSpPr/>
            <p:nvPr/>
          </p:nvSpPr>
          <p:spPr>
            <a:xfrm>
              <a:off x="609600" y="1333500"/>
              <a:ext cx="3371850" cy="4333875"/>
            </a:xfrm>
            <a:prstGeom prst="roundRect">
              <a:avLst>
                <a:gd name="adj" fmla="val 1130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1723" y="1548289"/>
              <a:ext cx="15995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低风险 / 先建立基线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8294" y="188499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方向一　统一评测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8200" y="228600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1723" y="2510314"/>
              <a:ext cx="2638298" cy="1630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相同序列、条件与观测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基线：</a:t>
              </a:r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STARLING / IDPFold /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　　 CALVADOS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Rg、接触、局部结构、覆盖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产出：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benchmark、误差分析、工具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风险：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创新性取决于数据与评价设计</a:t>
              </a:r>
            </a:p>
          </p:txBody>
        </p:sp>
      </p:grpSp>
      <p:grpSp>
        <p:nvGrpSpPr>
          <p:cNvPr id="17" name="direction-2"/>
          <p:cNvGrpSpPr/>
          <p:nvPr/>
        </p:nvGrpSpPr>
        <p:grpSpPr>
          <a:xfrm>
            <a:off x="4410075" y="1333500"/>
            <a:ext cx="3371850" cy="4333875"/>
            <a:chOff x="4410075" y="1333500"/>
            <a:chExt cx="3371850" cy="4333875"/>
          </a:xfrm>
        </p:grpSpPr>
        <p:sp>
          <p:nvSpPr>
            <p:cNvPr id="12" name="Rectangle 12"/>
            <p:cNvSpPr/>
            <p:nvPr/>
          </p:nvSpPr>
          <p:spPr>
            <a:xfrm>
              <a:off x="4410075" y="1333500"/>
              <a:ext cx="3371850" cy="4333875"/>
            </a:xfrm>
            <a:prstGeom prst="roundRect">
              <a:avLst>
                <a:gd name="adj" fmla="val 113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32198" y="1548289"/>
              <a:ext cx="15995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中风险 / 最推荐切入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31055" y="1933575"/>
              <a:ext cx="27728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方向二　ensemble 增强 LLPS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638675" y="228600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32198" y="2510314"/>
              <a:ext cx="2776474" cy="1678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序列、环境、LLPS标签/读数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基线：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M1序列；M2序列+环境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方法：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M3加入ensemble统计特征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性能、校准、跨环境泛化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产出：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模型、消融、机制关联分析</a:t>
              </a:r>
              <a:br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风险：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必须控制数据泄漏与生成器偏差</a:t>
              </a:r>
            </a:p>
          </p:txBody>
        </p:sp>
      </p:grpSp>
      <p:grpSp>
        <p:nvGrpSpPr>
          <p:cNvPr id="23" name="direction-3"/>
          <p:cNvGrpSpPr/>
          <p:nvPr/>
        </p:nvGrpSpPr>
        <p:grpSpPr>
          <a:xfrm>
            <a:off x="8210550" y="1333500"/>
            <a:ext cx="3371850" cy="4333875"/>
            <a:chOff x="8210550" y="1333500"/>
            <a:chExt cx="3371850" cy="4333875"/>
          </a:xfrm>
        </p:grpSpPr>
        <p:sp>
          <p:nvSpPr>
            <p:cNvPr id="18" name="Rectangle 18"/>
            <p:cNvSpPr/>
            <p:nvPr/>
          </p:nvSpPr>
          <p:spPr>
            <a:xfrm>
              <a:off x="8210550" y="1333500"/>
              <a:ext cx="3371850" cy="4333875"/>
            </a:xfrm>
            <a:prstGeom prst="roundRect">
              <a:avLst>
                <a:gd name="adj" fmla="val 1130"/>
              </a:avLst>
            </a:prstGeom>
            <a:solidFill>
              <a:srgbClr val="F7FAF8"/>
            </a:solidFill>
            <a:ln w="9525">
              <a:solidFill>
                <a:srgbClr val="7FA99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32673" y="1548289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高风险 / 后续拓展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31530" y="1933575"/>
              <a:ext cx="2954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方向三　ensemble-aware 设计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439150" y="228600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32673" y="2510314"/>
              <a:ext cx="2613914" cy="1630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IDR序列、binder或定位肽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奖励：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ensemble、LLPS、聚集风险</a:t>
              </a:r>
              <a:br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　　　 与序列多样性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基线：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单状态或单目标设计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鲁棒性、特异性、跨状态表现</a:t>
              </a:r>
            </a:p>
            <a:p>
              <a:pPr algn="l">
                <a:lnSpc>
                  <a:spcPts val="1875"/>
                </a:lnSpc>
                <a:spcBef>
                  <a:spcPts val="375"/>
                </a:spcBef>
              </a:pPr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风险：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验证成本最高，需外部合作</a:t>
              </a:r>
            </a:p>
          </p:txBody>
        </p:sp>
      </p:grpSp>
      <p:grpSp>
        <p:nvGrpSpPr>
          <p:cNvPr id="25" name="final-judgment"/>
          <p:cNvGrpSpPr/>
          <p:nvPr/>
        </p:nvGrpSpPr>
        <p:grpSpPr>
          <a:xfrm>
            <a:off x="601980" y="5915025"/>
            <a:ext cx="7812262" cy="293370"/>
            <a:chOff x="601980" y="5915025"/>
            <a:chExt cx="7812262" cy="293370"/>
          </a:xfrm>
        </p:grpSpPr>
        <p:sp>
          <p:nvSpPr>
            <p:cNvPr id="24" name="TextBox 24"/>
            <p:cNvSpPr txBox="1"/>
            <p:nvPr/>
          </p:nvSpPr>
          <p:spPr>
            <a:xfrm>
              <a:off x="601980" y="5915025"/>
              <a:ext cx="78122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建议顺序：统一评测建立可信基线 → 验证 ensemble 的功能增益 → 再进入多目标设计。</a:t>
              </a:r>
            </a:p>
          </p:txBody>
        </p:sp>
      </p:grpSp>
      <p:grpSp>
        <p:nvGrpSpPr>
          <p:cNvPr id="29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wash"/>
          <p:cNvSpPr/>
          <p:nvPr/>
        </p:nvSpPr>
        <p:spPr>
          <a:xfrm>
            <a:off x="0" y="2286000"/>
            <a:ext cx="12382500" cy="3333750"/>
          </a:xfrm>
          <a:custGeom>
            <a:avLst/>
            <a:gdLst/>
            <a:ahLst/>
            <a:cxnLst/>
            <a:rect l="l" t="t" r="r" b="b"/>
            <a:pathLst>
              <a:path w="12382500" h="3333750">
                <a:moveTo>
                  <a:pt x="0" y="2667000"/>
                </a:moveTo>
                <a:cubicBezTo>
                  <a:pt x="2476500" y="1428750"/>
                  <a:pt x="5334000" y="3333750"/>
                  <a:pt x="8096250" y="1809750"/>
                </a:cubicBezTo>
                <a:cubicBezTo>
                  <a:pt x="10858500" y="285750"/>
                  <a:pt x="10763250" y="1047750"/>
                  <a:pt x="12382500" y="0"/>
                </a:cubicBezTo>
              </a:path>
            </a:pathLst>
          </a:custGeom>
          <a:noFill/>
          <a:ln w="723900">
            <a:solidFill>
              <a:schemeClr val="accent1">
                <a:alpha val="10000"/>
              </a:schemeClr>
            </a:solidFill>
          </a:ln>
        </p:spPr>
      </p:sp>
      <p:grpSp>
        <p:nvGrpSpPr>
          <p:cNvPr id="5" name="end-title"/>
          <p:cNvGrpSpPr/>
          <p:nvPr/>
        </p:nvGrpSpPr>
        <p:grpSpPr>
          <a:xfrm>
            <a:off x="726948" y="850583"/>
            <a:ext cx="2892552" cy="616077"/>
            <a:chOff x="726948" y="850583"/>
            <a:chExt cx="2892552" cy="616077"/>
          </a:xfrm>
        </p:grpSpPr>
        <p:sp>
          <p:nvSpPr>
            <p:cNvPr id="3" name="TextBox 3"/>
            <p:cNvSpPr txBox="1"/>
            <p:nvPr/>
          </p:nvSpPr>
          <p:spPr>
            <a:xfrm>
              <a:off x="726948" y="850583"/>
              <a:ext cx="21522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3A2A"/>
                  </a:solidFill>
                  <a:latin typeface="+mn-lt"/>
                  <a:ea typeface="+mn-ea"/>
                  <a:cs typeface="+mn-cs"/>
                </a:rPr>
                <a:t>讨论与建议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742950" y="1428750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7" name="motto"/>
          <p:cNvGrpSpPr/>
          <p:nvPr/>
        </p:nvGrpSpPr>
        <p:grpSpPr>
          <a:xfrm>
            <a:off x="1619250" y="2381250"/>
            <a:ext cx="8953500" cy="2743200"/>
            <a:chOff x="1619250" y="2381250"/>
            <a:chExt cx="8953500" cy="27432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19250" y="2381250"/>
              <a:ext cx="8953500" cy="2743200"/>
            </a:xfrm>
            <a:prstGeom prst="rect">
              <a:avLst/>
            </a:prstGeom>
          </p:spPr>
        </p:pic>
      </p:grpSp>
      <p:grpSp>
        <p:nvGrpSpPr>
          <p:cNvPr id="12" name="thanks"/>
          <p:cNvGrpSpPr/>
          <p:nvPr/>
        </p:nvGrpSpPr>
        <p:grpSpPr>
          <a:xfrm>
            <a:off x="723900" y="5191125"/>
            <a:ext cx="11125200" cy="1514475"/>
            <a:chOff x="723900" y="5191125"/>
            <a:chExt cx="11125200" cy="1514475"/>
          </a:xfrm>
        </p:grpSpPr>
        <p:sp>
          <p:nvSpPr>
            <p:cNvPr id="8" name="TextBox 8"/>
            <p:cNvSpPr txBox="1"/>
            <p:nvPr/>
          </p:nvSpPr>
          <p:spPr>
            <a:xfrm>
              <a:off x="723900" y="5404485"/>
              <a:ext cx="173431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谢谢！</a:t>
              </a:r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34625" y="5191125"/>
              <a:ext cx="1047750" cy="10477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11525250" y="6381750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598534" y="64793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2926</Words>
  <Application>Microsoft Office PowerPoint</Application>
  <PresentationFormat>宽屏</PresentationFormat>
  <Paragraphs>244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Arial</vt:lpstr>
      <vt:lpstr>ai_idp_hzau_beautify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文泽 武</cp:lastModifiedBy>
  <cp:revision>2</cp:revision>
  <dcterms:created xsi:type="dcterms:W3CDTF">2026-09-24T09:15:08Z</dcterms:created>
  <dcterms:modified xsi:type="dcterms:W3CDTF">2026-09-24T09:20:09Z</dcterms:modified>
  <cp:category/>
  <cp:contentStatus/>
  <dc:language>zh-CN</dc:language>
</cp:coreProperties>
</file>