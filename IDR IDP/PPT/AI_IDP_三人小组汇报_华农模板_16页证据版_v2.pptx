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封面说明本次不是六篇论文的逐篇汇报，而是一次方向判断：AI与无序蛋白已经覆盖哪些任务，哪些关键连接仍没有被验证，以及小组可以从哪里切入。填写三位汇报人和正式日期，整场控制在三十到四十分钟。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先区分折叠蛋白和内在无序蛋白的研究对象。IDP不是缺少结构，而是在给定环境下对应一组构象及其概率分布。因此评价模型不能只看一张结构图，还要同时看全局尺寸、局部结构和分布覆盖。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同时完成路线导航和问题定义。六篇论文分别位于序列设计、ensemble生成、环境相关预测和功能分子设计等节点，但汇报不按论文顺序展开，而是回答三个问题：生成是否可信，ensemble是否提供额外功能信息，以及能否走向设计。这里不能把各篇论文描述成已经连通的端到端系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位于性质到序列的反向设计环节。它根据长度、电荷、疏水性或构象倾向等约束生成多样的IDR序列。需要强调，它解决的是性质约束下的序列生成，不直接输出三维ensemble，也不保证生成序列具有目标生物功能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STARLING从序列和条件快速采样大量构象。距离图描述每个构象中残基对之间的距离，多个样本共同组成ensemble。汇报时选一项速度或规模结果、一项全局尺寸结果和一项分布结果，避免把模型输出说成单一结构。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在残基刚体与主链几何层面进行扩散生成，多次采样得到构象集合。STARLING更强调快速采样和距离表示，IDPFold更强调刚体框架、扭转角与主链几何。两者现有论文主要验证构象样本和统计分布，没有证明样本之间的转换路径、转换速率或真实动力学时间尺度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Unified ensemble framework在汇报中承担评价框架，而不是独立精讲论文。候选构象需要通过forward model转化成可与SAXS、PRE或NMR比较的观测，再通过统计重加权获得与实验一致的ensemble。单一平均观测往往不能唯一决定构象分布，因此需要互补约束。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这一页把综述与STARLING、IDPFold的评价方法整理成统一检查表。全局尺寸判断整体是否过紧或过松，局部结构检查二级结构和扭转角偏好，长程接触检查瞬时相互作用，分布指标检查多样性和模式坍缩，forward model负责与实验观测比较，最后还要测试新序列、新长度和新环境。核心结论是不能用单一Rg或一张距离图宣布模型有效。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说明环境信息对相分离相关预测有价值，但这一结果不能被解释为ensemble机制已经成立。如果模型没有显式使用构象分布，它只支持sequence加environment能够预测LLPS行为。真正需要回答的是：加入ensemble后，是否比sequence加environment获得稳定且可迁移的增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是全场最具体的研究方案。保持数据、训练集和模型容量尽量一致，只改变输入：M1仅序列，M2加入环境，M3再加入ensemble统计特征。必须使用蛋白级划分、跨环境测试、ensemble特征消融和跨生成器验证。只有M3在这些严格条件下仍稳定优于M2，才能说明ensemble提供了额外信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这项工作针对柔性IDR靶片段生成候选结合态与binder主链，再由ProteinMPNN设计binder序列，并由AlphaFold和实验筛选。它设计的是有稳定折叠的binder及其兼容结合态，不是在恢复IDR的完整自由态ensemble。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这里区分论文证明了什么和没有证明什么。论文证明某些柔性靶序列可以形成可结合构象，并获得具有亲和力和特异性的稳定binder。但一个binder不需要识别全部自由构象，AlphaFold置信度也不能替代真实结合实验。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凝聚体界面肽设计的对象不是某个单一IDR靶点，而是凝聚体的介观界面。关键证据应来自显微定位与定量富集。它与binder路线都属于功能分子设计，但不需要单独做完整比较：binder关注特定靶片段的分子识别，interface peptide关注凝聚体界面的空间定位。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研究链第二次出现，因此不再重复导航，而是升级为证据矩阵。每一行同时给出代表论文、已经证明、仍未证明和可执行任务。综合来看，各节点已有局部成果，但ensemble到function之间的可迁移连接仍是最清楚的研究缺口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统一评测最容易建立可信基线，但创新性取决于数据与评价设计；ensemble增强的LLPS预测最适合作为当前切入点，因为问题清楚、可以纯计算完成并能做严格消融；ensemble-aware设计潜力最大，但验证成本和外部合作要求最高。建议先完成方向一或方向二，再进入方向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最后把讨论收束到三个选择：先做统一评测，先验证ensemble的功能增益，还是直接进入设计。若老师追问论文覆盖和证据边界，返回第十四页；若讨论具体选题与工作量，返回第十五页。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9/24/2026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9/24/2026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grpSp>
        <p:nvGrpSpPr>
          <p:cNvPr id="4" name="cover-kicker"/>
          <p:cNvGrpSpPr/>
          <p:nvPr/>
        </p:nvGrpSpPr>
        <p:grpSpPr>
          <a:xfrm>
            <a:off x="753618" y="812482"/>
            <a:ext cx="4918710" cy="322707"/>
            <a:chOff x="753618" y="812482"/>
            <a:chExt cx="4918710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753618" y="812482"/>
              <a:ext cx="4918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 / IDR × ARTIFICIAL INTELLIGENCE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742950" y="1565910"/>
            <a:ext cx="6822948" cy="1235202"/>
            <a:chOff x="742950" y="1565910"/>
            <a:chExt cx="6822948" cy="1235202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56591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无序蛋白人工智能研究进展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8858" y="233172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序列、构象系综、功能与设计</a:t>
              </a:r>
            </a:p>
          </p:txBody>
        </p:sp>
      </p:grpSp>
      <p:grpSp>
        <p:nvGrpSpPr>
          <p:cNvPr id="10" name="cover-sub"/>
          <p:cNvGrpSpPr/>
          <p:nvPr/>
        </p:nvGrpSpPr>
        <p:grpSpPr>
          <a:xfrm>
            <a:off x="771906" y="3329940"/>
            <a:ext cx="6800088" cy="763905"/>
            <a:chOff x="771906" y="3329940"/>
            <a:chExt cx="6800088" cy="763905"/>
          </a:xfrm>
        </p:grpSpPr>
        <p:sp>
          <p:nvSpPr>
            <p:cNvPr id="8" name="TextBox 8"/>
            <p:cNvSpPr txBox="1"/>
            <p:nvPr/>
          </p:nvSpPr>
          <p:spPr>
            <a:xfrm>
              <a:off x="771906" y="3329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三人小组文献调研与研究路线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3430" y="3800475"/>
              <a:ext cx="679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以六篇代表性工作为节点，梳理 AI–IDP 的任务链、验证边界与可行研究方向</a:t>
              </a:r>
            </a:p>
          </p:txBody>
        </p:sp>
      </p:grpSp>
      <p:grpSp>
        <p:nvGrpSpPr>
          <p:cNvPr id="16" name="cover-meta"/>
          <p:cNvGrpSpPr/>
          <p:nvPr/>
        </p:nvGrpSpPr>
        <p:grpSpPr>
          <a:xfrm>
            <a:off x="774192" y="5048250"/>
            <a:ext cx="11074908" cy="1657350"/>
            <a:chOff x="774192" y="5048250"/>
            <a:chExt cx="11074908" cy="1657350"/>
          </a:xfrm>
        </p:grpSpPr>
        <p:sp>
          <p:nvSpPr>
            <p:cNvPr id="11" name="TextBox 11"/>
            <p:cNvSpPr txBox="1"/>
            <p:nvPr/>
          </p:nvSpPr>
          <p:spPr>
            <a:xfrm>
              <a:off x="774192" y="5454968"/>
              <a:ext cx="3023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汇报人：A、B、C 时间：2026.__.__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954" y="5947410"/>
              <a:ext cx="7313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3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U A Z H O N G A G R I C U L T U R A L U N I V E R S I T Y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7000" y="5048250"/>
              <a:ext cx="1066800" cy="10668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9997" y="6479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38125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857250"/>
                </a:moveTo>
                <a:cubicBezTo>
                  <a:pt x="2095500" y="0"/>
                  <a:pt x="4000500" y="666750"/>
                  <a:pt x="6667500" y="523875"/>
                </a:cubicBezTo>
                <a:cubicBezTo>
                  <a:pt x="9334500" y="381000"/>
                  <a:pt x="10287000" y="133350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8694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IDP/IDR 的研究对象</a:t>
              </a:r>
            </a:p>
          </p:txBody>
        </p:sp>
      </p:grpSp>
      <p:grpSp>
        <p:nvGrpSpPr>
          <p:cNvPr id="18" name="folded"/>
          <p:cNvGrpSpPr/>
          <p:nvPr/>
        </p:nvGrpSpPr>
        <p:grpSpPr>
          <a:xfrm>
            <a:off x="829818" y="1681163"/>
            <a:ext cx="3437382" cy="2681287"/>
            <a:chOff x="829818" y="1681163"/>
            <a:chExt cx="3437382" cy="2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982498" y="1681163"/>
              <a:ext cx="206540" cy="371764"/>
              <a:chOff x="982498" y="1681163"/>
              <a:chExt cx="206540" cy="37176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0"/>
                    </a:moveTo>
                    <a:lnTo>
                      <a:pt x="206540" y="20638"/>
                    </a:lnTo>
                    <a:cubicBezTo>
                      <a:pt x="206334" y="89815"/>
                      <a:pt x="171869" y="144937"/>
                      <a:pt x="103188" y="186027"/>
                    </a:cubicBezTo>
                    <a:cubicBezTo>
                      <a:pt x="34506" y="227095"/>
                      <a:pt x="172034" y="144752"/>
                      <a:pt x="103353" y="185738"/>
                    </a:cubicBezTo>
                    <a:cubicBezTo>
                      <a:pt x="34671" y="226806"/>
                      <a:pt x="165" y="281950"/>
                      <a:pt x="0" y="351127"/>
                    </a:cubicBezTo>
                    <a:lnTo>
                      <a:pt x="0" y="371764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371764"/>
                    </a:moveTo>
                    <a:lnTo>
                      <a:pt x="206540" y="351127"/>
                    </a:lnTo>
                    <a:cubicBezTo>
                      <a:pt x="206334" y="281950"/>
                      <a:pt x="171869" y="226827"/>
                      <a:pt x="103188" y="185738"/>
                    </a:cubicBezTo>
                    <a:cubicBezTo>
                      <a:pt x="34506" y="144669"/>
                      <a:pt x="172034" y="227013"/>
                      <a:pt x="103353" y="186027"/>
                    </a:cubicBezTo>
                    <a:cubicBezTo>
                      <a:pt x="34671" y="144937"/>
                      <a:pt x="165" y="89815"/>
                      <a:pt x="0" y="20638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2663" y="1701800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2663" y="2032001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3300" y="1784350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3300" y="1949451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13332" y="17259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折叠蛋白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23936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氨基酸序列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43125" y="250507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lnTo>
                    <a:pt x="176212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24481" y="285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少数主导结构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162300" y="3257550"/>
              <a:ext cx="1104900" cy="1104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</p:grpSp>
      <p:grpSp>
        <p:nvGrpSpPr>
          <p:cNvPr id="24" name="disordered"/>
          <p:cNvGrpSpPr/>
          <p:nvPr/>
        </p:nvGrpSpPr>
        <p:grpSpPr>
          <a:xfrm>
            <a:off x="5894832" y="1630680"/>
            <a:ext cx="4392168" cy="3107245"/>
            <a:chOff x="5894832" y="1630680"/>
            <a:chExt cx="4392168" cy="3107245"/>
          </a:xfrm>
        </p:grpSpPr>
        <p:sp>
          <p:nvSpPr>
            <p:cNvPr id="19" name="TextBox 19"/>
            <p:cNvSpPr txBox="1"/>
            <p:nvPr/>
          </p:nvSpPr>
          <p:spPr>
            <a:xfrm>
              <a:off x="5894832" y="1630680"/>
              <a:ext cx="12602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 / IDR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97118" y="215550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序列 + 环境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2476500"/>
              <a:ext cx="3714750" cy="1714500"/>
            </a:xfrm>
            <a:custGeom>
              <a:avLst/>
              <a:gdLst/>
              <a:ahLst/>
              <a:cxnLst/>
              <a:rect l="l" t="t" r="r" b="b"/>
              <a:pathLst>
                <a:path w="3714750" h="1714500">
                  <a:moveTo>
                    <a:pt x="666750" y="0"/>
                  </a:moveTo>
                  <a:cubicBezTo>
                    <a:pt x="95250" y="476250"/>
                    <a:pt x="1238250" y="571500"/>
                    <a:pt x="619125" y="1095375"/>
                  </a:cubicBezTo>
                  <a:cubicBezTo>
                    <a:pt x="0" y="1619250"/>
                    <a:pt x="1619250" y="1714500"/>
                    <a:pt x="2286000" y="952500"/>
                  </a:cubicBezTo>
                  <a:cubicBezTo>
                    <a:pt x="2952750" y="190500"/>
                    <a:pt x="3048000" y="190500"/>
                    <a:pt x="3714750" y="904875"/>
                  </a:cubicBez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25868" y="41557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构象概率分布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7392" y="44738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多个状态与不同权重</a:t>
              </a:r>
            </a:p>
          </p:txBody>
        </p:sp>
      </p:grpSp>
      <p:grpSp>
        <p:nvGrpSpPr>
          <p:cNvPr id="30" name="basics"/>
          <p:cNvGrpSpPr/>
          <p:nvPr/>
        </p:nvGrpSpPr>
        <p:grpSpPr>
          <a:xfrm>
            <a:off x="609600" y="4953000"/>
            <a:ext cx="10972800" cy="1047750"/>
            <a:chOff x="609600" y="4953000"/>
            <a:chExt cx="109728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609600" y="4953000"/>
              <a:ext cx="109728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480" y="5095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汇报所需基础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242" y="5435918"/>
              <a:ext cx="6493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ensemble 表示多个构象及其统计权重　 • 盐浓度、温度和结合伙伴会改变分布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5712142"/>
              <a:ext cx="4530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评价模型时必须同时看全局尺寸、局部结构和分布覆盖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6392" y="5112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后续六篇论文分别处理这条任务链中的不同环节</a:t>
              </a:r>
            </a:p>
          </p:txBody>
        </p:sp>
      </p:grpSp>
      <p:grpSp>
        <p:nvGrpSpPr>
          <p:cNvPr id="32" name="object-takeaway"/>
          <p:cNvGrpSpPr/>
          <p:nvPr/>
        </p:nvGrpSpPr>
        <p:grpSpPr>
          <a:xfrm>
            <a:off x="602742" y="6007418"/>
            <a:ext cx="4738878" cy="264033"/>
            <a:chOff x="602742" y="6007418"/>
            <a:chExt cx="4738878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02742" y="60074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研究对象不再是一张结构图，而是受条件影响的构象分布。</a:t>
              </a:r>
            </a:p>
          </p:txBody>
        </p:sp>
      </p:grpSp>
      <p:grpSp>
        <p:nvGrpSpPr>
          <p:cNvPr id="36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61550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AI–IDP 研究链条与三个判断问题</a:t>
              </a:r>
            </a:p>
          </p:txBody>
        </p:sp>
      </p:grpSp>
      <p:grpSp>
        <p:nvGrpSpPr>
          <p:cNvPr id="23" name="chain"/>
          <p:cNvGrpSpPr/>
          <p:nvPr/>
        </p:nvGrpSpPr>
        <p:grpSpPr>
          <a:xfrm>
            <a:off x="648310" y="1394460"/>
            <a:ext cx="10485272" cy="1371791"/>
            <a:chOff x="648310" y="1394460"/>
            <a:chExt cx="10485272" cy="1371791"/>
          </a:xfrm>
        </p:grpSpPr>
        <p:sp>
          <p:nvSpPr>
            <p:cNvPr id="6" name="Line 6"/>
            <p:cNvSpPr/>
            <p:nvPr/>
          </p:nvSpPr>
          <p:spPr>
            <a:xfrm>
              <a:off x="1000125" y="20955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8310" y="2502218"/>
              <a:ext cx="703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6860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824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序列性质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638675" y="1828800"/>
              <a:ext cx="533400" cy="5334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35043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构象系综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59130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66028" y="2502218"/>
              <a:ext cx="1383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相互作用 / LLPS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5439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9424" y="2502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生物学功能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4965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929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工程设计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754" y="1394460"/>
              <a:ext cx="576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2447" y="1394460"/>
              <a:ext cx="154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STARLING / IDPFold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176" y="1394460"/>
              <a:ext cx="779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9078" y="1394460"/>
              <a:ext cx="2183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binder / interface peptide</a:t>
              </a:r>
            </a:p>
          </p:txBody>
        </p:sp>
      </p:grpSp>
      <p:grpSp>
        <p:nvGrpSpPr>
          <p:cNvPr id="28" name="question-1"/>
          <p:cNvGrpSpPr/>
          <p:nvPr/>
        </p:nvGrpSpPr>
        <p:grpSpPr>
          <a:xfrm>
            <a:off x="609600" y="3476625"/>
            <a:ext cx="3333750" cy="2000250"/>
            <a:chOff x="609600" y="3476625"/>
            <a:chExt cx="333375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 生成是否可信？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580" y="4124325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能否从一条序列生成覆盖合理、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局部结构可信的 ensemble？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72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关注：分布覆盖、实验约束、非唯一性</a:t>
              </a:r>
            </a:p>
          </p:txBody>
        </p:sp>
      </p:grpSp>
      <p:grpSp>
        <p:nvGrpSpPr>
          <p:cNvPr id="33" name="question-2"/>
          <p:cNvGrpSpPr/>
          <p:nvPr/>
        </p:nvGrpSpPr>
        <p:grpSpPr>
          <a:xfrm>
            <a:off x="4429125" y="3476625"/>
            <a:ext cx="3333750" cy="2000250"/>
            <a:chOff x="4429125" y="3476625"/>
            <a:chExt cx="3333750" cy="2000250"/>
          </a:xfrm>
        </p:grpSpPr>
        <p:sp>
          <p:nvSpPr>
            <p:cNvPr id="29" name="Rectangle 29"/>
            <p:cNvSpPr/>
            <p:nvPr/>
          </p:nvSpPr>
          <p:spPr>
            <a:xfrm>
              <a:off x="4429125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0867" y="3711892"/>
              <a:ext cx="248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 ensemble 是否真的有用？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0486" y="4132421"/>
              <a:ext cx="2926969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sequence + environment 之外，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 能否稳定提升功能预测？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1248" y="49582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关注：严格对照、跨环境泛化、消融</a:t>
              </a:r>
            </a:p>
          </p:txBody>
        </p:sp>
      </p:grpSp>
      <p:grpSp>
        <p:nvGrpSpPr>
          <p:cNvPr id="38" name="question-3"/>
          <p:cNvGrpSpPr/>
          <p:nvPr/>
        </p:nvGrpSpPr>
        <p:grpSpPr>
          <a:xfrm>
            <a:off x="8248650" y="3476625"/>
            <a:ext cx="3333750" cy="2000250"/>
            <a:chOff x="8248650" y="3476625"/>
            <a:chExt cx="3333750" cy="2000250"/>
          </a:xfrm>
        </p:grpSpPr>
        <p:sp>
          <p:nvSpPr>
            <p:cNvPr id="34" name="Rectangle 34"/>
            <p:cNvSpPr/>
            <p:nvPr/>
          </p:nvSpPr>
          <p:spPr>
            <a:xfrm>
              <a:off x="824865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039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 能否走向设计？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9630" y="4124325"/>
              <a:ext cx="2558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能否设计 IDR 序列、binder 或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凝聚体界面定位肽？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77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关注：设计目标、筛选终点、实验验证</a:t>
              </a:r>
            </a:p>
          </p:txBody>
        </p:sp>
      </p:grpSp>
      <p:grpSp>
        <p:nvGrpSpPr>
          <p:cNvPr id="42" name="footer-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4232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GOOSE：可控 IDR 序列设计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985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GOOSE 核心流程图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建议选择：用户指定性质、序列生成、性质检查三部分均出现的图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怎样根据预设的序列或聚合物性质反向生成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408045" cy="1000125"/>
            <a:chOff x="6858000" y="2333625"/>
            <a:chExt cx="3408045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22516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输入：长度、电荷、疏水性、κ 等目标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输出：满足约束的 IDR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41470" cy="1000125"/>
            <a:chOff x="6858000" y="3333750"/>
            <a:chExt cx="414147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展示性质命中率、序列多样性，以及与天然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的比较。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284345" cy="1217295"/>
            <a:chOff x="6858000" y="4333875"/>
            <a:chExt cx="42843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1014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 主要设计序列，不直接输出具有统计权重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的三维 ensemble。</a:t>
              </a:r>
            </a:p>
          </p:txBody>
        </p:sp>
      </p:grp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8008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STARLING：快速构象系综生成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4084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STARLING 模型与输出图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建议选择：sequence / ionic strength 输入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以及距离图或三维构象输出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能否从序列和条件快速生成大量相互一致的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379470" cy="1000125"/>
            <a:chOff x="6858000" y="2333625"/>
            <a:chExt cx="337947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196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输入：IDR 序列及论文支持的环境条件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输出：残基距离表示和三维构象集合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60520" cy="1000125"/>
            <a:chOff x="6858000" y="3333750"/>
            <a:chExt cx="41605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776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突出采样速度、全局尺寸分布和与参考 ensemb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 的一致性。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808095" cy="1217295"/>
            <a:chOff x="6858000" y="4333875"/>
            <a:chExt cx="380809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62521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模型生成的样本仍受训练 ensemble 和力场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质量限制。</a:t>
              </a:r>
            </a:p>
          </p:txBody>
        </p:sp>
      </p:grp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7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4587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IDPFold：残基刚体扩散生成 ensemble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75989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IDPFold Figure 1C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 sequence feature、Initialization Block、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Denoising Block 和输出路径</a:t>
              </a:r>
            </a:p>
          </p:txBody>
        </p:sp>
      </p:grpSp>
      <p:grpSp>
        <p:nvGrpSpPr>
          <p:cNvPr id="16" name="method-summary"/>
          <p:cNvGrpSpPr/>
          <p:nvPr/>
        </p:nvGrpSpPr>
        <p:grpSpPr>
          <a:xfrm>
            <a:off x="6858000" y="1333500"/>
            <a:ext cx="3102229" cy="2095500"/>
            <a:chOff x="6858000" y="1333500"/>
            <a:chExt cx="3102229" cy="2095500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209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59549" y="14682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输入、输出与证据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0311" y="1894046"/>
              <a:ext cx="2899918" cy="13836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输入：氨基酸序列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输出：多次采样的主链构象与扭转角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证据：同时检查全局尺寸和局部结构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边界：样本不提供状态转换速率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也不能自动解释为真实平衡权重</a:t>
              </a:r>
            </a:p>
          </p:txBody>
        </p:sp>
      </p:grpSp>
      <p:grpSp>
        <p:nvGrpSpPr>
          <p:cNvPr id="21" name="compact-comparison"/>
          <p:cNvGrpSpPr/>
          <p:nvPr/>
        </p:nvGrpSpPr>
        <p:grpSpPr>
          <a:xfrm>
            <a:off x="6858000" y="3714750"/>
            <a:ext cx="4724400" cy="1952625"/>
            <a:chOff x="6858000" y="3714750"/>
            <a:chExt cx="4724400" cy="1952625"/>
          </a:xfrm>
        </p:grpSpPr>
        <p:sp>
          <p:nvSpPr>
            <p:cNvPr id="17" name="Rectangle 17"/>
            <p:cNvSpPr/>
            <p:nvPr/>
          </p:nvSpPr>
          <p:spPr>
            <a:xfrm>
              <a:off x="6858000" y="3714750"/>
              <a:ext cx="4724400" cy="1952625"/>
            </a:xfrm>
            <a:prstGeom prst="roundRect">
              <a:avLst>
                <a:gd name="adj" fmla="val 19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8980" y="3886200"/>
              <a:ext cx="2896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页内小节：与 STARLING 的区别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86600" y="4219575"/>
              <a:ext cx="4248150" cy="9525"/>
            </a:xfrm>
            <a:custGeom>
              <a:avLst/>
              <a:gdLst/>
              <a:ahLst/>
              <a:cxnLst/>
              <a:rect l="l" t="t" r="r" b="b"/>
              <a:pathLst>
                <a:path w="4248150" h="9525">
                  <a:moveTo>
                    <a:pt x="0" y="0"/>
                  </a:moveTo>
                  <a:lnTo>
                    <a:pt x="4248150" y="0"/>
                  </a:lnTo>
                </a:path>
              </a:pathLst>
            </a:custGeom>
            <a:noFill/>
            <a:ln w="9525">
              <a:solidFill>
                <a:srgbClr val="7FA99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42" y="4397692"/>
              <a:ext cx="35798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STARLING：强调快速采样与距离表示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IDPFold：强调残基刚体、主链几何与扩散生成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共同局限：都依赖参考 ensemble / 模拟分布，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“生成得像”不等于“真实权重和动力学正确”</a:t>
              </a:r>
            </a:p>
          </p:txBody>
        </p:sp>
      </p:grpSp>
      <p:grpSp>
        <p:nvGrpSpPr>
          <p:cNvPr id="25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-190500"/>
            <a:ext cx="12192000" cy="4476750"/>
          </a:xfrm>
          <a:custGeom>
            <a:avLst/>
            <a:gdLst/>
            <a:ahLst/>
            <a:cxnLst/>
            <a:rect l="l" t="t" r="r" b="b"/>
            <a:pathLst>
              <a:path w="12192000" h="4476750">
                <a:moveTo>
                  <a:pt x="0" y="2381250"/>
                </a:moveTo>
                <a:cubicBezTo>
                  <a:pt x="2095500" y="857250"/>
                  <a:pt x="4000500" y="4476750"/>
                  <a:pt x="6667500" y="2238375"/>
                </a:cubicBezTo>
                <a:cubicBezTo>
                  <a:pt x="9334500" y="0"/>
                  <a:pt x="10287000" y="1809750"/>
                  <a:pt x="12192000" y="4000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9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构象系综的确定与验证</a:t>
              </a:r>
            </a:p>
          </p:txBody>
        </p:sp>
      </p:grpSp>
      <p:grpSp>
        <p:nvGrpSpPr>
          <p:cNvPr id="20" name="validation-flow"/>
          <p:cNvGrpSpPr/>
          <p:nvPr/>
        </p:nvGrpSpPr>
        <p:grpSpPr>
          <a:xfrm>
            <a:off x="762000" y="1952625"/>
            <a:ext cx="10239375" cy="666750"/>
            <a:chOff x="762000" y="1952625"/>
            <a:chExt cx="10239375" cy="666750"/>
          </a:xfrm>
        </p:grpSpPr>
        <p:sp>
          <p:nvSpPr>
            <p:cNvPr id="6" name="Rectangle 6"/>
            <p:cNvSpPr/>
            <p:nvPr/>
          </p:nvSpPr>
          <p:spPr>
            <a:xfrm>
              <a:off x="76200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5535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候选构象池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42887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19029" y="2198846"/>
              <a:ext cx="14295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forward model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7365" y="21988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实验观测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1512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9137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4910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统计重加权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5825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334500" y="1952625"/>
              <a:ext cx="1666875" cy="666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02525" y="2198846"/>
              <a:ext cx="1521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一致的 ensemble</a:t>
              </a:r>
            </a:p>
          </p:txBody>
        </p:sp>
      </p:grpSp>
      <p:grpSp>
        <p:nvGrpSpPr>
          <p:cNvPr id="25" name="exp-constraints"/>
          <p:cNvGrpSpPr/>
          <p:nvPr/>
        </p:nvGrpSpPr>
        <p:grpSpPr>
          <a:xfrm>
            <a:off x="656844" y="3694748"/>
            <a:ext cx="2731232" cy="1520095"/>
            <a:chOff x="656844" y="3694748"/>
            <a:chExt cx="2731232" cy="1520095"/>
          </a:xfrm>
        </p:grpSpPr>
        <p:sp>
          <p:nvSpPr>
            <p:cNvPr id="21" name="TextBox 21"/>
            <p:cNvSpPr txBox="1"/>
            <p:nvPr/>
          </p:nvSpPr>
          <p:spPr>
            <a:xfrm>
              <a:off x="656844" y="3694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实验约束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749" y="4163854"/>
              <a:ext cx="23825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SAXS：整体尺寸与形状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749" y="4535329"/>
              <a:ext cx="2046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PRE：瞬时长程接触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749" y="4906804"/>
              <a:ext cx="27293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NMR：局部环境与构象倾向</a:t>
              </a:r>
            </a:p>
          </p:txBody>
        </p:sp>
      </p:grpSp>
      <p:grpSp>
        <p:nvGrpSpPr>
          <p:cNvPr id="31" name="boundaries"/>
          <p:cNvGrpSpPr/>
          <p:nvPr/>
        </p:nvGrpSpPr>
        <p:grpSpPr>
          <a:xfrm>
            <a:off x="6181344" y="3694748"/>
            <a:ext cx="3274314" cy="2090928"/>
            <a:chOff x="6181344" y="3694748"/>
            <a:chExt cx="3274314" cy="2090928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6947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需要保留的边界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3630" y="4171950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实验通常观测 ensemble 的平均量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3630" y="4543425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 ensemble 可能产生相似观测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3630" y="4914900"/>
              <a:ext cx="2600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单一指标不能唯一确定分布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84392" y="5283518"/>
              <a:ext cx="3271266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这篇综述承担评价框架，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不需要像研究论文一样展开全部实验技术。</a:t>
              </a:r>
            </a:p>
          </p:txBody>
        </p:sp>
      </p:grpSp>
      <p:grpSp>
        <p:nvGrpSpPr>
          <p:cNvPr id="35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3" name="Rectangle 3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428750"/>
            <a:ext cx="12192000" cy="2667000"/>
          </a:xfrm>
          <a:custGeom>
            <a:avLst/>
            <a:gdLst/>
            <a:ahLst/>
            <a:cxnLst/>
            <a:rect l="l" t="t" r="r" b="b"/>
            <a:pathLst>
              <a:path w="12192000" h="2667000">
                <a:moveTo>
                  <a:pt x="0" y="2667000"/>
                </a:moveTo>
                <a:cubicBezTo>
                  <a:pt x="2476500" y="0"/>
                  <a:pt x="4191000" y="2286000"/>
                  <a:pt x="6858000" y="1905000"/>
                </a:cubicBezTo>
                <a:cubicBezTo>
                  <a:pt x="9525000" y="1524000"/>
                  <a:pt x="10287000" y="381000"/>
                  <a:pt x="12192000" y="1619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8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60524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生成的 ensemble 应该怎样评价</a:t>
              </a:r>
            </a:p>
          </p:txBody>
        </p:sp>
      </p:grpSp>
      <p:grpSp>
        <p:nvGrpSpPr>
          <p:cNvPr id="9" name="metric-global"/>
          <p:cNvGrpSpPr/>
          <p:nvPr/>
        </p:nvGrpSpPr>
        <p:grpSpPr>
          <a:xfrm>
            <a:off x="609600" y="1285875"/>
            <a:ext cx="3429000" cy="1714500"/>
            <a:chOff x="609600" y="1285875"/>
            <a:chExt cx="3429000" cy="1714500"/>
          </a:xfrm>
        </p:grpSpPr>
        <p:sp>
          <p:nvSpPr>
            <p:cNvPr id="6" name="Rectangle 6"/>
            <p:cNvSpPr/>
            <p:nvPr/>
          </p:nvSpPr>
          <p:spPr>
            <a:xfrm>
              <a:off x="609600" y="128587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199" y="1468279"/>
              <a:ext cx="13251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全局尺寸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1854518"/>
              <a:ext cx="25854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指标：Rg、端到端距离、SAXS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问题：整体是否过于紧凑或展开？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比较：均值之外还要看完整分布</a:t>
              </a:r>
            </a:p>
          </p:txBody>
        </p:sp>
      </p:grpSp>
      <p:grpSp>
        <p:nvGrpSpPr>
          <p:cNvPr id="13" name="metric-local"/>
          <p:cNvGrpSpPr/>
          <p:nvPr/>
        </p:nvGrpSpPr>
        <p:grpSpPr>
          <a:xfrm>
            <a:off x="4381500" y="1285875"/>
            <a:ext cx="3429000" cy="1714500"/>
            <a:chOff x="4381500" y="1285875"/>
            <a:chExt cx="34290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4381500" y="128587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02099" y="1468279"/>
              <a:ext cx="13251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局部结构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3242" y="1854518"/>
              <a:ext cx="241401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指标：二级结构倾向、扭转角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观测：NMR chemical shift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问题：局部构象偏好是否合理？</a:t>
              </a:r>
            </a:p>
          </p:txBody>
        </p:sp>
      </p:grpSp>
      <p:grpSp>
        <p:nvGrpSpPr>
          <p:cNvPr id="17" name="metric-contact"/>
          <p:cNvGrpSpPr/>
          <p:nvPr/>
        </p:nvGrpSpPr>
        <p:grpSpPr>
          <a:xfrm>
            <a:off x="8153400" y="1285875"/>
            <a:ext cx="3429000" cy="1714500"/>
            <a:chOff x="8153400" y="1285875"/>
            <a:chExt cx="3429000" cy="1714500"/>
          </a:xfrm>
        </p:grpSpPr>
        <p:sp>
          <p:nvSpPr>
            <p:cNvPr id="14" name="Rectangle 14"/>
            <p:cNvSpPr/>
            <p:nvPr/>
          </p:nvSpPr>
          <p:spPr>
            <a:xfrm>
              <a:off x="8153400" y="128587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73999" y="1468279"/>
              <a:ext cx="13251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长程接触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5142" y="1854518"/>
              <a:ext cx="275691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指标：距离分布、接触概率、PRE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问题：是否恢复瞬时长程相互作用？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注意：不能只看平均距离图</a:t>
              </a:r>
            </a:p>
          </p:txBody>
        </p:sp>
      </p:grpSp>
      <p:grpSp>
        <p:nvGrpSpPr>
          <p:cNvPr id="21" name="metric-distribution"/>
          <p:cNvGrpSpPr/>
          <p:nvPr/>
        </p:nvGrpSpPr>
        <p:grpSpPr>
          <a:xfrm>
            <a:off x="609600" y="3286125"/>
            <a:ext cx="3429000" cy="1714500"/>
            <a:chOff x="609600" y="3286125"/>
            <a:chExt cx="34290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609600" y="328612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199" y="3468529"/>
              <a:ext cx="13251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　分布质量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3854768"/>
              <a:ext cx="258546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指标：多样性、覆盖度、模式坍缩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问题：是否只生成少数相似构象？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比较：参考分布与重复采样稳定性</a:t>
              </a:r>
            </a:p>
          </p:txBody>
        </p:sp>
      </p:grpSp>
      <p:grpSp>
        <p:nvGrpSpPr>
          <p:cNvPr id="25" name="metric-experiment"/>
          <p:cNvGrpSpPr/>
          <p:nvPr/>
        </p:nvGrpSpPr>
        <p:grpSpPr>
          <a:xfrm>
            <a:off x="4381500" y="3286125"/>
            <a:ext cx="3429000" cy="1714500"/>
            <a:chOff x="4381500" y="3286125"/>
            <a:chExt cx="3429000" cy="1714500"/>
          </a:xfrm>
        </p:grpSpPr>
        <p:sp>
          <p:nvSpPr>
            <p:cNvPr id="22" name="Rectangle 22"/>
            <p:cNvSpPr/>
            <p:nvPr/>
          </p:nvSpPr>
          <p:spPr>
            <a:xfrm>
              <a:off x="4381500" y="328612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2099" y="3468529"/>
              <a:ext cx="15378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　实验一致性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3242" y="3854768"/>
              <a:ext cx="2988374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方法：forward model 计算可观测量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约束：SAXS、PRE、NMR互补使用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问题：不同ensemble可能拟合同一观测</a:t>
              </a:r>
            </a:p>
          </p:txBody>
        </p:sp>
      </p:grpSp>
      <p:grpSp>
        <p:nvGrpSpPr>
          <p:cNvPr id="29" name="metric-generalization"/>
          <p:cNvGrpSpPr/>
          <p:nvPr/>
        </p:nvGrpSpPr>
        <p:grpSpPr>
          <a:xfrm>
            <a:off x="8153400" y="3286125"/>
            <a:ext cx="3429000" cy="1714500"/>
            <a:chOff x="8153400" y="3286125"/>
            <a:chExt cx="3429000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3286125"/>
              <a:ext cx="3429000" cy="1714500"/>
            </a:xfrm>
            <a:prstGeom prst="roundRect">
              <a:avLst>
                <a:gd name="adj" fmla="val 2222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73999" y="3468529"/>
              <a:ext cx="15378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　泛化与效率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5142" y="3854768"/>
              <a:ext cx="2756916" cy="816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测试：新序列、新长度、新环境条件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效率：采样速度与有效独立样本数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问题：是否只复现训练分布？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609600" y="5286375"/>
            <a:ext cx="10972800" cy="762000"/>
            <a:chOff x="609600" y="5286375"/>
            <a:chExt cx="1097280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5286375"/>
              <a:ext cx="10972800" cy="7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199" y="5478304"/>
              <a:ext cx="101905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评价原则：不能用单一 Rg 或一张距离图宣布模型有效；至少同时检查全局、局部、分布覆盖和实验一致性。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784056"/>
              <a:ext cx="10449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AF4EE"/>
                  </a:solidFill>
                  <a:latin typeface="+mn-lt"/>
                  <a:ea typeface="+mn-ea"/>
                  <a:cs typeface="+mn-cs"/>
                </a:rPr>
                <a:t>依据：Towards a Unified Framework for Determining Conformational Ensembles of Disordered Proteins，并结合 STARLING、IDPFold 的评价设置。</a:t>
              </a:r>
            </a:p>
          </p:txBody>
        </p:sp>
      </p:grpSp>
      <p:grpSp>
        <p:nvGrpSpPr>
          <p:cNvPr id="37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8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101060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LLPSense：环境信息有用，但 ensemble 机制尚未证明</a:t>
              </a:r>
            </a:p>
          </p:txBody>
        </p:sp>
      </p:grpSp>
      <p:grpSp>
        <p:nvGrpSpPr>
          <p:cNvPr id="17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83444" y="1588294"/>
              <a:ext cx="271462" cy="286543"/>
              <a:chOff x="883444" y="1588294"/>
              <a:chExt cx="271462" cy="28654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28687" y="1588294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90487"/>
                    </a:moveTo>
                    <a:cubicBezTo>
                      <a:pt x="0" y="140462"/>
                      <a:pt x="40513" y="180975"/>
                      <a:pt x="90487" y="180975"/>
                    </a:cubicBezTo>
                    <a:cubicBezTo>
                      <a:pt x="140462" y="180975"/>
                      <a:pt x="180975" y="140462"/>
                      <a:pt x="180975" y="90487"/>
                    </a:cubicBezTo>
                    <a:cubicBezTo>
                      <a:pt x="180975" y="40513"/>
                      <a:pt x="140462" y="0"/>
                      <a:pt x="90487" y="0"/>
                    </a:cubicBezTo>
                    <a:cubicBezTo>
                      <a:pt x="40513" y="0"/>
                      <a:pt x="0" y="40513"/>
                      <a:pt x="0" y="90487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19175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0" y="0"/>
                    </a:moveTo>
                    <a:cubicBezTo>
                      <a:pt x="20103" y="5022"/>
                      <a:pt x="30162" y="35184"/>
                      <a:pt x="30162" y="90487"/>
                    </a:cubicBezTo>
                    <a:cubicBezTo>
                      <a:pt x="30162" y="145790"/>
                      <a:pt x="20103" y="175953"/>
                      <a:pt x="0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9012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30162" y="0"/>
                    </a:moveTo>
                    <a:cubicBezTo>
                      <a:pt x="10059" y="5022"/>
                      <a:pt x="0" y="35184"/>
                      <a:pt x="0" y="90487"/>
                    </a:cubicBezTo>
                    <a:cubicBezTo>
                      <a:pt x="0" y="145790"/>
                      <a:pt x="10059" y="175953"/>
                      <a:pt x="30162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8687" y="1678781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3444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9337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9012" y="181451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9175" y="176926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0"/>
                    </a:moveTo>
                    <a:lnTo>
                      <a:pt x="0" y="45244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69442" y="2092642"/>
              <a:ext cx="37513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LLPSense 数据流与结果图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优先显示 sequence、environment 与 LLPS 输出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并标出独立测试或环境信息带来的增益</a:t>
              </a:r>
            </a:p>
          </p:txBody>
        </p:sp>
      </p:grpSp>
      <p:grpSp>
        <p:nvGrpSpPr>
          <p:cNvPr id="21" name="llps-evidence"/>
          <p:cNvGrpSpPr/>
          <p:nvPr/>
        </p:nvGrpSpPr>
        <p:grpSpPr>
          <a:xfrm>
            <a:off x="6849999" y="1458754"/>
            <a:ext cx="4732401" cy="1922621"/>
            <a:chOff x="6849999" y="1458754"/>
            <a:chExt cx="4732401" cy="1922621"/>
          </a:xfrm>
        </p:grpSpPr>
        <p:sp>
          <p:nvSpPr>
            <p:cNvPr id="18" name="TextBox 18"/>
            <p:cNvSpPr txBox="1"/>
            <p:nvPr/>
          </p:nvSpPr>
          <p:spPr>
            <a:xfrm>
              <a:off x="6849999" y="145875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论文能够支持的判断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0" y="1809750"/>
              <a:ext cx="4724400" cy="1571625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361" y="1998821"/>
              <a:ext cx="3107309" cy="110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输入：序列特征 + 原文定义的环境变量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输出：分类、分数或相边界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重点：环境条件是否改善独立测试表现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意义：功能行为不能只看序列本身</a:t>
              </a:r>
            </a:p>
          </p:txBody>
        </p:sp>
      </p:grpSp>
      <p:grpSp>
        <p:nvGrpSpPr>
          <p:cNvPr id="25" name="llps-gap"/>
          <p:cNvGrpSpPr/>
          <p:nvPr/>
        </p:nvGrpSpPr>
        <p:grpSpPr>
          <a:xfrm>
            <a:off x="6849999" y="3792379"/>
            <a:ext cx="4732401" cy="1874996"/>
            <a:chOff x="6849999" y="3792379"/>
            <a:chExt cx="4732401" cy="1874996"/>
          </a:xfrm>
        </p:grpSpPr>
        <p:sp>
          <p:nvSpPr>
            <p:cNvPr id="22" name="TextBox 22"/>
            <p:cNvSpPr txBox="1"/>
            <p:nvPr/>
          </p:nvSpPr>
          <p:spPr>
            <a:xfrm>
              <a:off x="6849999" y="379237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论文尚不能支持的判断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4143375"/>
              <a:ext cx="4724400" cy="1524000"/>
            </a:xfrm>
            <a:prstGeom prst="roundRect">
              <a:avLst>
                <a:gd name="adj" fmla="val 2500"/>
              </a:avLst>
            </a:prstGeom>
            <a:solidFill>
              <a:srgbClr val="FFF7F5"/>
            </a:solidFill>
            <a:ln w="9525">
              <a:solidFill>
                <a:srgbClr val="E2B0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9361" y="4322921"/>
              <a:ext cx="3729482" cy="1078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没有显式使用 ensemble，就不能说明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“构象分布 → 多价相互作用 → LLPS”机制成立。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真正的断点：ensemble 是否比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environment 提供额外信息？</a:t>
              </a:r>
            </a:p>
          </p:txBody>
        </p:sp>
      </p:grpSp>
      <p:grpSp>
        <p:nvGrpSpPr>
          <p:cNvPr id="2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3246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如何验证 ensemble 是否提供额外信息</a:t>
              </a:r>
            </a:p>
          </p:txBody>
        </p:sp>
      </p:grpSp>
      <p:grpSp>
        <p:nvGrpSpPr>
          <p:cNvPr id="19" name="models"/>
          <p:cNvGrpSpPr/>
          <p:nvPr/>
        </p:nvGrpSpPr>
        <p:grpSpPr>
          <a:xfrm>
            <a:off x="601218" y="1393508"/>
            <a:ext cx="5628132" cy="2854642"/>
            <a:chOff x="601218" y="1393508"/>
            <a:chExt cx="5628132" cy="2854642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393508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一、固定数据与划分，只改变模型输入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949768"/>
              <a:ext cx="881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 仅序列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4392" y="1949768"/>
              <a:ext cx="1448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→ LLPS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326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回答：序列本身能做到什么程度？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62890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rgbClr val="7FA9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768918"/>
              <a:ext cx="1282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M2 序列 + 环境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4392" y="2768918"/>
              <a:ext cx="2466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condition → LLPS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0518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回答：盐、温度、浓度等条件是否带来增益？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448050"/>
              <a:ext cx="5619750" cy="800100"/>
            </a:xfrm>
            <a:prstGeom prst="roundRect">
              <a:avLst>
                <a:gd name="adj" fmla="val 4762"/>
              </a:avLst>
            </a:prstGeom>
            <a:solidFill>
              <a:srgbClr val="F0F7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342" y="3588068"/>
              <a:ext cx="233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M3 序列 + 环境 + ensemble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6392" y="3588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加入构象统计特征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104" y="3870960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回答：在公平对照下，ensemble 是否仍提供额外信息？</a:t>
              </a:r>
            </a:p>
          </p:txBody>
        </p:sp>
      </p:grpSp>
      <p:grpSp>
        <p:nvGrpSpPr>
          <p:cNvPr id="27" name="validation"/>
          <p:cNvGrpSpPr/>
          <p:nvPr/>
        </p:nvGrpSpPr>
        <p:grpSpPr>
          <a:xfrm>
            <a:off x="6659118" y="1393508"/>
            <a:ext cx="4923282" cy="2801493"/>
            <a:chOff x="6659118" y="1393508"/>
            <a:chExt cx="4923282" cy="2801493"/>
          </a:xfrm>
        </p:grpSpPr>
        <p:sp>
          <p:nvSpPr>
            <p:cNvPr id="20" name="TextBox 20"/>
            <p:cNvSpPr txBox="1"/>
            <p:nvPr/>
          </p:nvSpPr>
          <p:spPr>
            <a:xfrm>
              <a:off x="6659118" y="1393508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二、避免“看起来提升”的四项检查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667500" y="180975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数据划分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按蛋白而不是按样本随机划分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502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跨环境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训练条件之外测试泛化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55892" y="2978468"/>
              <a:ext cx="3364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消融实验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去掉 Rg、接触或局部结构特征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55892" y="3454718"/>
              <a:ext cx="408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跨生成器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更换 STARLING / IDPFold / CALVADOS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9309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预测性能、校准、跨条件稳定性</a:t>
              </a:r>
            </a:p>
          </p:txBody>
        </p:sp>
      </p:grpSp>
      <p:grpSp>
        <p:nvGrpSpPr>
          <p:cNvPr id="32" name="decision"/>
          <p:cNvGrpSpPr/>
          <p:nvPr/>
        </p:nvGrpSpPr>
        <p:grpSpPr>
          <a:xfrm>
            <a:off x="609600" y="4762500"/>
            <a:ext cx="10972800" cy="1190625"/>
            <a:chOff x="609600" y="4762500"/>
            <a:chExt cx="10972800" cy="1190625"/>
          </a:xfrm>
        </p:grpSpPr>
        <p:sp>
          <p:nvSpPr>
            <p:cNvPr id="28" name="Rectangle 28"/>
            <p:cNvSpPr/>
            <p:nvPr/>
          </p:nvSpPr>
          <p:spPr>
            <a:xfrm>
              <a:off x="609600" y="4762500"/>
              <a:ext cx="10972800" cy="1190625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943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判定标准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5293042"/>
              <a:ext cx="553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 在蛋白级划分、跨环境和跨生成器测试中仍稳定优于 M2。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342" y="5607368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提升只来自数据泄漏、某个生成器偏差，或加入序列长度等简单特征后消失。</a:t>
              </a:r>
            </a:p>
          </p:txBody>
        </p:sp>
      </p:grpSp>
      <p:grpSp>
        <p:nvGrpSpPr>
          <p:cNvPr id="36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5664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柔性 IDR 靶标的 binder 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5828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Diffusing binders Figure 1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保留靶序列、共同扩散、ProteinMPNN、AF2筛选和实验验证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770120" cy="1000125"/>
            <a:chOff x="6858000" y="1333500"/>
            <a:chExt cx="477012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靶标没有固定结构时，怎样设计能够结合它的有结构蛋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4389120" cy="1000125"/>
            <a:chOff x="6858000" y="2333625"/>
            <a:chExt cx="4389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4206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输入：选定 IDR 靶序列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输出：结合态靶构象、binder 主链和 binder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842510" cy="1000125"/>
            <a:chOff x="6858000" y="3333750"/>
            <a:chExt cx="484251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选择一个结合亲和力结果和一个代表性复合物结构。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941445" cy="1217295"/>
            <a:chOff x="6858000" y="4333875"/>
            <a:chExt cx="39414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7585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生成的是候选结合态，不是自由态 ensemble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的统计重建。</a:t>
              </a:r>
            </a:p>
          </p:txBody>
        </p:sp>
      </p:grp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4"/>
          <p:cNvSpPr/>
          <p:nvPr/>
        </p:nvSpPr>
        <p:spPr>
          <a:xfrm>
            <a:off x="0" y="15240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714500"/>
                </a:moveTo>
                <a:cubicBezTo>
                  <a:pt x="2095500" y="857250"/>
                  <a:pt x="4000500" y="2762250"/>
                  <a:pt x="6667500" y="1381125"/>
                </a:cubicBezTo>
                <a:cubicBezTo>
                  <a:pt x="9334500" y="0"/>
                  <a:pt x="10287000" y="2190750"/>
                  <a:pt x="12192000" y="2286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641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binder 设计的证据与适用边界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81125"/>
            <a:ext cx="10972800" cy="1809750"/>
            <a:chOff x="609600" y="1381125"/>
            <a:chExt cx="109728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10972800" cy="1809750"/>
            </a:xfrm>
            <a:prstGeom prst="roundRect">
              <a:avLst>
                <a:gd name="adj" fmla="val 2105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635919"/>
              <a:ext cx="183925" cy="271462"/>
              <a:chOff x="927212" y="1635919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635919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726406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635919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8680" y="2124075"/>
              <a:ext cx="3263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放置代表性靶标结果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建议只选一个：G3BP1、PrP 或 IL-2RG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显示靶片段、设计复合物和实验亲和力</a:t>
              </a:r>
            </a:p>
          </p:txBody>
        </p:sp>
      </p:grpSp>
      <p:grpSp>
        <p:nvGrpSpPr>
          <p:cNvPr id="17" name="proved"/>
          <p:cNvGrpSpPr/>
          <p:nvPr/>
        </p:nvGrpSpPr>
        <p:grpSpPr>
          <a:xfrm>
            <a:off x="599694" y="3742372"/>
            <a:ext cx="4632579" cy="1608773"/>
            <a:chOff x="599694" y="3742372"/>
            <a:chExt cx="4632579" cy="1608773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37423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论文证明了什么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38625"/>
              <a:ext cx="4630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柔性靶序列可以在设计过程中形成兼容的结合构象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4648200"/>
              <a:ext cx="2742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设计的 binder 具有稳定折叠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5057775"/>
              <a:ext cx="3216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部分候选通过亲和力和特异性实验</a:t>
              </a:r>
            </a:p>
          </p:txBody>
        </p:sp>
      </p:grpSp>
      <p:grpSp>
        <p:nvGrpSpPr>
          <p:cNvPr id="22" name="not-proved"/>
          <p:cNvGrpSpPr/>
          <p:nvPr/>
        </p:nvGrpSpPr>
        <p:grpSpPr>
          <a:xfrm>
            <a:off x="6324219" y="3742372"/>
            <a:ext cx="3552254" cy="1608773"/>
            <a:chOff x="6324219" y="3742372"/>
            <a:chExt cx="3552254" cy="1608773"/>
          </a:xfrm>
        </p:grpSpPr>
        <p:sp>
          <p:nvSpPr>
            <p:cNvPr id="18" name="TextBox 18"/>
            <p:cNvSpPr txBox="1"/>
            <p:nvPr/>
          </p:nvSpPr>
          <p:spPr>
            <a:xfrm>
              <a:off x="6324219" y="3742372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论文没有证明什么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6505" y="4238625"/>
              <a:ext cx="2944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没有恢复完整自由态 ensemble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6505" y="4648200"/>
              <a:ext cx="3549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一个 binder 不需要覆盖所有自由构象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6505" y="5057775"/>
              <a:ext cx="2834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AF2 置信度不能替代结合实验</a:t>
              </a:r>
            </a:p>
          </p:txBody>
        </p:sp>
      </p:grpSp>
      <p:grpSp>
        <p:nvGrpSpPr>
          <p:cNvPr id="26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18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凝聚体界面的 de novo 肽设计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1285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interface peptide 设计流程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建议包括序列设计、凝聚体定位和界面富集的显微证据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5044440" cy="1000125"/>
            <a:chOff x="6858000" y="1333500"/>
            <a:chExt cx="504444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怎样设计能够优先定位在生物分子凝聚体界面的短肽？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246120" cy="1000125"/>
            <a:chOff x="6858000" y="2333625"/>
            <a:chExt cx="3246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063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输入：按原文填写凝聚体与设计条件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输出：具有界面定位偏好的新肽序列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用显微图和定量富集指标证明肽位于界面，而不是只进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入凝聚体内部。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503420" cy="1217295"/>
            <a:chOff x="6858000" y="4333875"/>
            <a:chExt cx="4503420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3205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这项工作面向凝聚体介观环境，不等同于针对单个 I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 靶点设计 binder。</a:t>
              </a:r>
            </a:p>
          </p:txBody>
        </p:sp>
      </p:grp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" name="header-17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从六篇论文得到的证据、缺口与可做任务</a:t>
              </a:r>
            </a:p>
          </p:txBody>
        </p:sp>
      </p:grpSp>
      <p:grpSp>
        <p:nvGrpSpPr>
          <p:cNvPr id="51" name="matrix"/>
          <p:cNvGrpSpPr/>
          <p:nvPr/>
        </p:nvGrpSpPr>
        <p:grpSpPr>
          <a:xfrm>
            <a:off x="514350" y="1238250"/>
            <a:ext cx="11163300" cy="4333875"/>
            <a:chOff x="514350" y="1238250"/>
            <a:chExt cx="11163300" cy="4333875"/>
          </a:xfrm>
        </p:grpSpPr>
        <p:sp>
          <p:nvSpPr>
            <p:cNvPr id="6" name="Rectangle 6"/>
            <p:cNvSpPr/>
            <p:nvPr/>
          </p:nvSpPr>
          <p:spPr>
            <a:xfrm>
              <a:off x="514350" y="1238250"/>
              <a:ext cx="11163300" cy="433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238250"/>
              <a:ext cx="111633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47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研究环节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00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代表工作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214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439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仍未证明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185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可做任务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383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76275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2868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4350" y="1752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473" y="193881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性质 → 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0023" y="1938814"/>
              <a:ext cx="58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2529" y="1870710"/>
              <a:ext cx="1840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可按长度、电荷、疏水性等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性质生成多样IDR序列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4779" y="1870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目标性质是否转化为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18904" y="1870710"/>
              <a:ext cx="11323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加入ensemble或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功能奖励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14350" y="2514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4350" y="2514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6473" y="2700814"/>
              <a:ext cx="1352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序列 → ensemble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0404" y="2632710"/>
              <a:ext cx="64465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252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可快速生成大量构象，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覆盖全局与局部统计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477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真实平衡权重、动力学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及跨条件迁移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8904" y="2632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统一数据与实验约束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下的模型评测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14350" y="3276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350" y="3276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62814"/>
              <a:ext cx="998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环境 → LLPS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70023" y="3462814"/>
              <a:ext cx="79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3252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环境信息有助于预测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相分离相关行为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477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ensemble是否提供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额外且可迁移的信息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M1/M2/M3严格对照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与跨环境测试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14350" y="4038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" y="4038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473" y="4224814"/>
              <a:ext cx="104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IDR → binder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404" y="4156710"/>
              <a:ext cx="1155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Diffusing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protein binders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32529" y="4156710"/>
              <a:ext cx="154381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可生成稳定binder识别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兼容结合构象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4779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是否覆盖多状态与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动态靶向需求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18904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多构象条件设计与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鲁棒性筛选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14350" y="4800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4350" y="4800600"/>
              <a:ext cx="11163300" cy="771525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6473" y="498681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 → 定位肽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0404" y="4918710"/>
              <a:ext cx="13228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interface peptide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32529" y="4918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可设计界面富集的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短肽分子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94779" y="4918710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跨凝聚体泛化与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机制可解释性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8904" y="4918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环境依赖的功能设计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与多目标优化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06730" y="5819775"/>
            <a:ext cx="8958215" cy="293370"/>
            <a:chOff x="506730" y="5819775"/>
            <a:chExt cx="8958215" cy="293370"/>
          </a:xfrm>
        </p:grpSpPr>
        <p:sp>
          <p:nvSpPr>
            <p:cNvPr id="52" name="TextBox 52"/>
            <p:cNvSpPr txBox="1"/>
            <p:nvPr/>
          </p:nvSpPr>
          <p:spPr>
            <a:xfrm>
              <a:off x="506730" y="5819775"/>
              <a:ext cx="8958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综合判断：论文已解决局部任务，但“ensemble → function”的可迁移连接仍是最清楚的研究缺口。</a:t>
              </a:r>
            </a:p>
          </p:txBody>
        </p:sp>
      </p:grpSp>
      <p:grpSp>
        <p:nvGrpSpPr>
          <p:cNvPr id="57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三个可落地的计算研究方向</a:t>
              </a:r>
            </a:p>
          </p:txBody>
        </p:sp>
      </p:grpSp>
      <p:grpSp>
        <p:nvGrpSpPr>
          <p:cNvPr id="11" name="direction-1"/>
          <p:cNvGrpSpPr/>
          <p:nvPr/>
        </p:nvGrpSpPr>
        <p:grpSpPr>
          <a:xfrm>
            <a:off x="609600" y="1333500"/>
            <a:ext cx="3371850" cy="4333875"/>
            <a:chOff x="609600" y="1333500"/>
            <a:chExt cx="33718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723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低风险 / 先建立基线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294" y="1884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方向一　统一评测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723" y="2510314"/>
              <a:ext cx="2638298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相同序列、条件与观测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 / IDPFold /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CALVADOS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Rg、接触、局部结构、覆盖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benchmark、误差分析、工具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创新性取决于数据与评价设计</a:t>
              </a:r>
            </a:p>
          </p:txBody>
        </p:sp>
      </p:grpSp>
      <p:grpSp>
        <p:nvGrpSpPr>
          <p:cNvPr id="17" name="direction-2"/>
          <p:cNvGrpSpPr/>
          <p:nvPr/>
        </p:nvGrpSpPr>
        <p:grpSpPr>
          <a:xfrm>
            <a:off x="4410075" y="1333500"/>
            <a:ext cx="3371850" cy="4333875"/>
            <a:chOff x="4410075" y="1333500"/>
            <a:chExt cx="3371850" cy="4333875"/>
          </a:xfrm>
        </p:grpSpPr>
        <p:sp>
          <p:nvSpPr>
            <p:cNvPr id="12" name="Rectangle 12"/>
            <p:cNvSpPr/>
            <p:nvPr/>
          </p:nvSpPr>
          <p:spPr>
            <a:xfrm>
              <a:off x="4410075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32198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中风险 / 最推荐切入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1055" y="1933575"/>
              <a:ext cx="2772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方向二　ensemble 增强 LLPS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638675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32198" y="2510314"/>
              <a:ext cx="2776474" cy="1678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序列、环境、LLPS标签/读数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M1序列；M2序列+环境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M3加入ensemble统计特征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性能、校准、跨环境泛化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模型、消融、机制关联分析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必须控制数据泄漏与生成器偏差</a:t>
              </a:r>
            </a:p>
          </p:txBody>
        </p:sp>
      </p:grpSp>
      <p:grpSp>
        <p:nvGrpSpPr>
          <p:cNvPr id="23" name="direction-3"/>
          <p:cNvGrpSpPr/>
          <p:nvPr/>
        </p:nvGrpSpPr>
        <p:grpSpPr>
          <a:xfrm>
            <a:off x="8210550" y="1333500"/>
            <a:ext cx="3371850" cy="4333875"/>
            <a:chOff x="8210550" y="1333500"/>
            <a:chExt cx="3371850" cy="4333875"/>
          </a:xfrm>
        </p:grpSpPr>
        <p:sp>
          <p:nvSpPr>
            <p:cNvPr id="18" name="Rectangle 18"/>
            <p:cNvSpPr/>
            <p:nvPr/>
          </p:nvSpPr>
          <p:spPr>
            <a:xfrm>
              <a:off x="821055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2673" y="154828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高风险 / 后续拓展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1530" y="1933575"/>
              <a:ext cx="29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方向三　ensemble-aware 设计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3915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673" y="2510314"/>
              <a:ext cx="2613914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IDR序列、binder或定位肽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奖励：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ensemble、LLPS、聚集风险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与序列多样性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单状态或单目标设计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鲁棒性、特异性、跨状态表现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验证成本最高，需外部合作</a:t>
              </a:r>
            </a:p>
          </p:txBody>
        </p:sp>
      </p:grpSp>
      <p:grpSp>
        <p:nvGrpSpPr>
          <p:cNvPr id="25" name="final-judgment"/>
          <p:cNvGrpSpPr/>
          <p:nvPr/>
        </p:nvGrpSpPr>
        <p:grpSpPr>
          <a:xfrm>
            <a:off x="601980" y="5915025"/>
            <a:ext cx="7812262" cy="293370"/>
            <a:chOff x="601980" y="5915025"/>
            <a:chExt cx="7812262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5915025"/>
              <a:ext cx="7812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建议顺序：统一评测建立可信基线 → 验证 ensemble 的功能增益 → 再进入多目标设计。</a:t>
              </a:r>
            </a:p>
          </p:txBody>
        </p:sp>
      </p:grpSp>
      <p:grpSp>
        <p:nvGrpSpPr>
          <p:cNvPr id="29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grpSp>
        <p:nvGrpSpPr>
          <p:cNvPr id="5" name="end-title"/>
          <p:cNvGrpSpPr/>
          <p:nvPr/>
        </p:nvGrpSpPr>
        <p:grpSpPr>
          <a:xfrm>
            <a:off x="726948" y="850583"/>
            <a:ext cx="2892552" cy="616077"/>
            <a:chOff x="726948" y="850583"/>
            <a:chExt cx="2892552" cy="616077"/>
          </a:xfrm>
        </p:grpSpPr>
        <p:sp>
          <p:nvSpPr>
            <p:cNvPr id="3" name="TextBox 3"/>
            <p:cNvSpPr txBox="1"/>
            <p:nvPr/>
          </p:nvSpPr>
          <p:spPr>
            <a:xfrm>
              <a:off x="726948" y="850583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讨论与建议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42950" y="14287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7" name="motto"/>
          <p:cNvGrpSpPr/>
          <p:nvPr/>
        </p:nvGrpSpPr>
        <p:grpSpPr>
          <a:xfrm>
            <a:off x="1619250" y="2381250"/>
            <a:ext cx="8953500" cy="2743200"/>
            <a:chOff x="1619250" y="2381250"/>
            <a:chExt cx="8953500" cy="2743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2381250"/>
              <a:ext cx="8953500" cy="2743200"/>
            </a:xfrm>
            <a:prstGeom prst="rect">
              <a:avLst/>
            </a:prstGeom>
          </p:spPr>
        </p:pic>
      </p:grpSp>
      <p:grpSp>
        <p:nvGrpSpPr>
          <p:cNvPr id="12" name="thanks"/>
          <p:cNvGrpSpPr/>
          <p:nvPr/>
        </p:nvGrpSpPr>
        <p:grpSpPr>
          <a:xfrm>
            <a:off x="723900" y="5191125"/>
            <a:ext cx="11125200" cy="1514475"/>
            <a:chOff x="723900" y="5191125"/>
            <a:chExt cx="11125200" cy="1514475"/>
          </a:xfrm>
        </p:grpSpPr>
        <p:sp>
          <p:nvSpPr>
            <p:cNvPr id="8" name="TextBox 8"/>
            <p:cNvSpPr txBox="1"/>
            <p:nvPr/>
          </p:nvSpPr>
          <p:spPr>
            <a:xfrm>
              <a:off x="723900" y="5404485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谢谢！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4625" y="5191125"/>
              <a:ext cx="1047750" cy="1047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98534" y="6479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3091</Words>
  <Application>Microsoft Office PowerPoint</Application>
  <PresentationFormat>宽屏</PresentationFormat>
  <Paragraphs>233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2</cp:revision>
  <dcterms:created xsi:type="dcterms:W3CDTF">2026-09-24T09:28:16Z</dcterms:created>
  <dcterms:modified xsi:type="dcterms:W3CDTF">2026-09-24T09:29:11Z</dcterms:modified>
  <cp:category/>
  <cp:contentStatus/>
  <dc:language>zh-CN</dc:language>
</cp:coreProperties>
</file>