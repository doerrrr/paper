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76" r:id="rId8"/>
    <p:sldId id="275" r:id="rId9"/>
    <p:sldId id="267" r:id="rId10"/>
    <p:sldId id="271" r:id="rId11"/>
    <p:sldId id="269" r:id="rId12"/>
    <p:sldId id="277" r:id="rId13"/>
    <p:sldId id="272" r:id="rId14"/>
    <p:sldId id="268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01" autoAdjust="0"/>
  </p:normalViewPr>
  <p:slideViewPr>
    <p:cSldViewPr snapToGrid="0" snapToObject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行为；binder 和 interface peptide 工作进一步走向功能分子设计。这里不是说六篇论文已经组成完整系统，而是把它们放到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9CD-9643-8F34-E9A2-064A2A12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DDF-5987-DF51-9958-9A85EEFCE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8AE21-D81C-F79C-B547-5A162C143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58</a:t>
            </a:r>
            <a:r>
              <a:rPr lang="zh-CN" altLang="en-US" dirty="0"/>
              <a:t>条</a:t>
            </a:r>
            <a:r>
              <a:rPr lang="en-US" altLang="zh-CN" dirty="0"/>
              <a:t>ensemble</a:t>
            </a:r>
            <a:r>
              <a:rPr lang="zh-CN" altLang="en-US" dirty="0"/>
              <a:t>与真实的对比，</a:t>
            </a:r>
            <a:r>
              <a:rPr lang="en-US" altLang="zh-CN" dirty="0" err="1"/>
              <a:t>DeltaRg</a:t>
            </a:r>
            <a:r>
              <a:rPr lang="en-US" altLang="zh-CN" dirty="0"/>
              <a:t>=</a:t>
            </a:r>
            <a:r>
              <a:rPr lang="zh-CN" altLang="en-US" dirty="0"/>
              <a:t>实验室</a:t>
            </a:r>
            <a:r>
              <a:rPr lang="en-US" altLang="zh-CN" dirty="0"/>
              <a:t>-</a:t>
            </a:r>
            <a:r>
              <a:rPr lang="zh-CN" altLang="en-US" dirty="0"/>
              <a:t>真实值，也就是和实验的对比，然后发现平均的是</a:t>
            </a:r>
            <a:r>
              <a:rPr lang="en-US" altLang="zh-CN" dirty="0"/>
              <a:t>-0.06</a:t>
            </a:r>
            <a:r>
              <a:rPr lang="zh-CN" altLang="en-US" dirty="0"/>
              <a:t>也就是会预测差距</a:t>
            </a:r>
            <a:r>
              <a:rPr lang="en-US" altLang="zh-CN" dirty="0"/>
              <a:t>0.06</a:t>
            </a:r>
            <a:r>
              <a:rPr lang="zh-CN" altLang="en-US" dirty="0"/>
              <a:t>但也还可以了。</a:t>
            </a:r>
            <a:endParaRPr lang="en-US" altLang="zh-CN" dirty="0"/>
          </a:p>
          <a:p>
            <a:r>
              <a:rPr lang="zh-CN" altLang="en-US" dirty="0"/>
              <a:t>之后里面有八个是彩色的柱子，之后把那八个生成的</a:t>
            </a:r>
            <a:r>
              <a:rPr lang="en-US" altLang="zh-CN" dirty="0"/>
              <a:t>ensemble</a:t>
            </a:r>
            <a:r>
              <a:rPr lang="zh-CN" altLang="en-US" dirty="0"/>
              <a:t>放入</a:t>
            </a:r>
            <a:r>
              <a:rPr lang="en-US" altLang="zh-CN" dirty="0"/>
              <a:t>B</a:t>
            </a:r>
            <a:r>
              <a:rPr lang="zh-CN" altLang="en-US" dirty="0"/>
              <a:t>中进行比较，其中柱子上的黑色横线是</a:t>
            </a:r>
            <a:r>
              <a:rPr lang="en-US" altLang="zh-CN" dirty="0" err="1"/>
              <a:t>Rg</a:t>
            </a:r>
            <a:r>
              <a:rPr lang="zh-CN" altLang="en-US" dirty="0"/>
              <a:t>的波动范围</a:t>
            </a:r>
            <a:endParaRPr lang="en-US" altLang="zh-CN" dirty="0"/>
          </a:p>
          <a:p>
            <a:r>
              <a:rPr lang="en-US" altLang="zh-CN" dirty="0"/>
              <a:t>Figure 2B</a:t>
            </a:r>
            <a:r>
              <a:rPr lang="zh-CN" altLang="en-US" dirty="0"/>
              <a:t>进一步考察</a:t>
            </a:r>
            <a:r>
              <a:rPr lang="en-US" altLang="zh-CN" dirty="0" err="1"/>
              <a:t>IDPFold</a:t>
            </a:r>
            <a:r>
              <a:rPr lang="zh-CN" altLang="en-US" dirty="0"/>
              <a:t>能否预测构象尺寸的分布，而不仅是平均回转半径。彩色曲线是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300</a:t>
            </a:r>
            <a:r>
              <a:rPr lang="zh-CN" altLang="en-US" dirty="0"/>
              <a:t>个构象的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分布，黑色虚线是</a:t>
            </a:r>
            <a:r>
              <a:rPr lang="en-US" altLang="zh-CN" dirty="0"/>
              <a:t>CALVADOS</a:t>
            </a:r>
            <a:r>
              <a:rPr lang="zh-CN" altLang="en-US" dirty="0"/>
              <a:t>粗粒化模拟，黑色实线是实验测得的平均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</a:t>
            </a:r>
            <a:r>
              <a:rPr lang="zh-CN" altLang="en-US" dirty="0"/>
              <a:t>。多数蛋白中，</a:t>
            </a:r>
            <a:r>
              <a:rPr lang="en-US" altLang="zh-CN" dirty="0" err="1"/>
              <a:t>IDPFold</a:t>
            </a:r>
            <a:r>
              <a:rPr lang="zh-CN" altLang="en-US" dirty="0"/>
              <a:t>能够产生从紧凑到伸展的不同构象，其分布范围与</a:t>
            </a:r>
            <a:r>
              <a:rPr lang="en-US" altLang="zh-CN" dirty="0"/>
              <a:t>CALVADOS</a:t>
            </a:r>
            <a:r>
              <a:rPr lang="zh-CN" altLang="en-US" dirty="0"/>
              <a:t>大致相似。但实验只提供一个平均值，因此这张图主要证明</a:t>
            </a:r>
            <a:r>
              <a:rPr lang="en-US" altLang="zh-CN" dirty="0" err="1"/>
              <a:t>IDPFold</a:t>
            </a:r>
            <a:r>
              <a:rPr lang="zh-CN" altLang="en-US" dirty="0"/>
              <a:t>复现了模拟中的全局尺寸异质性，还不能证明完整分布就是真实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Figure 4A</a:t>
            </a:r>
            <a:r>
              <a:rPr lang="zh-CN" altLang="en-US" dirty="0"/>
              <a:t>包含三个柱状图，每组比较四种全原子</a:t>
            </a:r>
            <a:r>
              <a:rPr lang="en-US" altLang="zh-CN" dirty="0"/>
              <a:t>MD</a:t>
            </a:r>
            <a:r>
              <a:rPr lang="zh-CN" altLang="en-US" dirty="0"/>
              <a:t>力场与</a:t>
            </a:r>
            <a:r>
              <a:rPr lang="en-US" altLang="zh-CN" dirty="0" err="1"/>
              <a:t>IDPFold</a:t>
            </a:r>
            <a:r>
              <a:rPr lang="zh-CN" altLang="en-US" dirty="0"/>
              <a:t>。上面两图通过</a:t>
            </a:r>
            <a:r>
              <a:rPr lang="en-US" altLang="zh-CN" dirty="0"/>
              <a:t>Cα</a:t>
            </a:r>
            <a:r>
              <a:rPr lang="zh-CN" altLang="en-US" dirty="0"/>
              <a:t>和 </a:t>
            </a:r>
            <a:r>
              <a:rPr lang="en-US" altLang="zh-CN" dirty="0"/>
              <a:t>Cβ</a:t>
            </a:r>
            <a:r>
              <a:rPr lang="zh-CN" altLang="en-US" dirty="0"/>
              <a:t>化学位移误差评价局部结构，</a:t>
            </a:r>
            <a:r>
              <a:rPr lang="en-US" altLang="zh-CN" dirty="0" err="1"/>
              <a:t>IDPFold</a:t>
            </a:r>
            <a:r>
              <a:rPr lang="zh-CN" altLang="en-US" dirty="0"/>
              <a:t>与较好的全原子力场整体相当；最下面通过回转半径相对误差评价整体紧凑程度，</a:t>
            </a:r>
            <a:r>
              <a:rPr lang="en-US" altLang="zh-CN" dirty="0" err="1"/>
              <a:t>IDPFold</a:t>
            </a:r>
            <a:r>
              <a:rPr lang="zh-CN" altLang="en-US" dirty="0"/>
              <a:t>在这</a:t>
            </a:r>
            <a:r>
              <a:rPr lang="en-US" altLang="zh-CN" dirty="0"/>
              <a:t>7</a:t>
            </a:r>
            <a:r>
              <a:rPr lang="zh-CN" altLang="en-US" dirty="0"/>
              <a:t>种测试蛋白上的平均误差最低。因此它的主要优势体现在平均全局尺寸，而局部结构只是达到与先进力场相近的水平。</a:t>
            </a:r>
            <a:endParaRPr lang="en-US" altLang="zh-CN" dirty="0"/>
          </a:p>
          <a:p>
            <a:r>
              <a:rPr lang="en-US" altLang="zh-CN" dirty="0"/>
              <a:t>\(C_\alpha\) </a:t>
            </a:r>
            <a:r>
              <a:rPr lang="zh-CN" altLang="en-US" dirty="0"/>
              <a:t>是氨基酸主链上的中心碳，</a:t>
            </a:r>
            <a:r>
              <a:rPr lang="en-US" altLang="zh-CN" dirty="0"/>
              <a:t>\(C_\beta\) </a:t>
            </a:r>
            <a:r>
              <a:rPr lang="zh-CN" altLang="en-US" dirty="0"/>
              <a:t>是侧链上的第一个碳；化学位移会受到周围电子环境和局部构象影响。因此，通过 </a:t>
            </a:r>
            <a:r>
              <a:rPr lang="en-US" altLang="zh-CN" dirty="0"/>
              <a:t>\(C_\alpha\) </a:t>
            </a:r>
            <a:r>
              <a:rPr lang="zh-CN" altLang="en-US" dirty="0"/>
              <a:t>和 </a:t>
            </a:r>
            <a:r>
              <a:rPr lang="en-US" altLang="zh-CN" dirty="0"/>
              <a:t>\(C_\beta\) </a:t>
            </a:r>
            <a:r>
              <a:rPr lang="zh-CN" altLang="en-US" dirty="0"/>
              <a:t>的化学位移，可以判断某个残基有多少误差</a:t>
            </a:r>
            <a:endParaRPr lang="en-US" altLang="zh-CN" dirty="0"/>
          </a:p>
          <a:p>
            <a:r>
              <a:rPr lang="en-US" altLang="zh-CN" dirty="0"/>
              <a:t>Figure 4B</a:t>
            </a:r>
            <a:r>
              <a:rPr lang="zh-CN" altLang="en-US" dirty="0"/>
              <a:t>对比</a:t>
            </a:r>
            <a:r>
              <a:rPr lang="en-US" altLang="zh-CN" dirty="0"/>
              <a:t>70</a:t>
            </a:r>
            <a:r>
              <a:rPr lang="zh-CN" altLang="en-US" dirty="0"/>
              <a:t>微秒全原子</a:t>
            </a:r>
            <a:r>
              <a:rPr lang="en-US" altLang="zh-CN" dirty="0"/>
              <a:t>MD</a:t>
            </a:r>
            <a:r>
              <a:rPr lang="zh-CN" altLang="en-US" dirty="0"/>
              <a:t>和</a:t>
            </a:r>
            <a:r>
              <a:rPr lang="en-US" altLang="zh-CN" dirty="0" err="1"/>
              <a:t>IDPFold</a:t>
            </a:r>
            <a:r>
              <a:rPr lang="zh-CN" altLang="en-US" dirty="0"/>
              <a:t>生成的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\)-RMSD</a:t>
            </a:r>
            <a:r>
              <a:rPr lang="zh-CN" altLang="en-US" dirty="0"/>
              <a:t>联合分布。横坐标反映整体紧凑程度，纵坐标反映构象相对参考结构的变化程度。全原子</a:t>
            </a:r>
            <a:r>
              <a:rPr lang="en-US" altLang="zh-CN" dirty="0"/>
              <a:t>MD</a:t>
            </a:r>
            <a:r>
              <a:rPr lang="zh-CN" altLang="en-US" dirty="0"/>
              <a:t>覆盖了更广的构象空间和更多伸展状态，而</a:t>
            </a:r>
            <a:r>
              <a:rPr lang="en-US" altLang="zh-CN" dirty="0" err="1"/>
              <a:t>IDPFold</a:t>
            </a:r>
            <a:r>
              <a:rPr lang="zh-CN" altLang="en-US" dirty="0"/>
              <a:t>的分布更加集中。虽然</a:t>
            </a:r>
            <a:r>
              <a:rPr lang="en-US" altLang="zh-CN" dirty="0" err="1"/>
              <a:t>IDPFold</a:t>
            </a:r>
            <a:r>
              <a:rPr lang="zh-CN" altLang="en-US" dirty="0"/>
              <a:t>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更接近实验，但它对完整构象空间的覆盖仍然不足。这说明平均尺寸准确不等于整个</a:t>
            </a:r>
            <a:r>
              <a:rPr lang="en-US" altLang="zh-CN" dirty="0"/>
              <a:t>ensemble</a:t>
            </a:r>
            <a:r>
              <a:rPr lang="zh-CN" altLang="en-US" dirty="0"/>
              <a:t>分布准确。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C</a:t>
            </a:r>
            <a:r>
              <a:rPr lang="zh-CN" altLang="en-US" dirty="0"/>
              <a:t>就是两个生成模型的相对比，都是各有优势</a:t>
            </a:r>
            <a:endParaRPr lang="en-US" altLang="zh-CN" dirty="0"/>
          </a:p>
          <a:p>
            <a:r>
              <a:rPr lang="zh-CN" altLang="en-US" dirty="0"/>
              <a:t>剩下的四个图是</a:t>
            </a:r>
            <a:r>
              <a:rPr lang="en-US" altLang="zh-CN" dirty="0"/>
              <a:t>Cα</a:t>
            </a:r>
            <a:r>
              <a:rPr lang="zh-CN" altLang="en-US" dirty="0"/>
              <a:t>等等是作者做的部分实验。</a:t>
            </a:r>
          </a:p>
        </p:txBody>
      </p:sp>
    </p:spTree>
    <p:extLst>
      <p:ext uri="{BB962C8B-B14F-4D97-AF65-F5344CB8AC3E}">
        <p14:creationId xmlns:p14="http://schemas.microsoft.com/office/powerpoint/2010/main" val="7120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zh-CN" altLang="en-US" dirty="0"/>
              <a:t>因此，它对高度不规则、富含</a:t>
            </a:r>
            <a:r>
              <a:rPr lang="en-US" altLang="zh-CN" dirty="0"/>
              <a:t>loop</a:t>
            </a:r>
            <a:r>
              <a:rPr lang="zh-CN" altLang="en-US" dirty="0"/>
              <a:t>、极度柔性或缺少二级结构倾向的</a:t>
            </a:r>
            <a:r>
              <a:rPr lang="en-US" altLang="zh-CN" dirty="0"/>
              <a:t>IDR</a:t>
            </a:r>
            <a:r>
              <a:rPr lang="zh-CN" altLang="en-US" dirty="0"/>
              <a:t>可能效果较弱。例如</a:t>
            </a:r>
            <a:r>
              <a:rPr lang="en-US" altLang="zh-CN" dirty="0"/>
              <a:t>FUS</a:t>
            </a:r>
            <a:r>
              <a:rPr lang="zh-CN" altLang="en-US" dirty="0"/>
              <a:t>目标中测试</a:t>
            </a:r>
            <a:r>
              <a:rPr lang="en-US" altLang="zh-CN" dirty="0"/>
              <a:t>94</a:t>
            </a:r>
            <a:r>
              <a:rPr lang="zh-CN" altLang="en-US" dirty="0"/>
              <a:t>个设计，只有</a:t>
            </a:r>
            <a:r>
              <a:rPr lang="en-US" altLang="zh-CN" dirty="0"/>
              <a:t>3</a:t>
            </a:r>
            <a:r>
              <a:rPr lang="zh-CN" altLang="en-US" dirty="0"/>
              <a:t>个表现出结合，最佳亲和力约</a:t>
            </a:r>
            <a:r>
              <a:rPr lang="en-US" altLang="zh-CN" dirty="0"/>
              <a:t>520 </a:t>
            </a:r>
            <a:r>
              <a:rPr lang="en-US" altLang="zh-CN" dirty="0" err="1"/>
              <a:t>nM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需要生成和筛选大量候选</a:t>
            </a:r>
          </a:p>
          <a:p>
            <a:r>
              <a:rPr lang="zh-CN" altLang="en-US" dirty="0"/>
              <a:t>每个</a:t>
            </a:r>
            <a:r>
              <a:rPr lang="en-US" altLang="zh-CN" dirty="0"/>
              <a:t>target</a:t>
            </a:r>
            <a:r>
              <a:rPr lang="zh-CN" altLang="en-US" dirty="0"/>
              <a:t>通常需要生成约</a:t>
            </a:r>
            <a:r>
              <a:rPr lang="en-US" altLang="zh-CN" dirty="0"/>
              <a:t>10,000–50,000</a:t>
            </a:r>
            <a:r>
              <a:rPr lang="zh-CN" altLang="en-US" dirty="0"/>
              <a:t>个设计，再经过</a:t>
            </a:r>
            <a:r>
              <a:rPr lang="en-US" altLang="zh-CN" dirty="0" err="1"/>
              <a:t>ProteinMPNN</a:t>
            </a:r>
            <a:r>
              <a:rPr lang="zh-CN" altLang="en-US" dirty="0"/>
              <a:t>、</a:t>
            </a:r>
            <a:r>
              <a:rPr lang="en-US" altLang="zh-CN" dirty="0"/>
              <a:t>AF2</a:t>
            </a:r>
            <a:r>
              <a:rPr lang="zh-CN" altLang="en-US" dirty="0"/>
              <a:t>和</a:t>
            </a:r>
            <a:r>
              <a:rPr lang="en-US" altLang="zh-CN" dirty="0"/>
              <a:t>Rosetta</a:t>
            </a:r>
            <a:r>
              <a:rPr lang="zh-CN" altLang="en-US" dirty="0"/>
              <a:t>筛选，最后选择</a:t>
            </a:r>
            <a:r>
              <a:rPr lang="en-US" altLang="zh-CN" dirty="0"/>
              <a:t>48–96</a:t>
            </a:r>
            <a:r>
              <a:rPr lang="zh-CN" altLang="en-US" dirty="0"/>
              <a:t>个进行实验。</a:t>
            </a:r>
          </a:p>
          <a:p>
            <a:r>
              <a:rPr lang="zh-CN" altLang="en-US" dirty="0"/>
              <a:t>这说明：</a:t>
            </a:r>
          </a:p>
          <a:p>
            <a:r>
              <a:rPr lang="zh-CN" altLang="en-US" dirty="0"/>
              <a:t>现有计算评分还不能准确判断哪个设计一定会结合。</a:t>
            </a:r>
          </a:p>
          <a:p>
            <a:r>
              <a:rPr lang="zh-CN" altLang="en-US" dirty="0"/>
              <a:t>论文证明了“大规模生成加实验筛选”能够找到</a:t>
            </a:r>
            <a:r>
              <a:rPr lang="en-US" altLang="zh-CN" dirty="0"/>
              <a:t>binder</a:t>
            </a:r>
            <a:r>
              <a:rPr lang="zh-CN" altLang="en-US" dirty="0"/>
              <a:t>，但没有证明计算评分可以准确预测实验成功率。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长蛋白不等于靶向整个长</a:t>
            </a:r>
            <a:r>
              <a:rPr lang="en-US" altLang="zh-CN" b="1" dirty="0"/>
              <a:t>IDR</a:t>
            </a:r>
          </a:p>
          <a:p>
            <a:r>
              <a:rPr lang="zh-CN" altLang="en-US" dirty="0"/>
              <a:t>例如</a:t>
            </a:r>
            <a:r>
              <a:rPr lang="en-US" altLang="zh-CN" dirty="0"/>
              <a:t>BRCA1_ARATH</a:t>
            </a:r>
            <a:r>
              <a:rPr lang="zh-CN" altLang="en-US" dirty="0"/>
              <a:t>有</a:t>
            </a:r>
            <a:r>
              <a:rPr lang="en-US" altLang="zh-CN" dirty="0"/>
              <a:t>941</a:t>
            </a:r>
            <a:r>
              <a:rPr lang="zh-CN" altLang="en-US" dirty="0"/>
              <a:t>个残基，但论文实际靶向的是其中</a:t>
            </a:r>
            <a:r>
              <a:rPr lang="en-US" altLang="zh-CN" dirty="0"/>
              <a:t>21</a:t>
            </a:r>
            <a:r>
              <a:rPr lang="zh-CN" altLang="en-US" dirty="0"/>
              <a:t>个残基的片段。</a:t>
            </a:r>
          </a:p>
          <a:p>
            <a:r>
              <a:rPr lang="zh-CN" altLang="en-US" dirty="0"/>
              <a:t>所以论文证明的是：</a:t>
            </a:r>
          </a:p>
          <a:p>
            <a:r>
              <a:rPr lang="zh-CN" altLang="en-US" dirty="0"/>
              <a:t>可以从长</a:t>
            </a:r>
            <a:r>
              <a:rPr lang="en-US" altLang="zh-CN" dirty="0"/>
              <a:t>IDP</a:t>
            </a:r>
            <a:r>
              <a:rPr lang="zh-CN" altLang="en-US" dirty="0"/>
              <a:t>中选择一段短区域进行</a:t>
            </a:r>
            <a:r>
              <a:rPr lang="en-US" altLang="zh-CN" dirty="0"/>
              <a:t>binder</a:t>
            </a:r>
            <a:r>
              <a:rPr lang="zh-CN" altLang="en-US" dirty="0"/>
              <a:t>设计。</a:t>
            </a:r>
          </a:p>
          <a:p>
            <a:r>
              <a:rPr lang="zh-CN" altLang="en-US" dirty="0"/>
              <a:t>没有证明一个</a:t>
            </a:r>
            <a:r>
              <a:rPr lang="en-US" altLang="zh-CN" dirty="0"/>
              <a:t>binder</a:t>
            </a:r>
            <a:r>
              <a:rPr lang="zh-CN" altLang="en-US" dirty="0"/>
              <a:t>能够识别整条长</a:t>
            </a:r>
            <a:r>
              <a:rPr lang="en-US" altLang="zh-CN" dirty="0"/>
              <a:t>IDP</a:t>
            </a:r>
            <a:r>
              <a:rPr lang="zh-CN" altLang="en-US" dirty="0"/>
              <a:t>的所有构象，也没有证明方法能够自动选择最适合靶向的片段。</a:t>
            </a:r>
          </a:p>
          <a:p>
            <a:endParaRPr lang="zh-CN" altLang="en-US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235C-28B1-9713-A17A-3959C47A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645C5-900A-AD14-B0DA-9746EB1F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E3001-6FA0-9C2C-A2B3-B4CA0FD10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44870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序列到</a:t>
            </a:r>
            <a:r>
              <a:rPr lang="en-US" altLang="zh-CN" dirty="0"/>
              <a:t>ensemble</a:t>
            </a:r>
            <a:r>
              <a:rPr lang="zh-CN" altLang="en-US" dirty="0"/>
              <a:t>可做的任务不是一个新的研究，而是一个类似于综述的工作</a:t>
            </a:r>
            <a:endParaRPr lang="en-US" altLang="zh-CN" dirty="0"/>
          </a:p>
          <a:p>
            <a:r>
              <a:rPr lang="zh-CN" altLang="en-US" dirty="0"/>
              <a:t>构象是否可达：某个构象是否有一定的概率</a:t>
            </a:r>
            <a:endParaRPr lang="en-US" altLang="zh-CN" dirty="0"/>
          </a:p>
          <a:p>
            <a:r>
              <a:rPr lang="zh-CN" altLang="en-US" dirty="0"/>
              <a:t>泛化：同一个</a:t>
            </a:r>
            <a:r>
              <a:rPr lang="en-US" altLang="zh-CN" dirty="0"/>
              <a:t>binder</a:t>
            </a:r>
            <a:r>
              <a:rPr lang="zh-CN" altLang="en-US" dirty="0"/>
              <a:t>是否能结合其他相似的</a:t>
            </a:r>
            <a:r>
              <a:rPr lang="en-US" altLang="zh-CN" dirty="0"/>
              <a:t>IDR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681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逐构象计算实验可观测量，再按统计权重求平均。所以“模型生成很多结构”并不自动等于得到可信的统计 ensemble。</a:t>
            </a: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148132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序列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38400" y="14622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  <p:sp>
        <p:nvSpPr>
          <p:cNvPr id="3" name="TextBox 51">
            <a:extLst>
              <a:ext uri="{FF2B5EF4-FFF2-40B4-BE49-F238E27FC236}">
                <a16:creationId xmlns:a16="http://schemas.microsoft.com/office/drawing/2014/main" id="{CE3397E5-2E58-F32E-462A-4903262974DC}"/>
              </a:ext>
            </a:extLst>
          </p:cNvPr>
          <p:cNvSpPr txBox="1"/>
          <p:nvPr/>
        </p:nvSpPr>
        <p:spPr>
          <a:xfrm>
            <a:off x="4309873" y="226771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15D7-02F0-42AC-D50B-7EA59C3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>
            <a:extLst>
              <a:ext uri="{FF2B5EF4-FFF2-40B4-BE49-F238E27FC236}">
                <a16:creationId xmlns:a16="http://schemas.microsoft.com/office/drawing/2014/main" id="{ADAC5BF9-78CE-87D7-1A7F-523F668DBEEB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>
              <a:extLst>
                <a:ext uri="{FF2B5EF4-FFF2-40B4-BE49-F238E27FC236}">
                  <a16:creationId xmlns:a16="http://schemas.microsoft.com/office/drawing/2014/main" id="{805ACBE5-07FC-64BB-E1A6-9188B9089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B614E6AB-3398-B5C8-7A4F-A1944B34E3FA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07B2E6E-2E70-51D1-9CBD-46C2A5181556}"/>
                </a:ext>
              </a:extLst>
            </p:cNvPr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123C47A-7799-D6F3-0072-5E8FA5D64F0F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IDPFold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生成是否可信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07A6A5F5-624B-F2BE-9357-CD5D679A617E}"/>
              </a:ext>
            </a:extLst>
          </p:cNvPr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1AB30A-57FB-81EA-0811-F3BC9ABC6E60}"/>
                  </a:ext>
                </a:extLst>
              </p:cNvPr>
              <p:cNvSpPr txBox="1"/>
              <p:nvPr/>
            </p:nvSpPr>
            <p:spPr>
              <a:xfrm>
                <a:off x="6629400" y="1308496"/>
                <a:ext cx="4956048" cy="11935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250" b="1" dirty="0">
                    <a:solidFill>
                      <a:srgbClr val="007A3D"/>
                    </a:solidFill>
                    <a:latin typeface="Arial"/>
                    <a:ea typeface="Microsoft YaHei"/>
                  </a:rPr>
                  <a:t>全局性质：</a:t>
                </a:r>
                <a:endParaRPr lang="en-US" altLang="zh-CN" sz="1250" b="1" dirty="0">
                  <a:solidFill>
                    <a:srgbClr val="007A3D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400" dirty="0"/>
                  <a:t>平均相对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sz="1400" dirty="0"/>
                  <a:t>误差约为 </a:t>
                </a:r>
                <a:r>
                  <a:rPr lang="en-US" altLang="zh-CN" sz="1400" dirty="0"/>
                  <a:t>-0.06</a:t>
                </a:r>
                <a:r>
                  <a:rPr lang="zh-CN" altLang="en-US" sz="1400" dirty="0"/>
                  <a:t>；</a:t>
                </a:r>
                <a:endParaRPr lang="en-US" altLang="zh-CN" sz="1400" dirty="0"/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400" dirty="0"/>
                  <a:t>多数蛋白的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sz="1400" dirty="0"/>
                  <a:t>分布接近参考模拟；</a:t>
                </a:r>
                <a:endParaRPr lang="en-US" altLang="zh-CN" sz="1400" dirty="0"/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endParaRPr lang="en-US" altLang="zh-CN" sz="1250" b="1" dirty="0">
                  <a:solidFill>
                    <a:srgbClr val="007A3D"/>
                  </a:solidFill>
                  <a:latin typeface="Arial"/>
                  <a:ea typeface="Microsoft YaHei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1AB30A-57FB-81EA-0811-F3BC9ABC6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308496"/>
                <a:ext cx="4956048" cy="1193543"/>
              </a:xfrm>
              <a:prstGeom prst="rect">
                <a:avLst/>
              </a:prstGeom>
              <a:blipFill>
                <a:blip r:embed="rId4"/>
                <a:stretch>
                  <a:fillRect l="-2214" t="-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982B404-8A37-F3FC-0D76-F8B64BD451D2}"/>
              </a:ext>
            </a:extLst>
          </p:cNvPr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17C24-3307-3C7D-C8E0-D1AF180CB0E0}"/>
              </a:ext>
            </a:extLst>
          </p:cNvPr>
          <p:cNvPicPr>
            <a:picLocks/>
          </p:cNvPicPr>
          <p:nvPr/>
        </p:nvPicPr>
        <p:blipFill>
          <a:blip r:embed="rId5"/>
          <a:srcRect l="11630" t="1169" r="11404" b="6496"/>
          <a:stretch>
            <a:fillRect/>
          </a:stretch>
        </p:blipFill>
        <p:spPr>
          <a:xfrm>
            <a:off x="761565" y="1308496"/>
            <a:ext cx="5657523" cy="46085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0EF7E1-0C53-6CB9-F454-AA72034AB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385" y="2969145"/>
            <a:ext cx="5242077" cy="3149248"/>
          </a:xfrm>
          <a:prstGeom prst="rect">
            <a:avLst/>
          </a:prstGeom>
        </p:spPr>
      </p:pic>
      <p:sp>
        <p:nvSpPr>
          <p:cNvPr id="2" name="wash-7">
            <a:extLst>
              <a:ext uri="{FF2B5EF4-FFF2-40B4-BE49-F238E27FC236}">
                <a16:creationId xmlns:a16="http://schemas.microsoft.com/office/drawing/2014/main" id="{DBC0C9B8-C323-2B34-3373-6096DEDD555A}"/>
              </a:ext>
            </a:extLst>
          </p:cNvPr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4639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网络结构图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2D38-AD14-CB0A-3D5A-58862853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>
            <a:extLst>
              <a:ext uri="{FF2B5EF4-FFF2-40B4-BE49-F238E27FC236}">
                <a16:creationId xmlns:a16="http://schemas.microsoft.com/office/drawing/2014/main" id="{27380853-9763-3ABC-2171-2913CD5C453D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634A08C-1D3C-F009-E513-07D8D1CC1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69D63BFE-FDDC-DFA4-6D00-223420636D18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79634A5-CF71-1651-5B9E-C0A755A37D3B}"/>
                </a:ext>
              </a:extLst>
            </p:cNvPr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7BE327-6E1F-87E9-11FA-6ECE004D4B38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实验结果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04FC81-B190-AFEA-E8E4-6FF0A279F45F}"/>
              </a:ext>
            </a:extLst>
          </p:cNvPr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47DB13-B92E-2748-1C4E-5A9B9C3FE522}"/>
              </a:ext>
            </a:extLst>
          </p:cNvPr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>
            <a:extLst>
              <a:ext uri="{FF2B5EF4-FFF2-40B4-BE49-F238E27FC236}">
                <a16:creationId xmlns:a16="http://schemas.microsoft.com/office/drawing/2014/main" id="{02366FA1-5F43-A9BA-179C-03288F5F7565}"/>
              </a:ext>
            </a:extLst>
          </p:cNvPr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6119573-D844-634C-ECB4-3E1719EF20DC}"/>
                </a:ext>
              </a:extLst>
            </p:cNvPr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E160949-A4CA-A4AF-301A-A40C08F89D5B}"/>
                </a:ext>
              </a:extLst>
            </p:cNvPr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B91C1E4-4448-D55D-D4E2-6FD6BD0F1FE9}"/>
                </a:ext>
              </a:extLst>
            </p:cNvPr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>
            <a:extLst>
              <a:ext uri="{FF2B5EF4-FFF2-40B4-BE49-F238E27FC236}">
                <a16:creationId xmlns:a16="http://schemas.microsoft.com/office/drawing/2014/main" id="{E26A3306-5729-2195-19E5-1C3AC4672CF6}"/>
              </a:ext>
            </a:extLst>
          </p:cNvPr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3FBDEC7-869E-B396-A3E1-4BEEEE44EE43}"/>
                </a:ext>
              </a:extLst>
            </p:cNvPr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1C1036E-AA06-F788-9FDF-FEAF08000CDF}"/>
                </a:ext>
              </a:extLst>
            </p:cNvPr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3029EAF-A05C-4C4A-2568-90F45EFE545C}"/>
                </a:ext>
              </a:extLst>
            </p:cNvPr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D647C74-C6F4-9FB0-D15B-DF10DDF3022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37DBFE15-A5A0-5F3E-F8EF-42A373753EDE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EF1B06-5396-47AF-912B-5B80DB420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45" y="1032795"/>
            <a:ext cx="7263575" cy="29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 dirty="0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153A2A"/>
                </a:solidFill>
                <a:latin typeface="Arial"/>
                <a:ea typeface="Microsoft YaHei"/>
              </a:rPr>
              <a:t>构象是否可达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r>
              <a:rPr lang="zh-CN" altLang="en-US" sz="1200" dirty="0">
                <a:solidFill>
                  <a:srgbClr val="153A2A"/>
                </a:solidFill>
                <a:latin typeface="Arial"/>
                <a:ea typeface="Microsoft YaHei"/>
              </a:rPr>
              <a:t>能否泛化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endParaRPr sz="120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加入自由态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信息是否可以更准确的识别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  <a:endParaRPr sz="1200" b="0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52" y="2493266"/>
            <a:ext cx="5623560" cy="77482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6552" y="2493266"/>
            <a:ext cx="54864" cy="77482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720" y="2612137"/>
            <a:ext cx="5349240" cy="651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521011"/>
            <a:ext cx="5623560" cy="83946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521012"/>
            <a:ext cx="100584" cy="83946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639884"/>
            <a:ext cx="5349240" cy="532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二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、</a:t>
            </a:r>
            <a:r>
              <a:rPr lang="en-US" altLang="zh-CN" sz="1550" b="1" dirty="0">
                <a:solidFill>
                  <a:srgbClr val="007A3D"/>
                </a:solidFill>
                <a:latin typeface="Arial"/>
                <a:ea typeface="Microsoft YaHei"/>
              </a:rPr>
              <a:t> 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结果解释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89427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907585"/>
            <a:ext cx="3934734" cy="1141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M1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dirty="0">
                <a:solidFill>
                  <a:srgbClr val="153A2A"/>
                </a:solidFill>
                <a:latin typeface="Arial"/>
                <a:ea typeface="Microsoft YaHei"/>
              </a:rPr>
              <a:t>说明加入环境条件可以带来增益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241243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475262"/>
            <a:ext cx="3934734" cy="623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说明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有着自己的信息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29400" y="293059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994060"/>
            <a:ext cx="4608576" cy="51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泛化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在新的蛋白以及新的环境中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依旧优于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证明有不错的泛化能力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29400" y="3448751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570246"/>
            <a:ext cx="3934734" cy="656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生成的结构依然可以证明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16664"/>
            <a:ext cx="10497312" cy="8384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dirty="0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dirty="0"/>
              <a:t>支持：只有当</a:t>
            </a:r>
            <a:r>
              <a:rPr lang="en-US" altLang="zh-CN" sz="1400" dirty="0"/>
              <a:t>M3</a:t>
            </a:r>
            <a:r>
              <a:rPr lang="zh-CN" altLang="en-US" sz="1400" dirty="0"/>
              <a:t>在未见蛋白、新环境和不同生成器下仍稳定优于</a:t>
            </a:r>
            <a:r>
              <a:rPr lang="en-US" altLang="zh-CN" sz="1400" dirty="0"/>
              <a:t>M2</a:t>
            </a:r>
            <a:r>
              <a:rPr lang="zh-CN" altLang="en-US" sz="1400" dirty="0"/>
              <a:t>，才能说明</a:t>
            </a:r>
            <a:r>
              <a:rPr lang="en-US" altLang="zh-CN" sz="1400" dirty="0"/>
              <a:t>ensemble</a:t>
            </a:r>
            <a:r>
              <a:rPr lang="zh-CN" altLang="en-US" sz="1400" dirty="0"/>
              <a:t>提供了额外信息。</a:t>
            </a:r>
            <a:endParaRPr lang="en-US" altLang="zh-CN" sz="1400" dirty="0"/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b="0" dirty="0">
                <a:solidFill>
                  <a:srgbClr val="5C6E63"/>
                </a:solidFill>
                <a:latin typeface="Arial"/>
                <a:ea typeface="Microsoft YaHei"/>
              </a:rPr>
              <a:t>不支持：只有训练数据有提升或者只有某个生成器生成的有提升。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7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4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2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lang="zh-CN" altLang="en-US" sz="1250" b="0" dirty="0">
                <a:solidFill>
                  <a:srgbClr val="5C6E63"/>
                </a:solidFill>
                <a:latin typeface="Arial"/>
                <a:ea typeface="Microsoft YaHei"/>
              </a:rPr>
              <a:t>目前还没有形成统一的评价标准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·切入点</a:t>
            </a:r>
            <a:r>
              <a:rPr 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4789</Words>
  <Application>Microsoft Office PowerPoint</Application>
  <PresentationFormat>宽屏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Cambria Math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60</cp:revision>
  <dcterms:created xsi:type="dcterms:W3CDTF">2026-09-25T08:55:11Z</dcterms:created>
  <dcterms:modified xsi:type="dcterms:W3CDTF">2026-09-28T09:57:54Z</dcterms:modified>
  <cp:category/>
  <cp:contentStatus/>
  <dc:language>zh-CN</dc:language>
</cp:coreProperties>
</file>