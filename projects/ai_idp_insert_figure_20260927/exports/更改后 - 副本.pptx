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75" r:id="rId5"/>
    <p:sldId id="277" r:id="rId6"/>
    <p:sldId id="261" r:id="rId7"/>
    <p:sldId id="262" r:id="rId8"/>
    <p:sldId id="263" r:id="rId9"/>
    <p:sldId id="267" r:id="rId10"/>
    <p:sldId id="269" r:id="rId11"/>
    <p:sldId id="271" r:id="rId12"/>
    <p:sldId id="272" r:id="rId13"/>
    <p:sldId id="268" r:id="rId14"/>
    <p:sldId id="273" r:id="rId15"/>
    <p:sldId id="274" r:id="rId16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18" autoAdjust="0"/>
  </p:normalViewPr>
  <p:slideViewPr>
    <p:cSldViewPr snapToGrid="0" snapToObjects="1">
      <p:cViewPr varScale="1">
        <p:scale>
          <a:sx n="95" d="100"/>
          <a:sy n="95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GOOSE 主要做性质约束下的序列生成；STARLING 和 IDPFold 做 sequence 到 ensemble；LLPSense 处理 sequence、environment 与 LLPS 行为；binder 和 interface peptide 工作进一步走向功能分子设计。这里不是说六篇论文已经组成完整系统，而是把它们放到</a:t>
            </a:r>
            <a:r>
              <a:rPr lang="zh-CN" altLang="en-US" dirty="0"/>
              <a:t>一条序列上讲一下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第一个问题是“生成是否可信”。模型能够生成很多外观合理的蛋白结构，并不代表这些结构会在真实条件下以明显概率存在。我们需要分别检查单个构象的几何合理性、整个</a:t>
            </a:r>
            <a:r>
              <a:rPr lang="en-US" altLang="zh-CN" dirty="0"/>
              <a:t>ensemble</a:t>
            </a:r>
            <a:r>
              <a:rPr lang="zh-CN" altLang="en-US" dirty="0"/>
              <a:t>的分布和权重，以及它能否解释独立实验数据。因此，这一步解决的是模型是否近似了真实的构象概率分布，而不只是生成了几张合理的结构图。</a:t>
            </a:r>
          </a:p>
          <a:p>
            <a:r>
              <a:rPr lang="zh-CN" altLang="en-US" dirty="0"/>
              <a:t>第二个问题是“</a:t>
            </a:r>
            <a:r>
              <a:rPr lang="en-US" altLang="zh-CN" dirty="0"/>
              <a:t>ensemble</a:t>
            </a:r>
            <a:r>
              <a:rPr lang="zh-CN" altLang="en-US" dirty="0"/>
              <a:t>是否真的有用”。</a:t>
            </a:r>
            <a:r>
              <a:rPr lang="en-US" altLang="zh-CN" dirty="0"/>
              <a:t>ensemble</a:t>
            </a:r>
            <a:r>
              <a:rPr lang="zh-CN" altLang="en-US" dirty="0"/>
              <a:t>本身由</a:t>
            </a:r>
            <a:r>
              <a:rPr lang="en-US" altLang="zh-CN" dirty="0"/>
              <a:t>sequence</a:t>
            </a:r>
            <a:r>
              <a:rPr lang="zh-CN" altLang="en-US" dirty="0"/>
              <a:t>和</a:t>
            </a:r>
            <a:r>
              <a:rPr lang="en-US" altLang="zh-CN" dirty="0"/>
              <a:t>environment</a:t>
            </a:r>
            <a:r>
              <a:rPr lang="zh-CN" altLang="en-US" dirty="0"/>
              <a:t>决定，因此加入</a:t>
            </a:r>
            <a:r>
              <a:rPr lang="en-US" altLang="zh-CN" dirty="0"/>
              <a:t>ensemble</a:t>
            </a:r>
            <a:r>
              <a:rPr lang="zh-CN" altLang="en-US" dirty="0"/>
              <a:t>特征后预测性能提高，也可能只是重复利用了序列长度、电荷或疏水性等已有信息。需要比较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sequence</a:t>
            </a:r>
            <a:r>
              <a:rPr lang="zh-CN" altLang="en-US" dirty="0"/>
              <a:t>加</a:t>
            </a:r>
            <a:r>
              <a:rPr lang="en-US" altLang="zh-CN" dirty="0"/>
              <a:t>environment</a:t>
            </a:r>
            <a:r>
              <a:rPr lang="zh-CN" altLang="en-US" dirty="0"/>
              <a:t>，以及进一步加入</a:t>
            </a:r>
            <a:r>
              <a:rPr lang="en-US" altLang="zh-CN" dirty="0"/>
              <a:t>ensemble</a:t>
            </a:r>
            <a:r>
              <a:rPr lang="zh-CN" altLang="en-US" dirty="0"/>
              <a:t>的三组模型。只有加入</a:t>
            </a:r>
            <a:r>
              <a:rPr lang="en-US" altLang="zh-CN" dirty="0"/>
              <a:t>ensemble</a:t>
            </a:r>
            <a:r>
              <a:rPr lang="zh-CN" altLang="en-US" dirty="0"/>
              <a:t>后，在功能预测等等测试中仍带来稳定增益，才能说明它包含额外的功能信息。</a:t>
            </a:r>
          </a:p>
          <a:p>
            <a:r>
              <a:rPr lang="zh-CN" altLang="en-US" dirty="0"/>
              <a:t>第三个问题是“能否走向设计”。如果前两步已经建立了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ensemble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之间的可靠关系，就可以反过来设计满足目标的</a:t>
            </a:r>
            <a:r>
              <a:rPr lang="en-US" altLang="zh-CN" dirty="0"/>
              <a:t>IDR</a:t>
            </a:r>
            <a:r>
              <a:rPr lang="zh-CN" altLang="en-US" dirty="0"/>
              <a:t>序列、</a:t>
            </a:r>
            <a:r>
              <a:rPr lang="en-US" altLang="zh-CN" dirty="0"/>
              <a:t>binder</a:t>
            </a:r>
            <a:r>
              <a:rPr lang="zh-CN" altLang="en-US" dirty="0"/>
              <a:t>或凝聚体定位肽。但设计不能只优化一个预测分数，还要考虑多个构象、不同环境、脱靶结合和聚集风险。纯计算研究可以完成候选生成和筛选，但在没有实验验证时，结论应限定为</a:t>
            </a:r>
            <a:r>
              <a:rPr lang="en-US" altLang="zh-CN" dirty="0"/>
              <a:t>in design candidates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我们不需要亲自做实验，也可以进行外部验证——已有论文和数据库提供了 SAXS、NMR、PRE 和 FRET 数据。</a:t>
            </a:r>
            <a:r>
              <a:rPr lang="zh-CN" altLang="en-US" dirty="0"/>
              <a:t>这四个数据主要是去评判生成的构象的化学特性，</a:t>
            </a:r>
            <a:r>
              <a:rPr lang="en-US" altLang="zh-CN" dirty="0"/>
              <a:t>SAXS</a:t>
            </a:r>
            <a:r>
              <a:rPr lang="zh-CN" altLang="en-US" dirty="0"/>
              <a:t>：整条链的大小和整体形状全局尺寸、紧凑程度</a:t>
            </a:r>
            <a:r>
              <a:rPr lang="en-US" altLang="zh-CN" dirty="0"/>
              <a:t>NMR chemical shift</a:t>
            </a:r>
            <a:r>
              <a:rPr lang="zh-CN" altLang="en-US" dirty="0"/>
              <a:t>每个残基附近的化学环境局部二级结构倾向</a:t>
            </a:r>
            <a:r>
              <a:rPr lang="en-US" altLang="zh-CN" dirty="0"/>
              <a:t>PRE</a:t>
            </a:r>
            <a:r>
              <a:rPr lang="zh-CN" altLang="en-US" dirty="0"/>
              <a:t>相距较远残基是否曾经短暂靠近瞬时长程接触</a:t>
            </a:r>
            <a:r>
              <a:rPr lang="en-US" altLang="zh-CN" dirty="0"/>
              <a:t>FRET</a:t>
            </a:r>
            <a:r>
              <a:rPr lang="zh-CN" altLang="en-US" dirty="0"/>
              <a:t>两个标记位点之间的距离特定位点距离分布</a:t>
            </a:r>
          </a:p>
          <a:p>
            <a:r>
              <a:rPr dirty="0"/>
              <a:t>模型生成 ensemble 后，通过统一的 forward model 计算这些实验理论上会观测到什么，再与公开数据比较。</a:t>
            </a:r>
            <a:endParaRPr lang="en-US" dirty="0"/>
          </a:p>
          <a:p>
            <a:r>
              <a:rPr lang="zh-CN" altLang="en-US" dirty="0"/>
              <a:t>实验仪器测到的通常不是三维构象本身，而是一条曲线、一个效率值或一组残基级数值。因此，必须把模型生成的三维构象“翻译”成实验能够测到的信号。</a:t>
            </a:r>
          </a:p>
          <a:p>
            <a:r>
              <a:rPr lang="zh-CN" altLang="en-US" dirty="0"/>
              <a:t>这个“从结构计算实验信号”的程序，就是</a:t>
            </a:r>
            <a:r>
              <a:rPr lang="en-US" altLang="zh-CN" dirty="0"/>
              <a:t>forward model</a:t>
            </a:r>
            <a:r>
              <a:rPr lang="zh-CN" altLang="en-US" dirty="0"/>
              <a:t>。</a:t>
            </a:r>
            <a:endParaRPr dirty="0"/>
          </a:p>
          <a:p>
            <a:r>
              <a:rPr lang="zh-CN" altLang="en-US" dirty="0"/>
              <a:t>“</a:t>
            </a:r>
            <a:r>
              <a:rPr lang="en-US" altLang="zh-CN" dirty="0"/>
              <a:t>held-out</a:t>
            </a:r>
            <a:r>
              <a:rPr lang="zh-CN" altLang="en-US" dirty="0"/>
              <a:t>公开数据”不是一种特殊实验，而是指：</a:t>
            </a:r>
          </a:p>
          <a:p>
            <a:r>
              <a:rPr lang="zh-CN" altLang="en-US" dirty="0"/>
              <a:t>数据已经公开，但在模型训练、调参、筛选和重加权过程中完全没有使用，只在模型确定以后用于最终考试。</a:t>
            </a:r>
            <a:endParaRPr dirty="0"/>
          </a:p>
          <a:p>
            <a:r>
              <a:rPr dirty="0"/>
              <a:t>需要特别注意三点。第一，几何合理性、参考模拟一致性和实验一致性代表三个不同的证据等级：几何检查只能排除“不像蛋白”的结构，参考模拟只能说明与某种力场或生成器一致，只有 held-out 实验数据才能提供外部验证。第二，开发集可以用于选择参数和 forward model，测试集只能用于最终评分，不能根据测试结果反复调整 ensemble 权重，否则得到的只是拟合效果，而不是泛化能力。第三，不同 ensemble 可能产生相似的实验观测，单一实验不能唯一确定 ensemble，应尽量使用多种互补观测。</a:t>
            </a:r>
          </a:p>
          <a:p>
            <a:endParaRPr dirty="0"/>
          </a:p>
          <a:p>
            <a:r>
              <a:rPr dirty="0"/>
              <a:t>因此本页结论只能限定为“与公开独立数据一致”，不能只根据结构图或参考模拟宣称 ensemble 真实准确。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评价分四层。第一层只排除明显错误的结构，比如主链断裂、原子碰撞或不合理的键长键角；第二层判断模型是否覆盖了合理的构象分布，是否只生成少数相似构象、出现 mode collapse，可以用 JS divergence 或 Wasserstein distance 比较完整分布；第三层利用公开实验数据做外部验证，用同一个 forward model 计算 SAXS χ²、PRE RMSE、NMR 局部倾向和 FRET 距离分布，在 held-out 数据上报告误差；第四层检查随机种子稳定性、采样收敛、对序列长度与组成的敏感性，以及每千个构象的运行时间和显存占用。</a:t>
            </a:r>
          </a:p>
          <a:p>
            <a:endParaRPr/>
          </a:p>
          <a:p>
            <a:r>
              <a:t>每一层支持的结论不同，这是这一页最关键的区分。只能通过几何检查，结论就写成“模型可以生成几何上合理的构象”；能复现参考模拟，就写“模型能够近似某一参考力场或训练 ensemble”；能预测 held-out 实验数据，才可以进一步说“模型生成的 ensemble 与独立实验观测一致”；只有在跨序列、跨条件下仍然稳定，才可以支持“模型具有一定泛化能力，可用于未知 IDR 分析”。</a:t>
            </a:r>
          </a:p>
          <a:p>
            <a:endParaRPr/>
          </a:p>
          <a:p>
            <a:r>
              <a:t>最常见的错误是看到合理的 Rg 或几个漂亮的构象，就宣称模型恢复了真实 ensemble。更可靠的说法应该明确模型究竟通过了哪一级证据。另外要注意，不同 ensemble 可能产生相似的实验观测，单一实验不能唯一确定 ensemble，应尽量使用多种互补观测。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前面介绍了</a:t>
            </a:r>
            <a:r>
              <a:rPr lang="en-US" altLang="zh-CN" dirty="0"/>
              <a:t>IDP</a:t>
            </a:r>
            <a:r>
              <a:rPr lang="zh-CN" altLang="en-US" dirty="0"/>
              <a:t>不是一个固定结构，而是在不同构象之间不断变化。因此，</a:t>
            </a:r>
            <a:r>
              <a:rPr lang="en-US" altLang="zh-CN" dirty="0" err="1"/>
              <a:t>IDPFold</a:t>
            </a:r>
            <a:r>
              <a:rPr lang="zh-CN" altLang="en-US" dirty="0"/>
              <a:t>的目标不是预测一个最可能结构，而是从同一条</a:t>
            </a:r>
            <a:r>
              <a:rPr lang="en-US" altLang="zh-CN" dirty="0"/>
              <a:t>IDR</a:t>
            </a:r>
            <a:r>
              <a:rPr lang="zh-CN" altLang="en-US" dirty="0"/>
              <a:t>序列中重复生成多个构象，用这些构象近似其构象</a:t>
            </a:r>
            <a:r>
              <a:rPr lang="en-US" altLang="zh-CN" dirty="0"/>
              <a:t>ensemble</a:t>
            </a:r>
            <a:r>
              <a:rPr lang="zh-CN" altLang="en-US" dirty="0"/>
              <a:t>。模型的输入主要是一条氨基酸序列。首先，</a:t>
            </a:r>
            <a:r>
              <a:rPr lang="en-US" altLang="zh-CN" dirty="0"/>
              <a:t>ESM2</a:t>
            </a:r>
            <a:r>
              <a:rPr lang="zh-CN" altLang="en-US" dirty="0"/>
              <a:t>把序列编码成每个残基的序列特征；随后，扩散模型从一组随机的残基刚体框架开始，逐步去除位置和方向上的噪声，最终生成一个完整构象。在每一步去噪过程中，模型同时维护三类信息：第一类是</a:t>
            </a:r>
            <a:r>
              <a:rPr lang="en-US" altLang="zh-CN" dirty="0"/>
              <a:t>single representation</a:t>
            </a:r>
            <a:r>
              <a:rPr lang="zh-CN" altLang="en-US" dirty="0"/>
              <a:t>，表示每个残基自身的特征；第二类是</a:t>
            </a:r>
            <a:r>
              <a:rPr lang="en-US" altLang="zh-CN" dirty="0"/>
              <a:t>pair representation</a:t>
            </a:r>
            <a:r>
              <a:rPr lang="zh-CN" altLang="en-US" dirty="0"/>
              <a:t>，描述残基对之间的关系；第三类是刚体框架 </a:t>
            </a:r>
            <a:r>
              <a:rPr lang="en-US" altLang="zh-CN" dirty="0"/>
              <a:t>Tl</a:t>
            </a:r>
            <a:r>
              <a:rPr lang="zh-CN" altLang="en-US" dirty="0"/>
              <a:t>，描述每个残基当前的位置和方向。</a:t>
            </a:r>
            <a:r>
              <a:rPr lang="en-US" altLang="zh-CN" dirty="0"/>
              <a:t>IPA</a:t>
            </a:r>
            <a:r>
              <a:rPr lang="zh-CN" altLang="en-US" dirty="0"/>
              <a:t>利用残基的特征、残基对关系和三维坐标，使序列信息与空间几何信息发生交互；随后网络更新</a:t>
            </a:r>
            <a:r>
              <a:rPr lang="en-US" altLang="zh-CN" dirty="0"/>
              <a:t>single</a:t>
            </a:r>
            <a:r>
              <a:rPr lang="zh-CN" altLang="en-US" dirty="0"/>
              <a:t>、</a:t>
            </a:r>
            <a:r>
              <a:rPr lang="en-US" altLang="zh-CN" dirty="0"/>
              <a:t>pair</a:t>
            </a:r>
            <a:r>
              <a:rPr lang="zh-CN" altLang="en-US" dirty="0"/>
              <a:t>和刚体框架，重复多个</a:t>
            </a:r>
            <a:r>
              <a:rPr lang="en-US" altLang="zh-CN" dirty="0"/>
              <a:t>denoising block</a:t>
            </a:r>
            <a:r>
              <a:rPr lang="zh-CN" altLang="en-US" dirty="0"/>
              <a:t>，逐渐得到无噪结构。</a:t>
            </a:r>
            <a:br>
              <a:rPr lang="en-US" altLang="zh-CN" dirty="0"/>
            </a:br>
            <a:r>
              <a:rPr lang="zh-CN" altLang="en-US" dirty="0"/>
              <a:t>这里最关键的一点是：一次扩散采样只生成一个构象。对同一条序列使用不同随机初始噪声，重复采样很多次，才得到一个</a:t>
            </a:r>
            <a:r>
              <a:rPr lang="en-US" altLang="zh-CN" dirty="0"/>
              <a:t>ensemble</a:t>
            </a:r>
            <a:r>
              <a:rPr lang="zh-CN" altLang="en-US" dirty="0"/>
              <a:t>。也就是说，</a:t>
            </a:r>
            <a:r>
              <a:rPr lang="en-US" altLang="zh-CN" dirty="0"/>
              <a:t>ensemble</a:t>
            </a:r>
            <a:r>
              <a:rPr lang="zh-CN" altLang="en-US" dirty="0"/>
              <a:t>不是一次性输入或一次性输出的，而是由多次独立生成的构象共同组成。论文结果表明，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ensemble</a:t>
            </a:r>
            <a:r>
              <a:rPr lang="zh-CN" altLang="en-US" dirty="0"/>
              <a:t>在回转半径、端到端距离、局部二级结构以及部分实验观测上能够接近参考数据。这说明刚体扩散可以用于</a:t>
            </a:r>
            <a:r>
              <a:rPr lang="en-US" altLang="zh-CN" dirty="0"/>
              <a:t>IDP</a:t>
            </a:r>
            <a:r>
              <a:rPr lang="zh-CN" altLang="en-US" dirty="0"/>
              <a:t>构象采样，而不仅是固定结构预测。</a:t>
            </a:r>
          </a:p>
          <a:p>
            <a:r>
              <a:rPr lang="zh-CN" altLang="en-US" dirty="0"/>
              <a:t>但需要注意，</a:t>
            </a:r>
            <a:r>
              <a:rPr lang="en-US" altLang="zh-CN" dirty="0" err="1"/>
              <a:t>IDPFold</a:t>
            </a:r>
            <a:r>
              <a:rPr lang="zh-CN" altLang="en-US" dirty="0"/>
              <a:t>学习到的是训练数据中构象分布的近似。单个生成构象几何合理，并不代表它一定在真实</a:t>
            </a:r>
            <a:r>
              <a:rPr lang="en-US" altLang="zh-CN" dirty="0"/>
              <a:t>ensemble</a:t>
            </a:r>
            <a:r>
              <a:rPr lang="zh-CN" altLang="en-US" dirty="0"/>
              <a:t>中具有较高概率；与模拟参考一致，也不能完全等同于与真实实验一致。因此，我们更关心的不是模型能否生成漂亮的结构，而是整个构象分布能否覆盖合理状态，并解释独立实验观测。”</a:t>
            </a:r>
          </a:p>
          <a:p>
            <a:r>
              <a:rPr lang="zh-CN" altLang="en-US" dirty="0"/>
              <a:t>这两个模型虽然在生成方式和结构分辨率上存在差异，但也面临四个共同局限。</a:t>
            </a:r>
          </a:p>
          <a:p>
            <a:r>
              <a:rPr lang="zh-CN" altLang="en-US" dirty="0"/>
              <a:t>第一，模型生成的</a:t>
            </a:r>
            <a:r>
              <a:rPr lang="en-US" altLang="zh-CN" dirty="0"/>
              <a:t>ensemble</a:t>
            </a:r>
            <a:r>
              <a:rPr lang="zh-CN" altLang="en-US" dirty="0"/>
              <a:t>本质上是对模拟数据分布的学习和近似，并不能直接等同于真实的生物构象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r>
              <a:rPr lang="en-US" altLang="zh-CN" dirty="0" err="1"/>
              <a:t>IDPFold</a:t>
            </a:r>
            <a:r>
              <a:rPr lang="zh-CN" altLang="en-US" dirty="0"/>
              <a:t>主要从</a:t>
            </a:r>
            <a:r>
              <a:rPr lang="en-US" altLang="zh-CN" dirty="0"/>
              <a:t>IDP</a:t>
            </a:r>
            <a:r>
              <a:rPr lang="zh-CN" altLang="en-US" dirty="0"/>
              <a:t>模拟轨迹中学习，</a:t>
            </a:r>
            <a:r>
              <a:rPr lang="en-US" altLang="zh-CN" dirty="0"/>
              <a:t>STARLING</a:t>
            </a:r>
            <a:r>
              <a:rPr lang="zh-CN" altLang="en-US" dirty="0"/>
              <a:t>主要学习</a:t>
            </a:r>
            <a:r>
              <a:rPr lang="en-US" altLang="zh-CN" dirty="0" err="1"/>
              <a:t>Mpipi</a:t>
            </a:r>
            <a:r>
              <a:rPr lang="en-US" altLang="zh-CN" dirty="0"/>
              <a:t>-GG</a:t>
            </a:r>
            <a:r>
              <a:rPr lang="zh-CN" altLang="en-US" dirty="0"/>
              <a:t>粗粒化模拟。因此，模型不仅会学习其中的物理规律，也可能继承模拟力场的偏差。模型与参考模拟结果一致，只能说明它较好地复现了教师模型，还需要通过独立实验数据进一步验证。</a:t>
            </a:r>
          </a:p>
          <a:p>
            <a:r>
              <a:rPr lang="zh-CN" altLang="en-US" dirty="0"/>
              <a:t>第二，它们生成的是平衡构象样本，而不是连续的动态轨迹。不同构象之间没有明确的时间顺序，所以我们可以利用这些样本分析回转半径、残基距离以及不同构象状态的分布，但不能直接判断一个构象如何转变为另一个构象，也不能得到转换速率、状态寿命或者具体的结合路径。也就是说，它们描述的是“体系可能处于哪些状态”，而不是“体系如何随时间运动”。</a:t>
            </a:r>
          </a:p>
          <a:p>
            <a:r>
              <a:rPr lang="zh-CN" altLang="en-US" dirty="0"/>
              <a:t>第三，两种方法都不是完整的全原子模型。</a:t>
            </a:r>
            <a:r>
              <a:rPr lang="en-US" altLang="zh-CN" dirty="0"/>
              <a:t>STARLING</a:t>
            </a:r>
            <a:r>
              <a:rPr lang="zh-CN" altLang="en-US" dirty="0"/>
              <a:t>采用每个残基一个珠子的粗粒化表示，</a:t>
            </a:r>
            <a:r>
              <a:rPr lang="en-US" altLang="zh-CN" dirty="0" err="1"/>
              <a:t>IDPFold</a:t>
            </a:r>
            <a:r>
              <a:rPr lang="zh-CN" altLang="en-US" dirty="0"/>
              <a:t>虽然分辨率更高，但主要生成主链骨架，仍然没有完整描述所有侧链原子、溶剂和离子。因此，它们适合研究整体尺寸、距离分布和主链结构倾向，但如果要分析精确氢键、侧链堆积、盐桥或配体结合，还需要进一步进行原子补全和结构优化。</a:t>
            </a:r>
          </a:p>
          <a:p>
            <a:r>
              <a:rPr lang="zh-CN" altLang="en-US" dirty="0"/>
              <a:t>第四，环境条件的描述仍然有限。真实</a:t>
            </a:r>
            <a:r>
              <a:rPr lang="en-US" altLang="zh-CN" dirty="0"/>
              <a:t>IDP</a:t>
            </a:r>
            <a:r>
              <a:rPr lang="zh-CN" altLang="en-US" dirty="0"/>
              <a:t>的</a:t>
            </a:r>
            <a:r>
              <a:rPr lang="en-US" altLang="zh-CN" dirty="0"/>
              <a:t>ensemble</a:t>
            </a:r>
            <a:r>
              <a:rPr lang="zh-CN" altLang="en-US" dirty="0"/>
              <a:t>会受到温度、</a:t>
            </a:r>
            <a:r>
              <a:rPr lang="en-US" altLang="zh-CN" dirty="0"/>
              <a:t>pH</a:t>
            </a:r>
            <a:r>
              <a:rPr lang="zh-CN" altLang="en-US" dirty="0"/>
              <a:t>、离子强度、翻译后修饰、分子拥挤以及结合伙伴等因素影响。</a:t>
            </a:r>
            <a:r>
              <a:rPr lang="en-US" altLang="zh-CN" dirty="0"/>
              <a:t>STARLING</a:t>
            </a:r>
            <a:r>
              <a:rPr lang="zh-CN" altLang="en-US" dirty="0"/>
              <a:t>能够输入有限范围的离子强度，而</a:t>
            </a:r>
            <a:r>
              <a:rPr lang="en-US" altLang="zh-CN" dirty="0" err="1"/>
              <a:t>IDPFold</a:t>
            </a:r>
            <a:r>
              <a:rPr lang="zh-CN" altLang="en-US" dirty="0"/>
              <a:t>主要以氨基酸序列作为条件，但两者都没有完整覆盖真实细胞环境。</a:t>
            </a:r>
          </a:p>
          <a:p>
            <a:r>
              <a:rPr lang="zh-CN" altLang="en-US" dirty="0"/>
              <a:t>并且这个只是生成的集合构象不能严格算</a:t>
            </a:r>
            <a:r>
              <a:rPr lang="en-US" altLang="zh-CN" dirty="0"/>
              <a:t>ensemble</a:t>
            </a:r>
            <a:r>
              <a:rPr lang="zh-CN" altLang="en-US" dirty="0"/>
              <a:t>，因为只有一对构象没有足够的概率，但是某种构象比另一种构象多又会隐含概率，所以算做了</a:t>
            </a:r>
            <a:r>
              <a:rPr lang="en-US" altLang="zh-CN" dirty="0"/>
              <a:t>ensemble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用于筛选单体是否稳定、复合物是否保持预期界面；最后由实验测定亲和力、特异性和稳定性。它解决的是结合态共同设计，不是在恢复 IDR 的完整自由态 ensemble。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IDP 与 IDR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的区别：</a:t>
            </a:r>
            <a:endParaRPr sz="160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57898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84704"/>
            <a:ext cx="4617719" cy="13771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四个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专业术语</a:t>
            </a: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681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 dirty="0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逐构象计算实验可观测量，再按统计权重求平均。所以“模型生成很多结构”并不自动等于得到可信的统计 ensemble。</a:t>
            </a:r>
          </a:p>
        </p:txBody>
      </p:sp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AI–IDP 研究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路径以及一些标准化问题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38400" y="143103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IDR</a:t>
            </a: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序列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加入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ensemble 能否稳定提升功能预测？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1334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115214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300" b="1" dirty="0">
                <a:solidFill>
                  <a:srgbClr val="007A3D"/>
                </a:solidFill>
                <a:latin typeface="Arial"/>
                <a:ea typeface="Microsoft YaHei"/>
              </a:rPr>
              <a:t>核心问题｜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不重做</a:t>
            </a:r>
            <a:r>
              <a:rPr lang="zh-CN" altLang="en-US" sz="1300" b="0" dirty="0">
                <a:solidFill>
                  <a:srgbClr val="153A2A"/>
                </a:solidFill>
                <a:latin typeface="Arial"/>
                <a:ea typeface="Microsoft YaHei"/>
              </a:rPr>
              <a:t>湿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实验，怎样判断模型生成的 ensemble 是否可信？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序列 + 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3328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1071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生成 ensemble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1751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9495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Arial"/>
                <a:ea typeface="Microsoft YaHei"/>
              </a:rPr>
              <a:t>forward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0175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19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预测实验观测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599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6343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 dirty="0">
                <a:solidFill>
                  <a:srgbClr val="FFFFFF"/>
                </a:solidFill>
                <a:latin typeface="Arial"/>
                <a:ea typeface="Microsoft YaHei"/>
              </a:rPr>
              <a:t>held-out 公开数据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7023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54767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误差与置信区间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2304287"/>
            <a:ext cx="10972800" cy="473709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2304287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2450591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 dirty="0">
                <a:solidFill>
                  <a:srgbClr val="007A3D"/>
                </a:solidFill>
                <a:latin typeface="Arial"/>
                <a:ea typeface="Microsoft YaHei"/>
              </a:rPr>
              <a:t>公开数据来源｜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SAXS / </a:t>
            </a:r>
            <a:r>
              <a:rPr lang="en-US" sz="1150" b="0" dirty="0">
                <a:solidFill>
                  <a:srgbClr val="153A2A"/>
                </a:solidFill>
                <a:latin typeface="Arial"/>
                <a:ea typeface="Microsoft YaHei"/>
              </a:rPr>
              <a:t>NMR / 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PRE / FRET / 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361713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>
            <a:cxnSpLocks/>
          </p:cNvCxnSpPr>
          <p:nvPr/>
        </p:nvCxnSpPr>
        <p:spPr>
          <a:xfrm>
            <a:off x="609600" y="3617139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600" y="3251378"/>
            <a:ext cx="10972800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5904" y="361713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几何检查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334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构象在结构上基本合理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102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69" name="Connector 68"/>
          <p:cNvCxnSpPr>
            <a:cxnSpLocks/>
          </p:cNvCxnSpPr>
          <p:nvPr/>
        </p:nvCxnSpPr>
        <p:spPr>
          <a:xfrm flipV="1">
            <a:off x="609600" y="4095750"/>
            <a:ext cx="10975848" cy="73151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5904" y="4037897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参考模拟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3344" y="4088763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与某种力场或生成器一致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1024" y="4079613"/>
            <a:ext cx="2969020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不能证明符合真实体系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444009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>
            <a:cxnSpLocks/>
          </p:cNvCxnSpPr>
          <p:nvPr/>
        </p:nvCxnSpPr>
        <p:spPr>
          <a:xfrm>
            <a:off x="612648" y="4580381"/>
            <a:ext cx="10969752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5904" y="444009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公开实验数据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33344" y="444009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对真实观测具有解释能力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31024" y="4440099"/>
            <a:ext cx="2747956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仍不能唯一确定 ensemble</a:t>
            </a:r>
          </a:p>
        </p:txBody>
      </p:sp>
      <p:cxnSp>
        <p:nvCxnSpPr>
          <p:cNvPr id="78" name="Connector 77"/>
          <p:cNvCxnSpPr>
            <a:cxnSpLocks/>
          </p:cNvCxnSpPr>
          <p:nvPr/>
        </p:nvCxnSpPr>
        <p:spPr>
          <a:xfrm flipV="1">
            <a:off x="664464" y="5114610"/>
            <a:ext cx="10863072" cy="1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2648" y="554685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" y="570230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本页结论｜结论只能写成“与公开独立数据一致”，不能凭结构图或参考模拟宣称 ensemble 真实准确。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904" y="3251378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证据等级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334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能说明什么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102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不能说明什么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10972800" cy="36576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1152144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评价层次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9192" y="1152144"/>
            <a:ext cx="33649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1152144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回答的问题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8552" y="1152144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结论边界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" y="1517904"/>
            <a:ext cx="10972800" cy="62179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612648" y="1517904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8952" y="1517904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几何有效性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9192" y="1517904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主链连续性、键长 / 键角 / 扭转角、原子碰撞、链断裂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1517904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构象是否基本合理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2" y="1517904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2648" y="2139696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58952" y="2139696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分布覆盖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9192" y="2139696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Rg、Ree、残基接触概率、残基对距离、二级结构倾向；JS / Wasserstein 比较完整分布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6792" y="2139696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是否覆盖多个状态，有无 mode collapse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2139696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相似只说明学到了参考分布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" y="2761488"/>
            <a:ext cx="10972800" cy="62179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>
            <a:off x="612648" y="2761488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8952" y="2761488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实验一致性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79192" y="2761488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SAXS χ²、PRE RMSE、NMR 局部倾向、FRET 距离分布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2761488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能否解释独立获得的真实观测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2761488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不同 ensemble 可给出相似观测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12648" y="3383280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58952" y="3383280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稳健性与效率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79192" y="3383280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种子一致性、采样收敛、长度 / 组成敏感性、每千构象耗时与显存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6792" y="3383280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是否可重复、可扩展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383280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不代表生物准确性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12648" y="4005072"/>
            <a:ext cx="10972800" cy="0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12648" y="4261104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综合判定口径｜证据等级决定结论强度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8952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仅通过几何检查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只能说：构象几何合理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10711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557015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能复现参考模拟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只能说：近似某力场 / 训练分布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08775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55079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能预测 held-out 实验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才可说：与独立观测一致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06840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53144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跨序列、跨条件稳定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才可说：具备泛化能力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8" y="5504688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86968" y="5660136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本页结论｜评价结论必须与证据等级匹配，不能从“结构合理”直接推导出“ensemble 真实”。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22" y="1275763"/>
            <a:ext cx="5077092" cy="4982162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sp>
        <p:nvSpPr>
          <p:cNvPr id="32" name="TextBox 31"/>
          <p:cNvSpPr txBox="1"/>
          <p:nvPr/>
        </p:nvSpPr>
        <p:spPr>
          <a:xfrm>
            <a:off x="6629400" y="1308497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主要创新点：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400" dirty="0"/>
              <a:t>以往很多方法只能预测 回转半径、端到端距离等统计性质，或者生成较粗粒度的构象。</a:t>
            </a:r>
            <a:r>
              <a:rPr lang="en-US" altLang="zh-CN" sz="1400" dirty="0" err="1"/>
              <a:t>IDPFold</a:t>
            </a:r>
            <a:r>
              <a:rPr lang="zh-CN" altLang="en-US" sz="1400" dirty="0"/>
              <a:t>直接从单条氨基酸序列出发，生成残基主链级三维构象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683935"/>
            <a:ext cx="4956048" cy="11150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和</a:t>
            </a:r>
            <a:r>
              <a:rPr lang="en-US" altLang="zh-CN" sz="1400" dirty="0"/>
              <a:t>STARLING</a:t>
            </a:r>
            <a:r>
              <a:rPr lang="zh-CN" altLang="en-US" sz="1400" dirty="0"/>
              <a:t>都属于“</a:t>
            </a:r>
            <a:r>
              <a:rPr lang="en-US" altLang="zh-CN" sz="1400" dirty="0"/>
              <a:t>sequence → ensemble”</a:t>
            </a:r>
            <a:r>
              <a:rPr lang="zh-CN" altLang="en-US" sz="1400" dirty="0"/>
              <a:t>生成模型，但二者解决问题的侧重点不同：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强调主链级三维结构与局部几何；</a:t>
            </a:r>
            <a:r>
              <a:rPr lang="en-US" altLang="zh-CN" sz="1400" dirty="0"/>
              <a:t>STARLING</a:t>
            </a:r>
            <a:r>
              <a:rPr lang="zh-CN" altLang="en-US" sz="1400" dirty="0"/>
              <a:t>强调粗粒化</a:t>
            </a:r>
            <a:r>
              <a:rPr lang="en-US" altLang="zh-CN" sz="1400" dirty="0"/>
              <a:t>ensemble</a:t>
            </a:r>
            <a:r>
              <a:rPr lang="zh-CN" altLang="en-US" sz="1400" dirty="0"/>
              <a:t>的速度、分布覆盖和大规模应用。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9795"/>
            <a:ext cx="4956048" cy="15432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）生成的都是模拟的</a:t>
            </a:r>
            <a:r>
              <a:rPr lang="en-US" altLang="zh-CN" sz="13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不是真实的</a:t>
            </a:r>
            <a:endParaRPr lang="en-US" altLang="zh-CN" sz="135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dirty="0">
                <a:solidFill>
                  <a:srgbClr val="153A2A"/>
                </a:solidFill>
                <a:latin typeface="Arial"/>
                <a:ea typeface="Microsoft YaHei"/>
              </a:rPr>
              <a:t>2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生成的是平衡构象样本，不是动态轨迹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3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都不是完整的全原子模型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4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环境条件描述仍然有限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柔性 IDR 靶标的 binder 设计：方法、证据与边界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7" y="1152143"/>
            <a:ext cx="7434734" cy="55601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AECDFB1B-E823-AC93-0F87-908E5069A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215" y="845669"/>
            <a:ext cx="7639318" cy="5968217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4084</Words>
  <Application>Microsoft Office PowerPoint</Application>
  <PresentationFormat>宽屏</PresentationFormat>
  <Paragraphs>314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41</cp:revision>
  <dcterms:created xsi:type="dcterms:W3CDTF">2026-09-25T08:55:11Z</dcterms:created>
  <dcterms:modified xsi:type="dcterms:W3CDTF">2026-09-28T03:22:58Z</dcterms:modified>
  <cp:category/>
  <cp:contentStatus/>
  <dc:language>zh-CN</dc:language>
</cp:coreProperties>
</file>