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0" r:id="rId4"/>
    <p:sldId id="264" r:id="rId5"/>
    <p:sldId id="265" r:id="rId6"/>
    <p:sldId id="266" r:id="rId7"/>
    <p:sldId id="261" r:id="rId8"/>
    <p:sldId id="262" r:id="rId9"/>
    <p:sldId id="263" r:id="rId10"/>
    <p:sldId id="267" r:id="rId11"/>
    <p:sldId id="268" r:id="rId12"/>
    <p:sldId id="269" r:id="rId13"/>
    <p:sldId id="271" r:id="rId14"/>
    <p:sldId id="272" r:id="rId15"/>
    <p:sldId id="273" r:id="rId16"/>
    <p:sldId id="274" r:id="rId17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40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这次汇报不是把六篇论文依次复述，而是围绕一条研究链回答三个问题：AI 能否可信地生成无序蛋白的构象系综；ensemble 是否真的能为功能预测提供额外信息；以及现有方法能否继续走向分子设计。前半部分先统一概念和评价标准，中间讲代表方法与 benchmark，最后给出可以纯计算起步的研究方向。整场预计四十分钟左右。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先区分 IDP 和 IDR。IDP 指整条蛋白在生理条件下缺少唯一稳定的有序结构；IDR 指蛋白内部的某一段无序区域，因此同一条蛋白可以同时包含折叠结构域和 IDR。二者共同点是不能只用一张固定结构图描述。这里的“无序”不是没有任何结构，而是构象快速互变、没有单一结构长期占据绝对主导。后文所说的序列到 ensemble，既可以针对完整 IDP，也可以针对某段 IDR。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在概念统一后再看整个 AI–IDP 研究链。GOOSE 主要做性质约束下的序列生成；STARLING 和 IDPFold 做 sequence 到 ensemble；LLPSense 处理 sequence、environment 与 LLPS 行为；binder 和 interface peptide 工作进一步走向功能分子设计。这里并不是说六篇论文已经组成完整端到端系统，而是把它们放到同一张地图上，后文分别检查三个连接是否成立：生成是否可信、ensemble 是否增加功能信息、以及设计是否得到真实实验验证。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Towards 综述提供的是一个评价闭环，而不是另一种单独生成模型。第一部分是实验观测，第二部分是计算生成和统计整合，第三部分是验证与比较。核心桥梁是 forward model：它把候选构象和权重转成 SAXS、PRE、smFRET 或 NMR 等可观测量，再与实验比较并调整模型或权重。由于单一平均量可能由不同 ensemble 产生，需要多种互补实验同时约束。这一框架用于检查 STARLING、IDPFold 等模型是否真正可解释和可比较。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benchmark 不等于每篇论文再做一次自测。真正的 benchmark 要固定靶标、环境条件、可观测量、forward model 版本和评分规则，并用参与者看不到的验证数据测试泛化。Towards 提出的 IDP-Bench 包含四个阶段：独立委员会整理高质量数据；团队提交 ensemble；服务器在 held-out 数据上自动多指标评分；结果和失败案例持续公开。其目的不是选一个永远最好的模型，而是明确不同方法在什么序列、长度、环境和实验观测上可靠。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统一流程之后还要解决如何打分。第一层先检查键长、扭转角和碰撞，排除不合理结构；第二层看 SAXS、P(r)、Rg 等全局分布；第三层看 PRE、RDC、smFRET 等局部和长程约束；第四层直接比较完整分布，识别覆盖不足或模式坍缩；第五层做留出观测、新序列和新环境泛化；第六层报告实验误差、forward-model 误差、置信区间和计算成本。综合分数可以排序，但必须保留各指标剖面，否则会掩盖模型只在某一维度表现好的问题。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GOOSE 的输入是长度、电荷、疏水性或构象倾向等性质约束，输出是满足这些约束且保持多样性的 IDR 序列。它的重要性在于把“预测一个序列的性质”反过来变成“按性质设计序列”。但它不直接输出三维 ensemble，也不能保证序列在细胞中具有目标功能。因此在研究链中，GOOSE 是 sequence design 的入口，可与 STARLING 或 IDPFold 连接形成候选序列—构象评价闭环，但这仍需要单独验证。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STARLING 的目标是从氨基酸序列和条件快速生成大量构象。模型内部使用残基—残基距离表示，再恢复成三维构象；多个独立样本共同描述分布。汇报这篇时重点不是展开每一层网络，而是看三类证据：采样速度与规模、Rg 或端到端距离等全局分布、以及距离图或参考 ensemble 的一致性。它的优势是快速，但评价仍依赖模拟或参考数据，生成大量样本也不自动证明统计权重和真实实验一致。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IDPFold 同样从序列生成多个构象，但表示方式更接近主链几何：每个残基用刚体框架和扭转角描述，扩散过程从随机框架逐步去噪，重复采样得到构象集合。与 STARLING 的差别压缩在本页右下角：一个更强调距离表示与速度，一个更强调刚体、主链几何和扩散生成。共同边界是，论文主要验证生成样本和统计分布，没有证明采样顺序等于真实转换路径，也没有给出真实动力学时间尺度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LLPSense 说明 sequence 加 environment 对相分离相关预测有价值，例如把盐浓度、温度或其他环境条件纳入输入后，模型能够描述条件依赖的变化。但这篇工作没有显式输入或生成构象 ensemble，因此不能据此断言“ensemble 通过多价相互作用决定 LLPS”的机制已被证明。它真正留下的计算问题是：在同样的序列和环境信息上，再加入 ensemble 特征，能否获得稳定、可迁移且可解释的增益。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这一页把上面的缺口转成可执行实验。M1 只输入序列，M2 输入序列和环境，M3 再加入由同一生成器得到的 ensemble 统计特征。三组必须使用相同数据、蛋白级划分和尽量接近的模型容量。除了普通测试，还要做跨环境测试、ensemble 特征消融以及跨生成器验证。只有 M3 在这些条件下仍稳定优于 M2，且提升不是由长度或数据泄漏造成，才能支持 ensemble 提供了额外功能信息。这是目前最适合纯计算切入的方向。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这项工作针对柔性 IDR 靶片段设计 binder。流程是先给出目标氨基酸片段，并可指定候选结合态的二级结构倾向；RFdiffusion 生成与该靶片段兼容的 binder 主链和复合物构象；ProteinMPNN 根据主链设计 binder 序列；AlphaFold 用于筛选单体是否稳定、复合物是否保持预期界面；最后由实验测定亲和力、特异性和稳定性。它解决的是结合态共同设计，不是在恢复 IDR 的完整自由态 ensemble。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interface peptide 的目标层级与 binder 不同。它不是识别某条 IDR 的特定位点，而是设计能够定位并富集于凝聚体介观界面的短肽。输入包含凝聚体组分、界面环境和候选序列，输出是界面定位肽，关键证据来自显微定位和定量富集。它与 binder 都属于功能分子设计，但无需做冗长优劣对比：前者面向凝聚体空间界面，后者面向特定靶片段的分子识别，验证终点不同。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这一页不是重复研究链，而是把六篇工作升级为证据矩阵。每一行同时回答代表论文证明了什么、没有证明什么、我们能做什么。综合判断是：性质约束序列设计、快速 ensemble 生成、环境相关 LLPS 预测和功能分子设计都已有局部成果；最明显的断点仍是不同生成器是否在统一 benchmark 上可信，以及 ensemble 是否能为功能预测带来可迁移增益。后续选题应直接围绕这些未闭合连接，而不是重复造一个网络。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三个方向按风险递增。方向一是统一评测：复现 STARLING、IDPFold 和基线模拟，建立相同靶标、条件、forward model 和多指标报告，最容易形成可信基线。方向二是 ensemble 增强的 LLPS 预测：完成 M1/M2/M3 严格对照，科学问题清楚，也可纯计算完成，最推荐作为当前切入点。方向三是 ensemble-aware 设计，把构象覆盖、相分离或脱靶风险加入设计目标，潜力最大，但验证成本和生物合作要求最高。建议先一或二，再推进三。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最后讨论三个选择：第一，先做统一 benchmark，建立数据和评价能力；第二，先验证 ensemble 对 LLPS 或相互作用预测是否提供额外信息；第三，直接进入 binder 或凝聚体界面肽设计。我的建议是以方向一作为基础设施、方向二作为主研究问题，并把方向三保留为中长期延伸。若老师追问现有论文证据边界，可返回第十七页；若讨论具体课题工作量和产出，返回第十八页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i_idp_hzau_beautif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9/25/2026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i_idp_hzau_beautif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9/25/2026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'1.0' encoding='utf-8'?>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_e75655cb1fc96ebc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wash"/>
          <p:cNvSpPr/>
          <p:nvPr/>
        </p:nvSpPr>
        <p:spPr>
          <a:xfrm>
            <a:off x="-285750" y="1047750"/>
            <a:ext cx="12954000" cy="4381500"/>
          </a:xfrm>
          <a:custGeom>
            <a:avLst/>
            <a:gdLst/>
            <a:ahLst/>
            <a:cxnLst/>
            <a:rect l="l" t="t" r="r" b="b"/>
            <a:pathLst>
              <a:path w="12954000" h="4381500">
                <a:moveTo>
                  <a:pt x="0" y="3810000"/>
                </a:moveTo>
                <a:cubicBezTo>
                  <a:pt x="2762250" y="2286000"/>
                  <a:pt x="5429250" y="4381500"/>
                  <a:pt x="8382000" y="2381250"/>
                </a:cubicBezTo>
                <a:cubicBezTo>
                  <a:pt x="11334750" y="381000"/>
                  <a:pt x="11430000" y="1333500"/>
                  <a:pt x="12954000" y="0"/>
                </a:cubicBezTo>
              </a:path>
            </a:pathLst>
          </a:custGeom>
          <a:noFill/>
          <a:ln w="781050">
            <a:solidFill>
              <a:schemeClr val="accent1">
                <a:alpha val="12000"/>
              </a:schemeClr>
            </a:solidFill>
          </a:ln>
        </p:spPr>
      </p:sp>
      <p:sp>
        <p:nvSpPr>
          <p:cNvPr id="3" name="TextBox 2"/>
          <p:cNvSpPr txBox="1"/>
          <p:nvPr/>
        </p:nvSpPr>
        <p:spPr>
          <a:xfrm>
            <a:off x="749808" y="768096"/>
            <a:ext cx="82296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IDP / IDR   ×  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89888"/>
            <a:ext cx="10515600" cy="518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2000"/>
              </a:lnSpc>
            </a:pPr>
            <a:r>
              <a:rPr sz="4000" b="1">
                <a:solidFill>
                  <a:srgbClr val="153A2A"/>
                </a:solidFill>
                <a:latin typeface="Arial"/>
                <a:ea typeface="Microsoft YaHei"/>
              </a:rPr>
              <a:t>无序蛋白人工智能研究进展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194560"/>
            <a:ext cx="8686800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</a:pPr>
            <a:r>
              <a:rPr sz="2200" b="0">
                <a:solidFill>
                  <a:srgbClr val="007A3D"/>
                </a:solidFill>
                <a:latin typeface="Arial"/>
                <a:ea typeface="Microsoft YaHei"/>
              </a:rPr>
              <a:t>序列、构象系综、功能与设计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3090672"/>
            <a:ext cx="9144000" cy="2482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153A2A"/>
                </a:solidFill>
                <a:latin typeface="Arial"/>
                <a:ea typeface="Microsoft YaHei"/>
              </a:rPr>
              <a:t>三人小组文献调研与研究路线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493008"/>
            <a:ext cx="9326880" cy="2169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1400" b="0">
                <a:solidFill>
                  <a:srgbClr val="5C6E63"/>
                </a:solidFill>
                <a:latin typeface="Arial"/>
                <a:ea typeface="Microsoft YaHei"/>
              </a:rPr>
              <a:t>以六篇代表性工作为节点，梳理 AI–IDP 的任务链、验证边界与可行研究方向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5394960"/>
            <a:ext cx="8686800" cy="2057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汇报人：A、B、C　　时间：2026.__.__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870448"/>
            <a:ext cx="868680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7FA992"/>
                </a:solidFill>
                <a:latin typeface="Arial"/>
                <a:ea typeface="Microsoft YaHei"/>
              </a:rPr>
              <a:t>H U A Z H O N G   A G R I C U L T U R A L   U N I V E R S I T Y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5029200"/>
            <a:ext cx="1069848" cy="106984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1539728" y="6382512"/>
            <a:ext cx="320040" cy="32004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2"/>
          <p:cNvSpPr/>
          <p:nvPr/>
        </p:nvSpPr>
        <p:spPr>
          <a:xfrm>
            <a:off x="0" y="2047875"/>
            <a:ext cx="12192000" cy="1381125"/>
          </a:xfrm>
          <a:custGeom>
            <a:avLst/>
            <a:gdLst/>
            <a:ahLst/>
            <a:cxnLst/>
            <a:rect l="l" t="t" r="r" b="b"/>
            <a:pathLst>
              <a:path w="12192000" h="1381125">
                <a:moveTo>
                  <a:pt x="0" y="1381125"/>
                </a:moveTo>
                <a:cubicBezTo>
                  <a:pt x="2381250" y="333375"/>
                  <a:pt x="4095750" y="1333500"/>
                  <a:pt x="6572250" y="666750"/>
                </a:cubicBezTo>
                <a:cubicBezTo>
                  <a:pt x="9048750" y="0"/>
                  <a:pt x="10287000" y="1381125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32" name="footer-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2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概念准备：从 IDP / IDR 到统计 ensemble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12648" y="1152144"/>
            <a:ext cx="5349240" cy="354584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3816" y="1353312"/>
            <a:ext cx="494690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IDP 与 IDR：说的是整条链，还是其中一段？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" y="1836928"/>
            <a:ext cx="4946903" cy="899668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78408" y="1955800"/>
            <a:ext cx="4617719" cy="6619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>
                <a:solidFill>
                  <a:srgbClr val="153A2A"/>
                </a:solidFill>
                <a:latin typeface="Arial"/>
                <a:ea typeface="Microsoft YaHei"/>
              </a:rPr>
              <a:t>IDP｜内在无序蛋白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整条蛋白链在生理条件下不形成唯一、稳定的有序三维结构。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研究对象：整条链的构象分布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" y="2882900"/>
            <a:ext cx="4946903" cy="1110995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8408" y="3001772"/>
            <a:ext cx="4617719" cy="8732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>
                <a:solidFill>
                  <a:srgbClr val="153A2A"/>
                </a:solidFill>
                <a:latin typeface="Arial"/>
                <a:ea typeface="Microsoft YaHei"/>
              </a:rPr>
              <a:t>IDR｜内在无序区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蛋白中某个区域不形成稳定结构，同一蛋白可同时含折叠结构域与 IDR。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研究对象：该区域在蛋白内部的构象分布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" y="4176776"/>
            <a:ext cx="4946903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5C6E63"/>
                </a:solidFill>
                <a:latin typeface="Arial"/>
                <a:ea typeface="Microsoft YaHei"/>
              </a:rPr>
              <a:t>术语依据：Towards a Unified Framework… Box 1；文献中常用 “IDPs” 统称两者，本汇报保持区分。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6208" y="1152144"/>
            <a:ext cx="5349240" cy="354584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37376" y="1353312"/>
            <a:ext cx="494690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四个关键词：从一条结构到统计系综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37376" y="1873504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0" y="1836928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①  构象 conformer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蛋白链在某一瞬间的一个三维结构。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37376" y="2430653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0" y="2394077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②  构象集合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多个可能构象的集合，尚未给出各自概率。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37376" y="2987802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83680" y="2951226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③  统计 ensemble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构象集合 + 统计权重，描述“出现多少”的分布。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37376" y="3544951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83680" y="3508375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④  构象状态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由统计 ensemble 描述的热力学状态。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" y="4935728"/>
            <a:ext cx="10972800" cy="86410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86968" y="5118608"/>
            <a:ext cx="10424160" cy="4983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为什么还需要 forward model？</a:t>
            </a:r>
          </a:p>
          <a:p>
            <a:pPr>
              <a:lnSpc>
                <a:spcPct val="128000"/>
              </a:lnSpc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逐构象计算实验可观测量，再按统计权重求平均：〈O〉 = Σ w · O。所以“模型生成很多结构”并不自动等于得到可信的统计 ensemble。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3"/>
          <p:cNvSpPr/>
          <p:nvPr/>
        </p:nvSpPr>
        <p:spPr>
          <a:xfrm>
            <a:off x="0" y="1143000"/>
            <a:ext cx="12192000" cy="2952750"/>
          </a:xfrm>
          <a:custGeom>
            <a:avLst/>
            <a:gdLst/>
            <a:ahLst/>
            <a:cxnLst/>
            <a:rect l="l" t="t" r="r" b="b"/>
            <a:pathLst>
              <a:path w="12192000" h="2952750">
                <a:moveTo>
                  <a:pt x="0" y="2952750"/>
                </a:moveTo>
                <a:cubicBezTo>
                  <a:pt x="2381250" y="0"/>
                  <a:pt x="4095750" y="2571750"/>
                  <a:pt x="6858000" y="2190750"/>
                </a:cubicBezTo>
                <a:cubicBezTo>
                  <a:pt x="9620250" y="1809750"/>
                  <a:pt x="10287000" y="476250"/>
                  <a:pt x="12192000" y="17145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42" name="footer-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40" name="Rectangle 40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3</a:t>
              </a: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研究地图：AI–IDP 研究链条与三个判断问题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527048" y="1975104"/>
            <a:ext cx="9144000" cy="0"/>
          </a:xfrm>
          <a:prstGeom prst="line">
            <a:avLst/>
          </a:prstGeom>
          <a:ln w="19050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3441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IDR 序列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7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GOOSE</a:t>
            </a:r>
          </a:p>
        </p:txBody>
      </p:sp>
      <p:sp>
        <p:nvSpPr>
          <p:cNvPr id="49" name="Oval 48"/>
          <p:cNvSpPr/>
          <p:nvPr/>
        </p:nvSpPr>
        <p:spPr>
          <a:xfrm>
            <a:off x="31729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4871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序列性质</a:t>
            </a:r>
          </a:p>
        </p:txBody>
      </p:sp>
      <p:sp>
        <p:nvSpPr>
          <p:cNvPr id="51" name="Oval 50"/>
          <p:cNvSpPr/>
          <p:nvPr/>
        </p:nvSpPr>
        <p:spPr>
          <a:xfrm>
            <a:off x="50017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159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构象系综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24528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STARLING / IDPFold</a:t>
            </a:r>
          </a:p>
        </p:txBody>
      </p:sp>
      <p:sp>
        <p:nvSpPr>
          <p:cNvPr id="54" name="Oval 53"/>
          <p:cNvSpPr/>
          <p:nvPr/>
        </p:nvSpPr>
        <p:spPr>
          <a:xfrm>
            <a:off x="68305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1447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相互作用 / LLPS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53328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LLPSense</a:t>
            </a:r>
          </a:p>
        </p:txBody>
      </p:sp>
      <p:sp>
        <p:nvSpPr>
          <p:cNvPr id="57" name="Oval 56"/>
          <p:cNvSpPr/>
          <p:nvPr/>
        </p:nvSpPr>
        <p:spPr>
          <a:xfrm>
            <a:off x="86593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9735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生物学功能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82127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binder / interface peptide</a:t>
            </a:r>
          </a:p>
        </p:txBody>
      </p:sp>
      <p:sp>
        <p:nvSpPr>
          <p:cNvPr id="60" name="Oval 59"/>
          <p:cNvSpPr/>
          <p:nvPr/>
        </p:nvSpPr>
        <p:spPr>
          <a:xfrm>
            <a:off x="104881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8023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工程设计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13816" y="2990088"/>
            <a:ext cx="3078480" cy="959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>
                <a:solidFill>
                  <a:srgbClr val="153A2A"/>
                </a:solidFill>
                <a:latin typeface="Arial"/>
                <a:ea typeface="Microsoft YaHei"/>
              </a:rPr>
              <a:t>Q1　生成是否可信？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能否从一条序列生成覆盖合理、局部结构可信的 ensemble？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关注：分布覆盖、实验约束、非唯一性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58640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559808" y="2990088"/>
            <a:ext cx="3078480" cy="959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>
                <a:solidFill>
                  <a:srgbClr val="153A2A"/>
                </a:solidFill>
                <a:latin typeface="Arial"/>
                <a:ea typeface="Microsoft YaHei"/>
              </a:rPr>
              <a:t>Q2　ensemble 是否真的有用？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在 sequence + environment 之外，ensemble 能否稳定提升功能预测？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关注：严格对照、跨环境泛化、消融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04632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05800" y="2990088"/>
            <a:ext cx="3078480" cy="959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>
                <a:solidFill>
                  <a:srgbClr val="153A2A"/>
                </a:solidFill>
                <a:latin typeface="Arial"/>
                <a:ea typeface="Microsoft YaHei"/>
              </a:rPr>
              <a:t>Q3　能否走向设计？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能否设计 IDR 序列、binder 或凝聚体界面定位肽？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关注：设计目标、筛选终点、实验验证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2648" y="4956048"/>
            <a:ext cx="10972800" cy="580072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12648" y="4956048"/>
            <a:ext cx="54864" cy="58007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86968" y="5138928"/>
            <a:ext cx="10424160" cy="214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本汇报的路线：先用统一评价框架判断“生成得对不对”，再检验 ensemble 的功能增益，最后进入设计任务。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9"/>
          <p:cNvSpPr/>
          <p:nvPr/>
        </p:nvSpPr>
        <p:spPr>
          <a:xfrm>
            <a:off x="0" y="95250"/>
            <a:ext cx="12192000" cy="4000500"/>
          </a:xfrm>
          <a:custGeom>
            <a:avLst/>
            <a:gdLst/>
            <a:ahLst/>
            <a:cxnLst/>
            <a:rect l="l" t="t" r="r" b="b"/>
            <a:pathLst>
              <a:path w="12192000" h="4000500">
                <a:moveTo>
                  <a:pt x="0" y="2381250"/>
                </a:moveTo>
                <a:cubicBezTo>
                  <a:pt x="2095500" y="714375"/>
                  <a:pt x="4095750" y="4000500"/>
                  <a:pt x="6667500" y="2000250"/>
                </a:cubicBezTo>
                <a:cubicBezTo>
                  <a:pt x="9239250" y="0"/>
                  <a:pt x="10001250" y="1714500"/>
                  <a:pt x="12192000" y="36195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39" name="footer-9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7" name="Rectangle 3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4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评价框架：生成只是起点，必须形成验证闭环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12648" y="1152144"/>
            <a:ext cx="3480816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2104" y="1371600"/>
            <a:ext cx="3041904" cy="10370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600" b="1">
                <a:solidFill>
                  <a:srgbClr val="153A2A"/>
                </a:solidFill>
                <a:latin typeface="Arial"/>
                <a:ea typeface="Microsoft YaHei"/>
              </a:rPr>
              <a:t>① 实验观测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SAXS：全局尺寸与形状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PRE、smFRET：距离与接触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NMR：局部构象倾向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58640" y="1152144"/>
            <a:ext cx="3480816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8096" y="1371600"/>
            <a:ext cx="3041904" cy="10370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600" b="1">
                <a:solidFill>
                  <a:srgbClr val="153A2A"/>
                </a:solidFill>
                <a:latin typeface="Arial"/>
                <a:ea typeface="Microsoft YaHei"/>
              </a:rPr>
              <a:t>② 计算生成与整合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MD / 粗粒化 / 知识库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机器学习生成模型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最大熵或统计重加权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04632" y="1152144"/>
            <a:ext cx="3480816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24088" y="1371600"/>
            <a:ext cx="3041904" cy="10370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600" b="1">
                <a:solidFill>
                  <a:srgbClr val="153A2A"/>
                </a:solidFill>
                <a:latin typeface="Arial"/>
                <a:ea typeface="Microsoft YaHei"/>
              </a:rPr>
              <a:t>③ 验证与比较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物理与几何合理性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互补实验交叉验证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分布距离与功能相关性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" y="3163824"/>
            <a:ext cx="10972800" cy="1755648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0392" y="3310128"/>
            <a:ext cx="10424160" cy="223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600" b="1">
                <a:solidFill>
                  <a:srgbClr val="153A2A"/>
                </a:solidFill>
                <a:latin typeface="Arial"/>
                <a:ea typeface="Microsoft YaHei"/>
              </a:rPr>
              <a:t>闭环中的关键桥梁：forward model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0392" y="3730752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候选构象与权重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99232" y="3822191"/>
            <a:ext cx="3200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19272" y="3730752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预测实验可观测量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68112" y="3822191"/>
            <a:ext cx="3200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88152" y="3730752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与真实观测比较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36992" y="3822191"/>
            <a:ext cx="3200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57032" y="3730752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调整权重 / 模型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" y="4370832"/>
            <a:ext cx="1042416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互补数据约束同一个 ensemble，避免只拟合一个平均量。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648" y="5102352"/>
            <a:ext cx="10972800" cy="588010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12648" y="5102352"/>
            <a:ext cx="54864" cy="58801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86968" y="5285232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153A2A"/>
                </a:solidFill>
                <a:latin typeface="Arial"/>
                <a:ea typeface="Microsoft YaHei"/>
              </a:rPr>
              <a:t>综述在本汇报中承担“评价框架”的角色：判断 STARLING、IDPFold 等输出是否真的可解释、可比较。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0"/>
          <p:cNvSpPr/>
          <p:nvPr/>
        </p:nvSpPr>
        <p:spPr>
          <a:xfrm>
            <a:off x="0" y="1619250"/>
            <a:ext cx="12192000" cy="2095500"/>
          </a:xfrm>
          <a:custGeom>
            <a:avLst/>
            <a:gdLst/>
            <a:ahLst/>
            <a:cxnLst/>
            <a:rect l="l" t="t" r="r" b="b"/>
            <a:pathLst>
              <a:path w="12192000" h="2095500">
                <a:moveTo>
                  <a:pt x="0" y="2095500"/>
                </a:moveTo>
                <a:cubicBezTo>
                  <a:pt x="2381250" y="0"/>
                  <a:pt x="4381500" y="2095500"/>
                  <a:pt x="6953250" y="1428750"/>
                </a:cubicBezTo>
                <a:cubicBezTo>
                  <a:pt x="9525000" y="762000"/>
                  <a:pt x="10287000" y="47625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51" name="footer-10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49" name="Rectangle 4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5</a:t>
              </a: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Benchmark：不是“再测一次”，而是统一条件下的盲测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612648" y="1152144"/>
            <a:ext cx="10972800" cy="720280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12648" y="1152144"/>
            <a:ext cx="54864" cy="72028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50392" y="1298448"/>
            <a:ext cx="10497312" cy="427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定义｜固定靶标、环境条件、可观测量与评分规则，用未公开验证数据比较不同方法的真实泛化能力。</a:t>
            </a:r>
          </a:p>
          <a:p>
            <a:pPr>
              <a:lnSpc>
                <a:spcPct val="120000"/>
              </a:lnSpc>
            </a:pPr>
            <a:r>
              <a:rPr sz="1150" b="0">
                <a:solidFill>
                  <a:srgbClr val="5C6E63"/>
                </a:solidFill>
                <a:latin typeface="Arial"/>
                <a:ea typeface="Microsoft YaHei"/>
              </a:rPr>
              <a:t>普通论文自测常使用不同数据、不同参考系综与不同指标，结果不能直接横向比较。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2648" y="2176272"/>
            <a:ext cx="2523744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77240" y="2340864"/>
            <a:ext cx="292608" cy="292608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3000" y="2350008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独立整理数据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8" y="2779776"/>
            <a:ext cx="2157984" cy="695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多类 IDP / IDR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多种互补实验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明确实验条件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36391" y="2926079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28999" y="2176272"/>
            <a:ext cx="2523744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3593591" y="2340864"/>
            <a:ext cx="292608" cy="292608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59351" y="2350008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提交 ensemble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11879" y="2779776"/>
            <a:ext cx="2157984" cy="695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统一输入格式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禁止查看盲测标签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同时报告计算成本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52744" y="2926079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45351" y="2176272"/>
            <a:ext cx="2523744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6409943" y="2340864"/>
            <a:ext cx="292608" cy="292608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75703" y="2350008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统一自动评分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28231" y="2779776"/>
            <a:ext cx="2157984" cy="695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held-out 数据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全局 + 局部 + 分布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不确定性与残差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69096" y="2926079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061703" y="2176272"/>
            <a:ext cx="2523744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9226295" y="2340864"/>
            <a:ext cx="292608" cy="292608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92055" y="2350008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持续公开结果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44583" y="2779776"/>
            <a:ext cx="2157984" cy="695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方法排名与指标剖面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失败案例可追踪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新数据循环更新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2648" y="4151376"/>
            <a:ext cx="10972800" cy="969835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612648" y="4151376"/>
            <a:ext cx="54864" cy="969835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50392" y="4288536"/>
            <a:ext cx="10497312" cy="6955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IDP-Bench 要控制的变量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同一靶标与条件　｜　同一实验观测　｜　同一 forward model 或明确版本　｜　同一评分代码　｜　盲测集不参与训练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目标不是选出“万能冠军”，而是知道每种方法在哪类序列、尺度与观测上可靠或失效。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2648" y="5504688"/>
            <a:ext cx="1005840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5C6E63"/>
                </a:solidFill>
                <a:latin typeface="Arial"/>
                <a:ea typeface="Microsoft YaHei"/>
              </a:rPr>
              <a:t>依据：Towards a Unified Framework… 提出的 IDP-Bench 四阶段双年周期与盲测原则。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1"/>
          <p:cNvSpPr/>
          <p:nvPr/>
        </p:nvSpPr>
        <p:spPr>
          <a:xfrm>
            <a:off x="0" y="1476375"/>
            <a:ext cx="12192000" cy="2619375"/>
          </a:xfrm>
          <a:custGeom>
            <a:avLst/>
            <a:gdLst/>
            <a:ahLst/>
            <a:cxnLst/>
            <a:rect l="l" t="t" r="r" b="b"/>
            <a:pathLst>
              <a:path w="12192000" h="2619375">
                <a:moveTo>
                  <a:pt x="0" y="2619375"/>
                </a:moveTo>
                <a:cubicBezTo>
                  <a:pt x="2476500" y="0"/>
                  <a:pt x="4191000" y="2286000"/>
                  <a:pt x="6858000" y="1857375"/>
                </a:cubicBezTo>
                <a:cubicBezTo>
                  <a:pt x="9525000" y="1428750"/>
                  <a:pt x="10287000" y="333375"/>
                  <a:pt x="12192000" y="1571625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37" name="footer-11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5" name="Rectangle 35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6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怎么评价 ensemble：几何、实验、分布与稳健性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12648" y="115214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3816" y="133502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01　物理与几何有效性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" y="171907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键长、键角、扭转角、碰撞。先排除“不像蛋白”的样本，但通过这一层不等于分布正确。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43400" y="115214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44568" y="133502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02　全局 ensemble 一致性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44568" y="171907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SAXS χ²：散射曲线拟合；P(r) KL：整体距离分布差异；同时报告 Rg 与端到端距离分布。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74152" y="115214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75320" y="133502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03　局部与长程约束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171907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PRE RMSE：瞬时长程接触；RDC Q-factor：局部取向；smFRET Wasserstein：距离分布。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" y="307238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3816" y="325526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04　分布而非只看均值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" y="363931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JS / Wasserstein / Hellinger 距离；图与接触概率的完整分布；检查覆盖不足与模式坍缩。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43400" y="307238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44568" y="325526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05　泛化与交叉验证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44568" y="3639312"/>
            <a:ext cx="3108960" cy="412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留出一种观测再预测它；新序列 / 新长度 / 新环境；避免只复现训练或重加权数据。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74152" y="307238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75320" y="325526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06　不确定性与效率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20" y="363931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实验误差 + forward model 误差；bootstrap / 置信区间 / 残差；采样成本与有效独立样本数。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648" y="4992624"/>
            <a:ext cx="10972800" cy="58801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86968" y="5175504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FFFFFF"/>
                </a:solidFill>
                <a:latin typeface="Arial"/>
                <a:ea typeface="Microsoft YaHei"/>
              </a:rPr>
              <a:t>评分原则：综合分数便于排序，但必须公开各指标剖面；单一 Rg、距离图或实验拟合都不足以证明 ensemble 正确。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5"/>
          <p:cNvSpPr/>
          <p:nvPr/>
        </p:nvSpPr>
        <p:spPr>
          <a:xfrm>
            <a:off x="0" y="952500"/>
            <a:ext cx="12192000" cy="2762250"/>
          </a:xfrm>
          <a:custGeom>
            <a:avLst/>
            <a:gdLst/>
            <a:ahLst/>
            <a:cxnLst/>
            <a:rect l="l" t="t" r="r" b="b"/>
            <a:pathLst>
              <a:path w="12192000" h="2762250">
                <a:moveTo>
                  <a:pt x="0" y="1238250"/>
                </a:moveTo>
                <a:cubicBezTo>
                  <a:pt x="2095500" y="1428750"/>
                  <a:pt x="4000500" y="857250"/>
                  <a:pt x="6667500" y="1095375"/>
                </a:cubicBezTo>
                <a:cubicBezTo>
                  <a:pt x="9334500" y="1333500"/>
                  <a:pt x="10287000" y="2762250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7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GOOSE：可控 IDR 序列设计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goose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1594994"/>
            <a:ext cx="5550407" cy="329310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1｜GOOSE 的序列设计流程与性质控制结果（源自原文）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怎样根据预设的序列或聚合物性质，反向生成 IDR 序列？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367280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输入：长度、电荷、疏水性、κ 等目标性质。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输出：满足约束的 IDR 序列。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794125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关键证据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性质命中率、序列多样性，以及与天然 IDR 的比较。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972685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GOOSE 主要设计序列，不直接输出具有统计权重的三维 ensemble。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6"/>
          <p:cNvSpPr/>
          <p:nvPr/>
        </p:nvSpPr>
        <p:spPr>
          <a:xfrm>
            <a:off x="0" y="666750"/>
            <a:ext cx="12192000" cy="2714625"/>
          </a:xfrm>
          <a:custGeom>
            <a:avLst/>
            <a:gdLst/>
            <a:ahLst/>
            <a:cxnLst/>
            <a:rect l="l" t="t" r="r" b="b"/>
            <a:pathLst>
              <a:path w="12192000" h="2714625">
                <a:moveTo>
                  <a:pt x="0" y="2571750"/>
                </a:moveTo>
                <a:cubicBezTo>
                  <a:pt x="2095500" y="0"/>
                  <a:pt x="4000500" y="1762125"/>
                  <a:pt x="6667500" y="2238375"/>
                </a:cubicBezTo>
                <a:cubicBezTo>
                  <a:pt x="9334500" y="2714625"/>
                  <a:pt x="10287000" y="952500"/>
                  <a:pt x="12192000" y="1000125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6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8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STARLING：快速构象系综生成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starling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991" y="1280160"/>
            <a:ext cx="5243753" cy="392277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1｜STARLING 模型结构与生成结果（源自原文）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能否从序列和条件，快速生成大量相互一致的 IDR 构象？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441575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输入：IDR 序列及论文支持的环境条件。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输出：残基距离表示与三维构象集合。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942715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关键证据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采样速度、全局尺寸分布，以及与参考 ensemble 的一致性。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样本仍受训练 ensemble 与力场质量的限制。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7"/>
          <p:cNvSpPr/>
          <p:nvPr/>
        </p:nvSpPr>
        <p:spPr>
          <a:xfrm>
            <a:off x="0" y="1619250"/>
            <a:ext cx="12192000" cy="3048000"/>
          </a:xfrm>
          <a:custGeom>
            <a:avLst/>
            <a:gdLst/>
            <a:ahLst/>
            <a:cxnLst/>
            <a:rect l="l" t="t" r="r" b="b"/>
            <a:pathLst>
              <a:path w="12192000" h="3048000">
                <a:moveTo>
                  <a:pt x="0" y="2762250"/>
                </a:moveTo>
                <a:cubicBezTo>
                  <a:pt x="2190750" y="0"/>
                  <a:pt x="4095750" y="1524000"/>
                  <a:pt x="6762750" y="2286000"/>
                </a:cubicBezTo>
                <a:cubicBezTo>
                  <a:pt x="9429750" y="3048000"/>
                  <a:pt x="10287000" y="952500"/>
                  <a:pt x="12192000" y="7620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25" name="footer-8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3" name="Rectangle 23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9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IDPFold：残基刚体扩散生成 ensemble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9" name="Picture 28" descr="idpfold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107" y="1280160"/>
            <a:ext cx="3997520" cy="392277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1｜IDPFold 的扩散去噪框架与主链输出（源自原文）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1188720"/>
            <a:ext cx="4956048" cy="970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输入、输出与证据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输入：氨基酸序列。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输出：多次采样的主链构象与扭转角。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证据：同时检查全局尺寸与局部结构。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2706793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样本不提供状态转换速率，也不能自动解释为真实平衡权重。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3728296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与 STARLING 的区别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STARLING 强调快速采样与距离表示；IDPFold 强调残基刚体、主链几何与扩散生成。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972685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共同局限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都依赖参考 ensemble / 模拟分布，“生成得像”不等于“真实权重与动力学正确”。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8"/>
          <p:cNvSpPr/>
          <p:nvPr/>
        </p:nvSpPr>
        <p:spPr>
          <a:xfrm>
            <a:off x="0" y="1666875"/>
            <a:ext cx="12192000" cy="3381375"/>
          </a:xfrm>
          <a:custGeom>
            <a:avLst/>
            <a:gdLst/>
            <a:ahLst/>
            <a:cxnLst/>
            <a:rect l="l" t="t" r="r" b="b"/>
            <a:pathLst>
              <a:path w="12192000" h="3381375">
                <a:moveTo>
                  <a:pt x="0" y="2619375"/>
                </a:moveTo>
                <a:cubicBezTo>
                  <a:pt x="2095500" y="714375"/>
                  <a:pt x="4000500" y="809625"/>
                  <a:pt x="6667500" y="2095500"/>
                </a:cubicBezTo>
                <a:cubicBezTo>
                  <a:pt x="9334500" y="3381375"/>
                  <a:pt x="10287000" y="2047875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29" name="footer-1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10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LLPSense：环境信息有用，但 ensemble 机制尚未证明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3" name="Picture 32" descr="llpsense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275" y="1280160"/>
            <a:ext cx="4291184" cy="392277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1｜LLPSense 的数据流与预测表现（源自原文）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1188720"/>
            <a:ext cx="4956048" cy="12185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论文能够支持的判断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输入：序列特征 + 原文定义的环境变量。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输出：分类、分数或相边界。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重点：环境条件是否改善独立测试表现。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意义：功能行为不能只看序列本身。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3453129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论文尚不能支持的判断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没有显式使用 ensemble，就不能说明“构象分布 → 多价相互作用 → LLPS”这一机制成立。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真正的断点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ensemble 是否比 sequence + environment 提供额外信息？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2"/>
          <p:cNvSpPr/>
          <p:nvPr/>
        </p:nvSpPr>
        <p:spPr>
          <a:xfrm>
            <a:off x="0" y="142875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286000">
                <a:moveTo>
                  <a:pt x="0" y="2286000"/>
                </a:moveTo>
                <a:cubicBezTo>
                  <a:pt x="2381250" y="0"/>
                  <a:pt x="4095750" y="2190750"/>
                  <a:pt x="6858000" y="1714500"/>
                </a:cubicBezTo>
                <a:cubicBezTo>
                  <a:pt x="9620250" y="1238250"/>
                  <a:pt x="10287000" y="28575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36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4" name="Rectangle 34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11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如何验证 ensemble 是否提供额外信息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12648" y="1188720"/>
            <a:ext cx="5623560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>
                <a:solidFill>
                  <a:srgbClr val="007A3D"/>
                </a:solidFill>
                <a:latin typeface="Arial"/>
                <a:ea typeface="Microsoft YaHei"/>
              </a:rPr>
              <a:t>一、固定数据与划分，只改变模型输入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" y="1572768"/>
            <a:ext cx="5623560" cy="65163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2648" y="1572768"/>
            <a:ext cx="50292" cy="65163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3816" y="1691640"/>
            <a:ext cx="5349240" cy="413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M1　仅序列　　sequence → LLPS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回答：序列本身能做到什么程度？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" y="2370709"/>
            <a:ext cx="5623560" cy="65163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12648" y="2370709"/>
            <a:ext cx="50292" cy="65163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13816" y="2489580"/>
            <a:ext cx="5349240" cy="413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M2　序列 + 环境　　sequence + condition → LLPS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回答：盐、温度、浓度等条件是否带来增益？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" y="3168650"/>
            <a:ext cx="5623560" cy="65163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12648" y="3168650"/>
            <a:ext cx="50292" cy="65163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13816" y="3287522"/>
            <a:ext cx="5349240" cy="413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M3　序列 + 环境 + ensemble　　加入构象统计特征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回答：在公平对照下，ensemble 是否仍提供额外信息？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1188720"/>
            <a:ext cx="4956048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>
                <a:solidFill>
                  <a:srgbClr val="007A3D"/>
                </a:solidFill>
                <a:latin typeface="Arial"/>
                <a:ea typeface="Microsoft YaHei"/>
              </a:rPr>
              <a:t>二、避免“看起来提升”的四项检查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29400" y="1645920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775704" y="1591056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数据划分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按蛋白而不是按样本随机划分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29400" y="2164080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75704" y="2109216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跨环境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训练条件之外测试泛化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29400" y="2682240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775704" y="2627375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消融实验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去掉 Rg、接触或局部结构特征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29400" y="3200399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775704" y="3145535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跨生成器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更换 STARLING / IDPFold / CALVADOS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29400" y="3718559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775704" y="3663695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评价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预测性能、校准、跨条件稳定性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2648" y="5047488"/>
            <a:ext cx="10972800" cy="984758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12648" y="5047488"/>
            <a:ext cx="54864" cy="9847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50392" y="5193792"/>
            <a:ext cx="10497312" cy="692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判定标准</a:t>
            </a:r>
          </a:p>
          <a:p>
            <a:pPr>
              <a:lnSpc>
                <a:spcPct val="124000"/>
              </a:lnSpc>
              <a:spcAft>
                <a:spcPts val="30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支持：M3 在蛋白级划分、跨环境和跨生成器测试中仍稳定优于 M2。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不支持：提升只来自数据泄漏、某个生成器偏差，或加入序列长度等简单特征后消失。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3"/>
          <p:cNvSpPr/>
          <p:nvPr/>
        </p:nvSpPr>
        <p:spPr>
          <a:xfrm>
            <a:off x="0" y="428625"/>
            <a:ext cx="12192000" cy="3238500"/>
          </a:xfrm>
          <a:custGeom>
            <a:avLst/>
            <a:gdLst/>
            <a:ahLst/>
            <a:cxnLst/>
            <a:rect l="l" t="t" r="r" b="b"/>
            <a:pathLst>
              <a:path w="12192000" h="3238500">
                <a:moveTo>
                  <a:pt x="0" y="1762125"/>
                </a:moveTo>
                <a:cubicBezTo>
                  <a:pt x="2095500" y="1095375"/>
                  <a:pt x="4000500" y="3238500"/>
                  <a:pt x="6667500" y="1619250"/>
                </a:cubicBezTo>
                <a:cubicBezTo>
                  <a:pt x="9334500" y="0"/>
                  <a:pt x="10287000" y="2238375"/>
                  <a:pt x="12192000" y="2667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12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柔性 IDR 靶标的 binder 设计：方法、证据与边界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9" name="Picture 34"/>
          <p:cNvGrpSpPr/>
          <p:nvPr/>
        </p:nvGrpSpPr>
        <p:grpSpPr>
          <a:xfrm>
            <a:off x="800100" y="1323975"/>
            <a:ext cx="5429250" cy="3619500"/>
            <a:chOff x="800100" y="1323975"/>
            <a:chExt cx="5429250" cy="361950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0100" y="1323975"/>
              <a:ext cx="5429250" cy="3619500"/>
            </a:xfrm>
            <a:prstGeom prst="rect">
              <a:avLst/>
            </a:prstGeom>
          </p:spPr>
        </p:pic>
      </p:grpSp>
      <p:sp>
        <p:nvSpPr>
          <p:cNvPr id="36" name="TextBox 35"/>
          <p:cNvSpPr/>
          <p:nvPr/>
        </p:nvSpPr>
        <p:spPr>
          <a:xfrm>
            <a:off x="740664" y="5294376"/>
            <a:ext cx="5550408" cy="138779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950" dirty="0">
                <a:solidFill>
                  <a:srgbClr val="5C6E63"/>
                </a:solidFill>
                <a:latin typeface="Arial"/>
                <a:ea typeface="Microsoft YaHei"/>
                <a:cs typeface="Arial"/>
              </a:rPr>
              <a:t>Figure 1｜Flexible-target RFdiffusion 的条件输入与三轨去噪网络（重绘）</a:t>
            </a:r>
          </a:p>
        </p:txBody>
      </p:sp>
      <p:sp>
        <p:nvSpPr>
          <p:cNvPr id="37" name="TextBox 36"/>
          <p:cNvSpPr/>
          <p:nvPr/>
        </p:nvSpPr>
        <p:spPr>
          <a:xfrm>
            <a:off x="6629400" y="1188720"/>
            <a:ext cx="4956048" cy="473678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860"/>
              </a:lnSpc>
            </a:pPr>
            <a:r>
              <a:rPr lang="zh-CN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核心思路</a:t>
            </a:r>
          </a:p>
          <a:p>
            <a:pPr algn="l">
              <a:lnSpc>
                <a:spcPts val="1860"/>
              </a:lnSpc>
            </a:pPr>
            <a:r>
              <a:rPr lang="zh-CN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联合生成 target 结合构象与 binder 主链。</a:t>
            </a:r>
          </a:p>
        </p:txBody>
      </p:sp>
      <p:sp>
        <p:nvSpPr>
          <p:cNvPr id="38" name="TextBox 37"/>
          <p:cNvSpPr/>
          <p:nvPr/>
        </p:nvSpPr>
        <p:spPr>
          <a:xfrm>
            <a:off x="6629400" y="2292953"/>
            <a:ext cx="4956048" cy="721995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755"/>
              </a:lnSpc>
            </a:pPr>
            <a:r>
              <a:rPr lang="zh-CN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创新点 1｜Sequence-input RFdiffusion</a:t>
            </a:r>
          </a:p>
          <a:p>
            <a:pPr algn="l">
              <a:lnSpc>
                <a:spcPts val="1755"/>
              </a:lnSpc>
              <a:spcBef>
                <a:spcPts val="105"/>
              </a:spcBef>
            </a:pPr>
            <a:r>
              <a:rPr lang="zh-CN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不提供 target 三维坐标，仅输入靶序列；</a:t>
            </a:r>
            <a:br/>
            <a:r>
              <a:rPr lang="zh-CN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target 与 binder 在扩散过程中共同成形。</a:t>
            </a:r>
          </a:p>
        </p:txBody>
      </p:sp>
      <p:grpSp>
        <p:nvGrpSpPr>
          <p:cNvPr id="16" name="TextBox 38"/>
          <p:cNvGrpSpPr/>
          <p:nvPr/>
        </p:nvGrpSpPr>
        <p:grpSpPr>
          <a:xfrm>
            <a:off x="6622542" y="3645503"/>
            <a:ext cx="4962906" cy="712375"/>
            <a:chOff x="6622542" y="3645503"/>
            <a:chExt cx="4962906" cy="712375"/>
          </a:xfrm>
        </p:grpSpPr>
        <p:sp>
          <p:nvSpPr>
            <p:cNvPr id="13" name="Freeform 13"/>
            <p:cNvSpPr/>
            <p:nvPr/>
          </p:nvSpPr>
          <p:spPr>
            <a:xfrm>
              <a:off x="6629400" y="3645503"/>
              <a:ext cx="4956048" cy="696658"/>
            </a:xfrm>
            <a:custGeom>
              <a:avLst/>
              <a:gdLst/>
              <a:ahLst/>
              <a:cxnLst/>
              <a:rect l="l" t="t" r="r" b="b"/>
              <a:pathLst>
                <a:path w="4956048" h="696658">
                  <a:moveTo>
                    <a:pt x="0" y="0"/>
                  </a:moveTo>
                  <a:lnTo>
                    <a:pt x="4956048" y="0"/>
                  </a:lnTo>
                  <a:lnTo>
                    <a:pt x="4956048" y="696658"/>
                  </a:lnTo>
                  <a:lnTo>
                    <a:pt x="0" y="696658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23049" y="3645508"/>
              <a:ext cx="1835794" cy="2445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b="1" dirty="0">
                  <a:solidFill>
                    <a:srgbClr val="007A3D"/>
                  </a:solidFill>
                  <a:latin typeface="Arial"/>
                  <a:ea typeface="Microsoft YaHei"/>
                  <a:cs typeface="Arial"/>
                </a:rPr>
                <a:t>创新点 2｜二级结构条件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22542" y="3870960"/>
              <a:ext cx="2604806" cy="486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55"/>
                </a:lnSpc>
              </a:pP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可指定 helix、β-strand 或 loop，</a:t>
              </a:r>
              <a:br/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但不固定 target 的精确三维坐标。</a:t>
              </a:r>
            </a:p>
          </p:txBody>
        </p:sp>
      </p:grpSp>
      <p:grpSp>
        <p:nvGrpSpPr>
          <p:cNvPr id="20" name="TextBox 39"/>
          <p:cNvGrpSpPr/>
          <p:nvPr/>
        </p:nvGrpSpPr>
        <p:grpSpPr>
          <a:xfrm>
            <a:off x="6622542" y="4972626"/>
            <a:ext cx="4962906" cy="712370"/>
            <a:chOff x="6622542" y="4972626"/>
            <a:chExt cx="4962906" cy="712370"/>
          </a:xfrm>
        </p:grpSpPr>
        <p:sp>
          <p:nvSpPr>
            <p:cNvPr id="17" name="Freeform 17"/>
            <p:cNvSpPr/>
            <p:nvPr/>
          </p:nvSpPr>
          <p:spPr>
            <a:xfrm>
              <a:off x="6629400" y="4972717"/>
              <a:ext cx="4956048" cy="696563"/>
            </a:xfrm>
            <a:custGeom>
              <a:avLst/>
              <a:gdLst/>
              <a:ahLst/>
              <a:cxnLst/>
              <a:rect l="l" t="t" r="r" b="b"/>
              <a:pathLst>
                <a:path w="4956048" h="696563">
                  <a:moveTo>
                    <a:pt x="0" y="0"/>
                  </a:moveTo>
                  <a:lnTo>
                    <a:pt x="4956048" y="0"/>
                  </a:lnTo>
                  <a:lnTo>
                    <a:pt x="4956048" y="696563"/>
                  </a:lnTo>
                  <a:lnTo>
                    <a:pt x="0" y="696563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23049" y="4972626"/>
              <a:ext cx="2971954" cy="2445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b="1" dirty="0">
                  <a:solidFill>
                    <a:srgbClr val="007A3D"/>
                  </a:solidFill>
                  <a:latin typeface="Arial"/>
                  <a:ea typeface="Microsoft YaHei"/>
                  <a:cs typeface="Arial"/>
                </a:rPr>
                <a:t>创新点 3｜Two-sided partial diffusion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22542" y="5198078"/>
              <a:ext cx="2756916" cy="486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55"/>
                </a:lnSpc>
              </a:pP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对 target 与 binder 同时部分加噪，</a:t>
              </a:r>
              <a:br/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在初始命中附近共同优化结合界面。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13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凝聚体界面的 de novo 肽设计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peptide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068414"/>
            <a:ext cx="5550407" cy="234626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1｜界面定位肽的设计流程与富集验证（源自原文）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怎样设计能够优先定位在生物分子凝聚体界面的短肽？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367280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输入：按原文填写的凝聚体与设计条件。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输出：具有界面定位偏好的新肽序列。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794125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关键证据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用显微图与定量富集指标证明肽位于界面，而不是只进入凝聚体内部。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面向凝聚体介观环境，不等同于针对单个 IDR 靶点设计 binder。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7"/>
          <p:cNvSpPr/>
          <p:nvPr/>
        </p:nvSpPr>
        <p:spPr>
          <a:xfrm>
            <a:off x="0" y="1619250"/>
            <a:ext cx="12192000" cy="2095500"/>
          </a:xfrm>
          <a:custGeom>
            <a:avLst/>
            <a:gdLst/>
            <a:ahLst/>
            <a:cxnLst/>
            <a:rect l="l" t="t" r="r" b="b"/>
            <a:pathLst>
              <a:path w="12192000" h="2095500">
                <a:moveTo>
                  <a:pt x="0" y="1714500"/>
                </a:moveTo>
                <a:cubicBezTo>
                  <a:pt x="2476500" y="0"/>
                  <a:pt x="4095750" y="2095500"/>
                  <a:pt x="6858000" y="1428750"/>
                </a:cubicBezTo>
                <a:cubicBezTo>
                  <a:pt x="9620250" y="762000"/>
                  <a:pt x="10287000" y="19050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000"/>
              </a:schemeClr>
            </a:solidFill>
          </a:ln>
        </p:spPr>
      </p:sp>
      <p:grpSp>
        <p:nvGrpSpPr>
          <p:cNvPr id="57" name="footer-17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55" name="Rectangle 55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14</a:t>
              </a: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从六篇论文得到的证据、缺口与可做任务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12648" y="1152144"/>
            <a:ext cx="10972800" cy="38404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40664" y="1216152"/>
            <a:ext cx="151790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研究环节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41448" y="1216152"/>
            <a:ext cx="149961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代表工作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23944" y="1216152"/>
            <a:ext cx="2340863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已经证明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47688" y="1216152"/>
            <a:ext cx="221284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仍未证明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43416" y="1216152"/>
            <a:ext cx="248716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可做任务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2648" y="1536192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40664" y="1655064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性质 → 序列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441448" y="1655064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GOOSE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23944" y="1655064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可按长度、电荷、疏水性等性质生成多样 IDR 序列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47688" y="1655064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目标性质是否转化为真实功能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43416" y="1655064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加入 ensemble 或功能奖励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2648" y="2322576"/>
            <a:ext cx="109728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40664" y="2441448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序列 → ensemble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41448" y="2441448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STARLING / IDPFold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23944" y="2441448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可快速生成大量构象，覆盖全局与局部统计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47688" y="2441448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真实平衡权重、动力学及跨条件迁移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43416" y="2441448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统一数据与实验约束下的模型评测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2648" y="3108960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40664" y="3227832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环境 → LLPS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441448" y="3227832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LLPSense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23944" y="3227832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环境信息有助于预测相分离相关行为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47688" y="3227832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ensemble 是否提供额外且可迁移的信息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43416" y="3227832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M1 / M2 / M3 严格对照与跨环境测试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2648" y="3895344"/>
            <a:ext cx="109728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40664" y="4014215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IDR → binder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441448" y="4014215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Diffusing protein binders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23944" y="4014215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可生成稳定 binder 并识别兼容结合构象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47688" y="4014215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是否覆盖多状态与动态靶向需求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43416" y="4014215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多构象条件设计与鲁棒性筛选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2648" y="4681728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40664" y="4800600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凝聚体 → 定位肽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41448" y="480060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interface peptide design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123944" y="4800600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可设计界面富集的短肽分子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47688" y="4800600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跨凝聚体泛化与机制可解释性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43416" y="4800600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环境依赖的功能设计与多目标设计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2648" y="5632704"/>
            <a:ext cx="10972800" cy="551434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12648" y="5632704"/>
            <a:ext cx="54864" cy="551434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86968" y="5797296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153A2A"/>
                </a:solidFill>
                <a:latin typeface="Arial"/>
                <a:ea typeface="Microsoft YaHei"/>
              </a:rPr>
              <a:t>综合判断：论文已解决局部任务，但 “ensemble → function” 的可迁移连接仍是最清楚的研究缺口。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1524000"/>
            <a:ext cx="12192000" cy="2857500"/>
          </a:xfrm>
          <a:custGeom>
            <a:avLst/>
            <a:gdLst/>
            <a:ahLst/>
            <a:cxnLst/>
            <a:rect l="l" t="t" r="r" b="b"/>
            <a:pathLst>
              <a:path w="12192000" h="2857500">
                <a:moveTo>
                  <a:pt x="0" y="2857500"/>
                </a:moveTo>
                <a:cubicBezTo>
                  <a:pt x="2190750" y="0"/>
                  <a:pt x="4095750" y="2762250"/>
                  <a:pt x="6858000" y="2190750"/>
                </a:cubicBezTo>
                <a:cubicBezTo>
                  <a:pt x="9620250" y="1619250"/>
                  <a:pt x="10287000" y="1143000"/>
                  <a:pt x="12192000" y="238125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29" name="footer-18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15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三个可落地的计算研究方向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12648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2648" y="1152144"/>
            <a:ext cx="3480816" cy="50292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3816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5C6E63"/>
                </a:solidFill>
                <a:latin typeface="Arial"/>
                <a:ea typeface="Microsoft YaHei"/>
              </a:rPr>
              <a:t>低风险 / 先建立基线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/>
                <a:ea typeface="Microsoft YaHei"/>
              </a:rPr>
              <a:t>方向一　统一评测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13816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13816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数据：相同序列、条件与观测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" y="282244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基线：STARLING / IDPFold / CALVADOS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" y="352348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指标：Rg、接触、局部结构、覆盖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" y="422452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产出：benchmark、误差分析、工具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" y="492556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风险：创新性取决于数据与评价设计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58640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358640" y="1152144"/>
            <a:ext cx="3480816" cy="50292"/>
          </a:xfrm>
          <a:prstGeom prst="rect">
            <a:avLst/>
          </a:prstGeom>
          <a:solidFill>
            <a:srgbClr val="C79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59808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8A6423"/>
                </a:solidFill>
                <a:latin typeface="Arial"/>
                <a:ea typeface="Microsoft YaHei"/>
              </a:rPr>
              <a:t>中风险 / 最推荐切入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9808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/>
                <a:ea typeface="Microsoft YaHei"/>
              </a:rPr>
              <a:t>方向二　ensemble 增强 LLPS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559808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559808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数据：序列、环境、LLPS 标签 / 读数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59808" y="282244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基线：M1 序列；M2 序列 + 环境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59808" y="352348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方法：M3 加入 ensemble 统计特征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59808" y="422452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指标：性能、校准、跨环境泛化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59808" y="492556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风险：必须控制数据泄漏与生成器偏差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04632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104632" y="1152144"/>
            <a:ext cx="3480816" cy="50292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05800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5C6E63"/>
                </a:solidFill>
                <a:latin typeface="Arial"/>
                <a:ea typeface="Microsoft YaHei"/>
              </a:rPr>
              <a:t>高风险 / 后续拓展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05800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/>
                <a:ea typeface="Microsoft YaHei"/>
              </a:rPr>
              <a:t>方向三　ensemble-aware 设计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305800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305800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对象：IDR 序列、binder 或定位肽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05800" y="2773680"/>
            <a:ext cx="3078480" cy="390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奖励：ensemble、LLPS、聚集风险与序列多样性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05800" y="3621024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基线：单状态或单目标设计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05800" y="4273296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指标：鲁棒性、特异性、跨状态表现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05800" y="4925567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风险：验证成本最高，需外部合作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" y="5541264"/>
            <a:ext cx="10972800" cy="53314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86968" y="5696712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FFFFFF"/>
                </a:solidFill>
                <a:latin typeface="Arial"/>
                <a:ea typeface="Microsoft YaHei"/>
              </a:rPr>
              <a:t>建议顺序：统一评测建立可信基线 → 验证 ensemble 的功能增益 → 再进入多目标设计。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-wash"/>
          <p:cNvSpPr/>
          <p:nvPr/>
        </p:nvSpPr>
        <p:spPr>
          <a:xfrm>
            <a:off x="0" y="2286000"/>
            <a:ext cx="12382500" cy="3333750"/>
          </a:xfrm>
          <a:custGeom>
            <a:avLst/>
            <a:gdLst/>
            <a:ahLst/>
            <a:cxnLst/>
            <a:rect l="l" t="t" r="r" b="b"/>
            <a:pathLst>
              <a:path w="12382500" h="3333750">
                <a:moveTo>
                  <a:pt x="0" y="2667000"/>
                </a:moveTo>
                <a:cubicBezTo>
                  <a:pt x="2476500" y="1428750"/>
                  <a:pt x="5334000" y="3333750"/>
                  <a:pt x="8096250" y="1809750"/>
                </a:cubicBezTo>
                <a:cubicBezTo>
                  <a:pt x="10858500" y="285750"/>
                  <a:pt x="10763250" y="1047750"/>
                  <a:pt x="12382500" y="0"/>
                </a:cubicBezTo>
              </a:path>
            </a:pathLst>
          </a:custGeom>
          <a:noFill/>
          <a:ln w="723900">
            <a:solidFill>
              <a:schemeClr val="accent1">
                <a:alpha val="10000"/>
              </a:schemeClr>
            </a:solidFill>
          </a:ln>
        </p:spPr>
      </p:sp>
      <p:sp>
        <p:nvSpPr>
          <p:cNvPr id="3" name="TextBox 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结论与讨论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12648" y="1170432"/>
            <a:ext cx="5532120" cy="3712463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3816" y="1335024"/>
            <a:ext cx="512978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三条结论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" y="1792224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55648"/>
            <a:ext cx="5129783" cy="6134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1. 概念层面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IDP / IDR 的“无序”指没有单一主导结构；描述它们必须用带统计权重的 ensemble，而不是一条结构。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2606802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570225"/>
            <a:ext cx="5129783" cy="6134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2. 方法层面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GOOSE、STARLING、IDPFold 已能生成序列与构象；但“生成得像”不等于权重与动力学正确。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3421379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384803"/>
            <a:ext cx="5129783" cy="6134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3. 评价层面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只有在统一靶标、条件与观测下的盲测，配合分布级指标，才能比较不同方法。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3368" y="1170432"/>
            <a:ext cx="5212080" cy="3712463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74536" y="1335024"/>
            <a:ext cx="4809744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建议与下一步</a:t>
            </a:r>
          </a:p>
        </p:txBody>
      </p:sp>
      <p:sp>
        <p:nvSpPr>
          <p:cNvPr id="15" name="Oval 14"/>
          <p:cNvSpPr/>
          <p:nvPr/>
        </p:nvSpPr>
        <p:spPr>
          <a:xfrm>
            <a:off x="6592824" y="181051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67144" y="175564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最值得投入的切入点是“ensemble 是否提供额外信息”的严格对照实验（M1 / M2 / M3）。</a:t>
            </a:r>
          </a:p>
        </p:txBody>
      </p:sp>
      <p:sp>
        <p:nvSpPr>
          <p:cNvPr id="17" name="Oval 16"/>
          <p:cNvSpPr/>
          <p:nvPr/>
        </p:nvSpPr>
        <p:spPr>
          <a:xfrm>
            <a:off x="6592824" y="239979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67144" y="234492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优先统一数据与评价口径：按蛋白划分、跨环境测试、跨生成器消融。</a:t>
            </a:r>
          </a:p>
        </p:txBody>
      </p:sp>
      <p:sp>
        <p:nvSpPr>
          <p:cNvPr id="19" name="Oval 18"/>
          <p:cNvSpPr/>
          <p:nvPr/>
        </p:nvSpPr>
        <p:spPr>
          <a:xfrm>
            <a:off x="6592824" y="298907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67144" y="293420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设计类任务（binder、界面肽）验证成本最高，建议先建立评测基线再进入。</a:t>
            </a:r>
          </a:p>
        </p:txBody>
      </p:sp>
      <p:sp>
        <p:nvSpPr>
          <p:cNvPr id="21" name="Oval 20"/>
          <p:cNvSpPr/>
          <p:nvPr/>
        </p:nvSpPr>
        <p:spPr>
          <a:xfrm>
            <a:off x="6592824" y="357835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67144" y="3523487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需要外部实验合作，才能把“分布正确”从计算结论推进到可检验结论。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" y="5065776"/>
            <a:ext cx="10972800" cy="89611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8" y="5065776"/>
            <a:ext cx="54864" cy="89611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5212080"/>
            <a:ext cx="4572000" cy="3721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007A3D"/>
                </a:solidFill>
                <a:latin typeface="Arial"/>
                <a:ea typeface="Microsoft YaHei"/>
              </a:rPr>
              <a:t>谢谢！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5614416"/>
            <a:ext cx="5943600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C6E63"/>
                </a:solidFill>
                <a:latin typeface="Arial"/>
                <a:ea typeface="Microsoft YaHei"/>
              </a:rPr>
              <a:t>欢迎老师与同学批评指正。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035" y="5157216"/>
            <a:ext cx="2328008" cy="7132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2928</Words>
  <Application>Microsoft Office PowerPoint</Application>
  <PresentationFormat>宽屏</PresentationFormat>
  <Paragraphs>305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8" baseType="lpstr">
      <vt:lpstr>Arial</vt:lpstr>
      <vt:lpstr>ai_idp_hzau_beautify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文泽 武</cp:lastModifiedBy>
  <cp:revision>3</cp:revision>
  <dcterms:created xsi:type="dcterms:W3CDTF">2026-09-25T08:55:11Z</dcterms:created>
  <dcterms:modified xsi:type="dcterms:W3CDTF">2026-09-25T10:14:41Z</dcterms:modified>
  <cp:category/>
  <cp:contentStatus/>
  <dc:language>zh-CN</dc:language>
</cp:coreProperties>
</file>