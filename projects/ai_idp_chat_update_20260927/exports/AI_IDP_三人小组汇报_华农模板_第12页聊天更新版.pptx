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4" r:id="rId5"/>
    <p:sldId id="265" r:id="rId6"/>
    <p:sldId id="266" r:id="rId7"/>
    <p:sldId id="261" r:id="rId8"/>
    <p:sldId id="262" r:id="rId9"/>
    <p:sldId id="263" r:id="rId10"/>
    <p:sldId id="267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18" autoAdjust="0"/>
  </p:normalViewPr>
  <p:slideViewPr>
    <p:cSldViewPr snapToGrid="0" snapToObjects="1">
      <p:cViewPr>
        <p:scale>
          <a:sx n="125" d="100"/>
          <a:sy n="125" d="100"/>
        </p:scale>
        <p:origin x="-210" y="-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6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在概念统一后再看整个 AI–IDP 研究链。GOOSE 主要做性质约束下的序列生成；STARLING 和 IDPFold 做 sequence 到 ensemble；LLPSense 处理 sequence、environment 与 LLPS 行为；binder 和 interface peptide 工作进一步走向功能分子设计。这里并不是说六篇论文已经组成完整端到端系统，而是把它们放到同一张地图上，后文分别检查三个连接是否成立：生成是否可信、ensemble 是否增加功能信息、以及设计是否得到真实实验验证。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Towards 综述提供的是一个评价闭环，而不是另一种单独生成模型。第一部分是实验观测，第二部分是计算生成和统计整合，第三部分是验证与比较。核心桥梁是 forward model：它把候选构象和权重转成 SAXS、PRE、smFRET 或 NMR 等可观测量，再与实验比较并调整模型或权重。由于单一平均量可能由不同 ensemble 产生，需要多种互补实验同时约束。这一框架用于检查 STARLING、IDPFold 等模型是否真正可解释和可比较。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不等于每篇论文再做一次自测。真正的 benchmark 要固定靶标、环境条件、可观测量、forward model 版本和评分规则，并用参与者看不到的验证数据测试泛化。Towards 提出的 IDP-Bench 包含四个阶段：独立委员会整理高质量数据；团队提交 ensemble；服务器在 held-out 数据上自动多指标评分；结果和失败案例持续公开。其目的不是选一个永远最好的模型，而是明确不同方法在什么序列、长度、环境和实验观测上可靠。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统一流程之后还要解决如何打分。第一层先检查键长、扭转角和碰撞，排除不合理结构；第二层看 SAXS、P(r)、Rg 等全局分布；第三层看 PRE、RDC、smFRET 等局部和长程约束；第四层直接比较完整分布，识别覆盖不足或模式坍缩；第五层做留出观测、新序列和新环境泛化；第六层报告实验误差、forward-model 误差、置信区间和计算成本。综合分数可以排序，但必须保留各指标剖面，否则会掩盖模型只在某一维度表现好的问题。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 同样从序列生成多个构象，但表示方式更接近主链几何：每个残基用刚体框架和扭转角描述，扩散过程从随机框架逐步去噪，重复采样得到构象集合。与 STARLING 的差别压缩在本页右下角：一个更强调距离表示与速度，一个更强调刚体、主链几何和扩散生成。共同边界是，论文主要验证生成样本和统计分布，没有证明采样顺序等于真实转换路径，也没有给出真实动力学时间尺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图 A 展示完整扩散轨迹：随机的是 target 与 binder 各残基在三维空间中的位置和朝向，而不是氨基酸序列；网络在每个时间步预测干净复合物，再由 SE(3) diffusion update 只前进一步，重复到得到结合态复合物。</a:t>
            </a:r>
          </a:p>
          <a:p>
            <a:pPr/>
            <a:r>
              <a:rPr lang="zh-CN" dirty="0"/>
              <a:t>图 B 展示条件输入与初始化：target 始终输入氨基酸序列，binder 部分用 MASK 表示，二级结构标签只是可选附加条件，所以 sequence-only 和 sequence plus secondary-structure specification 都没有输入 target 的精确三维坐标。</a:t>
            </a:r>
          </a:p>
          <a:p>
            <a:pPr/>
            <a:r>
              <a:rPr lang="zh-CN" dirty="0"/>
              <a:t>图 C 是继承自 RFdiffusion 的 three-track denoiser，它联合更新序列表示、残基对表示与刚体框架；扩散最终给出 target 的结合态构象、binder 主链及 binding mode，随后 ProteinMPNN 设计 binder 序列，AlphaFold2 再筛选单体折叠和复合物界面。</a:t>
            </a:r>
          </a:p>
          <a:p>
            <a:pPr/>
            <a:r>
              <a:rPr lang="zh-CN" dirty="0"/>
              <a:t>方法贡献集中在三个方面：用 target sequence 取代固定靶标结构，以 helix、beta-strand 或 loop 标签约束构象类型但不固定坐标，并通过 two-sided partial diffusion 同时微调 target 和 binder 的构象与界面。</a:t>
            </a:r>
          </a:p>
          <a:p>
            <a:pPr/>
            <a:r>
              <a:rPr lang="zh-CN" dirty="0"/>
              <a:t>这篇 Nature 工作的核心网络创新有限，主要价值来自柔性靶标的问题定义和实验闭环：多个 IDP 或 IDR 靶标获得纳摩尔级 binder，三个复合物晶体结构达到 1.8、2.0 和 2.4 埃分辨率；但模型生成的是被 binder 稳定的结合态，不是 IDP 的自由态 ensemble，也不提供真实动力学。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?>
<Relationships xmlns="http://schemas.openxmlformats.org/package/2006/relationships"><Relationship Id="rId3" Type="http://schemas.openxmlformats.org/officeDocument/2006/relationships/image" Target="../media/image1.jp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IDP 与 IDR：说的是整条链，还是其中一段？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11099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01772"/>
            <a:ext cx="4617719" cy="8732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176776"/>
            <a:ext cx="494690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术语依据：Towards a Unified Framework… Box 1；文献中常用 “IDPs” 统称两者，本汇报保持区分。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四个关键词：从一条结构到统计系综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498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逐构象计算实验可观测量，再按统计权重求平均：〈O〉 = Σ w · O。所以“模型生成很多结构”并不自动等于得到可信的统计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研究地图：AI–IDP 研究链条与三个判断问题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IDR 序列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序列性质</a:t>
            </a: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binder / interface peptide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关注：分布覆盖、实验约束、非唯一性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之外，ensemble 能否稳定提升功能预测？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关注：严格对照、跨环境泛化、消融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关注：设计目标、筛选终点、实验验证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评价框架：生成只是起点，必须形成验证闭环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2648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① 实验观测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SAXS：全局尺寸与形状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PRE、smFRET：距离与接触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NMR：局部构象倾向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8640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8096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② 计算生成与整合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MD / 粗粒化 / 知识库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机器学习生成模型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最大熵或统计重加权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4632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4088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③ 验证与比较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物理与几何合理性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互补实验交叉验证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分布距离与功能相关性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" y="3163824"/>
            <a:ext cx="10972800" cy="1755648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3310128"/>
            <a:ext cx="10424160" cy="223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闭环中的关键桥梁：forward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候选构象与权重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927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预测实验可观测量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8815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与真实观测比较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5703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调整权重 / 模型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4370832"/>
            <a:ext cx="1042416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互补数据约束同一个 ensemble，避免只拟合一个平均量。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5102352"/>
            <a:ext cx="10972800" cy="58801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648" y="5102352"/>
            <a:ext cx="54864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6968" y="528523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综述在本汇报中承担“评价框架”的角色：判断 STARLING、IDPFold 等输出是否真的可解释、可比较。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cubicBezTo>
                  <a:pt x="2381250" y="0"/>
                  <a:pt x="4381500" y="2095500"/>
                  <a:pt x="6953250" y="1428750"/>
                </a:cubicBezTo>
                <a:cubicBezTo>
                  <a:pt x="9525000" y="762000"/>
                  <a:pt x="10287000" y="47625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1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5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Benchmark：不是“再测一次”，而是统一条件下的盲测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12648" y="1152144"/>
            <a:ext cx="10972800" cy="72028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1152144"/>
            <a:ext cx="54864" cy="72028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1298448"/>
            <a:ext cx="10497312" cy="427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定义｜固定靶标、环境条件、可观测量与评分规则，用未公开验证数据比较不同方法的真实泛化能力。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5C6E63"/>
                </a:solidFill>
                <a:latin typeface="Arial"/>
                <a:ea typeface="Microsoft YaHei"/>
              </a:rPr>
              <a:t>普通论文自测常使用不同数据、不同参考系综与不同指标，结果不能直接横向比较。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7240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独立整理数据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多类 IDP / IDR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多种互补实验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明确实验条件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36391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8999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593591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9351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提交 ensemble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79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统一输入格式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禁止查看盲测标签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同时报告计算成本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52744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5351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409943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5703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统一自动评分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28231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held-out 数据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全局 + 局部 + 分布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不确定性与残差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69096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61703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226295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92055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持续公开结果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4583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方法排名与指标剖面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失败案例可追踪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新数据循环更新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" y="4151376"/>
            <a:ext cx="10972800" cy="96983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2648" y="4151376"/>
            <a:ext cx="54864" cy="969835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0392" y="4288536"/>
            <a:ext cx="10497312" cy="695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IDP-Bench 要控制的变量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同一靶标与条件　｜　同一实验观测　｜　同一 forward model 或明确版本　｜　同一评分代码　｜　盲测集不参与训练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目标不是选出“万能冠军”，而是知道每种方法在哪类序列、尺度与观测上可靠或失效。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504688"/>
            <a:ext cx="100584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依据：Towards a Unified Framework… 提出的 IDP-Bench 四阶段双年周期与盲测原则。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6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怎么评价 ensemble：几何、实验、分布与稳健性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2648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01　物理与几何有效性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键长、键角、扭转角、碰撞。先排除“不像蛋白”的样本，但通过这一层不等于分布正确。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44568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02　全局 ensemble 一致性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SAXS χ²：散射曲线拟合；P(r) KL：整体距离分布差异；同时报告 Rg 与端到端距离分布。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2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03　局部与长程约束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PRE RMSE：瞬时长程接触；RDC Q-factor：局部取向；smFRET Wasserstein：距离分布。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04　分布而非只看均值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JS / Wasserstein / Hellinger 距离；图与接触概率的完整分布；检查覆盖不足与模式坍缩。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44568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05　泛化与交叉验证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3639312"/>
            <a:ext cx="3108960" cy="412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留出一种观测再预测它；新序列 / 新长度 / 新环境；避免只复现训练或重加权数据。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4152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20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06　不确定性与效率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实验误差 + forward model 误差；bootstrap / 置信区间 / 残差；采样成本与有效独立样本数。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4992624"/>
            <a:ext cx="10972800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" y="5175504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评分原则：综合分数便于排序，但必须公开各指标剖面；单一 Rg、距离图或实验拟合都不足以证明 ensemble 正确。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07" y="1280160"/>
            <a:ext cx="3997520" cy="3922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1｜IDPFold 的扩散去噪框架与主链输出（源自原文）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188720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输入、输出与证据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输入：氨基酸序列。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输出：多次采样的主链构象与扭转角。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证据：同时检查全局尺寸与局部结构。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706793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样本不提供状态转换速率，也不能自动解释为真实平衡权重。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728296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STARLING 强调快速采样与距离表示；IDPFold 强调残基刚体、主链几何与扩散生成。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都依赖参考 ensemble / 模拟分布，“生成得像”不等于“真实权重与动力学正确”。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2370709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2370709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" y="248958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168650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168650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287522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二、避免“看起来提升”的四项检查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4592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59105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数据划分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按蛋白而不是按样本随机划分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16408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10921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跨环境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训练条件之外测试泛化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8224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62737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消融实验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去掉 Rg、接触或局部结构特征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20039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14553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71855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75704" y="366369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评价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预测性能、校准、跨条件稳定性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93792"/>
            <a:ext cx="10497312" cy="692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支持：M3 在蛋白级划分、跨环境和跨生成器测试中仍稳定优于 M2。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不支持：提升只来自数据泄漏、某个生成器偏差，或加入序列长度等简单特征后消失。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104199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柔性 IDR binder 设计：输入、联合搜索与验证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7" y="1152143"/>
            <a:ext cx="7108929" cy="469085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" name="Picture 34"/>
          <p:cNvGrpSpPr/>
          <p:nvPr/>
        </p:nvGrpSpPr>
        <p:grpSpPr>
          <a:xfrm>
            <a:off x="800100" y="1323974"/>
            <a:ext cx="6842760" cy="4519024"/>
            <a:chOff x="800100" y="1323975"/>
            <a:chExt cx="5429250" cy="36195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100" y="1323975"/>
              <a:ext cx="5429250" cy="3619500"/>
            </a:xfrm>
            <a:prstGeom prst="rect">
              <a:avLst/>
            </a:prstGeom>
          </p:spPr>
        </p:pic>
      </p:grpSp>
      <p:sp>
        <p:nvSpPr>
          <p:cNvPr id="37" name="TextBox 36"/>
          <p:cNvSpPr/>
          <p:nvPr/>
        </p:nvSpPr>
        <p:spPr>
          <a:xfrm>
            <a:off x="7874127" y="1250728"/>
            <a:ext cx="3352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输入与生成对象</a:t>
            </a:r>
          </a:p>
          <a:p>
            <a:pPr algn="l">
              <a:lnSpc>
                <a:spcPts val="1530"/>
              </a:lnSpc>
              <a:spcBef>
                <a:spcPts val="195"/>
              </a:spcBef>
            </a:pPr>
            <a:r>
              <a:rPr lang="zh-CN" sz="120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输入：sequence（可选 SS labels）</a:t>
            </a:r>
            <a:br/>
            <a:r>
              <a:rPr lang="zh-CN" sz="120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扩散输出：结合态、binder 主链、binding mode</a:t>
            </a:r>
            <a:br/>
            <a:r>
              <a:rPr lang="zh-CN" sz="120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ProteinMPNN 再设计 binder sequence</a:t>
            </a:r>
          </a:p>
        </p:txBody>
      </p:sp>
      <p:grpSp>
        <p:nvGrpSpPr>
          <p:cNvPr id="22" name="TextBox 37"/>
          <p:cNvGrpSpPr/>
          <p:nvPr/>
        </p:nvGrpSpPr>
        <p:grpSpPr>
          <a:xfrm>
            <a:off x="7867776" y="2202561"/>
            <a:ext cx="3359151" cy="933450"/>
            <a:chOff x="7867776" y="2202561"/>
            <a:chExt cx="3359151" cy="933450"/>
          </a:xfrm>
        </p:grpSpPr>
        <p:sp>
          <p:nvSpPr>
            <p:cNvPr id="11" name="Freeform 11"/>
            <p:cNvSpPr/>
            <p:nvPr/>
          </p:nvSpPr>
          <p:spPr>
            <a:xfrm>
              <a:off x="7874127" y="2202561"/>
              <a:ext cx="3352800" cy="933450"/>
            </a:xfrm>
            <a:custGeom>
              <a:avLst/>
              <a:gdLst/>
              <a:ahLst/>
              <a:cxnLst/>
              <a:rect l="l" t="t" r="r" b="b"/>
              <a:pathLst>
                <a:path w="3352800" h="933450">
                  <a:moveTo>
                    <a:pt x="0" y="0"/>
                  </a:moveTo>
                  <a:lnTo>
                    <a:pt x="3352800" y="0"/>
                  </a:lnTo>
                  <a:lnTo>
                    <a:pt x="3352800" y="933450"/>
                  </a:lnTo>
                  <a:lnTo>
                    <a:pt x="0" y="933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67776" y="2202566"/>
              <a:ext cx="685803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方法贡献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8031" y="2427065"/>
              <a:ext cx="2849453" cy="623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30"/>
                </a:lnSpc>
              </a:pPr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Sequence-input：不需要 target 三维坐标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SS specification：限定类型，不固定坐标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Two-sided partial diffusion：共同优化界面</a:t>
              </a:r>
            </a:p>
          </p:txBody>
        </p:sp>
      </p:grpSp>
      <p:grpSp>
        <p:nvGrpSpPr>
          <p:cNvPr id="16" name="TextBox 38"/>
          <p:cNvGrpSpPr/>
          <p:nvPr/>
        </p:nvGrpSpPr>
        <p:grpSpPr>
          <a:xfrm>
            <a:off x="7867269" y="3355086"/>
            <a:ext cx="3359658" cy="933450"/>
            <a:chOff x="7867269" y="3355086"/>
            <a:chExt cx="3359658" cy="933450"/>
          </a:xfrm>
        </p:grpSpPr>
        <p:sp>
          <p:nvSpPr>
            <p:cNvPr id="13" name="Freeform 13"/>
            <p:cNvSpPr/>
            <p:nvPr/>
          </p:nvSpPr>
          <p:spPr>
            <a:xfrm>
              <a:off x="7871936" y="3355086"/>
              <a:ext cx="3354991" cy="933450"/>
            </a:xfrm>
            <a:custGeom>
              <a:avLst/>
              <a:gdLst/>
              <a:ahLst/>
              <a:cxnLst/>
              <a:rect l="l" t="t" r="r" b="b"/>
              <a:pathLst>
                <a:path w="3354991" h="933450">
                  <a:moveTo>
                    <a:pt x="0" y="0"/>
                  </a:moveTo>
                  <a:lnTo>
                    <a:pt x="3354991" y="0"/>
                  </a:lnTo>
                  <a:lnTo>
                    <a:pt x="3354991" y="933450"/>
                  </a:lnTo>
                  <a:lnTo>
                    <a:pt x="0" y="933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/>
            <p:nvPr/>
          </p:nvSpPr>
          <p:spPr>
            <a:xfrm>
              <a:off x="7867650" y="3355086"/>
              <a:ext cx="3352800" cy="244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关键实验证据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7867269" y="3580543"/>
              <a:ext cx="335965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2858" rIns="0" bIns="0" anchor="t" anchorCtr="0">
              <a:noAutofit/>
            </a:bodyPr>
            <a:lstStyle/>
            <a:p>
              <a:pPr algn="l">
                <a:lnSpc>
                  <a:spcPts val="1530"/>
                </a:lnSpc>
              </a:pPr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多个 IDP / IDR 靶标获得 nM 级 binder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3 个晶体结构：1.8 / 2.0 / 2.4 Å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晶体结构、特异性与功能实验相互验证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7867269" y="4539329"/>
            <a:ext cx="3354991" cy="1162145"/>
            <a:chOff x="7867269" y="4539329"/>
            <a:chExt cx="3354991" cy="1162145"/>
          </a:xfrm>
        </p:grpSpPr>
        <p:sp>
          <p:nvSpPr>
            <p:cNvPr id="17" name="Freeform 17"/>
            <p:cNvSpPr/>
            <p:nvPr/>
          </p:nvSpPr>
          <p:spPr>
            <a:xfrm>
              <a:off x="7871936" y="4539424"/>
              <a:ext cx="3350324" cy="1162050"/>
            </a:xfrm>
            <a:custGeom>
              <a:avLst/>
              <a:gdLst/>
              <a:ahLst/>
              <a:cxnLst/>
              <a:rect l="l" t="t" r="r" b="b"/>
              <a:pathLst>
                <a:path w="3350324" h="1162050">
                  <a:moveTo>
                    <a:pt x="0" y="0"/>
                  </a:moveTo>
                  <a:lnTo>
                    <a:pt x="3350324" y="0"/>
                  </a:lnTo>
                  <a:lnTo>
                    <a:pt x="3350324" y="1162050"/>
                  </a:lnTo>
                  <a:lnTo>
                    <a:pt x="0" y="11620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7867650" y="4539329"/>
              <a:ext cx="3352800" cy="244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定位与边界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7867269" y="4764786"/>
              <a:ext cx="3354991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2858" rIns="0" bIns="0" anchor="t" anchorCtr="0">
              <a:noAutofit/>
            </a:bodyPr>
            <a:lstStyle/>
            <a:p>
              <a:pPr algn="l">
                <a:lnSpc>
                  <a:spcPts val="1530"/>
                </a:lnSpc>
              </a:pPr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核心 denoiser 继承 RFdiffusion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创新重心：柔性靶标问题定义与联合搜索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输出为结合态，不是自由态 ensemble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是否覆盖多状态与动态靶向需求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多构象条件设计与鲁棒性筛选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5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3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只有在统一靶标、条件与观测下的盲测，配合分布级指标，才能比较不同方法。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最值得投入的切入点是“ensemble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3224</Words>
  <Application>Microsoft Office PowerPoint</Application>
  <PresentationFormat>宽屏</PresentationFormat>
  <Paragraphs>308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6</cp:revision>
  <dcterms:created xsi:type="dcterms:W3CDTF">2026-09-25T08:55:11Z</dcterms:created>
  <dcterms:modified xsi:type="dcterms:W3CDTF">2026-09-27T08:03:31Z</dcterms:modified>
  <cp:category/>
  <cp:contentStatus/>
  <dc:language>zh-CN</dc:language>
</cp:coreProperties>
</file>