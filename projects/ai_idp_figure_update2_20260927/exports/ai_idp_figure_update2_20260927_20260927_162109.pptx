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118" autoAdjust="0"/>
  </p:normalViewPr>
  <p:slideViewPr>
    <p:cSldViewPr snapToGrid="0" snapToObjects="1">
      <p:cViewPr>
        <p:scale>
          <a:sx n="125" d="100"/>
          <a:sy n="125" d="100"/>
        </p:scale>
        <p:origin x="-210" y="-7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 A 展示完整扩散轨迹：随机的是 target 与 binder 各残基在三维空间中的位置和朝向，而不是氨基酸序列；橙色框同时标出 full generation 和 two-sided partial diffusion 两种采样方式，以及始终存在的 target sequence、binder MASK、时间步和可选 target SS labels。</a:t>
            </a:r>
          </a:p>
          <a:p>
            <a:pPr/>
            <a:r>
              <a:rPr lang="zh-CN" dirty="0"/>
              <a:t>图 B 展示条件输入与初始化：target 始终输入氨基酸序列，binder 部分用 MASK 表示，二级结构标签只是可选附加条件，所以 sequence-only 和 sequence plus secondary-structure specification 都没有输入 target 的精确三维坐标。</a:t>
            </a:r>
          </a:p>
          <a:p>
            <a:pPr/>
            <a:r>
              <a:rPr lang="zh-CN" dirty="0"/>
              <a:t>图 C 是继承自 RFdiffusion 的 three-track denoiser，它联合更新序列表示、残基对表示与刚体框架；图中紫色 inherited RFdiffusion 与橙色 paper-specific inputs and sampling 明确区分了继承主干和本文改动，扩散输出再依次进入 ProteinMPNN、AlphaFold2 筛选和实验验证。</a:t>
            </a:r>
          </a:p>
          <a:p>
            <a:pPr/>
            <a:r>
              <a:rPr lang="zh-CN" dirty="0"/>
              <a:t>方法贡献集中在三个方面：用 target sequence 取代固定靶标结构，以 helix、beta-strand 或 loop 标签约束构象类型但不固定坐标，并通过 two-sided partial diffusion 同时微调 target 和 binder 的构象与界面。</a:t>
            </a:r>
          </a:p>
          <a:p>
            <a:pPr/>
            <a:r>
              <a:rPr lang="zh-CN" dirty="0"/>
              <a:t>这篇 Nature 工作的核心网络创新有限，主要价值来自柔性靶标的问题定义和实验闭环：多个 IDP 或 IDR 靶标获得纳摩尔级 binder，三个复合物晶体结构达到 1.8、2.0 和 2.4 埃分辨率；但模型生成的是被 binder 稳定的结合态，不是 IDP 的自由态 ensemble，也不提供真实动力学。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image" Target="../media/image1.jpg" /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d3882886e8a1ffd.png" />  <Relationship Id="rId5" Type="http://schemas.openxmlformats.org/officeDocument/2006/relationships/notesSlide" Target="../notesSlides/notesSlide12.xml" />
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  <a:ln>
            <a:noFill/>
          </a:ln>
        </p:spPr>
        <p:txBody>
          <a:bodyPr wrap="none" lIns="0" tIns="104199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柔性 IDR binder 设计：输入、联合搜索与验证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7" y="1152143"/>
            <a:ext cx="7108929" cy="469085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" name="Picture 34"/>
          <p:cNvGrpSpPr/>
          <p:nvPr/>
        </p:nvGrpSpPr>
        <p:grpSpPr>
          <a:xfrm>
            <a:off x="800100" y="1323975"/>
            <a:ext cx="6842760" cy="4519041"/>
            <a:chOff x="800100" y="1323975"/>
            <a:chExt cx="6842760" cy="451904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" y="1323975"/>
              <a:ext cx="6842760" cy="4519041"/>
            </a:xfrm>
            <a:prstGeom prst="rect">
              <a:avLst/>
            </a:prstGeom>
          </p:spPr>
        </p:pic>
      </p:grpSp>
      <p:sp>
        <p:nvSpPr>
          <p:cNvPr id="37" name="TextBox 36"/>
          <p:cNvSpPr/>
          <p:nvPr/>
        </p:nvSpPr>
        <p:spPr>
          <a:xfrm>
            <a:off x="7874127" y="1250728"/>
            <a:ext cx="3352800" cy="7810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250" b="1" dirty="0">
                <a:solidFill>
                  <a:srgbClr val="007A3D"/>
                </a:solidFill>
                <a:latin typeface="Arial"/>
                <a:ea typeface="Microsoft YaHei"/>
                <a:cs typeface="Arial"/>
              </a:rPr>
              <a:t>输入与生成对象</a:t>
            </a:r>
          </a:p>
          <a:p>
            <a:pPr algn="l">
              <a:lnSpc>
                <a:spcPts val="1530"/>
              </a:lnSpc>
              <a:spcBef>
                <a:spcPts val="195"/>
              </a:spcBef>
            </a:pPr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Target 输入：sequence（可选 SS labels）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扩散输出：结合态、binder 主链、binding mode</a:t>
            </a:r>
            <a:br/>
            <a:r>
              <a:rPr lang="zh-CN" sz="1200" dirty="0">
                <a:solidFill>
                  <a:srgbClr val="153A2A"/>
                </a:solidFill>
                <a:latin typeface="Arial"/>
                <a:ea typeface="Microsoft YaHei"/>
                <a:cs typeface="Arial"/>
              </a:rPr>
              <a:t>ProteinMPNN 再设计 binder sequence</a:t>
            </a:r>
          </a:p>
        </p:txBody>
      </p:sp>
      <p:grpSp>
        <p:nvGrpSpPr>
          <p:cNvPr id="22" name="TextBox 37"/>
          <p:cNvGrpSpPr/>
          <p:nvPr/>
        </p:nvGrpSpPr>
        <p:grpSpPr>
          <a:xfrm>
            <a:off x="7867776" y="2202561"/>
            <a:ext cx="3359151" cy="933450"/>
            <a:chOff x="7867776" y="2202561"/>
            <a:chExt cx="3359151" cy="933450"/>
          </a:xfrm>
        </p:grpSpPr>
        <p:sp>
          <p:nvSpPr>
            <p:cNvPr id="11" name="Freeform 11"/>
            <p:cNvSpPr/>
            <p:nvPr/>
          </p:nvSpPr>
          <p:spPr>
            <a:xfrm>
              <a:off x="7874127" y="2202561"/>
              <a:ext cx="3352800" cy="933450"/>
            </a:xfrm>
            <a:custGeom>
              <a:avLst/>
              <a:gdLst/>
              <a:ahLst/>
              <a:cxnLst/>
              <a:rect l="l" t="t" r="r" b="b"/>
              <a:pathLst>
                <a:path w="3352800" h="933450">
                  <a:moveTo>
                    <a:pt x="0" y="0"/>
                  </a:moveTo>
                  <a:lnTo>
                    <a:pt x="3352800" y="0"/>
                  </a:lnTo>
                  <a:lnTo>
                    <a:pt x="3352800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67776" y="2202566"/>
              <a:ext cx="685803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方法贡献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8031" y="2427065"/>
              <a:ext cx="2849453" cy="623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Sequence-input：不需要 target 三维坐标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SS specification：限定类型，不固定坐标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Two-sided partial diffusion：共同优化界面</a:t>
              </a:r>
            </a:p>
          </p:txBody>
        </p:sp>
      </p:grpSp>
      <p:grpSp>
        <p:nvGrpSpPr>
          <p:cNvPr id="16" name="TextBox 38"/>
          <p:cNvGrpSpPr/>
          <p:nvPr/>
        </p:nvGrpSpPr>
        <p:grpSpPr>
          <a:xfrm>
            <a:off x="7867269" y="3355086"/>
            <a:ext cx="3359658" cy="933450"/>
            <a:chOff x="7867269" y="3355086"/>
            <a:chExt cx="3359658" cy="933450"/>
          </a:xfrm>
        </p:grpSpPr>
        <p:sp>
          <p:nvSpPr>
            <p:cNvPr id="13" name="Freeform 13"/>
            <p:cNvSpPr/>
            <p:nvPr/>
          </p:nvSpPr>
          <p:spPr>
            <a:xfrm>
              <a:off x="7871936" y="3355086"/>
              <a:ext cx="3354991" cy="933450"/>
            </a:xfrm>
            <a:custGeom>
              <a:avLst/>
              <a:gdLst/>
              <a:ahLst/>
              <a:cxnLst/>
              <a:rect l="l" t="t" r="r" b="b"/>
              <a:pathLst>
                <a:path w="3354991" h="933450">
                  <a:moveTo>
                    <a:pt x="0" y="0"/>
                  </a:moveTo>
                  <a:lnTo>
                    <a:pt x="3354991" y="0"/>
                  </a:lnTo>
                  <a:lnTo>
                    <a:pt x="3354991" y="933450"/>
                  </a:lnTo>
                  <a:lnTo>
                    <a:pt x="0" y="933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7867650" y="3355086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关键实验证据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867269" y="3580543"/>
              <a:ext cx="3359658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多个 IDP / IDR 靶标获得 nM 级 binder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3 个晶体结构：1.8 / 2.0 / 2.4 Å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晶体结构、特异性与功能实验相互验证</a:t>
              </a: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7867269" y="4539329"/>
            <a:ext cx="3354991" cy="1162145"/>
            <a:chOff x="7867269" y="4539329"/>
            <a:chExt cx="3354991" cy="1162145"/>
          </a:xfrm>
        </p:grpSpPr>
        <p:sp>
          <p:nvSpPr>
            <p:cNvPr id="17" name="Freeform 17"/>
            <p:cNvSpPr/>
            <p:nvPr/>
          </p:nvSpPr>
          <p:spPr>
            <a:xfrm>
              <a:off x="7871936" y="4539424"/>
              <a:ext cx="3350324" cy="1162050"/>
            </a:xfrm>
            <a:custGeom>
              <a:avLst/>
              <a:gdLst/>
              <a:ahLst/>
              <a:cxnLst/>
              <a:rect l="l" t="t" r="r" b="b"/>
              <a:pathLst>
                <a:path w="3350324" h="1162050">
                  <a:moveTo>
                    <a:pt x="0" y="0"/>
                  </a:moveTo>
                  <a:lnTo>
                    <a:pt x="3350324" y="0"/>
                  </a:lnTo>
                  <a:lnTo>
                    <a:pt x="3350324" y="1162050"/>
                  </a:lnTo>
                  <a:lnTo>
                    <a:pt x="0" y="11620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7867650" y="4539329"/>
              <a:ext cx="3352800" cy="244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/>
                  <a:ea typeface="Microsoft YaHei"/>
                  <a:cs typeface="Arial"/>
                </a:rPr>
                <a:t>定位与边界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867269" y="4764786"/>
              <a:ext cx="3354991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2858" rIns="0" bIns="0" anchor="t" anchorCtr="0">
              <a:noAutofit/>
            </a:bodyPr>
            <a:lstStyle/>
            <a:p>
              <a:pPr algn="l">
                <a:lnSpc>
                  <a:spcPts val="1530"/>
                </a:lnSpc>
              </a:pPr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核心 denoiser 继承 RFdiffusion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创新重心：柔性靶标问题定义与联合搜索</a:t>
              </a:r>
              <a:br/>
              <a:r>
                <a:rPr lang="zh-CN" sz="1200" dirty="0">
                  <a:solidFill>
                    <a:srgbClr val="153A2A"/>
                  </a:solidFill>
                  <a:latin typeface="Arial"/>
                  <a:ea typeface="Microsoft YaHei"/>
                  <a:cs typeface="Arial"/>
                </a:rPr>
                <a:t>输出为结合态，不是自由态 ensemble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3224</Words>
  <Application>Microsoft Office PowerPoint</Application>
  <PresentationFormat>宽屏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6</cp:revision>
  <dcterms:created xsi:type="dcterms:W3CDTF">2026-09-25T08:55:11Z</dcterms:created>
  <dcterms:modified xsi:type="dcterms:W3CDTF">2026-09-27T08:03:31Z</dcterms:modified>
  <cp:category/>
  <cp:contentStatus/>
  <dc:language>zh-CN</dc:language>
</cp:coreProperties>
</file>