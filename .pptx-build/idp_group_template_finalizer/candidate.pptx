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4ce4c6b234271" /><Relationship Type="http://schemas.openxmlformats.org/officeDocument/2006/relationships/extended-properties" Target="/docProps/app.xml" Id="R3bf9d86a70ab4a97" /><Relationship Type="http://schemas.openxmlformats.org/officeDocument/2006/relationships/officeDocument" Target="/ppt/presentation.xml" Id="R36d48103872046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35f1249964170"/>
  </p:sldMasterIdLst>
  <p:notesMasterIdLst>
    <p:notesMasterId xmlns:r="http://schemas.openxmlformats.org/officeDocument/2006/relationships" r:id="R22ac39c1863340f3"/>
  </p:notesMasterIdLst>
  <p:sldIdLst>
    <p:sldId xmlns:r="http://schemas.openxmlformats.org/officeDocument/2006/relationships" id="256" r:id="R6e179e3946544b9d"/>
    <p:sldId xmlns:r="http://schemas.openxmlformats.org/officeDocument/2006/relationships" id="257" r:id="Rbb99447f1b204d88"/>
    <p:sldId xmlns:r="http://schemas.openxmlformats.org/officeDocument/2006/relationships" id="258" r:id="Ra3c978242afe42f6"/>
    <p:sldId xmlns:r="http://schemas.openxmlformats.org/officeDocument/2006/relationships" id="259" r:id="Rc2932082bf2e41e3"/>
    <p:sldId xmlns:r="http://schemas.openxmlformats.org/officeDocument/2006/relationships" id="260" r:id="R5700a55d35344723"/>
    <p:sldId xmlns:r="http://schemas.openxmlformats.org/officeDocument/2006/relationships" id="261" r:id="Rbb7554486f984284"/>
    <p:sldId xmlns:r="http://schemas.openxmlformats.org/officeDocument/2006/relationships" id="262" r:id="Rfbff0b0293fd41c8"/>
    <p:sldId xmlns:r="http://schemas.openxmlformats.org/officeDocument/2006/relationships" id="263" r:id="R2c046bdeca9b46b6"/>
    <p:sldId xmlns:r="http://schemas.openxmlformats.org/officeDocument/2006/relationships" id="264" r:id="Rb5234a9ed0074e5a"/>
    <p:sldId xmlns:r="http://schemas.openxmlformats.org/officeDocument/2006/relationships" id="265" r:id="R4bd80ed16c274451"/>
    <p:sldId xmlns:r="http://schemas.openxmlformats.org/officeDocument/2006/relationships" id="266" r:id="R43ec024e3d384ca7"/>
    <p:sldId xmlns:r="http://schemas.openxmlformats.org/officeDocument/2006/relationships" id="267" r:id="Rd3c047d230d148fd"/>
    <p:sldId xmlns:r="http://schemas.openxmlformats.org/officeDocument/2006/relationships" id="268" r:id="Rc8150ed96a124903"/>
    <p:sldId xmlns:r="http://schemas.openxmlformats.org/officeDocument/2006/relationships" id="269" r:id="R7e5976302f0245c4"/>
    <p:sldId xmlns:r="http://schemas.openxmlformats.org/officeDocument/2006/relationships" id="270" r:id="R93df0e0b497e45d3"/>
    <p:sldId xmlns:r="http://schemas.openxmlformats.org/officeDocument/2006/relationships" id="271" r:id="Rde1c1bb83c2d4267"/>
    <p:sldId xmlns:r="http://schemas.openxmlformats.org/officeDocument/2006/relationships" id="272" r:id="R81b99c65ccdf45a1"/>
    <p:sldId xmlns:r="http://schemas.openxmlformats.org/officeDocument/2006/relationships" id="273" r:id="R639c70f9fd9a4ee0"/>
    <p:sldId xmlns:r="http://schemas.openxmlformats.org/officeDocument/2006/relationships" id="274" r:id="Rcb7d2eb9ac924c7c"/>
    <p:sldId xmlns:r="http://schemas.openxmlformats.org/officeDocument/2006/relationships" id="275" r:id="Rf9b714f9d5df47c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3ee4be176641ce" /><Relationship Type="http://schemas.openxmlformats.org/officeDocument/2006/relationships/slideMaster" Target="/ppt/slideMasters/slideMaster1.xml" Id="Rde235f1249964170" /><Relationship Type="http://schemas.openxmlformats.org/officeDocument/2006/relationships/notesMaster" Target="/ppt/notesMasters/notesMaster1.xml" Id="R22ac39c1863340f3" /><Relationship Type="http://schemas.openxmlformats.org/officeDocument/2006/relationships/presProps" Target="/ppt/presProps.xml" Id="Re11713f49ae74c56" /><Relationship Type="http://schemas.openxmlformats.org/officeDocument/2006/relationships/viewProps" Target="/ppt/viewProps.xml" Id="R151d9396e2954ce7" /><Relationship Type="http://schemas.openxmlformats.org/officeDocument/2006/relationships/tableStyles" Target="/ppt/tableStyles.xml" Id="R9804ee7bd4c24dbe" /><Relationship Type="http://schemas.openxmlformats.org/officeDocument/2006/relationships/slide" Target="/ppt/slides/slide1.xml" Id="R6e179e3946544b9d" /><Relationship Type="http://schemas.openxmlformats.org/officeDocument/2006/relationships/slide" Target="/ppt/slides/slide2.xml" Id="Rbb99447f1b204d88" /><Relationship Type="http://schemas.openxmlformats.org/officeDocument/2006/relationships/slide" Target="/ppt/slides/slide3.xml" Id="Ra3c978242afe42f6" /><Relationship Type="http://schemas.openxmlformats.org/officeDocument/2006/relationships/slide" Target="/ppt/slides/slide4.xml" Id="Rc2932082bf2e41e3" /><Relationship Type="http://schemas.openxmlformats.org/officeDocument/2006/relationships/slide" Target="/ppt/slides/slide5.xml" Id="R5700a55d35344723" /><Relationship Type="http://schemas.openxmlformats.org/officeDocument/2006/relationships/slide" Target="/ppt/slides/slide6.xml" Id="Rbb7554486f984284" /><Relationship Type="http://schemas.openxmlformats.org/officeDocument/2006/relationships/slide" Target="/ppt/slides/slide7.xml" Id="Rfbff0b0293fd41c8" /><Relationship Type="http://schemas.openxmlformats.org/officeDocument/2006/relationships/slide" Target="/ppt/slides/slide8.xml" Id="R2c046bdeca9b46b6" /><Relationship Type="http://schemas.openxmlformats.org/officeDocument/2006/relationships/slide" Target="/ppt/slides/slide9.xml" Id="Rb5234a9ed0074e5a" /><Relationship Type="http://schemas.openxmlformats.org/officeDocument/2006/relationships/slide" Target="/ppt/slides/slide10.xml" Id="R4bd80ed16c274451" /><Relationship Type="http://schemas.openxmlformats.org/officeDocument/2006/relationships/slide" Target="/ppt/slides/slide11.xml" Id="R43ec024e3d384ca7" /><Relationship Type="http://schemas.openxmlformats.org/officeDocument/2006/relationships/slide" Target="/ppt/slides/slide12.xml" Id="Rd3c047d230d148fd" /><Relationship Type="http://schemas.openxmlformats.org/officeDocument/2006/relationships/slide" Target="/ppt/slides/slide13.xml" Id="Rc8150ed96a124903" /><Relationship Type="http://schemas.openxmlformats.org/officeDocument/2006/relationships/slide" Target="/ppt/slides/slide14.xml" Id="R7e5976302f0245c4" /><Relationship Type="http://schemas.openxmlformats.org/officeDocument/2006/relationships/slide" Target="/ppt/slides/slide15.xml" Id="R93df0e0b497e45d3" /><Relationship Type="http://schemas.openxmlformats.org/officeDocument/2006/relationships/slide" Target="/ppt/slides/slide16.xml" Id="Rde1c1bb83c2d4267" /><Relationship Type="http://schemas.openxmlformats.org/officeDocument/2006/relationships/slide" Target="/ppt/slides/slide17.xml" Id="R81b99c65ccdf45a1" /><Relationship Type="http://schemas.openxmlformats.org/officeDocument/2006/relationships/slide" Target="/ppt/slides/slide18.xml" Id="R639c70f9fd9a4ee0" /><Relationship Type="http://schemas.openxmlformats.org/officeDocument/2006/relationships/slide" Target="/ppt/slides/slide19.xml" Id="Rcb7d2eb9ac924c7c" /><Relationship Type="http://schemas.openxmlformats.org/officeDocument/2006/relationships/slide" Target="/ppt/slides/slide20.xml" Id="Rf9b714f9d5df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c4447a9f74c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1c020f17594587" /><Relationship Type="http://schemas.openxmlformats.org/officeDocument/2006/relationships/notesMaster" Target="/ppt/notesMasters/notesMaster1.xml" Id="R63e06ca2373748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64d14a10ba4aeb" /><Relationship Type="http://schemas.openxmlformats.org/officeDocument/2006/relationships/notesMaster" Target="/ppt/notesMasters/notesMaster1.xml" Id="Ra5f353cfc1c3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5cde59471148fd" /><Relationship Type="http://schemas.openxmlformats.org/officeDocument/2006/relationships/notesMaster" Target="/ppt/notesMasters/notesMaster1.xml" Id="R18478ee6c838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c51d9163bd4306" /><Relationship Type="http://schemas.openxmlformats.org/officeDocument/2006/relationships/notesMaster" Target="/ppt/notesMasters/notesMaster1.xml" Id="Racdd0f03bd8247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6c9d3381a4295" /><Relationship Type="http://schemas.openxmlformats.org/officeDocument/2006/relationships/notesMaster" Target="/ppt/notesMasters/notesMaster1.xml" Id="R1b1c4047040649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e72bdc46e64dad" /><Relationship Type="http://schemas.openxmlformats.org/officeDocument/2006/relationships/notesMaster" Target="/ppt/notesMasters/notesMaster1.xml" Id="Ree9dd8855ae641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2cfe92a264662" /><Relationship Type="http://schemas.openxmlformats.org/officeDocument/2006/relationships/notesMaster" Target="/ppt/notesMasters/notesMaster1.xml" Id="R7ed407bd378048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1f77331acf48b2" /><Relationship Type="http://schemas.openxmlformats.org/officeDocument/2006/relationships/notesMaster" Target="/ppt/notesMasters/notesMaster1.xml" Id="R19d2b2ff20d04f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7ba5e2e6a042c2" /><Relationship Type="http://schemas.openxmlformats.org/officeDocument/2006/relationships/notesMaster" Target="/ppt/notesMasters/notesMaster1.xml" Id="R513c5047041243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dfec869744832" /><Relationship Type="http://schemas.openxmlformats.org/officeDocument/2006/relationships/notesMaster" Target="/ppt/notesMasters/notesMaster1.xml" Id="R86d7217c947e43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25b570a8eb4d3f" /><Relationship Type="http://schemas.openxmlformats.org/officeDocument/2006/relationships/notesMaster" Target="/ppt/notesMasters/notesMaster1.xml" Id="R8b951e003f1d4e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aa0793b4364724" /><Relationship Type="http://schemas.openxmlformats.org/officeDocument/2006/relationships/notesMaster" Target="/ppt/notesMasters/notesMaster1.xml" Id="Rc8dfe5c414dd4f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02b9169fa646c6" /><Relationship Type="http://schemas.openxmlformats.org/officeDocument/2006/relationships/notesMaster" Target="/ppt/notesMasters/notesMaster1.xml" Id="Re948bbf22d5242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826c79ed9c449d" /><Relationship Type="http://schemas.openxmlformats.org/officeDocument/2006/relationships/notesMaster" Target="/ppt/notesMasters/notesMaster1.xml" Id="R4d82db914ead4c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4077b1d6074306" /><Relationship Type="http://schemas.openxmlformats.org/officeDocument/2006/relationships/notesMaster" Target="/ppt/notesMasters/notesMaster1.xml" Id="R5e9bfc5cdb9a47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cf024262aa41b2" /><Relationship Type="http://schemas.openxmlformats.org/officeDocument/2006/relationships/notesMaster" Target="/ppt/notesMasters/notesMaster1.xml" Id="R00b1d60c0eb149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5722dededb46fb" /><Relationship Type="http://schemas.openxmlformats.org/officeDocument/2006/relationships/notesMaster" Target="/ppt/notesMasters/notesMaster1.xml" Id="R22fcaf59b4ab40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174ad6c91d4708" /><Relationship Type="http://schemas.openxmlformats.org/officeDocument/2006/relationships/notesMaster" Target="/ppt/notesMasters/notesMaster1.xml" Id="R6ff2dd29f6b64a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976defe48e488c" /><Relationship Type="http://schemas.openxmlformats.org/officeDocument/2006/relationships/notesMaster" Target="/ppt/notesMasters/notesMaster1.xml" Id="Rda1d8506b17c47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2e7dfa125b4f59" /><Relationship Type="http://schemas.openxmlformats.org/officeDocument/2006/relationships/notesMaster" Target="/ppt/notesMasters/notesMaster1.xml" Id="Rcb22a4410f4f41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填写三位汇报人姓名和正式日期。封面沿用修改后的华中农业大学模板。</a:t>
            </a:r>
            <a:endParaRPr/>
          </a:p>
          <a:p xmlns:a="http://schemas.openxmlformats.org/drawingml/2006/main">
            <a:r>
              <a:t>建议汇报时长：30–40分钟。内容页共18页。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全组共同。控制在2分钟。只建立ensemble、环境依赖和验证三个概念。不要在此处展开全部生物学背景。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全组共同。此图是整场汇报的导航图。第一次展示全链条，后续每一部分回到对应节点。不要声称六篇论文已经组成真实流水线。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全组共同。此页说明叙事结构。每位同学的论文应当服务于一个问题，不要形成三段独立论文汇报。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</a:t>
            </a:r>
            <a:endParaRPr/>
          </a:p>
          <a:p xmlns:a="http://schemas.openxmlformats.org/drawingml/2006/main">
            <a:r>
              <a:t>讲解时间建议3分钟。先说明GOOSE在总路线中的位置，再讲规则和可控变量。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</a:t>
            </a:r>
            <a:endParaRPr/>
          </a:p>
          <a:p xmlns:a="http://schemas.openxmlformats.org/drawingml/2006/main">
            <a:r>
              <a:t>讲解时间建议3分钟。需要解释距离图代表每个构象中的残基间距离，不能把模型输出理解成一个结构。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</a:t>
            </a:r>
            <a:endParaRPr/>
          </a:p>
          <a:p xmlns:a="http://schemas.openxmlformats.org/drawingml/2006/main">
            <a:r>
              <a:t>讲解时间建议4分钟。详细网络内容保留在答疑，不在大汇报中逐一解释IPA、GSO和所有MLP。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负责人：A与你共同完成。表格中四处“填写”需要根据原文补齐，尤其是环境输入和速度。若没有统一基准，保留不可直接比较的结论。此表必须保持为可编辑原生表格。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负责人：你。建议3分钟。Unified ensemble framework作为评价框架使用，不作为独立论文精讲。强调forward model和非唯一性即可。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全组共同。此页是汇报的逻辑转折。不要声称有了ensemble就自动获得功能。引出LLPSense和后续设计工作。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负责人：B</a:t>
            </a:r>
            <a:endParaRPr/>
          </a:p>
          <a:p xmlns:a="http://schemas.openxmlformats.org/drawingml/2006/main">
            <a:r>
              <a:t>讲解时间建议3分钟。需要严格核对输入、输出和环境变量。若论文没有显式ensemble，不要补写这一层。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B负责，全组讨论。此页不是现有论文结论，而是从文献链条提出的研究假设。汇报时必须明确标注为未来工作。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</a:t>
            </a:r>
            <a:endParaRPr/>
          </a:p>
          <a:p xmlns:a="http://schemas.openxmlformats.org/drawingml/2006/main">
            <a:r>
              <a:t>讲解时间建议4分钟。重点讲自由态ensemble和结合态构象的区别，以及ProteinMPNN和AF2在流程中的作用。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负责人：你。此页用于纠正常见误解。只用一个案例，不需要详细展开三个靶标的生物学背景。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负责人：B</a:t>
            </a:r>
            <a:endParaRPr/>
          </a:p>
          <a:p xmlns:a="http://schemas.openxmlformats.org/drawingml/2006/main">
            <a:r>
              <a:t>讲解时间建议4分钟。重点区分预测LLPS和设计能在凝聚体中执行定位功能的分子。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负责人：你和B共同完成。界面肽的结构假设一栏必须按原文补充，不能根据binder论文推断。此表必须保持为可编辑原生表格。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全组共同。与第3页不同，此页在读完六篇论文后总结证据层级和缺口。红色箭头标出ensemble到环境依赖行为之间的关键断点。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全组共同。每条局限都应当能够回扣前面的论文，不新增未经讨论的结论。建议2分钟。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全组共同。明确三个方向的风险和工作量递增。若老师要求选择课题，优先推荐方向一或方向二。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结束页。可在答疑时返回第17页研究链条或第19页可行方向。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2180fe1c54e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f0c3098a241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314e8c2a241fc" /><Relationship Type="http://schemas.openxmlformats.org/officeDocument/2006/relationships/slideLayout" Target="/ppt/slideLayouts/slideLayout1.xml" Id="Rc7527fac98ae4c75" /><Relationship Type="http://schemas.openxmlformats.org/officeDocument/2006/relationships/slideLayout" Target="/ppt/slideLayouts/slideLayout2.xml" Id="R7267d7a9b08543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27fac98ae4c75"/>
    <p:sldLayoutId xmlns:r="http://schemas.openxmlformats.org/officeDocument/2006/relationships" id="2147483650" r:id="R7267d7a9b08543f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754bca7954886" /><Relationship Type="http://schemas.openxmlformats.org/officeDocument/2006/relationships/notesSlide" Target="/ppt/notesSlides/notesSlide1.xml" Id="R20853d2b0d5a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87804521e4e4b" /><Relationship Type="http://schemas.openxmlformats.org/officeDocument/2006/relationships/image" Target="/ppt/media/image.jpeg" Id="R6919df9aa8704a7e" /><Relationship Type="http://schemas.openxmlformats.org/officeDocument/2006/relationships/notesSlide" Target="/ppt/notesSlides/notesSlide2.xml" Id="R3d5083d830a2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ec5feb11c2484d" /><Relationship Type="http://schemas.openxmlformats.org/officeDocument/2006/relationships/image" Target="/ppt/media/image.jpeg" Id="Rfa07ae719e6449c3" /><Relationship Type="http://schemas.openxmlformats.org/officeDocument/2006/relationships/notesSlide" Target="/ppt/notesSlides/notesSlide3.xml" Id="Rf79c75b97fe9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8fa7ed63647b9" /><Relationship Type="http://schemas.openxmlformats.org/officeDocument/2006/relationships/image" Target="/ppt/media/image.jpeg" Id="R3e2a22e9170249ba" /><Relationship Type="http://schemas.openxmlformats.org/officeDocument/2006/relationships/notesSlide" Target="/ppt/notesSlides/notesSlide4.xml" Id="R85c0dedd347349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d643b193764283" /><Relationship Type="http://schemas.openxmlformats.org/officeDocument/2006/relationships/image" Target="/ppt/media/image.jpeg" Id="Rd2753040843a4ae2" /><Relationship Type="http://schemas.openxmlformats.org/officeDocument/2006/relationships/notesSlide" Target="/ppt/notesSlides/notesSlide5.xml" Id="R066b3d901f414d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5f91fd5e74159" /><Relationship Type="http://schemas.openxmlformats.org/officeDocument/2006/relationships/image" Target="/ppt/media/image.jpeg" Id="Rfb8904c7fe81410b" /><Relationship Type="http://schemas.openxmlformats.org/officeDocument/2006/relationships/notesSlide" Target="/ppt/notesSlides/notesSlide6.xml" Id="R93a4125b488a4d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c44731fb94ba2" /><Relationship Type="http://schemas.openxmlformats.org/officeDocument/2006/relationships/image" Target="/ppt/media/image.jpeg" Id="Rf56c20b447fe4dc9" /><Relationship Type="http://schemas.openxmlformats.org/officeDocument/2006/relationships/notesSlide" Target="/ppt/notesSlides/notesSlide7.xml" Id="R67f839da1af749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17bb34aaa4f45" /><Relationship Type="http://schemas.openxmlformats.org/officeDocument/2006/relationships/image" Target="/ppt/media/image.jpeg" Id="R2424940f835444d9" /><Relationship Type="http://schemas.openxmlformats.org/officeDocument/2006/relationships/notesSlide" Target="/ppt/notesSlides/notesSlide8.xml" Id="Re13d45d4999742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cc0c827064d10" /><Relationship Type="http://schemas.openxmlformats.org/officeDocument/2006/relationships/image" Target="/ppt/media/image.jpeg" Id="Rb7c1b88371eb4565" /><Relationship Type="http://schemas.openxmlformats.org/officeDocument/2006/relationships/notesSlide" Target="/ppt/notesSlides/notesSlide9.xml" Id="R8c41ca027fff42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c6c02ebac4139" /><Relationship Type="http://schemas.openxmlformats.org/officeDocument/2006/relationships/image" Target="/ppt/media/image.jpeg" Id="R287f9cb16d914e29" /><Relationship Type="http://schemas.openxmlformats.org/officeDocument/2006/relationships/notesSlide" Target="/ppt/notesSlides/notesSlide10.xml" Id="R2cbac315eee342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33a01a2c84a8e" /><Relationship Type="http://schemas.openxmlformats.org/officeDocument/2006/relationships/image" Target="/ppt/media/image.jpeg" Id="Rc66cec0a55974967" /><Relationship Type="http://schemas.openxmlformats.org/officeDocument/2006/relationships/notesSlide" Target="/ppt/notesSlides/notesSlide11.xml" Id="R93b4270d07f34e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923090dce04c42" /><Relationship Type="http://schemas.openxmlformats.org/officeDocument/2006/relationships/image" Target="/ppt/media/image.jpeg" Id="R818bd3294d694c4e" /><Relationship Type="http://schemas.openxmlformats.org/officeDocument/2006/relationships/notesSlide" Target="/ppt/notesSlides/notesSlide12.xml" Id="Rddd64dfed0954f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36e5fdcd04362" /><Relationship Type="http://schemas.openxmlformats.org/officeDocument/2006/relationships/image" Target="/ppt/media/image.jpeg" Id="Rb4f248d8365a4322" /><Relationship Type="http://schemas.openxmlformats.org/officeDocument/2006/relationships/notesSlide" Target="/ppt/notesSlides/notesSlide13.xml" Id="R621cc0c795d24d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aeca5ce4d4ea8" /><Relationship Type="http://schemas.openxmlformats.org/officeDocument/2006/relationships/image" Target="/ppt/media/image.jpeg" Id="Rb2fbd996af24459b" /><Relationship Type="http://schemas.openxmlformats.org/officeDocument/2006/relationships/notesSlide" Target="/ppt/notesSlides/notesSlide14.xml" Id="R83b898777c944f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f29cb06d55459f" /><Relationship Type="http://schemas.openxmlformats.org/officeDocument/2006/relationships/image" Target="/ppt/media/image.jpeg" Id="R343e04ae2d954b6e" /><Relationship Type="http://schemas.openxmlformats.org/officeDocument/2006/relationships/notesSlide" Target="/ppt/notesSlides/notesSlide15.xml" Id="R2ac299fc4aba46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d959157404329" /><Relationship Type="http://schemas.openxmlformats.org/officeDocument/2006/relationships/image" Target="/ppt/media/image.jpeg" Id="R0192d7be8e874c37" /><Relationship Type="http://schemas.openxmlformats.org/officeDocument/2006/relationships/notesSlide" Target="/ppt/notesSlides/notesSlide16.xml" Id="Rc836db074ff446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ddc4891d648e6" /><Relationship Type="http://schemas.openxmlformats.org/officeDocument/2006/relationships/image" Target="/ppt/media/image.jpeg" Id="R9b7466e0365a4446" /><Relationship Type="http://schemas.openxmlformats.org/officeDocument/2006/relationships/notesSlide" Target="/ppt/notesSlides/notesSlide17.xml" Id="R88323f9fb6bb48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f0ad52c484dc4" /><Relationship Type="http://schemas.openxmlformats.org/officeDocument/2006/relationships/image" Target="/ppt/media/image.jpeg" Id="R55b158faa4534648" /><Relationship Type="http://schemas.openxmlformats.org/officeDocument/2006/relationships/notesSlide" Target="/ppt/notesSlides/notesSlide18.xml" Id="R3af92e5deabf43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7de9a64104127" /><Relationship Type="http://schemas.openxmlformats.org/officeDocument/2006/relationships/image" Target="/ppt/media/image.jpeg" Id="Rca8541ab4b7c4498" /><Relationship Type="http://schemas.openxmlformats.org/officeDocument/2006/relationships/notesSlide" Target="/ppt/notesSlides/notesSlide19.xml" Id="R6b2ca849cb8243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d4ce546f54439" /><Relationship Type="http://schemas.openxmlformats.org/officeDocument/2006/relationships/image" Target="/ppt/media/image.jpeg" Id="R276e19319f204664" /><Relationship Type="http://schemas.openxmlformats.org/officeDocument/2006/relationships/image" Target="/ppt/media/image.png" Id="Rb2bc8b44395a4e5a" /><Relationship Type="http://schemas.openxmlformats.org/officeDocument/2006/relationships/notesSlide" Target="/ppt/notesSlides/notesSlide20.xml" Id="R0358ba1c3b0d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8C01CC-FB7E-4B82-9864-55BA7217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6FA3"/>
                </a:solidFill>
                <a:latin typeface="Arial"/>
                <a:ea typeface="Arial"/>
                <a:cs typeface="Arial"/>
              </a:rPr>
              <a:t>IDP / IDR × ARTIFICIAL INTELLIGENCE</a:t>
            </a:r>
            <a:endParaRPr sz="1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28E80E-6E4C-4986-8CF4-6EBDF3C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613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02420"/>
                </a:solidFill>
                <a:latin typeface="Times New Roman"/>
                <a:ea typeface="Times New Roman"/>
                <a:cs typeface="Times New Roman"/>
              </a:rPr>
              <a:t>无序蛋白人工智能研究进展</a:t>
            </a:r>
            <a:endParaRPr sz="2800"/>
          </a:p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02420"/>
                </a:solidFill>
                <a:latin typeface="Times New Roman"/>
                <a:ea typeface="Times New Roman"/>
                <a:cs typeface="Times New Roman"/>
              </a:rPr>
              <a:t>序列、构象系综、功能与设计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D65C43-729E-4FA9-8182-1F1C992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48840"/>
            <a:ext cx="8503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三人小组文献调研与研究路线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A2AF9A5-D513-40D1-BC56-1379442E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D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57D277-436D-44F9-B7CD-F5052C3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63240"/>
            <a:ext cx="9784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以六篇代表性工作为节点，梳理 AI–IDP 的任务链、验证边界与可行研究方向</a:t>
            </a:r>
            <a:endParaRPr sz="17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2D8CCA-D0F6-42EB-A313-C78DB266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6052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D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03B68C-E0B0-4765-8162-F6FC3E92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5029200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汇报人：A、B、C    时间：2026.__.__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B8D1D5-990F-4B47-89BD-4C2A558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80644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250">
                <a:solidFill>
                  <a:srgbClr val="A5AAA7"/>
                </a:solidFill>
                <a:latin typeface="Arial"/>
                <a:ea typeface="Arial"/>
                <a:cs typeface="Arial"/>
              </a:rPr>
              <a:t>H U A Z H O N G   A G R I C U L T U R A L   U N I V E R S I T Y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03FD1D-F544-4327-8DCE-7364E82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ABA724D-37CE-4A69-A1A0-A699182A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DAE017-B64C-452B-A4E0-9399551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79018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IDP/IDR 的研究对象</a:t>
            </a:r>
            <a:endParaRPr sz="2400"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9df9aa8704a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2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035B4-8721-4396-B34C-069A5AC3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折叠蛋白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00374-A16B-4AA6-A8D2-1205031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A9BCCB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氨基酸序列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E32A3D-31A9-427D-83CC-1E5A111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6B7"/>
          </a:solidFill>
          <a:ln xmlns:a="http://schemas.openxmlformats.org/drawingml/2006/main" w="0">
            <a:solidFill>
              <a:srgbClr val="8FA6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B2178A-D278-47E8-88DE-7CD72A8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28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少数主导结构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BE0EB-7259-406D-99E8-E67D0E0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 / IDR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EEF67-B208-4071-95F3-6D7FC3C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序列 + 环境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7B8CC-D65E-431A-B4B3-DDF6782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A88E"/>
          </a:solidFill>
          <a:ln xmlns:a="http://schemas.openxmlformats.org/drawingml/2006/main" w="0">
            <a:solidFill>
              <a:srgbClr val="78A88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B63CA-784B-494A-BC0A-1EF593BA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337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构象概率分布</a:t>
            </a:r>
          </a:p>
          <a:p xmlns:a="http://schemas.openxmlformats.org/drawingml/2006/main">
            <a:pPr algn="ctr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多个状态与不同权重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DCC10-4B29-4E21-A822-F65C911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研究对象不再是一张结构图，而是受条件影响的构象分布。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F3EB1-0B0C-4EDC-BB49-5B2C5B2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汇报所需基础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58E98B-214C-4955-9C1C-7BFFE77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ensemble 表示多个构象及其统计权重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盐浓度、温度和结合伙伴会改变分布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评价模型时必须同时看全局尺寸、局部结构和分布覆盖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01226B-9398-47F8-BC48-6D12BA19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44291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后续六篇论文分别处理这条任务链中的不同环节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AI–IDP 任务地图</a:t>
            </a:r>
            <a:endParaRPr sz="2400"/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7ae719e64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3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A71F0-BC6E-4B05-81E2-6C30894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IDR 序列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FBECA-4E1A-4CA6-8A2F-F8CF10EE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41F8C-472C-4D0F-AE26-890AEC90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4C89A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C8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89A8"/>
                </a:solidFill>
                <a:latin typeface="Microsoft YaHei"/>
                <a:ea typeface="Microsoft YaHei"/>
                <a:cs typeface="Microsoft YaHei"/>
              </a:rPr>
              <a:t>序列性质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81E58-2488-416E-A7F4-9773B266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2D34F-1198-4EB9-BCEF-BA7A067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构象系综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906DE-0BFA-45E8-872F-0DFE52AF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D58EF-3DB8-4A51-A795-7D48CE7E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21865B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相互作用与 LLPS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756CF-20D4-4D72-A25F-97ACF23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52ECC-BDC0-4033-A6FF-E2DB2366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667F3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F3C"/>
                </a:solidFill>
                <a:latin typeface="Microsoft YaHei"/>
                <a:ea typeface="Microsoft YaHei"/>
                <a:cs typeface="Microsoft YaHei"/>
              </a:rPr>
              <a:t>生物学功能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56224-0109-42BF-A564-6B54B873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9B3F06-4889-4030-B141-A958A85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工程设计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B94F45-E7DD-49E9-97AE-54BBADB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GOOSE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36CBB-EA4A-4296-AEC4-399AE5E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</a:t>
            </a:r>
          </a:p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8FC1F-9E8A-4518-AE54-335C64D0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243763-C723-443D-BB0E-58B21E41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IDR binder</a:t>
            </a:r>
          </a:p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interface peptide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42A5F-1A13-4EB7-A471-12D235F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5334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Unified ensemble framework：实验观测、模拟与重加权共同约束构象系综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55D4C7-1A45-4B71-8BA5-33D5EC8C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838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当前断点：这些论文覆盖多个节点，但尚未形成经过实验约束的端到端系统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本次汇报的三个问题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a22e91702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4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D2287-E3F6-4F9C-BDB0-1E24BDF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95375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768F1-8DE5-4499-9A44-A573CA1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可信的构象系综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09B1B-4F6E-42FB-A103-D42134D3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AI 能否从一条 IDR 序列生成覆盖合理、局部结构可信的 ensemble？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0C42C-8CD0-4FE9-928B-50C8407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95375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9712B-A9E3-4BF9-B548-7296FCD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环境与功能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6311A-E5EA-4E67-811D-A8D52D62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sequence、ensemble 和 environment 怎样共同决定 LLPS 与相互作用？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1EFD6-99B2-4E48-BA4E-69994A5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95375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AE43C-3B80-49DE-B948-D1D0A82E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功能分子设计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0ECB7-6EC5-40C2-8F0E-377BFC1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能否围绕 IDR 或凝聚体设计 binder、定位肽和新的 IDR 序列？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7AF8B-CFFA-4657-B20D-6BF750F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六篇论文按照问题出现，不按照阅读人或发表顺序排列。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GOOSE：可控 IDR 序列设计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53040843a4a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5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10C83-0243-4942-9854-B4685B5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GOOSE 核心流程图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建议选择：用户指定性质、序列生成、性质检查三部分均出现的图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C2D19-D517-4D59-A5CD-2D40795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ECC94-9676-4ADA-BB57-2BE2292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怎样根据预设的序列或聚合物性质反向生成 IDR 序列？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DE8FA-4EB0-450F-B813-717EAC0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BE212-D3A8-46D4-976E-117F540E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输入：长度、电荷、疏水性、κ 等目标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输出：满足约束的 IDR 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C18297-DED5-4E26-B008-D5872F2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2C3F5-614D-426B-9B95-7DF6B74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展示性质命中率、序列多样性，以及与天然 IDR 的比较。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2111C-01E8-4FFB-9BD1-0415B815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汇报边界：GOOSE 主要设计序列，不直接输出具有统计权重的三维 ensemble。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STARLING：快速构象系综生成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904c7fe81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6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03519-79F4-4D1A-9AB4-C58C48C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STARLING 模型与输出图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建议选择：sequence / ionic strength 输入、距离图或三维构象输出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94A276-532D-44FD-AF88-3BEB153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2BDE5-83AD-45A4-92C2-9460C248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能否从序列和条件快速生成大量相互一致的 IDR 构象？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8D18A-C640-4BB1-932A-7CB4E4C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4A0AE-5200-4304-BC0A-DCA8CB7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输入：IDR 序列及论文支持的环境条件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输出：残基距离表示和三维构象集合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12005-DC24-459C-AA13-17C5A062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91B5C-902F-4743-B928-8105713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突出采样速度、全局尺寸分布和与参考 ensemble 的一致性。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7DF76-32E9-4501-B70C-EA3B50F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汇报边界：模型生成的样本仍受训练 ensemble 和力场质量限制。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IDPFold：残基刚体扩散生成 ensemble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c20b447fe4d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7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BCE1F-258E-4D06-8078-3A620D85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IDPFold Figure 1C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保留 sequence feature、Initialization Block、Denoising Block 和输出路径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F43F7-2182-4FBB-9037-101EABBE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22B1C-09E9-4993-80F7-3310D79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怎样在原子级主链框架上直接生成多样的 IDP 构象？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895F6-535B-439B-A42E-9C4FE159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63FD3-B760-4050-818F-430E1D6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输入：氨基酸序列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输出：多次采样得到的主链构象及扭转角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C08E6-5259-4F6B-89D3-248A6388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AE8E7C-D5E7-4A84-A559-5213B4CA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选择一项全局尺寸结果和一项局部结构结果，不逐层讲完全部网络。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12A1C-3138-4F9B-84CA-A3ACFF0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汇报边界：独立样本不提供构象转换速率，也不能自动解释为真实平衡权重。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 与 IDPFold 的比较</a:t>
            </a:r>
            <a:endParaRPr sz="2400"/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4940f8354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8</a:t>
            </a:r>
            <a:endParaRPr sz="800"/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19125" y="1000125"/>
          <a:ext xmlns:a="http://schemas.openxmlformats.org/drawingml/2006/main" cx="1095375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24125"/>
                <a:gridCol w="2524125"/>
                <a:gridCol w="4095750"/>
              </a:tblGrid>
              <a:tr h="6191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STARLING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IDPFold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汇报中的结论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序列与条件生成 ensemble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序列生成 ensemble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任务相近，建模路线不同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结构表示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按原文填写距离或构象表示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残基刚体框架与扭转角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表示决定可评价的结构细节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填写论文实际支持的条件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填写论文实际支持的条件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不能把未输入的条件当作已建模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计算效率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填写论文报告的速度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填写论文报告的速度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统一硬件和序列长度后再比较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主要证据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全局尺寸、分布和参考系综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全局与局部结构观测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保留实验与模拟来源差异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共同局限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训练数据和力场偏差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训练数据和力场偏差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两者都不能直接证明真实平衡分布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ACF76-C9A7-4590-9592-55C92BF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结论写法：比较建模假设、输出分辨率和验证证据，不简单宣布某个模型更好。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构象系综的确定与验证</a:t>
            </a:r>
            <a:endParaRPr sz="2400"/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1b88371eb4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9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B3374-2417-498D-AB96-6BDE81F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候选构象池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57A11-538A-422C-B075-755334D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89F1C-3E1E-4F2E-A333-079D216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forward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CFB29-60E5-41C7-86FA-173F2AD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93390-4A48-425A-8BD2-72378B4A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实验观测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A975BA-7B28-4E9D-B866-BDD747F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ABB36-C152-4996-89A6-137C793D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统计重加权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135704-D9CB-4205-83CA-478E84A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AE67F-6C3A-4619-85A4-BD3C5C16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一致的 ensemble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241546-4FB5-4683-ABF6-33C48D75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实验约束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A3CD8-3632-47C4-B1EF-F078D5FE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SAXS：整体尺寸与形状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PRE：瞬时长程接触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NMR：局部环境与构象倾向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9ED21D-3046-4957-A12C-F740F64E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需要保留的边界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7922DB-7A4A-4472-A533-FD3F0DAE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实验通常观测 ensemble 的平均量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不同 ensemble 可能产生相似观测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单一指标不能唯一确定分布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7AB0E5-7238-4410-90DF-3E7649B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857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这篇综述承担评价框架，不需要像研究论文一样展开全部实验技术。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 与功能之间的断点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9cb16d914e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10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78A5E-6090-4270-95CE-6B77BCE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氨基酸序列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8296E-E774-4CFB-8908-5C36846F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19375"/>
            <a:ext cx="6667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8E"/>
          </a:solidFill>
          <a:ln xmlns:a="http://schemas.openxmlformats.org/drawingml/2006/main" w="0">
            <a:solidFill>
              <a:srgbClr val="7FA3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0CB71-3D33-473C-A291-EFD961AE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自由态 ensemble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51EF2-B096-4FA4-87FA-390E44C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环境、浓度、伙伴分子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ED06A-4047-4F81-B2E4-6407725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6667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19F6E-25F4-4A2C-97A6-F3EA4C7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3362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LLPS / 结合 / 功能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CC331-F211-4941-B418-71B1379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当前薄弱连接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FA831-F86F-4C2C-A86B-0F1346C7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已有模型经常直接从序列预测功能标签，尚未证明 ensemble 是可解释、必要且可迁移的中间变量。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LLPSense：环境依赖的相分离预测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cec0a5597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11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93BF7-0EAB-4E8B-A1A3-807527F7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LLPSense 数据流与结果图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优先选择能够同时看出序列、环境输入和相分离输出的图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FB31D-EA23-42AC-BCC2-7C7868B8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58DCE-7396-4A32-A553-6A10C67B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怎样利用序列与环境信息预测相分离相关行为？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760C6-7C2F-4042-96E2-CE6D914A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53AAF-9075-4520-B1B1-D92C5CB1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输入：按原文填写序列特征与环境变量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输出：按原文填写分类、分数或相边界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68F91-96B7-4050-AAE1-B5FBAE1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220FE5-1425-4420-AF90-B1AAAF90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突出环境条件是否真正改善预测，以及采用了什么独立测试。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E8F7BA-AC61-4F85-A2E5-C793993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汇报边界：确认模型是否显式使用 ensemble，避免把 sequence 到 LLPS 的直接预测说成机制模型。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sequence、ensemble 与 LLPS 的待验证关系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bd3294d694c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12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D4CDC-4F38-4BF2-8B96-98A7E75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DA7E7-E4C8-4889-9F69-74BDAC5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197"/>
          </a:solidFill>
          <a:ln xmlns:a="http://schemas.openxmlformats.org/drawingml/2006/main" w="0">
            <a:solidFill>
              <a:srgbClr val="8FA1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8E1BD-9A21-4148-B5CD-45FEDF1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conditioned ensemble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6071A-98CE-4877-ADD5-B11685E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3E788-F04B-470E-8713-01D18DB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multivalent interaction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734EC-63BC-4EA0-8AC9-A3164B1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197"/>
          </a:solidFill>
          <a:ln xmlns:a="http://schemas.openxmlformats.org/drawingml/2006/main" w="0">
            <a:solidFill>
              <a:srgbClr val="8FA19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DFE4E-483C-4776-8C25-76C8F38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LLPS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3B51D-50B1-4BAE-9457-4A5AC187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需要验证的中间机制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12C6E-67E4-446D-B8A7-C58EA63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推荐比较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仅序列模型</a:t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序列 + 环境模型</a:t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序列 + 环境 + ensemble 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DD56DC-3135-4AF9-B4D2-D0B836C5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保留蛋白级划分</a:t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更换 ensemble 生成器</a:t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使用实验或独立模拟数据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柔性 IDR 靶标的 binder 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248d8365a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13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B8F71-3D32-48FC-A15A-C65E3638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Diffusing binders Figure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保留靶序列、共同扩散、ProteinMPNN、AF2筛选和实验验证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D44AD-F585-419D-999D-8D9FB2C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AF9C4-3DF8-4CF9-B985-71888EB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靶标没有固定结构时，怎样设计能够结合它的有结构蛋白？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B4EE5-2C07-4493-A25D-ADA15EE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2D962-AC5D-4A29-BBA3-E3F5885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输入：选定 IDR 靶序列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输出：结合态靶构象、binder 主链和 binder 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127B1-240F-4126-9894-DFE756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28F5A6-3339-484A-A76C-F262DB8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选择一个结合亲和力结果和一个代表性复合物结构。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95A434-F665-45AE-9EFA-CB8137A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汇报边界：生成的是候选结合态，不是自由态 ensemble 的统计重建。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binder 设计的证据与适用边界</a:t>
            </a:r>
            <a:endParaRPr sz="24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bd996af2445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14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8E771-1D45-4769-9FA9-E20E606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放置代表性靶标结果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建议只选一个：G3BP1、PrP 或 IL-2RG</a:t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显示靶片段、设计复合物和实验亲和力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F379E-7D77-4E74-AB54-D84201D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论文证明了什么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121F3-F357-43D7-9479-7323F208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240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柔性靶序列可以在设计过程中形成兼容的结合构象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设计的 binder 具有稳定折叠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部分候选通过亲和力和特异性实验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3C44D-E614-4863-9E9C-817DD86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190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论文没有证明什么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231C1-7905-458C-B3D7-248AE7F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33875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没有恢复完整自由态 ensemble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一个 binder 不需要覆盖所有自由构象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AF2 置信度不能替代结合实验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凝聚体界面的 de novo 肽设计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04ae2d95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15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C10DA-1072-4B7D-B35F-D373329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interface peptide 设计流程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建议包括序列设计、凝聚体定位和界面富集的显微证据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FCFC5-7643-4DC5-8D56-E58E1FB6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CD2AC-32B5-4DB8-BC09-9F9BAD31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怎样设计能够优先定位在生物分子凝聚体界面的短肽？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88793-9958-4DD3-8727-C6542F9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F2529-71C8-4BC6-9B7C-0BCFE89A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输入：按原文填写凝聚体与设计条件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输出：具有界面定位偏好的新肽序列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08EA3-1CC6-41F1-AC5D-4F39A59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FA6E5-5E32-4A08-9928-01BA4035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用显微图和定量富集指标证明肽位于界面，而不是只进入凝聚体内部。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D7277-54C2-4069-BC16-70C77C5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汇报边界：这项工作面向凝聚体介观环境，不等同于针对单个 IDR 靶点设计 binder。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两种功能分子设计路线</a:t>
            </a:r>
            <a:endParaRPr sz="2400"/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2d7be8e874c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16</a:t>
            </a:r>
            <a:endParaRPr sz="800"/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19125" y="1095375"/>
          <a:ext xmlns:a="http://schemas.openxmlformats.org/drawingml/2006/main" cx="109537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714625"/>
                <a:gridCol w="2952750"/>
                <a:gridCol w="3476625"/>
              </a:tblGrid>
              <a:tr h="65881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IDR binder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condensate-interface peptide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汇报中的定位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设计对象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有稳定折叠的蛋白质 binder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短肽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产物尺度不同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识别选定 IDR 靶片段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富集于凝聚体界面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靶向对象不同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结构假设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联合生成候选结合态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按论文实际机制填写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不能套用同一结构逻辑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关键验证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亲和力、特异性、稳定性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显微定位与界面富集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评价终点不同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主要用途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阻断、捕获或检测靶标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凝聚体界面调控与递送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均属于功能工程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AA3E7-3BF9-42E4-BC3A-F948973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共同变化：研究目标从“描述 IDP”推进到“设计能够改变或利用 IDP 行为的分子”。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六篇论文在研究链条中的位置</a:t>
            </a:r>
            <a:endParaRPr sz="24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466e0365a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17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89FB9-3E8D-4279-9777-2894161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目标性质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AB6D8-AF72-4AE6-88E4-9BB10C55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50F9B-447D-4A26-A816-A83FF24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IDR 序列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92F1A-0E1B-46B7-9EDC-D519D3C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6417DE-CEE2-44F5-BA33-A0F7645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91FF8-4998-407D-A014-06A6D382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3E0DB-EE5A-4218-9514-54B0EDB4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环境依赖行为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B1ED6-C506-4170-8717-D5CC147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47325-42E8-4168-B96F-E593558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2490B1-6BA2-4738-A0B2-B45CE0E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D61CC-04ED-4183-B40F-B8133E0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工程设计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6D0B1A-83F2-4508-B4E8-1EE0D73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GOOSE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19863-76E5-4D2F-8E76-853FE00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670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</a:t>
            </a:r>
          </a:p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75A5F8-4DDA-41A3-8323-E0BA882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A61F6-53E3-42F6-A3C2-E1FA9794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binder</a:t>
            </a:r>
          </a:p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interface peptide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D1DB51-56F5-46B5-B327-8974415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147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Unified framework</a:t>
            </a:r>
          </a:p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实验与模拟约束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80602-F745-4B01-A7C8-C9AAE13A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C52F3E-61EE-4704-A8D2-2500877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00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方法在各自任务上已经取得结果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F87DF1-A63D-41CB-B7A9-BCE255A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C93C3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尚未连接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07DD74-1676-42AC-A39A-BAF0962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00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ensemble、环境与功能之间仍缺统一验证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现有方法的共同局限</a:t>
            </a:r>
            <a:endParaRPr sz="24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58faa453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18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65F9E-CF91-41FE-8879-012C50B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FCF76-5751-4A0A-BBA6-3AF0FED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953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DC45A-0F94-4192-BF4C-A4757FF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763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真实 IDP ensemble 数据稀缺，模型大量依赖模拟与力场。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990DB-7D03-4364-B540-B26273C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6CDC6-3174-4C63-9265-195B2CC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3C28F-35A7-4F22-A540-4989C4A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66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评价不唯一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B55A0-2F13-4B99-B75C-D4432C8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不同构象分布可能产生相似的平均实验观测。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3C1FB-092E-4C9E-8106-3E264D60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783E08-3A10-4B2E-B634-6784EC0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220C5F-D53A-47A5-BC76-E2FAFE04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84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环境依赖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CF5F2-223A-4B40-93C5-E6FD90A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194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温度、盐浓度、浓度和伙伴分子尚未被统一建模。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7A6A44-258F-429B-B8E3-E553889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226215-DA59-47A6-A094-F8EBEC9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26BE33-5157-44EB-BDA5-3FC013D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模块割裂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EBBB3E-2D0B-46BA-9227-6567E319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909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sequence、ensemble、function 和 design 通常由不同模型处理。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7439FC-3F76-4D1D-A90B-51E9DE34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33DC9-35F2-4707-81DB-051EA699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968C9B-EE3D-4C7F-AB16-930CC89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验证成本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E517CD-64A3-4062-B4F4-B1553C8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625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计算分数提高不等于真实功能提高，关键设计仍需独立验证。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2F340D-5E2E-4BB5-BC46-979A4BA9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501C59-1B47-4196-8F2C-F88F37D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332AA2-E01C-41AF-9F1A-BEE58BF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DDF274-4BD5-4C2D-A171-79C313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可行研究方向与汇报结论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541ab4b7c4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FD2AFA-3EB8-4554-97DF-91B19EB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AE5E3C-B395-410D-AE02-9B67BDB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AF5C2A-BE04-44BB-B485-2108AA7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19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08D15-A789-4BCF-8B31-970FC55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方向一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F1449-E7BB-49A8-8F9A-41B15D67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000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统一评测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0C814-2CF4-47C1-BF07-48677EC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001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在相同序列、环境和观测下比较 STARLING、IDPFold 与 CALVADOS。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E60FC-775B-48F7-8BAB-175B0F90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方向二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E59771-084C-48FE-B644-47D1934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81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 增强的 LLPS 预测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A20A8D-C0A1-4920-8CCE-A93CDEA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比较仅序列、序列加环境、序列加环境与 ensemble 三种模型。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9816A7-4E61-4511-AA1B-E0392E6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方向三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FF968-BD44-4C41-947E-BADB2AB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ensemble-aware 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1A8B6-34C0-4144-AC06-D587BB49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6237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 ensemble、LLPS、聚集风险和多样性组成多目标奖励。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33A41-F9E5-434A-BBEE-A191FA3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总判断：AI 已覆盖 IDR 研究链条的多个节点，但下一步价值来自节点之间的连接和独立验证。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5029374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4C1150-768C-4736-B3FD-8AB46AFD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0756ED-FBE6-4260-9679-39E90D09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732080-A595-46B2-AD63-50F3CBB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讨论与建议</a:t>
            </a:r>
            <a:endParaRPr sz="24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e19319f20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13F517-EE8F-42C6-A2B9-D1EE59B1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FE496E-0223-4F43-BA5B-6514E91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A0C177C-0382-46D2-9566-A34475E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20</a:t>
            </a:r>
            <a:endParaRPr sz="800"/>
          </a:p>
        </p:txBody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c8b44395a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5369" y="1349405"/>
            <a:ext cx="6263640" cy="2512381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208EB59-AD32-4B66-A098-C079841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56533"/>
            <a:ext cx="3566160" cy="613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sz="2600"/>
          </a:p>
        </p:txBody>
      </p:sp>
    </p:spTree>
    <p:extLst>
      <p:ext uri="{BB962C8B-B14F-4D97-AF65-F5344CB8AC3E}">
        <p14:creationId xmlns:p14="http://schemas.microsoft.com/office/powerpoint/2010/main" val="14436230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2026-09-24T06:57:43.6970000Z</dcterms:created>
  <dcterms:modified xsi:type="dcterms:W3CDTF">2026-09-24T06:57:43.6970000Z</dcterms:modified>
</coreProperties>
</file>