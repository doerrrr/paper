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5fbd2d5baa43ac" /><Relationship Type="http://schemas.openxmlformats.org/officeDocument/2006/relationships/extended-properties" Target="/docProps/app.xml" Id="R4d1f24ca24bb4339" /><Relationship Type="http://schemas.openxmlformats.org/officeDocument/2006/relationships/officeDocument" Target="/ppt/presentation.xml" Id="Refed2728ae4148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855022602408b"/>
  </p:sldMasterIdLst>
  <p:notesMasterIdLst>
    <p:notesMasterId xmlns:r="http://schemas.openxmlformats.org/officeDocument/2006/relationships" r:id="R5e7949308b25496b"/>
  </p:notesMasterIdLst>
  <p:sldIdLst>
    <p:sldId xmlns:r="http://schemas.openxmlformats.org/officeDocument/2006/relationships" id="256" r:id="R4473b9579d2f44f9"/>
    <p:sldId xmlns:r="http://schemas.openxmlformats.org/officeDocument/2006/relationships" id="257" r:id="Rdddf5c006aa54c8f"/>
    <p:sldId xmlns:r="http://schemas.openxmlformats.org/officeDocument/2006/relationships" id="258" r:id="R10d4eb17659d47cd"/>
    <p:sldId xmlns:r="http://schemas.openxmlformats.org/officeDocument/2006/relationships" id="259" r:id="Re6728f27eb794ad8"/>
    <p:sldId xmlns:r="http://schemas.openxmlformats.org/officeDocument/2006/relationships" id="260" r:id="R70528096ed344360"/>
    <p:sldId xmlns:r="http://schemas.openxmlformats.org/officeDocument/2006/relationships" id="261" r:id="R84005f78bea647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f695fe9ac4e07" /><Relationship Type="http://schemas.openxmlformats.org/officeDocument/2006/relationships/slideMaster" Target="/ppt/slideMasters/slideMaster1.xml" Id="Rb3d855022602408b" /><Relationship Type="http://schemas.openxmlformats.org/officeDocument/2006/relationships/notesMaster" Target="/ppt/notesMasters/notesMaster1.xml" Id="R5e7949308b25496b" /><Relationship Type="http://schemas.openxmlformats.org/officeDocument/2006/relationships/presProps" Target="/ppt/presProps.xml" Id="R5e2e1e901e264b48" /><Relationship Type="http://schemas.openxmlformats.org/officeDocument/2006/relationships/tableStyles" Target="/ppt/tableStyles.xml" Id="R12b39e3d7d5f4138" /><Relationship Type="http://schemas.openxmlformats.org/officeDocument/2006/relationships/slide" Target="/ppt/slides/slide1.xml" Id="R4473b9579d2f44f9" /><Relationship Type="http://schemas.openxmlformats.org/officeDocument/2006/relationships/slide" Target="/ppt/slides/slide2.xml" Id="Rdddf5c006aa54c8f" /><Relationship Type="http://schemas.openxmlformats.org/officeDocument/2006/relationships/slide" Target="/ppt/slides/slide3.xml" Id="R10d4eb17659d47cd" /><Relationship Type="http://schemas.openxmlformats.org/officeDocument/2006/relationships/slide" Target="/ppt/slides/slide4.xml" Id="Re6728f27eb794ad8" /><Relationship Type="http://schemas.openxmlformats.org/officeDocument/2006/relationships/slide" Target="/ppt/slides/slide5.xml" Id="R70528096ed344360" /><Relationship Type="http://schemas.openxmlformats.org/officeDocument/2006/relationships/slide" Target="/ppt/slides/slide6.xml" Id="R84005f78bea647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a1aa1ba57f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42f381a7b34e49" /><Relationship Type="http://schemas.openxmlformats.org/officeDocument/2006/relationships/notesMaster" Target="/ppt/notesMasters/notesMaster1.xml" Id="R1180648fa2d3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c692113afa40a8" /><Relationship Type="http://schemas.openxmlformats.org/officeDocument/2006/relationships/notesMaster" Target="/ppt/notesMasters/notesMaster1.xml" Id="R87ac2271709146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fb8df1bfa749a6" /><Relationship Type="http://schemas.openxmlformats.org/officeDocument/2006/relationships/notesMaster" Target="/ppt/notesMasters/notesMaster1.xml" Id="R15fa4789a8e3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25fdd395e4598" /><Relationship Type="http://schemas.openxmlformats.org/officeDocument/2006/relationships/notesMaster" Target="/ppt/notesMasters/notesMaster1.xml" Id="Ra1259e4c57da42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0878ba90744cfd" /><Relationship Type="http://schemas.openxmlformats.org/officeDocument/2006/relationships/notesMaster" Target="/ppt/notesMasters/notesMaster1.xml" Id="Rdcab58cb36434c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75f416a1b3459c" /><Relationship Type="http://schemas.openxmlformats.org/officeDocument/2006/relationships/notesMaster" Target="/ppt/notesMasters/notesMaster1.xml" Id="Rdcd29bb189b1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retains only the two core method innovations: relation-specific heterogeneous propagation and distance-based translation/rotation invariance.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 rebuilt from Table 1. Values are means over three runs.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chart rebuilt from Table 2 (2019 holdout). External and cold-start results are summarized from the generalization experiments.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bd87b99af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184c171f1d488b" /><Relationship Type="http://schemas.openxmlformats.org/officeDocument/2006/relationships/slideLayout" Target="/ppt/slideLayouts/slideLayout1.xml" Id="R6472f7d2c0194c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2f7d2c0194c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03c2129e4508" /><Relationship Type="http://schemas.openxmlformats.org/officeDocument/2006/relationships/notesSlide" Target="/ppt/notesSlides/notesSlide1.xml" Id="Re99baf0056f341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c86e51d554b52" /><Relationship Type="http://schemas.openxmlformats.org/officeDocument/2006/relationships/notesSlide" Target="/ppt/notesSlides/notesSlide2.xml" Id="R9c2bc5e204ff4c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7993fad19498a" /><Relationship Type="http://schemas.openxmlformats.org/officeDocument/2006/relationships/image" Target="/ppt/media/image.png" Id="R5f8e25ffe68b45cf" /><Relationship Type="http://schemas.openxmlformats.org/officeDocument/2006/relationships/notesSlide" Target="/ppt/notesSlides/notesSlide3.xml" Id="R5eae75df730645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91238055641ca" /><Relationship Type="http://schemas.openxmlformats.org/officeDocument/2006/relationships/notesSlide" Target="/ppt/notesSlides/notesSlide4.xml" Id="R4294e29ab00c46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ecc4d6a954844" /><Relationship Type="http://schemas.openxmlformats.org/officeDocument/2006/relationships/chart" Target="/ppt/slides/charts/chart1.xml" Id="R8e38e097dc7d4cf0" /><Relationship Type="http://schemas.openxmlformats.org/officeDocument/2006/relationships/notesSlide" Target="/ppt/notesSlides/notesSlide5.xml" Id="Rb0c3d26b2ba444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9f36aaf2e465b" /><Relationship Type="http://schemas.openxmlformats.org/officeDocument/2006/relationships/chart" Target="/ppt/slides/charts/chart2.xml" Id="R2c6f43371b3540bf" /><Relationship Type="http://schemas.openxmlformats.org/officeDocument/2006/relationships/notesSlide" Target="/ppt/notesSlides/notesSlide6.xml" Id="R5451ccf1e4c4494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最佳基线 IGN</c:v>
          </c:tx>
          <c:spPr>
            <a:solidFill xmlns:a="http://schemas.openxmlformats.org/drawingml/2006/main">
              <a:srgbClr val="7890A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0.807</c:v>
              </c:pt>
              <c:pt idx="1">
                <c:v>0.821</c:v>
              </c:pt>
              <c:pt idx="2">
                <c:v>0.63</c:v>
              </c:pt>
            </c:numLit>
          </c:val>
        </c:ser>
        <c:ser>
          <c:idx val="1"/>
          <c:order val="1"/>
          <c:tx>
            <c:v>GIGN</c:v>
          </c:tx>
          <c:spPr>
            <a:solidFill xmlns:a="http://schemas.openxmlformats.org/drawingml/2006/main">
              <a:srgbClr val="0A9A9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0.821</c:v>
              </c:pt>
              <c:pt idx="1">
                <c:v>0.84</c:v>
              </c:pt>
              <c:pt idx="2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7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legend>
      <c:legendPos val="b"/>
      <c:overlay val="0"/>
      <c:spPr>
        <a:ln xmlns:a="http://schemas.openxmlformats.org/drawingml/2006/main" w="0">
          <a:noFill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D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Rₚ</c:v>
          </c:tx>
          <c:spPr>
            <a:solidFill xmlns:a="http://schemas.openxmlformats.org/drawingml/2006/main">
              <a:srgbClr val="0A9A9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8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5B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9A4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A9A94"/>
              </a:solidFill>
            </c:spPr>
          </c:dPt>
          <c:cat>
            <c:strLit>
              <c:ptCount val="4"/>
              <c:pt idx="0">
                <c:v>同质传播
TMP</c:v>
              </c:pt>
              <c:pt idx="1">
                <c:v>绝对坐标
VarTR</c:v>
              </c:pt>
              <c:pt idx="2">
                <c:v>仅平移不变
VarR</c:v>
              </c:pt>
              <c:pt idx="3">
                <c:v>完整 GIGN</c:v>
              </c:pt>
            </c:strLit>
          </c:cat>
          <c:val>
            <c:numLit>
              <c:formatCode>0.000</c:formatCode>
              <c:ptCount val="4"/>
              <c:pt idx="0">
                <c:v>0.634</c:v>
              </c:pt>
              <c:pt idx="1">
                <c:v>0.55</c:v>
              </c:pt>
              <c:pt idx="2">
                <c:v>0.608</c:v>
              </c:pt>
              <c:pt idx="3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7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0D9D5-1D22-42DD-A64B-B8E32592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47296-4E25-46D8-9C87-BD9701D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PAPER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CA4E9-FDCC-4FD8-8F53-D4A2976C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9E20C-4B67-4CAE-BD9B-20090A7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16869-0029-40C8-B1DB-040F640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基于三维结构预测蛋白质–配体结合亲和力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D7149-2472-47C2-9E06-C92912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663F7-CC32-45A2-949F-C0B044AF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核心：异质相互作用建模  +  几何不变性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43462-A9ED-4CAE-9269-C6023453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rPr>
              <a:t>Yang et al.  |  The Journal of Physical Chemistry Letters  | 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BB5D7-70D3-4F39-994A-E1B3391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3205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38BD0-F6C5-4405-AFD3-44E0691E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BACKGROUND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8E958-DC33-4FBC-86FB-C0252301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50B0A-B6E7-4C11-9952-AC951E0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A3959-CEA0-4834-8955-A6CC98E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25CA1-8CFA-4A9D-99A3-5C4C66D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6F484-F764-4048-9E66-B21FBB6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E046E-9022-4C7E-867B-26E454B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2AFF3-0567-40B9-A41E-A8320DB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A0162-D71B-4172-A193-69E0469A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FA5AE-EF8C-4183-8869-0DCB3C6E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54E7E-6800-4659-AFDA-6A3AA85D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25A82-2F00-43C0-8208-34E1083C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0EB93-9130-4568-94B3-AFA087F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B234B-4FD1-41F9-9CEE-58107803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7FD0F-5FC4-4A49-A7EC-FBDFE22D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0F63D-3183-434A-8049-A62C5DB8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D78F9-E9BA-4A9C-8B2A-D44555E9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3D466-2B61-403E-B627-7857A74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7791-E1CC-4EF2-B2EB-ADF0D9B3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9D930-E536-4303-9A87-C614FD15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FD339-CB08-4C0A-AAF1-2BF0811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E0280-7077-4C82-B042-F6B3BED3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05225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75358-C4EB-41EF-96F5-06755FEC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49DE6-E5C5-479F-8F13-29CC7A02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9B007-A20F-498B-A74E-1B6AD3A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47E73-54D5-4AB8-8F57-B670E480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812D0-3164-4311-A7D7-B9DC62D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FC8A7-60B1-4325-88C5-4F15F5B3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C77C36-847C-483A-9614-3935503E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253558-6C83-4CD6-9ED0-538AFBF4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5B6C0-3796-4C96-9671-563CFFA0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9FC0E4-043D-48EB-A5D4-F36E145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3E699-C3BE-408D-9A5E-452FAF2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1085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B54E1-D29D-4A4E-959C-99F5E15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DB6B15-096B-4FAF-8610-D5696E4D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1835253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6F010-F6CD-47BD-9CBE-D85CD2D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5D00E-B7CA-4DFC-B26E-95F0D941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624BF-51C0-42EC-A37B-7CB64BA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97EE-02AE-42D3-8E27-6782A62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27C82-314C-4D72-A9DB-BDC3737E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E2994-A913-405F-9E21-9B431E1B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220E9-8AC6-4487-813A-F4B0CAAC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e25ffe68b45cf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6E50-9C95-4873-A905-AD5ED8A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BA101-81B6-4129-8777-97615B98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9DB95-EE64-4D77-90C1-C1201CAF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3A934-2EA3-43DF-A0F7-E3BF8899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DD0C7-5191-4F1B-896C-C5E89501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499F1-3078-436C-AB78-CCF5EB72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4568B-8767-4180-A30D-248CFAD2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5E5DD-92FF-4916-AC8A-F6A21BA6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6E493-2D6E-4C59-81E9-3039156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F0AE9-B0EC-42DB-8983-AF4DDF0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449490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AF1CA-17CD-4853-AFB8-3931BBE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TWO CORE INNOVATIONS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3BE1-CA5D-4B67-9156-3D208E73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两个核心创新点：分别处理关系与几何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D630C-43CC-44E0-9A31-988FF2A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40EA2-8A20-4D6E-9030-ACFA016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12DDF-3DB2-41FF-9127-97F52AD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1C833-4B40-4B3D-B75E-52B75DCD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44FF6-4E28-4D08-B2A4-7019EE8C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AE93F-7E1A-4B77-8A5C-BB3B7413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C5D85-3F0D-4FEC-930C-729FF41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13D4-71F0-40B2-9030-3C0885C8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72EAF-9AB9-4ACA-A08D-607E7F97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742A7-12C2-42D6-A711-D46E8A7A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6EC73-75EF-44B6-8194-A4C96955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CC250-ABAF-4B76-9AE4-16F64AA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FDEE8-3663-458F-9C7D-C8B4CB16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共价边 E_cov  →  求和聚合 m_cov  →  更新网络 U_cov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B9314-F26F-48B0-8508-FFDF1E39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47438-54BF-4244-A3DD-CB961A6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E_ncov  →  求和聚合 m_ncov  →  更新网络 U_ncov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73366-F6AD-4562-B8AF-C96136D1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h_i^(t+1) = U_cov(h_i, m_cov) + U_ncov(h_i, m_ncov)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B03D5-2793-4D38-8FCD-1E845C75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94A4C-FE89-4DD7-AA78-9F6D1695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A7EE4-FFA5-4290-98A5-AF6847F8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F077E-9879-4485-BF1C-56BBEF9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8B65A-994C-44B1-8936-BF53AC1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距离驱动的几何不变性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A9159-074A-4332-804F-59744B28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905E1-24F2-49CD-AE43-A537EFE6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直接拼接绝对坐标会依赖参考系；同一个复合物整体平移或旋转后，输入表示随之改变。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015A5-E3F0-4F89-A2D8-8B9B7A5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10C26-812E-46B0-8360-D1AEFEDC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3F97D-28CF-4009-ABC5-DA0B16B0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DAB56-3B17-4E12-9136-727568EE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坐标 r_i, r_j  →  d_ji = ||r_j − r_i||₂  →  RBF  →  Linear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E40B0-2F9A-45C7-A8A0-54699248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m_ji = h_j ⊙ λ(d_ji)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32EE06-7BA0-40F2-87B8-AB952C29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C0931-1989-4A66-8294-151B5812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F(R, H) = F(QR + g, H)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C8E57-0181-4CD1-84A9-45A6DE36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30EE7-809E-4959-8EF5-95F4DB9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引入三维距离信息，同时保证同一复合物改变位置或朝向后预测不变。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91F39B-B1D5-4931-ADF0-103DC5F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边界：距离没有显式编码氢键角度等方向信息。</a:t>
            </a:r>
          </a:p>
        </p:txBody>
      </p:sp>
    </p:spTree>
    <p:extLst>
      <p:ext uri="{BB962C8B-B14F-4D97-AF65-F5344CB8AC3E}">
        <p14:creationId xmlns:p14="http://schemas.microsoft.com/office/powerpoint/2010/main" val="1758096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0F06C-A1A2-47D4-B6CB-E8B76975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D33FF-0A5B-4DB6-AED5-141FF956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总体结果：三个外部测试集均取得最高 Pearson Rₚ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334E6-2D46-4D53-9F0B-B70C139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7B222-B5D1-4A39-BE0B-0254DA1E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9B80D-518F-4F2D-B8C3-664F5D58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F4B13-D4FD-4A3D-8E73-53BF170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38e097dc7d4cf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6F6EE-722A-4E0D-9B8B-313D6A4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RMSE（越低越好）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B0212-82B8-4748-830B-B3B264A5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66DA0-981A-4924-8784-B05B7767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01ECD-B83E-4AD4-9EC6-391443E1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−0.048 vs 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A0C66-6383-4546-88CB-888D91B9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75C1B-92F7-42CA-8796-ED739A2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FA81D-2EF6-474C-B079-54C38F2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1.190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BDBC0-CB36-4BC5-81A3-71FB9ED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−0.079 vs 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8A341-6BA8-4EC4-9219-E9A908D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63805-9C2C-4F42-84E2-3941B79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A7F78-2311-4F05-A628-AEC12974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75BA8-DC93-4548-AA63-F41D25B5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−0.017 vs 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0EE92-CD29-4613-9ADE-CE369AFF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857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C075E-0F60-4F45-9DE4-AF76F3C5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rPr>
              <a:t>2019 holdout 更难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72FC2-3D91-4B96-BC9F-5D6FBAF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Rₚ 仅为 0.641，领先幅度也较小。</a:t>
            </a:r>
          </a:p>
        </p:txBody>
      </p:sp>
    </p:spTree>
    <p:extLst>
      <p:ext uri="{BB962C8B-B14F-4D97-AF65-F5344CB8AC3E}">
        <p14:creationId xmlns:p14="http://schemas.microsoft.com/office/powerpoint/2010/main" val="338766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805B8-F1FE-4115-A19B-ADB3EACB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ABLATION &amp;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E57E6-EF30-4F33-854F-00C57D9F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消融验证了两个核心设计，但陌生蛋白质仍是难点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2EC9D-EA60-430F-A9B0-1EAAFCA6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C2A1D-0AE5-4B4E-AD7B-4B424A7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4DA62-7CD4-4D3A-9623-97C9F64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A05AD-1B71-4911-B2D6-E947124A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992E4-3691-483F-B1C5-1937C95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2019 holdout：Pearson Rₚ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6f43371b3540b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3C30C-B817-484E-B576-8B1F723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75F18-68FD-4F42-A0B6-E341D872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3A07D-F767-4752-B2F9-9A7BEAB3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区分两类边有效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DDD03-AF33-43EE-819A-5AF4F4A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 0.641，高于同质传播 0.634。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7F1B9-4504-40EF-88F9-A70586AD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AEEFE-8EC4-4D21-A293-430F74F2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几何不变性更关键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E5CEE-D753-40F3-86F8-99F8212E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绝对坐标降至 0.550；仅去除平移影响可恢复到 0.608。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FC0EA-A7AE-4783-9F88-7239A310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A9BC3-8906-44AC-9327-8CE65860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泛化补充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FA9C8-C64F-45A2-B60A-B872EAC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CSAR-HiQ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4874D-B306-4592-B556-56BE663F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0.774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97EAF-577B-463F-8F9F-7E32BDF0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重新对接构象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D6F11-949C-46F8-8536-CA731AD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0.826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78484-07BF-403E-95A8-5450182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蛋白质序列冷启动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5F7D4-BF05-46A9-B3D1-12FCAE26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Rₚ 0.565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6568A-8AF5-4B16-B9BA-77E21E3D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结论：方法改进稳定，但对未见蛋白质的泛化仍有限。</a:t>
            </a:r>
          </a:p>
        </p:txBody>
      </p:sp>
    </p:spTree>
    <p:extLst>
      <p:ext uri="{BB962C8B-B14F-4D97-AF65-F5344CB8AC3E}">
        <p14:creationId xmlns:p14="http://schemas.microsoft.com/office/powerpoint/2010/main" val="932171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2026-09-14T07:03:16.5660000Z</dcterms:created>
  <dcterms:modified xsi:type="dcterms:W3CDTF">2026-09-14T07:03:16.5660000Z</dcterms:modified>
</coreProperties>
</file>