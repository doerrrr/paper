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8e79960f014ca4" /><Relationship Type="http://schemas.openxmlformats.org/officeDocument/2006/relationships/extended-properties" Target="/docProps/app.xml" Id="Rf6db4e889d1045b7" /><Relationship Type="http://schemas.openxmlformats.org/officeDocument/2006/relationships/officeDocument" Target="/ppt/presentation.xml" Id="Rd8db0d6414ea43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6641192e53479c"/>
  </p:sldMasterIdLst>
  <p:notesMasterIdLst>
    <p:notesMasterId xmlns:r="http://schemas.openxmlformats.org/officeDocument/2006/relationships" r:id="R339f6b8ee32b407b"/>
  </p:notesMasterIdLst>
  <p:sldIdLst>
    <p:sldId xmlns:r="http://schemas.openxmlformats.org/officeDocument/2006/relationships" id="256" r:id="R68f9abed4e2f4bf2"/>
    <p:sldId xmlns:r="http://schemas.openxmlformats.org/officeDocument/2006/relationships" id="257" r:id="R09bd1d3cbdc6497c"/>
    <p:sldId xmlns:r="http://schemas.openxmlformats.org/officeDocument/2006/relationships" id="258" r:id="R61aada48a0714d13"/>
    <p:sldId xmlns:r="http://schemas.openxmlformats.org/officeDocument/2006/relationships" id="259" r:id="Rd9ee9b6205be4c5e"/>
    <p:sldId xmlns:r="http://schemas.openxmlformats.org/officeDocument/2006/relationships" id="260" r:id="R778eb65ea17d437a"/>
    <p:sldId xmlns:r="http://schemas.openxmlformats.org/officeDocument/2006/relationships" id="261" r:id="R8cd23eb3f97948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8a39885b034481" /><Relationship Type="http://schemas.openxmlformats.org/officeDocument/2006/relationships/slideMaster" Target="/ppt/slideMasters/slideMaster1.xml" Id="Rac6641192e53479c" /><Relationship Type="http://schemas.openxmlformats.org/officeDocument/2006/relationships/notesMaster" Target="/ppt/notesMasters/notesMaster1.xml" Id="R339f6b8ee32b407b" /><Relationship Type="http://schemas.openxmlformats.org/officeDocument/2006/relationships/presProps" Target="/ppt/presProps.xml" Id="R68f8acb93c8e45ca" /><Relationship Type="http://schemas.openxmlformats.org/officeDocument/2006/relationships/tableStyles" Target="/ppt/tableStyles.xml" Id="Rec9abe244d6e428a" /><Relationship Type="http://schemas.openxmlformats.org/officeDocument/2006/relationships/slide" Target="/ppt/slides/slide1.xml" Id="R68f9abed4e2f4bf2" /><Relationship Type="http://schemas.openxmlformats.org/officeDocument/2006/relationships/slide" Target="/ppt/slides/slide2.xml" Id="R09bd1d3cbdc6497c" /><Relationship Type="http://schemas.openxmlformats.org/officeDocument/2006/relationships/slide" Target="/ppt/slides/slide3.xml" Id="R61aada48a0714d13" /><Relationship Type="http://schemas.openxmlformats.org/officeDocument/2006/relationships/slide" Target="/ppt/slides/slide4.xml" Id="Rd9ee9b6205be4c5e" /><Relationship Type="http://schemas.openxmlformats.org/officeDocument/2006/relationships/slide" Target="/ppt/slides/slide5.xml" Id="R778eb65ea17d437a" /><Relationship Type="http://schemas.openxmlformats.org/officeDocument/2006/relationships/slide" Target="/ppt/slides/slide6.xml" Id="R8cd23eb3f97948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cd4948ceb840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e4ffe62bf8438a" /><Relationship Type="http://schemas.openxmlformats.org/officeDocument/2006/relationships/notesMaster" Target="/ppt/notesMasters/notesMaster1.xml" Id="R12e3eed48d3e49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c8dd61400146cf" /><Relationship Type="http://schemas.openxmlformats.org/officeDocument/2006/relationships/notesMaster" Target="/ppt/notesMasters/notesMaster1.xml" Id="Rf6897b102c4a47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32352937244d90" /><Relationship Type="http://schemas.openxmlformats.org/officeDocument/2006/relationships/notesMaster" Target="/ppt/notesMasters/notesMaster1.xml" Id="R79d57c487bd64b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d2642df7734edd" /><Relationship Type="http://schemas.openxmlformats.org/officeDocument/2006/relationships/notesMaster" Target="/ppt/notesMasters/notesMaster1.xml" Id="R8a37b3e273d245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5a0375994b4d2a" /><Relationship Type="http://schemas.openxmlformats.org/officeDocument/2006/relationships/notesMaster" Target="/ppt/notesMasters/notesMaster1.xml" Id="R406e4e124c614d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99675c5f7b4106" /><Relationship Type="http://schemas.openxmlformats.org/officeDocument/2006/relationships/notesMaster" Target="/ppt/notesMasters/notesMaster1.xml" Id="Rbc78482a28ca41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Yang et al., J. Phys. Chem. Lett. 2023, 14, 2020–2033. DOI: 10.1021/acs.jpclett.2c03906</a:t>
            </a:r>
          </a:p>
          <a:p xmlns:a="http://schemas.openxmlformats.org/drawingml/2006/main">
            <a:r>
              <a:t>视觉参考：华中农业大学信息学院定制模板 https://coi.hzau.edu.cn/xygk/wh/dzmb.htm 。色彩与标识：学校官方网站 https://www.hzau.edu.cn/info/1172/12644_2.htm ，华农绿 RGB(0,112,50)。校名校徽原图 https://www.hzau.edu.cn/images/LOGO.png 。本文件为重新设计的个人文献汇报，不是学校发布的官方模板原文件。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Motivation follows the paper's distinction between interaction-free and interaction-based methods, its discussion of data scarcity, and the need for structural and interaction inductive biases.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 reproduced from the paper. Source: Yang et al., J. Phys. Chem. Lett. 2023, 14, 2020–2033. DOI: 10.1021/acs.jpclett.2c03906. Local source image: E:\Obsidian\paper\论文\GIGN\Pasted image 20260911161022.png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slide retains only the two core method innovations: relation-specific heterogeneous propagation and distance-based translation/rotation invariance.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Yang et al., J. Phys. Chem. Lett. 2023, 14, 2020–2033. DOI: 10.1021/acs.jpclett.2c03906</a:t>
            </a:r>
          </a:p>
          <a:p xmlns:a="http://schemas.openxmlformats.org/drawingml/2006/main">
            <a:r>
              <a:t>来源：Table 1 与 Data Set Preparation。表格选择6个代表基线，原表包含更多模型。主实验所有模型共用数据划分，报告三次运行均值。本页省略标准差以便比较，原文完整数值见Table 1。增量由GIGN均值减IGN均值计算，没有据此声称统计显著。复合物无重叠不等于蛋白质或配体无重叠。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Yang et al., J. Phys. Chem. Lett. 2023, 14, 2020–2033. DOI: 10.1021/acs.jpclett.2c03906</a:t>
            </a:r>
          </a:p>
          <a:p xmlns:a="http://schemas.openxmlformats.org/drawingml/2006/main">
            <a:r>
              <a:t>来源：Table 2, 3, 4 与 Redocked Structures 章节。冷启动从原11,904个训练样本重新按8:1:1划分，不与主基准直接混同。重对接取2016测试集中RMSD最低且小于2Å的构象。正文变体名VarTR/VarR与表格TRVar/RVar次序不同，本页采用Table 2名称。完整模型均值占优，不表示每项差异都经显著性检验。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59bf56da7a42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72cdf10011477a" /><Relationship Type="http://schemas.openxmlformats.org/officeDocument/2006/relationships/slideLayout" Target="/ppt/slideLayouts/slideLayout1.xml" Id="R9a48544f15884b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48544f15884b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ed87c2d4f4e09" /><Relationship Type="http://schemas.openxmlformats.org/officeDocument/2006/relationships/image" Target="/ppt/media/image.png" Id="Rba7605b942af46de" /><Relationship Type="http://schemas.openxmlformats.org/officeDocument/2006/relationships/notesSlide" Target="/ppt/notesSlides/notesSlide1.xml" Id="R762dacfe50d74b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e754df1ca4334" /><Relationship Type="http://schemas.openxmlformats.org/officeDocument/2006/relationships/notesSlide" Target="/ppt/notesSlides/notesSlide2.xml" Id="Ra4fa64ff0b034c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e32ef792a4819" /><Relationship Type="http://schemas.openxmlformats.org/officeDocument/2006/relationships/image" Target="/ppt/media/image2.png" Id="R235a19cdd03845ef" /><Relationship Type="http://schemas.openxmlformats.org/officeDocument/2006/relationships/notesSlide" Target="/ppt/notesSlides/notesSlide3.xml" Id="R12773ed774e940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a7f7ffc114611" /><Relationship Type="http://schemas.openxmlformats.org/officeDocument/2006/relationships/notesSlide" Target="/ppt/notesSlides/notesSlide4.xml" Id="Rfde18c4a39424e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8e490ddc84e2e" /><Relationship Type="http://schemas.openxmlformats.org/officeDocument/2006/relationships/chart" Target="/ppt/slides/charts/chart1.xml" Id="Rf01e005f37984b0d" /><Relationship Type="http://schemas.openxmlformats.org/officeDocument/2006/relationships/notesSlide" Target="/ppt/notesSlides/notesSlide5.xml" Id="R6ecabbb18b8540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9c074d13e4e4b" /><Relationship Type="http://schemas.openxmlformats.org/officeDocument/2006/relationships/notesSlide" Target="/ppt/notesSlides/notesSlide6.xml" Id="R1f90e6215e0f44b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ΔRₚ</c:v>
          </c:tx>
          <c:spPr>
            <a:solidFill xmlns:a="http://schemas.openxmlformats.org/drawingml/2006/main">
              <a:srgbClr val="007032"/>
            </a:solidFill>
          </c:spPr>
          <c:cat>
            <c:numLit>
              <c:formatCode>General</c:formatCode>
              <c:ptCount val="3"/>
              <c:pt idx="0">
                <c:v>2013</c:v>
              </c:pt>
              <c:pt idx="1">
                <c:v>2016</c:v>
              </c:pt>
              <c:pt idx="2">
                <c:v>2019</c:v>
              </c:pt>
            </c:numLit>
          </c:cat>
          <c:val>
            <c:numLit>
              <c:formatCode>+0.000</c:formatCode>
              <c:ptCount val="3"/>
              <c:pt idx="0">
                <c:v>0.014</c:v>
              </c:pt>
              <c:pt idx="1">
                <c:v>0.019</c:v>
              </c:pt>
              <c:pt idx="2">
                <c:v>0.011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703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028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EE56C-E539-4B9B-88C1-540DC39D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605b942af46de"/>
          <a:stretch xmlns:a="http://schemas.openxmlformats.org/drawingml/2006/main"/>
        </p:blipFill>
        <p:spPr>
          <a:xfrm xmlns:a="http://schemas.openxmlformats.org/drawingml/2006/main">
            <a:off x="648932" y="381000"/>
            <a:ext cx="3140787" cy="7143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7FD21-2C1F-46CE-8F5A-F62B9D31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238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37796-0777-42D4-A02A-1F1B202F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43100"/>
            <a:ext cx="666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GIGN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6FFFD-A3FF-4DBD-ACD3-1B25561A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099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基于三维结构的蛋白质–配体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882B3-9623-4003-BCC5-FE6056FC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5287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结合亲和力预测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9F68D-AF96-41AC-BF7C-CDD5701B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Geometric Interaction Graph Neural 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79E40-BDBB-48A0-8D79-E5291FB3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Yang Z. et al.  /  The Journal of Physical Chemistry Letters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00F46-412B-4661-954E-48ECE0A4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2023, 14(8): 2020–2033     DOI: 10.1021/acs.jpclett.2c03906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B845D-E533-4C71-BACD-1A38FCA0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9769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3E2437-468C-4F00-B8B3-5E78F271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4D97A-6788-4D4B-AC4A-ADBF153B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研究背景与研究动机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76FBF-FAD0-4922-B1D9-9A5CAB59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61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0E98F-6E9C-42E9-AD04-6AD47AAE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0965C-82CB-4849-A6E3-DD7A1513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99712-86F7-4A82-B067-7CA734C8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44A3A-2AB2-4BD4-9186-C245955F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62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目标：从蛋白质–配体复合物的三维结构，直接预测结合亲和力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78E3F-74AF-432B-B36B-DD2EC445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990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输入：原子化学特征、三维坐标与化学键    |    输出：一个连续的亲和力预测值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08528-88EE-4133-9228-38A4D31F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76500"/>
            <a:ext cx="9525" cy="2733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FCAB3-2744-4717-9FA5-E868FF8E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76500"/>
            <a:ext cx="9525" cy="2733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54A87-7EC8-412B-BFDB-159B5795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1569B-C88D-4E9C-BFE4-AA9930A0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28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为什么要预测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513EBD-BB87-4D62-82EE-E56301F5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905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结合亲和力（PLA）用于候选化合物排序，也服务于虚拟筛选和先导化合物优化。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7A450-21B0-4C61-BDB9-54C4EC17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475"/>
            <a:ext cx="2886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7EFFA-1337-4233-B30F-39E46FE2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719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实验测定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1DBBE1-E103-4130-8F35-EDAB42DC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290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成本高、周期长，难以覆盖大规模候选分子。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4A488-A778-4D57-AB28-299162BC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479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38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B38B4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F4DE51-38C5-426D-A700-91E3B6D9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288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亲和力由什么决定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D9714-4D57-4A9B-8D48-1577E2DC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52750"/>
            <a:ext cx="31432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0D82D6-7846-48C6-8C17-0AA4612F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384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分子内部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3DD1EA-ADEB-4757-B6E0-0EC79B5C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86125"/>
            <a:ext cx="2838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共价拓扑决定原子的局部化学环境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3C2F32-DCBC-4B0A-B4ED-04FCB9E0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05225"/>
            <a:ext cx="31432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B3F1EF-9CFE-4001-B12F-28E67DF8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分子之间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2DD199-D86E-4AEC-BFAA-FB9B67BE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38600"/>
            <a:ext cx="2838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三维距离与空间接触反映结合相互作用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BB39E0-DF46-4A76-956B-DD390E26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529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两类信息必须联合建模；同一种原子处在不同空间位置时，对结合的贡献也不同。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A3B1E4-D345-4299-9538-3D6EA8AF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479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45A944-6124-4374-83D6-42E2D0FA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288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现有方法的缺口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4FE7BA-C2F2-4ECD-8179-D694E01D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62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无相互作用方法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4E6C27-9BBD-45CA-8A49-148B525E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385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91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序列、SMILES 或二维图不包含真实结合构象，难以显式描述蛋白质–配体接触。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3F05C0-21B8-4318-9AB9-90F1A18F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24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51D660-D65F-4AD3-A64C-64C4CA88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862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三维相互作用方法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DB0E25-0B6A-4AE2-BEC5-4A6E5579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624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体素表示计算开销较大；已有图模型可能混合两类边，或分阶段处理分子内、分子间作用。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3A78CB-0CC6-48BD-B760-92384F58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610850" cy="695325"/>
          </a:xfrm>
          <a:prstGeom xmlns:a="http://schemas.openxmlformats.org/drawingml/2006/main" prst="roundRect">
            <a:avLst>
              <a:gd name="adj" fmla="val 17808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9A6DF5-CFC0-43ED-9DC7-5A865996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论文的研究问题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E74183-A242-42BB-B78F-418CC269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能否在同一张原子图中联合学习分子内部结构与跨分子接触，同时区分两类关系并满足平移、旋转不变性？</a:t>
            </a:r>
          </a:p>
        </p:txBody>
      </p:sp>
    </p:spTree>
    <p:extLst>
      <p:ext uri="{BB962C8B-B14F-4D97-AF65-F5344CB8AC3E}">
        <p14:creationId xmlns:p14="http://schemas.microsoft.com/office/powerpoint/2010/main" val="912088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50A0F5-7D94-436A-A451-028066B9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3D6AB-4775-435D-AFDC-1D6F065A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方法：三维相互作用图 + 异质消息传递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1F41C-A490-4664-8298-9852DBD0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61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4557F-86B9-4A01-9986-4E024376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E4FD7-7FC6-44DE-A30F-0BE737BB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D2C30-8DDE-44D3-9590-FBA2C42F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9920C-9804-4F7B-8917-DB9BF1BC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8293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a19cdd03845ef"/>
          <a:stretch xmlns:a="http://schemas.openxmlformats.org/drawingml/2006/main"/>
        </p:blipFill>
        <p:spPr>
          <a:xfrm xmlns:a="http://schemas.openxmlformats.org/drawingml/2006/main">
            <a:off x="1170514" y="1666875"/>
            <a:ext cx="4707471" cy="4238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FEF9F-853D-4FBE-9A59-EBF69E76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449C6-2843-464F-AA17-A7220FEB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构图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61ED0-0729-44EA-9972-B472B78B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240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原子为节点；分子内部化学键为共价边；蛋白质–配体原子对距离 &lt; 5 Å 时建立候选非共价边。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4F62F-155A-4DD3-B860-7399D99A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53A4D-C1B8-4924-829F-0777E890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三层异质交互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BB2F8-F8C6-4796-9B99-B448E99D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7660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共价与非共价消息分别聚合、分别更新，再相加融合；三层逐步扩大原子的多跳感受野。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37A85F-522A-4C31-A8AC-E7147AB5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24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8B4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98A66-207F-4DF9-A340-F5E06522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0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读出亲和力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5F0D9A-C897-47D2-97C0-1CB70121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对全部原子表示做 global sum pooling，再由 MLP 输出一个结合亲和力预测值。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1D06A6-FDE7-4F6A-BB4D-1E53C4D1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626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38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距离 dᵢⱼ 经 RBF 编码后调节消息；模型只依赖原子间距离，因此保持整体平移和旋转不变。</a:t>
            </a:r>
          </a:p>
        </p:txBody>
      </p:sp>
    </p:spTree>
    <p:extLst>
      <p:ext uri="{BB962C8B-B14F-4D97-AF65-F5344CB8AC3E}">
        <p14:creationId xmlns:p14="http://schemas.microsoft.com/office/powerpoint/2010/main" val="15714523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F7BE9F-8AEB-45D8-9495-A76CB771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799AB-AF42-427B-8937-094CD4BF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两个核心创新点：分别处理关系与几何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36FCC-5729-45C4-BE8C-2F9EAA54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61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DF3A9-0039-4192-B6B3-126EBE96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E9682-3150-4F50-A203-3FCE4D97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7B5B1-11AB-4439-B7EF-DFA3979F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3CE44-7B0C-4FAE-A152-0621BE80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9525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744E4-341C-49EA-A0D8-B298512F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8D10C-8A39-4F1D-B472-276BFDA1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04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关系分通道建模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B4210-65AA-47FA-BC0E-D7BD3320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弥补的不足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95682-5270-42AA-BEFF-8C44362C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同质 GNN 把共价键与跨分子接触当成同一种关系，数量较多的非共价消息可能淹没分子内部结构。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25E94-C8E1-4BFF-830F-592EF857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35FA1-C19A-465B-8CF1-E889894C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08609-194F-409A-A69F-CF965D9B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81400"/>
            <a:ext cx="4953000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34A10-1834-4FAB-8E06-C868313C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共价边  E⁽ᶜᵒᵛ⁾  →  求和聚合  mᵢ⁽ᶜᵒᵛ⁾  →  更新网络  U⁽ᶜᵒᵛ⁾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CBBA7-D61C-4F52-ADDB-E4B494EA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67175"/>
            <a:ext cx="4953000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EAEEF-5396-4E62-84A1-4F123835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非共价边  E⁽ⁿᶜᵒᵛ⁾  →  求和聚合  mᵢ⁽ⁿᶜᵒᵛ⁾  →  更新网络  U⁽ⁿᶜᵒᵛ⁾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810E8B-2CF3-4E19-A7AF-32C50712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63D2C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163D2C"/>
                </a:solidFill>
                <a:latin typeface="Cambria Math"/>
                <a:ea typeface="Cambria Math"/>
                <a:cs typeface="Cambria Math"/>
              </a:rPr>
              <a:t>hᵢ⁽ᵗ⁺¹⁾ = U⁽ᶜᵒᵛ⁾(hᵢ⁽ᵗ⁾, mᵢ⁽ᶜᵒᵛ⁾) + U⁽ⁿᶜᵒᵛ⁾(hᵢ⁽ᵗ⁾, mᵢ⁽ⁿᶜᵒᵛ⁾)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08AED2-024F-4626-B0A4-A376723D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ABD9E7-6BE5-4F98-8140-8634DE4E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4352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保留化学骨架与跨分子接触的不同语义，减少两类消息过早混合。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51968F-45E0-4CE8-829F-EE288792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边界：两个分支内部仍采用相同的求和聚合。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59252D-2644-4FC2-B6A9-CE0A99AB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38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B38B4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2DF034-A4B0-4C12-AC89-32556AB4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504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距离驱动的几何不变性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F1ABE6-3867-4919-86AF-1F953F72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05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弥补的不足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B466A8-1F85-4BB5-B85D-38DD416E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直接拼接绝对坐标会依赖参考系；同一个复合物整体平移或旋转后，输入表示随之改变。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767CCA-1C78-4666-9624-58D13AEA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45032C-4D5E-431D-B369-87C18A25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20C805-2093-4DC8-B635-8837533D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81400"/>
            <a:ext cx="4762500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59BC26-C3F0-4E97-961F-37ACCB98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48075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9B5B18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9B5B18"/>
                </a:solidFill>
                <a:latin typeface="Cambria Math"/>
                <a:ea typeface="Cambria Math"/>
                <a:cs typeface="Cambria Math"/>
              </a:rPr>
              <a:t>rᵢ, rⱼ  →  dⱼᵢ = ‖rⱼ − rᵢ‖₂  →  RBF  →  Linear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10CA8F-0EDD-47C4-9C51-F9763FE7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433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63D2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 i="0">
                <a:solidFill>
                  <a:srgbClr val="163D2C"/>
                </a:solidFill>
                <a:latin typeface="Cambria Math"/>
                <a:ea typeface="Cambria Math"/>
                <a:cs typeface="Cambria Math"/>
              </a:rPr>
              <a:t>mⱼᵢ = hⱼ⁽ᵗ⁾ ⊙ λ(dⱼᵢ)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E2E3D0-85E9-45D8-91AF-719F5CD4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4762500" cy="4286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69E76A-C862-4794-A24C-72E83085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57725"/>
            <a:ext cx="445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7032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007032"/>
                </a:solidFill>
                <a:latin typeface="Cambria Math"/>
                <a:ea typeface="Cambria Math"/>
                <a:cs typeface="Cambria Math"/>
              </a:rPr>
              <a:t>F(R, H⁽ᵗ⁾) = F(QR + g, H⁽ᵗ⁾)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7A8A9B-A34E-429D-A5E5-446A488D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95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51CFC9-3B5B-49B7-A1DF-9C666674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435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引入三维距离信息，同时保证同一复合物改变位置或朝向后预测不变。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022996-0BDF-47DD-BE37-3CDD74B9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905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边界：距离没有显式编码氢键角度等方向信息。</a:t>
            </a:r>
          </a:p>
        </p:txBody>
      </p:sp>
    </p:spTree>
    <p:extLst>
      <p:ext uri="{BB962C8B-B14F-4D97-AF65-F5344CB8AC3E}">
        <p14:creationId xmlns:p14="http://schemas.microsoft.com/office/powerpoint/2010/main" val="5339965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EB8FD8-AD07-4DCC-8D62-9873E72B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A5623-029B-4653-8023-06BDA5D8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研究结果：主基准性能与实验设置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8E816-7E93-4744-81EE-7E883829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61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B3482-7E3F-4135-9D2E-464FC520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33FF0-5FAD-4E08-BB95-43763EF3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ED5E5-106A-4093-B9D3-12CF40FC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B45F9-2BCF-4D01-A502-24EAC3C6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代表模型对比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7028B-F645-4999-B520-7C58F6FC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752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每格为 RMSE / Rₚ，分别越低 / 越高越好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7239000" cy="2990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66850"/>
                <a:gridCol w="1924050"/>
                <a:gridCol w="1924050"/>
                <a:gridCol w="1924050"/>
              </a:tblGrid>
              <a:tr h="373856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2013 core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= 107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2016 core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= 285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2019 holdout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= 4,366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</a:tr>
              <a:tr h="373856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DeepDTA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1.639 / 0.718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1.357 / 0.785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1.485 / 0.586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73856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Pafnucy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1.517 / 0.783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1.450 / 0.769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1.438 / 0.612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</a:tr>
              <a:tr h="373856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PotentialNet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1.607 / 0.773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1.503 / 0.772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1.514 / 0.564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73856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GNN-DTI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1.533 / 0.767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1.384 / 0.779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1.446 / 0.614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</a:tr>
              <a:tr h="373856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IGN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1.428 / 0.807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1.269 / 0.821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1.410 / 0.630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73856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EGNN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1.498 / 0.782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1.289 / 0.816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1.399 / 0.628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</a:tr>
              <a:tr h="373856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GIGN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1.380 / 0.821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1.190 / 0.840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1.393 / 0.641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067E4-1CB3-4471-AC3F-30FB15DA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实验如何比较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E6BC1-6D43-4791-AB20-1782CB7B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14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训练与验证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52D2C-1EC7-47AB-B878-461829F3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57425"/>
            <a:ext cx="300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PDBbind 2016</a:t>
            </a:r>
          </a:p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训练 11,904，验证 1,000</a:t>
            </a:r>
          </a:p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各模型使用相同的数据划分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022A0-724F-4E5F-8443-2E50C627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2420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评估方式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F52A4-D6E2-43D1-91FD-01A8171A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67100"/>
            <a:ext cx="3000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3 个随机种子独立训练</a:t>
            </a:r>
          </a:p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按验证集最低 RMSE 选模型</a:t>
            </a:r>
          </a:p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表中展示 3 次运行的均值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173FF-2C91-4002-83BE-D490369A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624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2019 holdout 的意义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765068-82CE-451E-A4E8-B9D2EBDD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05350"/>
            <a:ext cx="3000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使用较新、未重叠的复合物，</a:t>
            </a:r>
          </a:p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近似时间外推，比 core 更难。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AA4EB-3FDF-44D6-9E65-23CB5345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Rₚ 相对最佳基线 IGN 的绝对提升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581025" y="5524500"/>
          <a:ext xmlns:a="http://schemas.openxmlformats.org/drawingml/2006/main" cx="4286250" cy="771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1e005f37984b0d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8BF72A-40D5-4AD2-B6FE-14E531E3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86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主要结论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621D3-5C6A-47C0-8AC2-0B1ECDBD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38800"/>
            <a:ext cx="5981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GIGN 在三个测试集的两项指标均最优。</a:t>
            </a:r>
          </a:p>
          <a:p xmlns:a="http://schemas.openxmlformats.org/drawingml/2006/main">
            <a:pPr algn="l">
              <a:defRPr sz="14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2019 Rₚ 仍仅 0.641，提升幅度较小，外推能力仍有限。</a:t>
            </a:r>
          </a:p>
        </p:txBody>
      </p:sp>
    </p:spTree>
    <p:extLst>
      <p:ext uri="{BB962C8B-B14F-4D97-AF65-F5344CB8AC3E}">
        <p14:creationId xmlns:p14="http://schemas.microsoft.com/office/powerpoint/2010/main" val="290100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1B724-419C-4266-875D-ECEF3D86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DFF1A-E02E-4E49-96BE-DA408D73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研究结果：消融验证与泛化能力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E2EB0-1C42-45AB-9C14-7118EFBB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61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FF565-7429-44E3-9E4A-B52BD978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CC93B-3420-418D-9EBC-986F082C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B97E0-F386-499A-9548-30914D53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9DCFC-4B51-45AC-A945-1C7A5401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704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消融实验：去掉什么，性能如何变化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2AA70-6EB2-44C1-AAA7-930B1F19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719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Pearson Rₚ（↑），均值 ± 标准差，3 次独立运行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7620000" cy="19335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076325"/>
                <a:gridCol w="2000250"/>
                <a:gridCol w="1514475"/>
                <a:gridCol w="1514475"/>
                <a:gridCol w="1514475"/>
              </a:tblGrid>
              <a:tr h="38671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模型变体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改动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2013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2016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2019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</a:tr>
              <a:tr h="38671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TMP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两类边同质传播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.791 ± .003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.822 ± .004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.634 ± .004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671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TRVar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加入绝对坐标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.763 ± .019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.760 ± .010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.550 ± .007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</a:tr>
              <a:tr h="38671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RVar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坐标减去配体质心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.765 ± .007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.788 ± .013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.608 ± .006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671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GIGN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异质传播＋不变性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.821 ± .003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.840 ± .007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.641 ± .006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86207-D8A7-4626-B2CF-BEAA08C8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447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两个设计得到支持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C76AB-AB11-4D28-8FEF-13A340B7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240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关系分通道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388D5-CA89-4CA5-9DDB-9D6B0A78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2574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完整模型在三组测试中均优于 TMP，支持区分共价与非共价消息。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7E95B-4557-40C6-9507-CC0B83DA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981325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平移、旋转不变性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BFEC6-A9FA-4C10-8736-85A96CF9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3242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加入绝对坐标后降幅较大。质心归一化有所恢复，完整模型表现最佳。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A31B5-9403-4296-B4F0-009A1F32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进一步验证：模型能否推广到其他场景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609600" y="4600575"/>
          <a:ext xmlns:a="http://schemas.openxmlformats.org/drawingml/2006/main" cx="7620000" cy="16478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76400"/>
                <a:gridCol w="3467100"/>
                <a:gridCol w="1238250"/>
                <a:gridCol w="1238250"/>
              </a:tblGrid>
              <a:tr h="32956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测试场景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RMSE ↓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Rₚ ↑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</a:tr>
              <a:tr h="32956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跨数据集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CSAR-HiQ，N = 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1.498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2956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重新对接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近天然构象，RMSD &lt; 2 Å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1.261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0.826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</a:tr>
              <a:tr h="32956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配体骨架冷启动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按骨架分组，8:1:1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1.353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2956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蛋白质冷启动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30% 序列相似性分组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1.521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0.565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37E9B-F024-4105-952B-8CB60EEA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219575"/>
            <a:ext cx="2809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适用范围与限制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73C28-1078-47BD-AF60-8D3905DF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蛋白质冷启动未保持领先：EGNN 的 Rₚ 为 0.579。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56BED9-D618-42CF-8014-FD5C9D1D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419725"/>
            <a:ext cx="266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对接验证仅覆盖 RMSD &lt; 2 Å 的近天然构象，不能代表任意错误位姿。</a:t>
            </a:r>
          </a:p>
        </p:txBody>
      </p:sp>
    </p:spTree>
    <p:extLst>
      <p:ext uri="{BB962C8B-B14F-4D97-AF65-F5344CB8AC3E}">
        <p14:creationId xmlns:p14="http://schemas.microsoft.com/office/powerpoint/2010/main" val="1806023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2026-09-14T08:06:10.6910000Z</dcterms:created>
  <dcterms:modified xsi:type="dcterms:W3CDTF">2026-09-14T08:06:10.6910000Z</dcterms:modified>
</coreProperties>
</file>