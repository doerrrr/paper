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4" r:id="rId5"/>
    <p:sldId id="265" r:id="rId6"/>
    <p:sldId id="266" r:id="rId7"/>
    <p:sldId id="261" r:id="rId8"/>
    <p:sldId id="262" r:id="rId9"/>
    <p:sldId id="263" r:id="rId10"/>
    <p:sldId id="267" r:id="rId11"/>
    <p:sldId id="268" r:id="rId12"/>
    <p:sldId id="269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118" autoAdjust="0"/>
  </p:normalViewPr>
  <p:slideViewPr>
    <p:cSldViewPr snapToGrid="0" snapToObjects="1">
      <p:cViewPr>
        <p:scale>
          <a:sx n="125" d="100"/>
          <a:sy n="125" d="100"/>
        </p:scale>
        <p:origin x="-210" y="-7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6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在概念统一后再看整个 AI–IDP 研究链。GOOSE 主要做性质约束下的序列生成；STARLING 和 IDPFold 做 sequence 到 ensemble；LLPSense 处理 sequence、environment 与 LLPS 行为；binder 和 interface peptide 工作进一步走向功能分子设计。这里并不是说六篇论文已经组成完整端到端系统，而是把它们放到同一张地图上，后文分别检查三个连接是否成立：生成是否可信、ensemble 是否增加功能信息、以及设计是否得到真实实验验证。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Towards 综述提供的是一个评价闭环，而不是另一种单独生成模型。第一部分是实验观测，第二部分是计算生成和统计整合，第三部分是验证与比较。核心桥梁是 forward model：它把候选构象和权重转成 SAXS、PRE、smFRET 或 NMR 等可观测量，再与实验比较并调整模型或权重。由于单一平均量可能由不同 ensemble 产生，需要多种互补实验同时约束。这一框架用于检查 STARLING、IDPFold 等模型是否真正可解释和可比较。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benchmark 不等于每篇论文再做一次自测。真正的 benchmark 要固定靶标、环境条件、可观测量、forward model 版本和评分规则，并用参与者看不到的验证数据测试泛化。Towards 提出的 IDP-Bench 包含四个阶段：独立委员会整理高质量数据；团队提交 ensemble；服务器在 held-out 数据上自动多指标评分；结果和失败案例持续公开。其目的不是选一个永远最好的模型，而是明确不同方法在什么序列、长度、环境和实验观测上可靠。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统一流程之后还要解决如何打分。第一层先检查键长、扭转角和碰撞，排除不合理结构；第二层看 SAXS、P(r)、Rg 等全局分布；第三层看 PRE、RDC、smFRET 等局部和长程约束；第四层直接比较完整分布，识别覆盖不足或模式坍缩；第五层做留出观测、新序列和新环境泛化；第六层报告实验误差、forward-model 误差、置信区间和计算成本。综合分数可以排序，但必须保留各指标剖面，否则会掩盖模型只在某一维度表现好的问题。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IDPFold 同样从序列生成多个构象，但表示方式更接近主链几何：每个残基用刚体框架和扭转角描述，扩散过程从随机框架逐步去噪，重复采样得到构象集合。与 STARLING 的差别压缩在本页右下角：一个更强调距离表示与速度，一个更强调刚体、主链几何和扩散生成。共同边界是，论文主要验证生成样本和统计分布，没有证明采样顺序等于真实转换路径，也没有给出真实动力学时间尺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 IDR 靶片段设计 binder。</a:t>
            </a:r>
            <a:br>
              <a:rPr lang="en-US" altLang="zh-CN" dirty="0"/>
            </a:br>
            <a:r>
              <a:rPr lang="zh-CN" altLang="en-US" dirty="0"/>
              <a:t>本文没有提出新的扩散理论，而是将</a:t>
            </a:r>
            <a:r>
              <a:rPr lang="en-US" altLang="zh-CN" dirty="0" err="1"/>
              <a:t>RFdiffusion</a:t>
            </a:r>
            <a:r>
              <a:rPr lang="zh-CN" altLang="en-US" dirty="0"/>
              <a:t>的蛋白质刚体扩散框架扩展到坐标未知的柔性</a:t>
            </a:r>
            <a:r>
              <a:rPr lang="en-US" altLang="zh-CN" dirty="0"/>
              <a:t>IDR</a:t>
            </a:r>
            <a:r>
              <a:rPr lang="zh-CN" altLang="en-US" dirty="0"/>
              <a:t>靶标，使靶标结合态构象与</a:t>
            </a:r>
            <a:r>
              <a:rPr lang="en-US" altLang="zh-CN" dirty="0"/>
              <a:t>binder</a:t>
            </a:r>
            <a:r>
              <a:rPr lang="zh-CN" altLang="en-US" dirty="0"/>
              <a:t>骨架能够联合生成。</a:t>
            </a:r>
            <a:br>
              <a:rPr lang="en-US" altLang="zh-CN" dirty="0"/>
            </a:br>
            <a:r>
              <a:rPr lang="zh-CN" altLang="en-US" dirty="0"/>
              <a:t>图</a:t>
            </a:r>
            <a:r>
              <a:rPr lang="en-US" altLang="zh-CN" dirty="0"/>
              <a:t>A</a:t>
            </a:r>
            <a:r>
              <a:rPr lang="zh-CN" altLang="en-US" dirty="0"/>
              <a:t>展示的是扩散模型生成蛋白质骨架的基本过程。</a:t>
            </a:r>
          </a:p>
          <a:p>
            <a:r>
              <a:rPr lang="zh-CN" altLang="en-US" dirty="0"/>
              <a:t>最左侧表示生成起点：模型从先验分布中随机采样一个高噪声结构。这里随机的是各个残基在三维空间中的位置和朝向，并不是给氨基酸序列加噪。</a:t>
            </a:r>
          </a:p>
          <a:p>
            <a:r>
              <a:rPr lang="zh-CN" altLang="en-US" dirty="0"/>
              <a:t>进入第 </a:t>
            </a:r>
            <a:r>
              <a:rPr lang="en-US" altLang="zh-CN" dirty="0"/>
              <a:t>t </a:t>
            </a:r>
            <a:r>
              <a:rPr lang="zh-CN" altLang="en-US" dirty="0"/>
              <a:t>步后，</a:t>
            </a:r>
            <a:r>
              <a:rPr lang="en-US" altLang="zh-CN" dirty="0" err="1"/>
              <a:t>RFdiffusion</a:t>
            </a:r>
            <a:r>
              <a:rPr lang="zh-CN" altLang="en-US" dirty="0"/>
              <a:t>接收当前带噪结构、时间步以及靶标条件，预测这个结构完全去噪后可能呈现的最终形态。这个预测结果只是模型在当前时刻对最终结构的估计，还不能直接作为输出。</a:t>
            </a:r>
          </a:p>
          <a:p>
            <a:r>
              <a:rPr lang="zh-CN" altLang="en-US" dirty="0"/>
              <a:t>随后，扩散更新过程综合当前带噪结构和预测的干净结构，只去除一部分噪声，得到下一步结构。新的结构再次输入网络，继续进行预测和更新。</a:t>
            </a:r>
          </a:p>
          <a:p>
            <a:r>
              <a:rPr lang="zh-CN" altLang="en-US" dirty="0"/>
              <a:t>随着这个过程反复进行，残基的位置和朝向逐渐从随机状态变得有序，最终形成</a:t>
            </a:r>
            <a:r>
              <a:rPr lang="en-US" altLang="zh-CN" dirty="0"/>
              <a:t>IDR</a:t>
            </a:r>
            <a:r>
              <a:rPr lang="zh-CN" altLang="en-US" dirty="0"/>
              <a:t>的结合态构象以及与它相互匹配的</a:t>
            </a:r>
            <a:r>
              <a:rPr lang="en-US" altLang="zh-CN" dirty="0"/>
              <a:t>binder</a:t>
            </a:r>
            <a:r>
              <a:rPr lang="zh-CN" altLang="en-US" dirty="0"/>
              <a:t>主链结构。</a:t>
            </a:r>
          </a:p>
          <a:p>
            <a:r>
              <a:rPr lang="zh-CN" altLang="en-US" dirty="0"/>
              <a:t>因此，图</a:t>
            </a:r>
            <a:r>
              <a:rPr lang="en-US" altLang="zh-CN" dirty="0"/>
              <a:t>A</a:t>
            </a:r>
            <a:r>
              <a:rPr lang="zh-CN" altLang="en-US" dirty="0"/>
              <a:t>的核心不是“一步预测蛋白质结构”，而是“每一步预测最终结构，再逐步向它靠近”，直到完成整个去噪过程。</a:t>
            </a:r>
            <a:br>
              <a:rPr lang="en-US" altLang="zh-CN" dirty="0"/>
            </a:br>
            <a:r>
              <a:rPr lang="zh-CN" dirty="0"/>
              <a:t>流程是先给出目标氨基酸片段，并可指定候选结合态的二级结构倾向；RFdiffusion 生成与该靶片段兼容的 binder 主链和复合物构象；ProteinMPNN 根据主链设计 binder 序列；AlphaFold 用于筛选单体是否稳定、复合物是否保持预期界面；最后由实验测定亲和力、特异性和稳定性。它解决的是结合态共同设计，不是在恢复 IDR 的完整自由态 ensemble。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这一页不是重复研究链，而是把六篇工作升级为证据矩阵。每一行同时回答代表论文证明了什么、没有证明什么、我们能做什么。综合判断是：性质约束序列设计、快速 ensemble 生成、环境相关 LLPS 预测和功能分子设计都已有局部成果；最明显的断点仍是不同生成器是否在统一 benchmark 上可信，以及 ensemble 是否能为功能预测带来可迁移增益。后续选题应直接围绕这些未闭合连接，而不是重复造一个网络。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汇报人：A、B、C　　时间：2026.__.__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IDP 与 IDR：说的是整条链，还是其中一段？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11099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01772"/>
            <a:ext cx="4617719" cy="8732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176776"/>
            <a:ext cx="494690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术语依据：Towards a Unified Framework… Box 1；文献中常用 “IDPs” 统称两者，本汇报保持区分。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四个关键词：从一条结构到统计系综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498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逐构象计算实验可观测量，再按统计权重求平均：〈O〉 = Σ w · O。所以“模型生成很多结构”并不自动等于得到可信的统计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研究地图：AI–IDP 研究链条与三个判断问题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IDR 序列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序列性质</a:t>
            </a: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159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binder / interface peptide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关注：分布覆盖、实验约束、非唯一性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之外，ensemble 能否稳定提升功能预测？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关注：严格对照、跨环境泛化、消融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关注：设计目标、筛选终点、实验验证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4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评价框架：生成只是起点，必须形成验证闭环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2648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① 实验观测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SAXS：全局尺寸与形状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PRE、smFRET：距离与接触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NMR：局部构象倾向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8640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8096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② 计算生成与整合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MD / 粗粒化 / 知识库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机器学习生成模型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最大熵或统计重加权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04632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4088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③ 验证与比较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物理与几何合理性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互补实验交叉验证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分布距离与功能相关性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" y="3163824"/>
            <a:ext cx="10972800" cy="1755648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" y="3310128"/>
            <a:ext cx="10424160" cy="223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闭环中的关键桥梁：forward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候选构象与权重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923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1927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预测实验可观测量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811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8815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与真实观测比较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5703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调整权重 / 模型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4370832"/>
            <a:ext cx="1042416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互补数据约束同一个 ensemble，避免只拟合一个平均量。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5102352"/>
            <a:ext cx="10972800" cy="58801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2648" y="5102352"/>
            <a:ext cx="54864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6968" y="528523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综述在本汇报中承担“评价框架”的角色：判断 STARLING、IDPFold 等输出是否真的可解释、可比较。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0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2095500"/>
                </a:moveTo>
                <a:cubicBezTo>
                  <a:pt x="2381250" y="0"/>
                  <a:pt x="4381500" y="2095500"/>
                  <a:pt x="6953250" y="1428750"/>
                </a:cubicBezTo>
                <a:cubicBezTo>
                  <a:pt x="9525000" y="762000"/>
                  <a:pt x="10287000" y="47625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1" name="footer-10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5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Benchmark：不是“再测一次”，而是统一条件下的盲测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12648" y="1152144"/>
            <a:ext cx="10972800" cy="72028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1152144"/>
            <a:ext cx="54864" cy="72028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1298448"/>
            <a:ext cx="10497312" cy="427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定义｜固定靶标、环境条件、可观测量与评分规则，用未公开验证数据比较不同方法的真实泛化能力。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5C6E63"/>
                </a:solidFill>
                <a:latin typeface="Arial"/>
                <a:ea typeface="Microsoft YaHei"/>
              </a:rPr>
              <a:t>普通论文自测常使用不同数据、不同参考系综与不同指标，结果不能直接横向比较。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7240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独立整理数据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多类 IDP / IDR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多种互补实验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明确实验条件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36391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28999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593591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59351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提交 ensemble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79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统一输入格式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禁止查看盲测标签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同时报告计算成本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52744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45351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409943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5703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统一自动评分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28231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held-out 数据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全局 + 局部 + 分布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不确定性与残差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69096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61703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226295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92055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持续公开结果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4583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方法排名与指标剖面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失败案例可追踪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新数据循环更新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" y="4151376"/>
            <a:ext cx="10972800" cy="96983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12648" y="4151376"/>
            <a:ext cx="54864" cy="969835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50392" y="4288536"/>
            <a:ext cx="10497312" cy="695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IDP-Bench 要控制的变量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同一靶标与条件　｜　同一实验观测　｜　同一 forward model 或明确版本　｜　同一评分代码　｜　盲测集不参与训练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目标不是选出“万能冠军”，而是知道每种方法在哪类序列、尺度与观测上可靠或失效。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504688"/>
            <a:ext cx="100584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依据：Towards a Unified Framework… 提出的 IDP-Bench 四阶段双年周期与盲测原则。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1"/>
          <p:cNvSpPr/>
          <p:nvPr/>
        </p:nvSpPr>
        <p:spPr>
          <a:xfrm>
            <a:off x="0" y="1476375"/>
            <a:ext cx="12192000" cy="2619375"/>
          </a:xfrm>
          <a:custGeom>
            <a:avLst/>
            <a:gdLst/>
            <a:ahLst/>
            <a:cxnLst/>
            <a:rect l="l" t="t" r="r" b="b"/>
            <a:pathLst>
              <a:path w="12192000" h="2619375">
                <a:moveTo>
                  <a:pt x="0" y="2619375"/>
                </a:moveTo>
                <a:cubicBezTo>
                  <a:pt x="2476500" y="0"/>
                  <a:pt x="4191000" y="2286000"/>
                  <a:pt x="6858000" y="1857375"/>
                </a:cubicBezTo>
                <a:cubicBezTo>
                  <a:pt x="9525000" y="1428750"/>
                  <a:pt x="10287000" y="333375"/>
                  <a:pt x="12192000" y="1571625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7" name="footer-11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6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怎么评价 ensemble：几何、实验、分布与稳健性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12648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6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01　物理与几何有效性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键长、键角、扭转角、碰撞。先排除“不像蛋白”的样本，但通过这一层不等于分布正确。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44568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02　全局 ensemble 一致性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SAXS χ²：散射曲线拟合；P(r) KL：整体距离分布差异；同时报告 Rg 与端到端距离分布。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4152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03　局部与长程约束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PRE RMSE：瞬时长程接触；RDC Q-factor：局部取向；smFRET Wasserstein：距离分布。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04　分布而非只看均值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JS / Wasserstein / Hellinger 距离；图与接触概率的完整分布；检查覆盖不足与模式坍缩。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44568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05　泛化与交叉验证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4568" y="3639312"/>
            <a:ext cx="3108960" cy="412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留出一种观测再预测它；新序列 / 新长度 / 新环境；避免只复现训练或重加权数据。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74152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20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06　不确定性与效率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实验误差 + forward model 误差；bootstrap / 置信区间 / 残差；采样成本与有效独立样本数。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4992624"/>
            <a:ext cx="10972800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6968" y="5175504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评分原则：综合分数便于排序，但必须公开各指标剖面；单一 Rg、距离图或实验拟合都不足以证明 ensemble 正确。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GOOSE：可控 IDR 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1｜GOOSE 的序列设计流程与性质控制结果（源自原文）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怎样根据预设的序列或聚合物性质，反向生成 IDR 序列？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输入：长度、电荷、疏水性、κ 等目标性质。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输出：满足约束的 IDR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性质命中率、序列多样性，以及与天然 IDR 的比较。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GOOSE 主要设计序列，不直接输出具有统计权重的三维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STARLING：快速构象系综生成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1｜STARLING 模型结构与生成结果（源自原文）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能否从序列和条件，快速生成大量相互一致的 IDR 构象？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输入：IDR 序列及论文支持的环境条件。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输出：残基距离表示与三维构象集合。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采样速度、全局尺寸分布，以及与参考 ensemble 的一致性。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样本仍受训练 ensemble 与力场质量的限制。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107" y="1280160"/>
            <a:ext cx="3997520" cy="39227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1｜IDPFold 的扩散去噪框架与主链输出（源自原文）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188720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输入、输出与证据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输入：氨基酸序列。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输出：多次采样的主链构象与扭转角。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证据：同时检查全局尺寸与局部结构。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706793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样本不提供状态转换速率，也不能自动解释为真实平衡权重。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728296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STARLING 强调快速采样与距离表示；IDPFold 强调残基刚体、主链几何与扩散生成。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都依赖参考 ensemble / 模拟分布，“生成得像”不等于“真实权重与动力学正确”。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LLPSense：环境信息有用，但 ensemble 机制尚未证明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" name="Picture 32" descr="llpsen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275" y="1280160"/>
            <a:ext cx="4291184" cy="39227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1｜LLPSense 的数据流与预测表现（源自原文）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188720"/>
            <a:ext cx="4956048" cy="1218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论文能够支持的判断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输入：序列特征 + 原文定义的环境变量。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输出：分类、分数或相边界。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重点：环境条件是否改善独立测试表现。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意义：功能行为不能只看序列本身。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53129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论文尚不能支持的判断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没有显式使用 ensemble，就不能说明“构象分布 → 多价相互作用 → LLPS”这一机制成立。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真正的断点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ensemble 是否比 sequence + environment 提供额外信息？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2370709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8" y="2370709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3816" y="248958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168650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168650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287522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二、避免“看起来提升”的四项检查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64592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59105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数据划分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按蛋白而不是按样本随机划分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216408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10921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跨环境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训练条件之外测试泛化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268224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62737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消融实验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去掉 Rg、接触或局部结构特征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320039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14553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371855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75704" y="366369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评价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预测性能、校准、跨条件稳定性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93792"/>
            <a:ext cx="10497312" cy="692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支持：M3 在蛋白级划分、跨环境和跨生成器测试中仍稳定优于 M2。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不支持：提升只来自数据泄漏、某个生成器偏差，或加入序列长度等简单特征后消失。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柔性 IDR 靶标的 binder 设计：方法、证据与边界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7" y="1152143"/>
            <a:ext cx="7108929" cy="469085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" name="Picture 34"/>
          <p:cNvGrpSpPr/>
          <p:nvPr/>
        </p:nvGrpSpPr>
        <p:grpSpPr>
          <a:xfrm>
            <a:off x="800100" y="1323974"/>
            <a:ext cx="6842760" cy="4519024"/>
            <a:chOff x="800100" y="1323975"/>
            <a:chExt cx="5429250" cy="36195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100" y="1323975"/>
              <a:ext cx="5429250" cy="3619500"/>
            </a:xfrm>
            <a:prstGeom prst="rect">
              <a:avLst/>
            </a:prstGeom>
          </p:spPr>
        </p:pic>
      </p:grpSp>
      <p:sp>
        <p:nvSpPr>
          <p:cNvPr id="37" name="TextBox 36"/>
          <p:cNvSpPr/>
          <p:nvPr/>
        </p:nvSpPr>
        <p:spPr>
          <a:xfrm>
            <a:off x="7874147" y="1250728"/>
            <a:ext cx="3352800" cy="473678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86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lnSpc>
                <a:spcPts val="1860"/>
              </a:lnSpc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联合生成 target 结合构象与 binder 主链。</a:t>
            </a:r>
          </a:p>
        </p:txBody>
      </p:sp>
      <p:sp>
        <p:nvSpPr>
          <p:cNvPr id="38" name="TextBox 37"/>
          <p:cNvSpPr/>
          <p:nvPr/>
        </p:nvSpPr>
        <p:spPr>
          <a:xfrm>
            <a:off x="7874147" y="2354961"/>
            <a:ext cx="3352800" cy="72199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 1｜Sequence-input RFdiffusion</a:t>
            </a:r>
          </a:p>
          <a:p>
            <a:pPr algn="l">
              <a:lnSpc>
                <a:spcPts val="1755"/>
              </a:lnSpc>
              <a:spcBef>
                <a:spcPts val="105"/>
              </a:spcBef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不提供 target 三维坐标，仅输入靶序列；</a:t>
            </a:r>
            <a:br>
              <a:rPr dirty="0"/>
            </a:b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与 binder 在扩散过程中共同成形。</a:t>
            </a:r>
          </a:p>
        </p:txBody>
      </p:sp>
      <p:grpSp>
        <p:nvGrpSpPr>
          <p:cNvPr id="16" name="TextBox 38"/>
          <p:cNvGrpSpPr/>
          <p:nvPr/>
        </p:nvGrpSpPr>
        <p:grpSpPr>
          <a:xfrm>
            <a:off x="7867289" y="3707511"/>
            <a:ext cx="3359658" cy="712375"/>
            <a:chOff x="6622542" y="3645503"/>
            <a:chExt cx="4962906" cy="712375"/>
          </a:xfrm>
        </p:grpSpPr>
        <p:sp>
          <p:nvSpPr>
            <p:cNvPr id="13" name="Freeform 13"/>
            <p:cNvSpPr/>
            <p:nvPr/>
          </p:nvSpPr>
          <p:spPr>
            <a:xfrm>
              <a:off x="6629400" y="3645503"/>
              <a:ext cx="4956048" cy="696658"/>
            </a:xfrm>
            <a:custGeom>
              <a:avLst/>
              <a:gdLst/>
              <a:ahLst/>
              <a:cxnLst/>
              <a:rect l="l" t="t" r="r" b="b"/>
              <a:pathLst>
                <a:path w="4956048" h="696658">
                  <a:moveTo>
                    <a:pt x="0" y="0"/>
                  </a:moveTo>
                  <a:lnTo>
                    <a:pt x="4956048" y="0"/>
                  </a:lnTo>
                  <a:lnTo>
                    <a:pt x="4956048" y="696658"/>
                  </a:lnTo>
                  <a:lnTo>
                    <a:pt x="0" y="69665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23049" y="3645508"/>
              <a:ext cx="183579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2｜二级结构条件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2542" y="3870960"/>
              <a:ext cx="260480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可指定 helix、β-strand 或 loop，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但不固定 target 的精确三维坐标。</a:t>
              </a: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7867289" y="5034634"/>
            <a:ext cx="3355015" cy="712370"/>
            <a:chOff x="6622542" y="4972626"/>
            <a:chExt cx="4962906" cy="712370"/>
          </a:xfrm>
        </p:grpSpPr>
        <p:sp>
          <p:nvSpPr>
            <p:cNvPr id="17" name="Freeform 17"/>
            <p:cNvSpPr/>
            <p:nvPr/>
          </p:nvSpPr>
          <p:spPr>
            <a:xfrm>
              <a:off x="6629400" y="4972717"/>
              <a:ext cx="4956048" cy="696563"/>
            </a:xfrm>
            <a:custGeom>
              <a:avLst/>
              <a:gdLst/>
              <a:ahLst/>
              <a:cxnLst/>
              <a:rect l="l" t="t" r="r" b="b"/>
              <a:pathLst>
                <a:path w="4956048" h="696563">
                  <a:moveTo>
                    <a:pt x="0" y="0"/>
                  </a:moveTo>
                  <a:lnTo>
                    <a:pt x="4956048" y="0"/>
                  </a:lnTo>
                  <a:lnTo>
                    <a:pt x="4956048" y="696563"/>
                  </a:lnTo>
                  <a:lnTo>
                    <a:pt x="0" y="696563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3049" y="4972626"/>
              <a:ext cx="297195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3｜Two-sided partial diffusion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2542" y="5198078"/>
              <a:ext cx="27569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对 target 与 binder 同时部分加噪，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在初始命中附近共同优化结合界面。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凝聚体界面的 de novo 肽设计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peptid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14"/>
            <a:ext cx="5550407" cy="2346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1｜界面定位肽的设计流程与富集验证（源自原文）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怎样设计能够优先定位在生物分子凝聚体界面的短肽？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输入：按原文填写的凝聚体与设计条件。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输出：具有界面定位偏好的新肽序列。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用显微图与定量富集指标证明肽位于界面，而不是只进入凝聚体内部。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面向凝聚体介观环境，不等同于针对单个 IDR 靶点设计 binder。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14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是否覆盖多状态与动态靶向需求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多构象条件设计与鲁棒性筛选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15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三个可落地的计算研究方向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低风险 / 先建立基线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方向一　统一评测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数据：相同序列、条件与观测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基线：STARLING / IDPFold / CALVADOS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指标：Rg、接触、局部结构、覆盖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产出：benchmark、误差分析、工具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风险：创新性取决于数据与评价设计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/>
                <a:ea typeface="Microsoft YaHei"/>
              </a:rPr>
              <a:t>中风险 / 最推荐切入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方向二　ensemble 增强 LLPS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数据：序列、环境、LLPS 标签 / 读数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基线：M1 序列；M2 序列 + 环境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方法：M3 加入 ensemble 统计特征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指标：性能、校准、跨环境泛化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风险：必须控制数据泄漏与生成器偏差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高风险 / 后续拓展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方向三　ensemble-aware 设计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对象：IDR 序列、binder 或定位肽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奖励：ensemble、LLPS、聚集风险与序列多样性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基线：单状态或单目标设计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指标：鲁棒性、特异性、跨状态表现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风险：验证成本最高，需外部合作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建议顺序：统一评测建立可信基线 → 验证 ensemble 的功能增益 → 再进入多目标设计。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结论与讨论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三条结论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1. 概念层面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IDP / IDR 的“无序”指没有单一主导结构；描述它们必须用带统计权重的 ensemble，而不是一条结构。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5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2. 方法层面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GOOSE、STARLING、IDPFold 已能生成序列与构象；但“生成得像”不等于权重与动力学正确。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3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3. 评价层面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只有在统一靶标、条件与观测下的盲测，配合分布级指标，才能比较不同方法。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建议与下一步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最值得投入的切入点是“ensemble 是否提供额外信息”的严格对照实验（M1 / M2 / M3）。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优先统一数据与评价口径：按蛋白划分、跨环境测试、跨生成器消融。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设计类任务（binder、界面肽）验证成本最高，建议先建立评测基线再进入。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需要外部实验合作，才能把“分布正确”从计算结论推进到可检验结论。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/>
                <a:ea typeface="Microsoft YaHei"/>
              </a:rPr>
              <a:t>谢谢！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/>
                <a:ea typeface="Microsoft YaHei"/>
              </a:rPr>
              <a:t>欢迎老师与同学批评指正。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3224</Words>
  <Application>Microsoft Office PowerPoint</Application>
  <PresentationFormat>宽屏</PresentationFormat>
  <Paragraphs>308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6</cp:revision>
  <dcterms:created xsi:type="dcterms:W3CDTF">2026-09-25T08:55:11Z</dcterms:created>
  <dcterms:modified xsi:type="dcterms:W3CDTF">2026-09-27T08:03:31Z</dcterms:modified>
  <cp:category/>
  <cp:contentStatus/>
  <dc:language>zh-CN</dc:language>
</cp:coreProperties>
</file>