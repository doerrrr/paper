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62" r:id="rId6"/>
    <p:sldId id="263" r:id="rId7"/>
    <p:sldId id="276" r:id="rId8"/>
    <p:sldId id="275" r:id="rId9"/>
    <p:sldId id="267" r:id="rId10"/>
    <p:sldId id="271" r:id="rId11"/>
    <p:sldId id="269" r:id="rId12"/>
    <p:sldId id="278" r:id="rId13"/>
    <p:sldId id="277" r:id="rId14"/>
    <p:sldId id="272" r:id="rId15"/>
    <p:sldId id="268" r:id="rId16"/>
    <p:sldId id="273" r:id="rId17"/>
    <p:sldId id="274" r:id="rId18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01" autoAdjust="0"/>
  </p:normalViewPr>
  <p:slideViewPr>
    <p:cSldViewPr snapToGrid="0" snapToObjects="1">
      <p:cViewPr varScale="1">
        <p:scale>
          <a:sx n="95" d="100"/>
          <a:sy n="95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行为；binder 和 interface peptide 工作进一步走向功能分子设计。这里不是说六篇论文已经组成完整系统，而是把它们放到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</a:p>
          <a:p>
            <a:r>
              <a:rPr lang="zh-CN" altLang="en-US" dirty="0"/>
              <a:t>这两个模型虽然在生成方式和结构分辨率上存在差异，但也面临四个共同局限。</a:t>
            </a:r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9CD-9643-8F34-E9A2-064A2A12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6BDDF-5987-DF51-9958-9A85EEFCE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8AE21-D81C-F79C-B547-5A162C143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58</a:t>
            </a:r>
            <a:r>
              <a:rPr lang="zh-CN" altLang="en-US" dirty="0"/>
              <a:t>条</a:t>
            </a:r>
            <a:r>
              <a:rPr lang="en-US" altLang="zh-CN" dirty="0"/>
              <a:t>ensemble</a:t>
            </a:r>
            <a:r>
              <a:rPr lang="zh-CN" altLang="en-US" dirty="0"/>
              <a:t>与真实的对比，</a:t>
            </a:r>
            <a:r>
              <a:rPr lang="en-US" altLang="zh-CN" dirty="0" err="1"/>
              <a:t>DeltaRg</a:t>
            </a:r>
            <a:r>
              <a:rPr lang="en-US" altLang="zh-CN" dirty="0"/>
              <a:t>=</a:t>
            </a:r>
            <a:r>
              <a:rPr lang="zh-CN" altLang="en-US" dirty="0"/>
              <a:t>实验室</a:t>
            </a:r>
            <a:r>
              <a:rPr lang="en-US" altLang="zh-CN" dirty="0"/>
              <a:t>-</a:t>
            </a:r>
            <a:r>
              <a:rPr lang="zh-CN" altLang="en-US" dirty="0"/>
              <a:t>真实值，也就是和实验的对比，然后发现平均的是</a:t>
            </a:r>
            <a:r>
              <a:rPr lang="en-US" altLang="zh-CN" dirty="0"/>
              <a:t>-0.06</a:t>
            </a:r>
            <a:r>
              <a:rPr lang="zh-CN" altLang="en-US" dirty="0"/>
              <a:t>也就是会预测差距</a:t>
            </a:r>
            <a:r>
              <a:rPr lang="en-US" altLang="zh-CN" dirty="0"/>
              <a:t>0.06</a:t>
            </a:r>
            <a:r>
              <a:rPr lang="zh-CN" altLang="en-US" dirty="0"/>
              <a:t>但也还可以了。</a:t>
            </a:r>
            <a:endParaRPr lang="en-US" altLang="zh-CN" dirty="0"/>
          </a:p>
          <a:p>
            <a:r>
              <a:rPr lang="zh-CN" altLang="en-US" dirty="0"/>
              <a:t>之后里面有八个是彩色的柱子，之后把那八个生成的</a:t>
            </a:r>
            <a:r>
              <a:rPr lang="en-US" altLang="zh-CN" dirty="0"/>
              <a:t>ensemble</a:t>
            </a:r>
            <a:r>
              <a:rPr lang="zh-CN" altLang="en-US" dirty="0"/>
              <a:t>放入</a:t>
            </a:r>
            <a:r>
              <a:rPr lang="en-US" altLang="zh-CN" dirty="0"/>
              <a:t>B</a:t>
            </a:r>
            <a:r>
              <a:rPr lang="zh-CN" altLang="en-US" dirty="0"/>
              <a:t>中进行比较，其中柱子上的黑色横线是</a:t>
            </a:r>
            <a:r>
              <a:rPr lang="en-US" altLang="zh-CN" dirty="0" err="1"/>
              <a:t>Rg</a:t>
            </a:r>
            <a:r>
              <a:rPr lang="zh-CN" altLang="en-US" dirty="0"/>
              <a:t>的波动范围</a:t>
            </a:r>
            <a:endParaRPr lang="en-US" altLang="zh-CN" dirty="0"/>
          </a:p>
          <a:p>
            <a:r>
              <a:rPr lang="en-US" altLang="zh-CN" dirty="0"/>
              <a:t>Figure 2B</a:t>
            </a:r>
            <a:r>
              <a:rPr lang="zh-CN" altLang="en-US" dirty="0"/>
              <a:t>进一步考察</a:t>
            </a:r>
            <a:r>
              <a:rPr lang="en-US" altLang="zh-CN" dirty="0" err="1"/>
              <a:t>IDPFold</a:t>
            </a:r>
            <a:r>
              <a:rPr lang="zh-CN" altLang="en-US" dirty="0"/>
              <a:t>能否预测构象尺寸的分布，而不仅是平均回转半径。彩色曲线是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300</a:t>
            </a:r>
            <a:r>
              <a:rPr lang="zh-CN" altLang="en-US" dirty="0"/>
              <a:t>个构象的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分布，黑色虚线是</a:t>
            </a:r>
            <a:r>
              <a:rPr lang="en-US" altLang="zh-CN" dirty="0"/>
              <a:t>CALVADOS</a:t>
            </a:r>
            <a:r>
              <a:rPr lang="zh-CN" altLang="en-US" dirty="0"/>
              <a:t>粗粒化模拟，黑色实线是实验测得的平均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</a:t>
            </a:r>
            <a:r>
              <a:rPr lang="zh-CN" altLang="en-US" dirty="0"/>
              <a:t>。多数蛋白中，</a:t>
            </a:r>
            <a:r>
              <a:rPr lang="en-US" altLang="zh-CN" dirty="0" err="1"/>
              <a:t>IDPFold</a:t>
            </a:r>
            <a:r>
              <a:rPr lang="zh-CN" altLang="en-US" dirty="0"/>
              <a:t>能够产生从紧凑到伸展的不同构象，其分布范围与</a:t>
            </a:r>
            <a:r>
              <a:rPr lang="en-US" altLang="zh-CN" dirty="0"/>
              <a:t>CALVADOS</a:t>
            </a:r>
            <a:r>
              <a:rPr lang="zh-CN" altLang="en-US" dirty="0"/>
              <a:t>大致相似。但实验只提供一个平均值，因此这张图主要证明</a:t>
            </a:r>
            <a:r>
              <a:rPr lang="en-US" altLang="zh-CN" dirty="0" err="1"/>
              <a:t>IDPFold</a:t>
            </a:r>
            <a:r>
              <a:rPr lang="zh-CN" altLang="en-US" dirty="0"/>
              <a:t>复现了模拟中的全局尺寸异质性，还不能证明完整分布就是真实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Figure 4A</a:t>
            </a:r>
            <a:r>
              <a:rPr lang="zh-CN" altLang="en-US" dirty="0"/>
              <a:t>包含三个柱状图，每组比较四种全原子</a:t>
            </a:r>
            <a:r>
              <a:rPr lang="en-US" altLang="zh-CN" dirty="0"/>
              <a:t>MD</a:t>
            </a:r>
            <a:r>
              <a:rPr lang="zh-CN" altLang="en-US" dirty="0"/>
              <a:t>力场与</a:t>
            </a:r>
            <a:r>
              <a:rPr lang="en-US" altLang="zh-CN" dirty="0" err="1"/>
              <a:t>IDPFold</a:t>
            </a:r>
            <a:r>
              <a:rPr lang="zh-CN" altLang="en-US" dirty="0"/>
              <a:t>。上面两图通过</a:t>
            </a:r>
            <a:r>
              <a:rPr lang="en-US" altLang="zh-CN" dirty="0"/>
              <a:t>Cα</a:t>
            </a:r>
            <a:r>
              <a:rPr lang="zh-CN" altLang="en-US" dirty="0"/>
              <a:t>和 </a:t>
            </a:r>
            <a:r>
              <a:rPr lang="en-US" altLang="zh-CN" dirty="0"/>
              <a:t>Cβ</a:t>
            </a:r>
            <a:r>
              <a:rPr lang="zh-CN" altLang="en-US" dirty="0"/>
              <a:t>化学位移误差评价局部结构，</a:t>
            </a:r>
            <a:r>
              <a:rPr lang="en-US" altLang="zh-CN" dirty="0" err="1"/>
              <a:t>IDPFold</a:t>
            </a:r>
            <a:r>
              <a:rPr lang="zh-CN" altLang="en-US" dirty="0"/>
              <a:t>与较好的全原子力场整体相当；最下面通过回转半径相对误差评价整体紧凑程度，</a:t>
            </a:r>
            <a:r>
              <a:rPr lang="en-US" altLang="zh-CN" dirty="0" err="1"/>
              <a:t>IDPFold</a:t>
            </a:r>
            <a:r>
              <a:rPr lang="zh-CN" altLang="en-US" dirty="0"/>
              <a:t>在这</a:t>
            </a:r>
            <a:r>
              <a:rPr lang="en-US" altLang="zh-CN" dirty="0"/>
              <a:t>7</a:t>
            </a:r>
            <a:r>
              <a:rPr lang="zh-CN" altLang="en-US" dirty="0"/>
              <a:t>种测试蛋白上的平均误差最低。因此它的主要优势体现在平均全局尺寸，而局部结构只是达到与先进力场相近的水平。</a:t>
            </a:r>
            <a:endParaRPr lang="en-US" altLang="zh-CN" dirty="0"/>
          </a:p>
          <a:p>
            <a:r>
              <a:rPr lang="en-US" altLang="zh-CN" dirty="0"/>
              <a:t>\(C_\alpha\) </a:t>
            </a:r>
            <a:r>
              <a:rPr lang="zh-CN" altLang="en-US" dirty="0"/>
              <a:t>是氨基酸主链上的中心碳，</a:t>
            </a:r>
            <a:r>
              <a:rPr lang="en-US" altLang="zh-CN" dirty="0"/>
              <a:t>\(C_\beta\) </a:t>
            </a:r>
            <a:r>
              <a:rPr lang="zh-CN" altLang="en-US" dirty="0"/>
              <a:t>是侧链上的第一个碳；化学位移会受到周围电子环境和局部构象影响。因此，通过 </a:t>
            </a:r>
            <a:r>
              <a:rPr lang="en-US" altLang="zh-CN" dirty="0"/>
              <a:t>\(C_\alpha\) </a:t>
            </a:r>
            <a:r>
              <a:rPr lang="zh-CN" altLang="en-US" dirty="0"/>
              <a:t>和 </a:t>
            </a:r>
            <a:r>
              <a:rPr lang="en-US" altLang="zh-CN" dirty="0"/>
              <a:t>\(C_\beta\) </a:t>
            </a:r>
            <a:r>
              <a:rPr lang="zh-CN" altLang="en-US" dirty="0"/>
              <a:t>的化学位移，可以判断某个残基有多少误差</a:t>
            </a:r>
            <a:endParaRPr lang="en-US" altLang="zh-CN" dirty="0"/>
          </a:p>
          <a:p>
            <a:r>
              <a:rPr lang="en-US" altLang="zh-CN" dirty="0"/>
              <a:t>Figure 4B</a:t>
            </a:r>
            <a:r>
              <a:rPr lang="zh-CN" altLang="en-US" dirty="0"/>
              <a:t>对比</a:t>
            </a:r>
            <a:r>
              <a:rPr lang="en-US" altLang="zh-CN" dirty="0"/>
              <a:t>70</a:t>
            </a:r>
            <a:r>
              <a:rPr lang="zh-CN" altLang="en-US" dirty="0"/>
              <a:t>微秒全原子</a:t>
            </a:r>
            <a:r>
              <a:rPr lang="en-US" altLang="zh-CN" dirty="0"/>
              <a:t>MD</a:t>
            </a:r>
            <a:r>
              <a:rPr lang="zh-CN" altLang="en-US" dirty="0"/>
              <a:t>和</a:t>
            </a:r>
            <a:r>
              <a:rPr lang="en-US" altLang="zh-CN" dirty="0" err="1"/>
              <a:t>IDPFold</a:t>
            </a:r>
            <a:r>
              <a:rPr lang="zh-CN" altLang="en-US" dirty="0"/>
              <a:t>生成的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\)-RMSD</a:t>
            </a:r>
            <a:r>
              <a:rPr lang="zh-CN" altLang="en-US" dirty="0"/>
              <a:t>联合分布。横坐标反映整体紧凑程度，纵坐标反映构象相对参考结构的变化程度。全原子</a:t>
            </a:r>
            <a:r>
              <a:rPr lang="en-US" altLang="zh-CN" dirty="0"/>
              <a:t>MD</a:t>
            </a:r>
            <a:r>
              <a:rPr lang="zh-CN" altLang="en-US" dirty="0"/>
              <a:t>覆盖了更广的构象空间和更多伸展状态，而</a:t>
            </a:r>
            <a:r>
              <a:rPr lang="en-US" altLang="zh-CN" dirty="0" err="1"/>
              <a:t>IDPFold</a:t>
            </a:r>
            <a:r>
              <a:rPr lang="zh-CN" altLang="en-US" dirty="0"/>
              <a:t>的分布更加集中。虽然</a:t>
            </a:r>
            <a:r>
              <a:rPr lang="en-US" altLang="zh-CN" dirty="0" err="1"/>
              <a:t>IDPFold</a:t>
            </a:r>
            <a:r>
              <a:rPr lang="zh-CN" altLang="en-US" dirty="0"/>
              <a:t>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更接近实验，但它对完整构象空间的覆盖仍然不足。这说明平均尺寸准确不等于整个</a:t>
            </a:r>
            <a:r>
              <a:rPr lang="en-US" altLang="zh-CN" dirty="0"/>
              <a:t>ensemble</a:t>
            </a:r>
            <a:r>
              <a:rPr lang="zh-CN" altLang="en-US" dirty="0"/>
              <a:t>分布准确。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C</a:t>
            </a:r>
            <a:r>
              <a:rPr lang="zh-CN" altLang="en-US" dirty="0"/>
              <a:t>就是两个生成模型的相对比，都是各有优势</a:t>
            </a:r>
            <a:endParaRPr lang="en-US" altLang="zh-CN" dirty="0"/>
          </a:p>
          <a:p>
            <a:r>
              <a:rPr lang="zh-CN" altLang="en-US" dirty="0"/>
              <a:t>剩下的四个图是</a:t>
            </a:r>
            <a:r>
              <a:rPr lang="en-US" altLang="zh-CN" dirty="0"/>
              <a:t>Cα</a:t>
            </a:r>
            <a:r>
              <a:rPr lang="zh-CN" altLang="en-US" dirty="0"/>
              <a:t>等等是作者做的部分实验。</a:t>
            </a:r>
          </a:p>
        </p:txBody>
      </p:sp>
    </p:spTree>
    <p:extLst>
      <p:ext uri="{BB962C8B-B14F-4D97-AF65-F5344CB8AC3E}">
        <p14:creationId xmlns:p14="http://schemas.microsoft.com/office/powerpoint/2010/main" val="7120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zh-CN" altLang="en-US" dirty="0"/>
              <a:t>因此，它对高度不规则、富含</a:t>
            </a:r>
            <a:r>
              <a:rPr lang="en-US" altLang="zh-CN" dirty="0"/>
              <a:t>loop</a:t>
            </a:r>
            <a:r>
              <a:rPr lang="zh-CN" altLang="en-US" dirty="0"/>
              <a:t>、极度柔性或缺少二级结构倾向的</a:t>
            </a:r>
            <a:r>
              <a:rPr lang="en-US" altLang="zh-CN" dirty="0"/>
              <a:t>IDR</a:t>
            </a:r>
            <a:r>
              <a:rPr lang="zh-CN" altLang="en-US" dirty="0"/>
              <a:t>可能效果较弱。例如</a:t>
            </a:r>
            <a:r>
              <a:rPr lang="en-US" altLang="zh-CN" dirty="0"/>
              <a:t>FUS</a:t>
            </a:r>
            <a:r>
              <a:rPr lang="zh-CN" altLang="en-US" dirty="0"/>
              <a:t>目标中测试</a:t>
            </a:r>
            <a:r>
              <a:rPr lang="en-US" altLang="zh-CN" dirty="0"/>
              <a:t>94</a:t>
            </a:r>
            <a:r>
              <a:rPr lang="zh-CN" altLang="en-US" dirty="0"/>
              <a:t>个设计，只有</a:t>
            </a:r>
            <a:r>
              <a:rPr lang="en-US" altLang="zh-CN" dirty="0"/>
              <a:t>3</a:t>
            </a:r>
            <a:r>
              <a:rPr lang="zh-CN" altLang="en-US" dirty="0"/>
              <a:t>个表现出结合，最佳亲和力约</a:t>
            </a:r>
            <a:r>
              <a:rPr lang="en-US" altLang="zh-CN" dirty="0"/>
              <a:t>520 </a:t>
            </a:r>
            <a:r>
              <a:rPr lang="en-US" altLang="zh-CN" dirty="0" err="1"/>
              <a:t>nM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需要生成和筛选大量候选</a:t>
            </a:r>
          </a:p>
          <a:p>
            <a:r>
              <a:rPr lang="zh-CN" altLang="en-US" dirty="0"/>
              <a:t>每个</a:t>
            </a:r>
            <a:r>
              <a:rPr lang="en-US" altLang="zh-CN" dirty="0"/>
              <a:t>target</a:t>
            </a:r>
            <a:r>
              <a:rPr lang="zh-CN" altLang="en-US" dirty="0"/>
              <a:t>通常需要生成约</a:t>
            </a:r>
            <a:r>
              <a:rPr lang="en-US" altLang="zh-CN" dirty="0"/>
              <a:t>10,000–50,000</a:t>
            </a:r>
            <a:r>
              <a:rPr lang="zh-CN" altLang="en-US" dirty="0"/>
              <a:t>个设计，再经过</a:t>
            </a:r>
            <a:r>
              <a:rPr lang="en-US" altLang="zh-CN" dirty="0" err="1"/>
              <a:t>ProteinMPNN</a:t>
            </a:r>
            <a:r>
              <a:rPr lang="zh-CN" altLang="en-US" dirty="0"/>
              <a:t>、</a:t>
            </a:r>
            <a:r>
              <a:rPr lang="en-US" altLang="zh-CN" dirty="0"/>
              <a:t>AF2</a:t>
            </a:r>
            <a:r>
              <a:rPr lang="zh-CN" altLang="en-US" dirty="0"/>
              <a:t>和</a:t>
            </a:r>
            <a:r>
              <a:rPr lang="en-US" altLang="zh-CN" dirty="0"/>
              <a:t>Rosetta</a:t>
            </a:r>
            <a:r>
              <a:rPr lang="zh-CN" altLang="en-US" dirty="0"/>
              <a:t>筛选，最后选择</a:t>
            </a:r>
            <a:r>
              <a:rPr lang="en-US" altLang="zh-CN" dirty="0"/>
              <a:t>48–96</a:t>
            </a:r>
            <a:r>
              <a:rPr lang="zh-CN" altLang="en-US" dirty="0"/>
              <a:t>个进行实验。</a:t>
            </a:r>
          </a:p>
          <a:p>
            <a:r>
              <a:rPr lang="zh-CN" altLang="en-US" dirty="0"/>
              <a:t>这说明：</a:t>
            </a:r>
          </a:p>
          <a:p>
            <a:r>
              <a:rPr lang="zh-CN" altLang="en-US" dirty="0"/>
              <a:t>现有计算评分还不能准确判断哪个设计一定会结合。</a:t>
            </a:r>
          </a:p>
          <a:p>
            <a:r>
              <a:rPr lang="zh-CN" altLang="en-US" dirty="0"/>
              <a:t>论文证明了“大规模生成加实验筛选”能够找到</a:t>
            </a:r>
            <a:r>
              <a:rPr lang="en-US" altLang="zh-CN" dirty="0"/>
              <a:t>binder</a:t>
            </a:r>
            <a:r>
              <a:rPr lang="zh-CN" altLang="en-US" dirty="0"/>
              <a:t>，但没有证明计算评分可以准确预测实验成功率。</a:t>
            </a:r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长蛋白不等于靶向整个长</a:t>
            </a:r>
            <a:r>
              <a:rPr lang="en-US" altLang="zh-CN" b="1" dirty="0"/>
              <a:t>IDR</a:t>
            </a:r>
          </a:p>
          <a:p>
            <a:r>
              <a:rPr lang="zh-CN" altLang="en-US" dirty="0"/>
              <a:t>例如</a:t>
            </a:r>
            <a:r>
              <a:rPr lang="en-US" altLang="zh-CN" dirty="0"/>
              <a:t>BRCA1_ARATH</a:t>
            </a:r>
            <a:r>
              <a:rPr lang="zh-CN" altLang="en-US" dirty="0"/>
              <a:t>有</a:t>
            </a:r>
            <a:r>
              <a:rPr lang="en-US" altLang="zh-CN" dirty="0"/>
              <a:t>941</a:t>
            </a:r>
            <a:r>
              <a:rPr lang="zh-CN" altLang="en-US" dirty="0"/>
              <a:t>个残基，但论文实际靶向的是其中</a:t>
            </a:r>
            <a:r>
              <a:rPr lang="en-US" altLang="zh-CN" dirty="0"/>
              <a:t>21</a:t>
            </a:r>
            <a:r>
              <a:rPr lang="zh-CN" altLang="en-US" dirty="0"/>
              <a:t>个残基的片段。</a:t>
            </a:r>
          </a:p>
          <a:p>
            <a:r>
              <a:rPr lang="zh-CN" altLang="en-US" dirty="0"/>
              <a:t>所以论文证明的是：</a:t>
            </a:r>
          </a:p>
          <a:p>
            <a:r>
              <a:rPr lang="zh-CN" altLang="en-US" dirty="0"/>
              <a:t>可以从长</a:t>
            </a:r>
            <a:r>
              <a:rPr lang="en-US" altLang="zh-CN" dirty="0"/>
              <a:t>IDP</a:t>
            </a:r>
            <a:r>
              <a:rPr lang="zh-CN" altLang="en-US" dirty="0"/>
              <a:t>中选择一段短区域进行</a:t>
            </a:r>
            <a:r>
              <a:rPr lang="en-US" altLang="zh-CN" dirty="0"/>
              <a:t>binder</a:t>
            </a:r>
            <a:r>
              <a:rPr lang="zh-CN" altLang="en-US" dirty="0"/>
              <a:t>设计。</a:t>
            </a:r>
          </a:p>
          <a:p>
            <a:r>
              <a:rPr lang="zh-CN" altLang="en-US" dirty="0"/>
              <a:t>没有证明一个</a:t>
            </a:r>
            <a:r>
              <a:rPr lang="en-US" altLang="zh-CN" dirty="0"/>
              <a:t>binder</a:t>
            </a:r>
            <a:r>
              <a:rPr lang="zh-CN" altLang="en-US" dirty="0"/>
              <a:t>能够识别整条长</a:t>
            </a:r>
            <a:r>
              <a:rPr lang="en-US" altLang="zh-CN" dirty="0"/>
              <a:t>IDP</a:t>
            </a:r>
            <a:r>
              <a:rPr lang="zh-CN" altLang="en-US" dirty="0"/>
              <a:t>的所有构象，也没有证明方法能够自动选择最适合靶向的片段。</a:t>
            </a:r>
          </a:p>
          <a:p>
            <a:endParaRPr lang="zh-CN" altLang="en-US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3EC5-3C1C-907A-F884-2511832F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E0893-8A80-977C-801E-16B041960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C6C4E-7E8B-3B6C-6163-58E047259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nM</a:t>
            </a:r>
            <a:r>
              <a:rPr lang="zh-CN" altLang="en-US" dirty="0"/>
              <a:t>读纳摩尔每升</a:t>
            </a:r>
            <a:endParaRPr lang="en-US" altLang="zh-CN" dirty="0"/>
          </a:p>
          <a:p>
            <a:r>
              <a:rPr lang="en-US" altLang="zh-CN" dirty="0"/>
              <a:t>Figure 2A</a:t>
            </a:r>
            <a:r>
              <a:rPr lang="zh-CN" altLang="en-US" dirty="0"/>
              <a:t>上方是模型生成的</a:t>
            </a:r>
            <a:r>
              <a:rPr lang="en-US" altLang="zh-CN" dirty="0"/>
              <a:t>amylin</a:t>
            </a:r>
            <a:r>
              <a:rPr lang="zh-CN" altLang="en-US" dirty="0"/>
              <a:t>与</a:t>
            </a:r>
            <a:r>
              <a:rPr lang="en-US" altLang="zh-CN" dirty="0"/>
              <a:t>binder</a:t>
            </a:r>
            <a:r>
              <a:rPr lang="zh-CN" altLang="en-US" dirty="0"/>
              <a:t>复合物。蓝色是</a:t>
            </a:r>
            <a:r>
              <a:rPr lang="en-US" altLang="zh-CN" dirty="0"/>
              <a:t>amylin</a:t>
            </a:r>
            <a:r>
              <a:rPr lang="zh-CN" altLang="en-US" dirty="0"/>
              <a:t>，粉色是设计</a:t>
            </a:r>
            <a:r>
              <a:rPr lang="en-US" altLang="zh-CN" dirty="0"/>
              <a:t>binder</a:t>
            </a:r>
            <a:r>
              <a:rPr lang="zh-CN" altLang="en-US" dirty="0"/>
              <a:t>，模型将柔性的</a:t>
            </a:r>
            <a:r>
              <a:rPr lang="en-US" altLang="zh-CN" dirty="0"/>
              <a:t>amylin</a:t>
            </a:r>
            <a:r>
              <a:rPr lang="zh-CN" altLang="en-US" dirty="0"/>
              <a:t>稳定在一个包含</a:t>
            </a:r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局部结构的特定结合态，同时保留了关键二硫键。下方通过四种</a:t>
            </a:r>
            <a:r>
              <a:rPr lang="en-US" altLang="zh-CN" dirty="0"/>
              <a:t>binder</a:t>
            </a:r>
            <a:r>
              <a:rPr lang="zh-CN" altLang="en-US" dirty="0"/>
              <a:t>浓度的</a:t>
            </a:r>
            <a:r>
              <a:rPr lang="en-US" altLang="zh-CN" dirty="0"/>
              <a:t>BLI</a:t>
            </a:r>
            <a:r>
              <a:rPr lang="zh-CN" altLang="en-US" dirty="0"/>
              <a:t>实验验证结合，曲线上升表示结合、下降表示解离。</a:t>
            </a:r>
            <a:br>
              <a:rPr lang="en-US" altLang="zh-CN" dirty="0"/>
            </a:br>
            <a:r>
              <a:rPr lang="zh-CN" altLang="en-US" dirty="0"/>
              <a:t>作者做的实验是先把这些</a:t>
            </a:r>
            <a:r>
              <a:rPr lang="en-US" altLang="zh-CN" dirty="0"/>
              <a:t>Target</a:t>
            </a:r>
            <a:r>
              <a:rPr lang="zh-CN" altLang="en-US" dirty="0"/>
              <a:t>放入不同浓度的含有</a:t>
            </a:r>
            <a:r>
              <a:rPr lang="en-US" altLang="zh-CN" dirty="0"/>
              <a:t>binder</a:t>
            </a:r>
            <a:r>
              <a:rPr lang="zh-CN" altLang="en-US" dirty="0"/>
              <a:t>溶液中，后面下降越慢说明结合越紧密。</a:t>
            </a:r>
            <a:br>
              <a:rPr lang="en-US" altLang="zh-CN" dirty="0"/>
            </a:br>
            <a:r>
              <a:rPr lang="zh-CN" altLang="en-US" dirty="0"/>
              <a:t>多个浓度的全局拟合得到</a:t>
            </a:r>
            <a:r>
              <a:rPr lang="en-US" altLang="zh-CN" dirty="0"/>
              <a:t>3.8</a:t>
            </a:r>
            <a:r>
              <a:rPr lang="zh-CN" altLang="en-US" dirty="0"/>
              <a:t>纳摩尔的解离常数，证明该设计具有较强的实际亲和力。但这只能验证两者确实结合，不能单独证明计算预测的结合姿势以及自由态构象概率完全正确。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727694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235C-28B1-9713-A17A-3959C47A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645C5-900A-AD14-B0DA-9746EB1F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E3001-6FA0-9C2C-A2B3-B4CA0FD10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nM</a:t>
            </a:r>
            <a:r>
              <a:rPr lang="zh-CN" altLang="en-US" dirty="0"/>
              <a:t>读纳摩尔每升</a:t>
            </a:r>
            <a:endParaRPr lang="en-US" altLang="zh-CN" dirty="0"/>
          </a:p>
          <a:p>
            <a:r>
              <a:rPr lang="en-US" altLang="zh-CN" dirty="0"/>
              <a:t>Figure 2A</a:t>
            </a:r>
            <a:r>
              <a:rPr lang="zh-CN" altLang="en-US" dirty="0"/>
              <a:t>上方是模型生成的</a:t>
            </a:r>
            <a:r>
              <a:rPr lang="en-US" altLang="zh-CN" dirty="0"/>
              <a:t>amylin</a:t>
            </a:r>
            <a:r>
              <a:rPr lang="zh-CN" altLang="en-US" dirty="0"/>
              <a:t>与</a:t>
            </a:r>
            <a:r>
              <a:rPr lang="en-US" altLang="zh-CN" dirty="0"/>
              <a:t>binder</a:t>
            </a:r>
            <a:r>
              <a:rPr lang="zh-CN" altLang="en-US" dirty="0"/>
              <a:t>复合物。蓝色是</a:t>
            </a:r>
            <a:r>
              <a:rPr lang="en-US" altLang="zh-CN" dirty="0"/>
              <a:t>amylin</a:t>
            </a:r>
            <a:r>
              <a:rPr lang="zh-CN" altLang="en-US" dirty="0"/>
              <a:t>，粉色是设计</a:t>
            </a:r>
            <a:r>
              <a:rPr lang="en-US" altLang="zh-CN" dirty="0"/>
              <a:t>binder</a:t>
            </a:r>
            <a:r>
              <a:rPr lang="zh-CN" altLang="en-US" dirty="0"/>
              <a:t>，模型将柔性的</a:t>
            </a:r>
            <a:r>
              <a:rPr lang="en-US" altLang="zh-CN" dirty="0"/>
              <a:t>amylin</a:t>
            </a:r>
            <a:r>
              <a:rPr lang="zh-CN" altLang="en-US" dirty="0"/>
              <a:t>稳定在一个包含</a:t>
            </a:r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局部结构的特定结合态，同时保留了关键二硫键。下方通过四种</a:t>
            </a:r>
            <a:r>
              <a:rPr lang="en-US" altLang="zh-CN" dirty="0"/>
              <a:t>binder</a:t>
            </a:r>
            <a:r>
              <a:rPr lang="zh-CN" altLang="en-US" dirty="0"/>
              <a:t>浓度的</a:t>
            </a:r>
            <a:r>
              <a:rPr lang="en-US" altLang="zh-CN" dirty="0"/>
              <a:t>BLI</a:t>
            </a:r>
            <a:r>
              <a:rPr lang="zh-CN" altLang="en-US" dirty="0"/>
              <a:t>实验验证结合，曲线上升表示结合、下降表示解离。</a:t>
            </a:r>
            <a:br>
              <a:rPr lang="en-US" altLang="zh-CN" dirty="0"/>
            </a:br>
            <a:r>
              <a:rPr lang="zh-CN" altLang="en-US" dirty="0"/>
              <a:t>作者做的实验是先把这些</a:t>
            </a:r>
            <a:r>
              <a:rPr lang="en-US" altLang="zh-CN" dirty="0"/>
              <a:t>Target</a:t>
            </a:r>
            <a:r>
              <a:rPr lang="zh-CN" altLang="en-US" dirty="0"/>
              <a:t>放入不同浓度的含有</a:t>
            </a:r>
            <a:r>
              <a:rPr lang="en-US" altLang="zh-CN" dirty="0"/>
              <a:t>binder</a:t>
            </a:r>
            <a:r>
              <a:rPr lang="zh-CN" altLang="en-US" dirty="0"/>
              <a:t>溶液中，后面下降越慢说明结合越紧密。</a:t>
            </a:r>
            <a:br>
              <a:rPr lang="en-US" altLang="zh-CN" dirty="0"/>
            </a:br>
            <a:r>
              <a:rPr lang="zh-CN" altLang="en-US" dirty="0"/>
              <a:t>多个浓度的全局拟合得到</a:t>
            </a:r>
            <a:r>
              <a:rPr lang="en-US" altLang="zh-CN" dirty="0"/>
              <a:t>3.8</a:t>
            </a:r>
            <a:r>
              <a:rPr lang="zh-CN" altLang="en-US" dirty="0"/>
              <a:t>纳摩尔的解离常数，证明该设计具有较强的实际亲和力。但这只能验证两者确实结合，不能单独证明计算预测的结合姿势以及自由态构象概率完全正确。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44870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序列到</a:t>
            </a:r>
            <a:r>
              <a:rPr lang="en-US" altLang="zh-CN" dirty="0"/>
              <a:t>ensemble</a:t>
            </a:r>
            <a:r>
              <a:rPr lang="zh-CN" altLang="en-US" dirty="0"/>
              <a:t>可做的任务不是一个新的研究，而是一个类似于综述的工作</a:t>
            </a:r>
            <a:endParaRPr lang="en-US" altLang="zh-CN" dirty="0"/>
          </a:p>
          <a:p>
            <a:r>
              <a:rPr lang="zh-CN" altLang="en-US" dirty="0"/>
              <a:t>构象是否可达：某个构象是否有一定的概率</a:t>
            </a:r>
            <a:endParaRPr lang="en-US" altLang="zh-CN" dirty="0"/>
          </a:p>
          <a:p>
            <a:r>
              <a:rPr lang="zh-CN" altLang="en-US" dirty="0"/>
              <a:t>泛化：同一个</a:t>
            </a:r>
            <a:r>
              <a:rPr lang="en-US" altLang="zh-CN" dirty="0"/>
              <a:t>binder</a:t>
            </a:r>
            <a:r>
              <a:rPr lang="zh-CN" altLang="en-US" dirty="0"/>
              <a:t>是否能结合其他相似的</a:t>
            </a:r>
            <a:r>
              <a:rPr lang="en-US" altLang="zh-CN" dirty="0"/>
              <a:t>IDR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的区别：</a:t>
            </a:r>
            <a:endParaRPr sz="1600" b="1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/>
                <a:ea typeface="Microsoft YaHei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/>
                <a:ea typeface="Microsoft YaHei"/>
              </a:rPr>
              <a:t>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681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 dirty="0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逐构象计算实验可观测量，再按统计权重求平均。所以“模型生成很多结构”并不自动等于得到可信的统计 ensemble。</a:t>
            </a:r>
          </a:p>
        </p:txBody>
      </p:sp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148132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IDR</a:t>
            </a: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序列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dirty="0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38400" y="14622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ensemble 能否稳定提升功能预测？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  <p:sp>
        <p:nvSpPr>
          <p:cNvPr id="3" name="TextBox 51">
            <a:extLst>
              <a:ext uri="{FF2B5EF4-FFF2-40B4-BE49-F238E27FC236}">
                <a16:creationId xmlns:a16="http://schemas.microsoft.com/office/drawing/2014/main" id="{CE3397E5-2E58-F32E-462A-4903262974DC}"/>
              </a:ext>
            </a:extLst>
          </p:cNvPr>
          <p:cNvSpPr txBox="1"/>
          <p:nvPr/>
        </p:nvSpPr>
        <p:spPr>
          <a:xfrm>
            <a:off x="4309873" y="226771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125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/>
                <a:ea typeface="Microsoft YaHei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/>
                <a:ea typeface="Microsoft YaHei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/>
                <a:ea typeface="Microsoft YaHei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15D7-02F0-42AC-D50B-7EA59C35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>
            <a:extLst>
              <a:ext uri="{FF2B5EF4-FFF2-40B4-BE49-F238E27FC236}">
                <a16:creationId xmlns:a16="http://schemas.microsoft.com/office/drawing/2014/main" id="{ADAC5BF9-78CE-87D7-1A7F-523F668DBEEB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>
              <a:extLst>
                <a:ext uri="{FF2B5EF4-FFF2-40B4-BE49-F238E27FC236}">
                  <a16:creationId xmlns:a16="http://schemas.microsoft.com/office/drawing/2014/main" id="{805ACBE5-07FC-64BB-E1A6-9188B9089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B614E6AB-3398-B5C8-7A4F-A1944B34E3FA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07B2E6E-2E70-51D1-9CBD-46C2A5181556}"/>
                </a:ext>
              </a:extLst>
            </p:cNvPr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123C47A-7799-D6F3-0072-5E8FA5D64F0F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IDPFold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生成是否可信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07A6A5F5-624B-F2BE-9357-CD5D679A617E}"/>
              </a:ext>
            </a:extLst>
          </p:cNvPr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61AB30A-57FB-81EA-0811-F3BC9ABC6E60}"/>
                  </a:ext>
                </a:extLst>
              </p:cNvPr>
              <p:cNvSpPr txBox="1"/>
              <p:nvPr/>
            </p:nvSpPr>
            <p:spPr>
              <a:xfrm>
                <a:off x="6629400" y="1308496"/>
                <a:ext cx="4956048" cy="119354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zh-CN" altLang="en-US" sz="1250" b="1" dirty="0">
                    <a:solidFill>
                      <a:srgbClr val="007A3D"/>
                    </a:solidFill>
                    <a:latin typeface="Arial"/>
                    <a:ea typeface="Microsoft YaHei"/>
                  </a:rPr>
                  <a:t>全局性质：</a:t>
                </a:r>
                <a:endParaRPr lang="en-US" altLang="zh-CN" sz="1250" b="1" dirty="0">
                  <a:solidFill>
                    <a:srgbClr val="007A3D"/>
                  </a:solidFill>
                  <a:latin typeface="Arial"/>
                  <a:ea typeface="Microsoft YaHei"/>
                </a:endParaRPr>
              </a:p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zh-CN" altLang="en-US" sz="1400" dirty="0"/>
                  <a:t>平均相对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sz="1400" dirty="0"/>
                  <a:t>误差约为 </a:t>
                </a:r>
                <a:r>
                  <a:rPr lang="en-US" altLang="zh-CN" sz="1400" dirty="0"/>
                  <a:t>-0.06</a:t>
                </a:r>
                <a:r>
                  <a:rPr lang="zh-CN" altLang="en-US" sz="1400" dirty="0"/>
                  <a:t>；</a:t>
                </a:r>
                <a:endParaRPr lang="en-US" altLang="zh-CN" sz="1400" dirty="0"/>
              </a:p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r>
                  <a:rPr lang="zh-CN" altLang="en-US" sz="1400" dirty="0"/>
                  <a:t>多数蛋白的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sz="1400" dirty="0"/>
                  <a:t>分布接近参考模拟；</a:t>
                </a:r>
                <a:endParaRPr lang="en-US" altLang="zh-CN" sz="1400" dirty="0"/>
              </a:p>
              <a:p>
                <a:pPr>
                  <a:lnSpc>
                    <a:spcPct val="110000"/>
                  </a:lnSpc>
                  <a:spcAft>
                    <a:spcPts val="400"/>
                  </a:spcAft>
                </a:pPr>
                <a:endParaRPr lang="en-US" altLang="zh-CN" sz="1250" b="1" dirty="0">
                  <a:solidFill>
                    <a:srgbClr val="007A3D"/>
                  </a:solidFill>
                  <a:latin typeface="Arial"/>
                  <a:ea typeface="Microsoft YaHei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61AB30A-57FB-81EA-0811-F3BC9ABC6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1308496"/>
                <a:ext cx="4956048" cy="1193543"/>
              </a:xfrm>
              <a:prstGeom prst="rect">
                <a:avLst/>
              </a:prstGeom>
              <a:blipFill>
                <a:blip r:embed="rId4"/>
                <a:stretch>
                  <a:fillRect l="-2214" t="-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C982B404-8A37-F3FC-0D76-F8B64BD451D2}"/>
              </a:ext>
            </a:extLst>
          </p:cNvPr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917C24-3307-3C7D-C8E0-D1AF180CB0E0}"/>
              </a:ext>
            </a:extLst>
          </p:cNvPr>
          <p:cNvPicPr>
            <a:picLocks/>
          </p:cNvPicPr>
          <p:nvPr/>
        </p:nvPicPr>
        <p:blipFill>
          <a:blip r:embed="rId5"/>
          <a:srcRect l="11630" t="1169" r="11404" b="6496"/>
          <a:stretch>
            <a:fillRect/>
          </a:stretch>
        </p:blipFill>
        <p:spPr>
          <a:xfrm>
            <a:off x="761565" y="1308496"/>
            <a:ext cx="5657523" cy="46085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0EF7E1-0C53-6CB9-F454-AA72034AB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385" y="2969145"/>
            <a:ext cx="5242077" cy="3149248"/>
          </a:xfrm>
          <a:prstGeom prst="rect">
            <a:avLst/>
          </a:prstGeom>
        </p:spPr>
      </p:pic>
      <p:sp>
        <p:nvSpPr>
          <p:cNvPr id="2" name="wash-7">
            <a:extLst>
              <a:ext uri="{FF2B5EF4-FFF2-40B4-BE49-F238E27FC236}">
                <a16:creationId xmlns:a16="http://schemas.microsoft.com/office/drawing/2014/main" id="{DBC0C9B8-C323-2B34-3373-6096DEDD555A}"/>
              </a:ext>
            </a:extLst>
          </p:cNvPr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</p:spTree>
    <p:extLst>
      <p:ext uri="{BB962C8B-B14F-4D97-AF65-F5344CB8AC3E}">
        <p14:creationId xmlns:p14="http://schemas.microsoft.com/office/powerpoint/2010/main" val="4639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评判标准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/>
                <a:ea typeface="Microsoft YaHei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/>
                <a:ea typeface="Microsoft YaHei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/>
                <a:ea typeface="Microsoft YaHei"/>
              </a:rPr>
              <a:t>实验，怎样判断模型生成的 ensemble 是否可信？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序列 + 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生成 ensemble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/>
                <a:ea typeface="Microsoft YaHei"/>
              </a:rPr>
              <a:t>forward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预测实验观测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ea typeface="Microsoft YaHei"/>
              </a:rPr>
              <a:t>held-out 公开数据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误差与置信区间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/>
                <a:ea typeface="Microsoft YaHei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/>
                <a:ea typeface="Microsoft YaHei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PRE / FRET / 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>
            <a:cxnSpLocks/>
          </p:cNvCxnSpPr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几何检查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构象在结构上基本合理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不能证明分布正确</a:t>
            </a:r>
          </a:p>
        </p:txBody>
      </p:sp>
      <p:cxnSp>
        <p:nvCxnSpPr>
          <p:cNvPr id="69" name="Connector 68"/>
          <p:cNvCxnSpPr>
            <a:cxnSpLocks/>
          </p:cNvCxnSpPr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5904" y="4037897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/>
                <a:ea typeface="Microsoft YaHei"/>
              </a:rPr>
              <a:t>参考模拟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与某种力场或生成器一致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不能证明符合真实体系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444009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>
            <a:cxnSpLocks/>
          </p:cNvCxnSpPr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44009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/>
                <a:ea typeface="Microsoft YaHei"/>
              </a:rPr>
              <a:t>公开实验数据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33344" y="444009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对真实观测具有解释能力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31024" y="4440099"/>
            <a:ext cx="2747956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仍不能唯一确定 ensemble</a:t>
            </a:r>
          </a:p>
        </p:txBody>
      </p:sp>
      <p:cxnSp>
        <p:nvCxnSpPr>
          <p:cNvPr id="78" name="Connector 77"/>
          <p:cNvCxnSpPr>
            <a:cxnSpLocks/>
          </p:cNvCxnSpPr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/>
                <a:ea typeface="Microsoft YaHei"/>
              </a:rPr>
              <a:t>本页结论｜结论只能写成“与公开独立数据一致”，不能凭结构图或参考模拟宣称 ensemble 真实准确。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证据等级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/>
                <a:ea typeface="Microsoft YaHei"/>
              </a:rPr>
              <a:t>能说明什么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不能说明什么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AECDFB1B-E823-AC93-0F87-908E5069A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网络结构图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核心思路</a:t>
            </a: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联合生成 target 结合构象与 binder 主链。</a:t>
            </a: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创新点 1｜Sequence-input RFdiffusion</a:t>
            </a: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与 binder 在扩散过程中共同成形。</a:t>
            </a: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2｜二级结构条件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但不固定 target 的精确三维坐标。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创新点 3｜Two-sided partial diffusion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在初始命中附近共同优化结合界面。</a:t>
              </a:r>
            </a:p>
          </p:txBody>
        </p:sp>
      </p:grpSp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6EAF-7040-3A57-41DB-E78C130D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60FEB7-63BC-23AF-1A03-EE5B55A80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88" y="4033075"/>
            <a:ext cx="9312310" cy="2619088"/>
          </a:xfrm>
          <a:prstGeom prst="rect">
            <a:avLst/>
          </a:prstGeom>
        </p:spPr>
      </p:pic>
      <p:grpSp>
        <p:nvGrpSpPr>
          <p:cNvPr id="31" name="footer-13">
            <a:extLst>
              <a:ext uri="{FF2B5EF4-FFF2-40B4-BE49-F238E27FC236}">
                <a16:creationId xmlns:a16="http://schemas.microsoft.com/office/drawing/2014/main" id="{2FAC3EBF-9F2C-83CD-6D56-C8F4B6F04D08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2187B30-1960-7CCF-C523-13EFEDC46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B521C856-F8E1-B39F-E4D1-99272B47E854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2930659-5F09-9109-8AEF-556D2E69092D}"/>
                </a:ext>
              </a:extLst>
            </p:cNvPr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C2970EF-9163-1DC2-4FF4-523476267263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实验结果</a:t>
            </a:r>
            <a:r>
              <a:rPr lang="en-US" altLang="zh-CN" sz="2800" b="1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BD06AE-8341-7C32-12AC-31B112005407}"/>
              </a:ext>
            </a:extLst>
          </p:cNvPr>
          <p:cNvSpPr/>
          <p:nvPr/>
        </p:nvSpPr>
        <p:spPr>
          <a:xfrm>
            <a:off x="8134760" y="1318836"/>
            <a:ext cx="3047590" cy="2714239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从“结合能力”和“结构准确性”两个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层面验证计算设计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Microsoft YaHei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ea typeface="Microsoft YaHei"/>
            </a:endParaRPr>
          </a:p>
          <a:p>
            <a:pPr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ea typeface="Microsoft YaHei"/>
              </a:rPr>
              <a:t>均</a:t>
            </a:r>
            <a:r>
              <a:rPr lang="en-US" altLang="zh-CN" sz="1400" dirty="0"/>
              <a:t>Figure A–C</a:t>
            </a:r>
            <a:r>
              <a:rPr lang="zh-CN" altLang="en-US" sz="1400" dirty="0"/>
              <a:t>中的三种</a:t>
            </a:r>
            <a:r>
              <a:rPr lang="en-US" altLang="zh-CN" sz="1400" dirty="0"/>
              <a:t>amylin binder</a:t>
            </a:r>
            <a:r>
              <a:rPr lang="zh-CN" altLang="en-US" sz="1400" dirty="0"/>
              <a:t>均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获得纳摩尔级亲和力。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Microsoft YaHei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ea typeface="Microsoft YaHei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模型设计的</a:t>
            </a:r>
            <a:r>
              <a:rPr lang="en-US" altLang="zh-CN" sz="1400" dirty="0"/>
              <a:t>binder</a:t>
            </a:r>
            <a:r>
              <a:rPr lang="zh-CN" altLang="en-US" sz="1400" dirty="0"/>
              <a:t>能够在实验中结合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en-US" altLang="zh-CN" sz="1400" dirty="0"/>
              <a:t>amylin</a:t>
            </a:r>
            <a:r>
              <a:rPr lang="zh-CN" altLang="en-US" sz="1400" dirty="0"/>
              <a:t>，部分设计的实际结合结构也与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预测模型基本一致。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不同设计结合态均能产生具有较强亲和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力的</a:t>
            </a:r>
            <a:r>
              <a:rPr lang="en-US" altLang="zh-CN" sz="1400" dirty="0"/>
              <a:t>binder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CE9C4824-5E5C-4727-6FE4-C8D3C22124F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44C72EE4-CFD0-2088-C7F0-975126877978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C7C331-6BC4-6CF8-1C89-C0A0D5CCC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45" y="1032795"/>
            <a:ext cx="7263575" cy="29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9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2D38-AD14-CB0A-3D5A-58862853F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>
            <a:extLst>
              <a:ext uri="{FF2B5EF4-FFF2-40B4-BE49-F238E27FC236}">
                <a16:creationId xmlns:a16="http://schemas.microsoft.com/office/drawing/2014/main" id="{27380853-9763-3ABC-2171-2913CD5C453D}"/>
              </a:ext>
            </a:extLst>
          </p:cNvPr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>
              <a:extLst>
                <a:ext uri="{FF2B5EF4-FFF2-40B4-BE49-F238E27FC236}">
                  <a16:creationId xmlns:a16="http://schemas.microsoft.com/office/drawing/2014/main" id="{5634A08C-1D3C-F009-E513-07D8D1CC1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69D63BFE-FDDC-DFA4-6D00-223420636D18}"/>
                </a:ext>
              </a:extLst>
            </p:cNvPr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79634A5-CF71-1651-5B9E-C0A755A37D3B}"/>
                </a:ext>
              </a:extLst>
            </p:cNvPr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97BE327-6E1F-87E9-11FA-6ECE004D4B38}"/>
              </a:ext>
            </a:extLst>
          </p:cNvPr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/>
                <a:ea typeface="Microsoft YaHei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/>
                <a:ea typeface="Microsoft YaHei"/>
              </a:rPr>
              <a:t>总结</a:t>
            </a:r>
            <a:endParaRPr sz="2800" b="1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47DB13-B92E-2748-1C4E-5A9B9C3FE522}"/>
              </a:ext>
            </a:extLst>
          </p:cNvPr>
          <p:cNvSpPr/>
          <p:nvPr/>
        </p:nvSpPr>
        <p:spPr>
          <a:xfrm>
            <a:off x="1271735" y="1512084"/>
            <a:ext cx="9449855" cy="14521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核心贡献：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均通过</a:t>
            </a:r>
            <a:r>
              <a:rPr lang="en-US" alt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BLI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实验，扩散过程中保留了二硫</a:t>
            </a: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键没有破坏关键结构。</a:t>
            </a: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下方表示的是实验中实际测量的与扩散</a:t>
            </a: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模型生成的</a:t>
            </a:r>
            <a:endParaRPr 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</p:txBody>
      </p: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8D647C74-C6F4-9FB0-D15B-DF10DDF30229}"/>
              </a:ext>
            </a:extLst>
          </p:cNvPr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>
            <a:extLst>
              <a:ext uri="{FF2B5EF4-FFF2-40B4-BE49-F238E27FC236}">
                <a16:creationId xmlns:a16="http://schemas.microsoft.com/office/drawing/2014/main" id="{37DBFE15-A5A0-5F3E-F8EF-42A373753EDE}"/>
              </a:ext>
            </a:extLst>
          </p:cNvPr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sp>
        <p:nvSpPr>
          <p:cNvPr id="12" name="TextBox 37">
            <a:extLst>
              <a:ext uri="{FF2B5EF4-FFF2-40B4-BE49-F238E27FC236}">
                <a16:creationId xmlns:a16="http://schemas.microsoft.com/office/drawing/2014/main" id="{91AD8E4F-DB4D-465C-3918-2DCEBAAE49A7}"/>
              </a:ext>
            </a:extLst>
          </p:cNvPr>
          <p:cNvSpPr/>
          <p:nvPr/>
        </p:nvSpPr>
        <p:spPr>
          <a:xfrm>
            <a:off x="1271734" y="3349214"/>
            <a:ext cx="9449855" cy="14521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局限性与未来展望：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均通过</a:t>
            </a:r>
            <a:r>
              <a:rPr lang="en-US" altLang="zh-CN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BLI</a:t>
            </a: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实验，扩散过程中保留了二硫</a:t>
            </a: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键没有破坏关键结构。</a:t>
            </a: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下方表示的是实验中实际测量的与扩散</a:t>
            </a:r>
            <a:endParaRPr lang="en-US" alt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模型生成的</a:t>
            </a:r>
            <a:endParaRPr lang="zh-CN" sz="1350" dirty="0">
              <a:solidFill>
                <a:srgbClr val="153A2A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877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 dirty="0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 dirty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153A2A"/>
                </a:solidFill>
                <a:latin typeface="Arial"/>
                <a:ea typeface="Microsoft YaHei"/>
              </a:rPr>
              <a:t>构象是否可达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r>
              <a:rPr lang="zh-CN" altLang="en-US" sz="1200" dirty="0">
                <a:solidFill>
                  <a:srgbClr val="153A2A"/>
                </a:solidFill>
                <a:latin typeface="Arial"/>
                <a:ea typeface="Microsoft YaHei"/>
              </a:rPr>
              <a:t>能否泛化</a:t>
            </a:r>
            <a:endParaRPr lang="en-US" altLang="zh-CN" sz="1200" b="0" dirty="0">
              <a:solidFill>
                <a:srgbClr val="153A2A"/>
              </a:solidFill>
              <a:latin typeface="Arial"/>
              <a:ea typeface="Microsoft YaHei"/>
            </a:endParaRPr>
          </a:p>
          <a:p>
            <a:pPr>
              <a:lnSpc>
                <a:spcPct val="124000"/>
              </a:lnSpc>
            </a:pPr>
            <a:endParaRPr sz="120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加入自由态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00" b="0" dirty="0">
                <a:solidFill>
                  <a:srgbClr val="007A3D"/>
                </a:solidFill>
                <a:latin typeface="Arial"/>
                <a:ea typeface="Microsoft YaHei"/>
              </a:rPr>
              <a:t>信息是否可以更准确的识别</a:t>
            </a:r>
            <a:r>
              <a:rPr lang="en-US" altLang="zh-CN" sz="1200" b="0" dirty="0">
                <a:solidFill>
                  <a:srgbClr val="007A3D"/>
                </a:solidFill>
                <a:latin typeface="Arial"/>
                <a:ea typeface="Microsoft YaHei"/>
              </a:rPr>
              <a:t>binder</a:t>
            </a:r>
            <a:endParaRPr sz="1200" b="0" dirty="0">
              <a:solidFill>
                <a:srgbClr val="007A3D"/>
              </a:solidFill>
              <a:latin typeface="Arial"/>
              <a:ea typeface="Microsoft YaHei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552" y="2493266"/>
            <a:ext cx="5623560" cy="77482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6552" y="2493266"/>
            <a:ext cx="54864" cy="77482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720" y="2612137"/>
            <a:ext cx="5349240" cy="651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521011"/>
            <a:ext cx="5623560" cy="83946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521012"/>
            <a:ext cx="100584" cy="83946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639884"/>
            <a:ext cx="5349240" cy="532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/>
                <a:ea typeface="Microsoft YaHei"/>
              </a:rPr>
              <a:t>二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、</a:t>
            </a:r>
            <a:r>
              <a:rPr lang="en-US" altLang="zh-CN" sz="1550" b="1" dirty="0">
                <a:solidFill>
                  <a:srgbClr val="007A3D"/>
                </a:solidFill>
                <a:latin typeface="Arial"/>
                <a:ea typeface="Microsoft YaHei"/>
              </a:rPr>
              <a:t> </a:t>
            </a:r>
            <a:r>
              <a:rPr lang="zh-CN" altLang="en-US" sz="1550" b="1" dirty="0">
                <a:solidFill>
                  <a:srgbClr val="007A3D"/>
                </a:solidFill>
                <a:latin typeface="Arial"/>
                <a:ea typeface="Microsoft YaHei"/>
              </a:rPr>
              <a:t>结果解释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89427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907585"/>
            <a:ext cx="3934734" cy="11419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M1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dirty="0">
                <a:solidFill>
                  <a:srgbClr val="153A2A"/>
                </a:solidFill>
                <a:latin typeface="Arial"/>
                <a:ea typeface="Microsoft YaHei"/>
              </a:rPr>
              <a:t>说明加入环境条件可以带来增益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29400" y="241243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475262"/>
            <a:ext cx="3934734" cy="623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/>
                <a:ea typeface="Microsoft YaHei"/>
              </a:rPr>
              <a:t>M2</a:t>
            </a:r>
            <a:endParaRPr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22000"/>
              </a:lnSpc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说明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ensemble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有着自己的信息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629400" y="293059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994060"/>
            <a:ext cx="4608576" cy="51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/>
                <a:ea typeface="Microsoft YaHei"/>
              </a:rPr>
              <a:t>泛化</a:t>
            </a:r>
            <a:endParaRPr lang="en-US" altLang="zh-CN" sz="1250" b="1" dirty="0">
              <a:solidFill>
                <a:srgbClr val="007A3D"/>
              </a:solidFill>
              <a:latin typeface="Arial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在新的蛋白以及新的环境中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依旧优于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证明有不错的泛化能力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29400" y="3448751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570246"/>
            <a:ext cx="3934734" cy="6568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 dirty="0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生成的结构依然可以证明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优于</a:t>
            </a:r>
            <a:r>
              <a:rPr lang="en-US" altLang="zh-CN" sz="1250" b="0" dirty="0">
                <a:solidFill>
                  <a:srgbClr val="153A2A"/>
                </a:solidFill>
                <a:latin typeface="Arial"/>
                <a:ea typeface="Microsoft YaHei"/>
              </a:rPr>
              <a:t>M2</a:t>
            </a:r>
            <a:endParaRPr sz="1250" b="0" dirty="0">
              <a:solidFill>
                <a:srgbClr val="153A2A"/>
              </a:solidFill>
              <a:latin typeface="Arial"/>
              <a:ea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16664"/>
            <a:ext cx="10497312" cy="8384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dirty="0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dirty="0"/>
              <a:t>支持：只有当</a:t>
            </a:r>
            <a:r>
              <a:rPr lang="en-US" altLang="zh-CN" sz="1400" dirty="0"/>
              <a:t>M3</a:t>
            </a:r>
            <a:r>
              <a:rPr lang="zh-CN" altLang="en-US" sz="1400" dirty="0"/>
              <a:t>在未见蛋白、新环境和不同生成器下仍稳定优于</a:t>
            </a:r>
            <a:r>
              <a:rPr lang="en-US" altLang="zh-CN" sz="1400" dirty="0"/>
              <a:t>M2</a:t>
            </a:r>
            <a:r>
              <a:rPr lang="zh-CN" altLang="en-US" sz="1400" dirty="0"/>
              <a:t>，才能说明</a:t>
            </a:r>
            <a:r>
              <a:rPr lang="en-US" altLang="zh-CN" sz="1400" dirty="0"/>
              <a:t>ensemble</a:t>
            </a:r>
            <a:r>
              <a:rPr lang="zh-CN" altLang="en-US" sz="1400" dirty="0"/>
              <a:t>提供了额外信息。</a:t>
            </a:r>
            <a:endParaRPr lang="en-US" altLang="zh-CN" sz="1400" dirty="0"/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b="0" dirty="0">
                <a:solidFill>
                  <a:srgbClr val="5C6E63"/>
                </a:solidFill>
                <a:latin typeface="Arial"/>
                <a:ea typeface="Microsoft YaHei"/>
              </a:rPr>
              <a:t>不支持：只有训练数据有提升或者只有某个生成器生成的有提升。</a:t>
            </a:r>
            <a:endParaRPr sz="1250" b="0" dirty="0">
              <a:solidFill>
                <a:srgbClr val="5C6E63"/>
              </a:solidFill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7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4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2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lang="zh-CN" altLang="en-US" sz="1250" b="0" dirty="0">
                <a:solidFill>
                  <a:srgbClr val="5C6E63"/>
                </a:solidFill>
                <a:latin typeface="Arial"/>
                <a:ea typeface="Microsoft YaHei"/>
              </a:rPr>
              <a:t>目前还没有形成统一的评价标准</a:t>
            </a:r>
            <a:endParaRPr sz="1250" b="0" dirty="0">
              <a:solidFill>
                <a:srgbClr val="5C6E63"/>
              </a:solidFill>
              <a:latin typeface="Arial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·切入点</a:t>
            </a:r>
            <a:r>
              <a:rPr lang="en-US" sz="1250" b="0" dirty="0">
                <a:solidFill>
                  <a:srgbClr val="153A2A"/>
                </a:solidFill>
                <a:latin typeface="Arial"/>
                <a:ea typeface="Microsoft YaHei"/>
              </a:rPr>
              <a:t>1</a:t>
            </a: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/>
                <a:ea typeface="Microsoft YaHei"/>
              </a:rPr>
              <a:t>·需要外部实验合作，才能把“分布正确”从计算结论推进到可检验结论。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4992</Words>
  <Application>Microsoft Office PowerPoint</Application>
  <PresentationFormat>宽屏</PresentationFormat>
  <Paragraphs>335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Cambria Math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66</cp:revision>
  <dcterms:created xsi:type="dcterms:W3CDTF">2026-09-25T08:55:11Z</dcterms:created>
  <dcterms:modified xsi:type="dcterms:W3CDTF">2026-09-28T10:50:39Z</dcterms:modified>
  <cp:category/>
  <cp:contentStatus/>
  <dc:language>zh-CN</dc:language>
</cp:coreProperties>
</file>