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0" r:id="rId4"/>
    <p:sldId id="258" r:id="rId5"/>
    <p:sldId id="269" r:id="rId6"/>
    <p:sldId id="261" r:id="rId7"/>
    <p:sldId id="262" r:id="rId8"/>
    <p:sldId id="263" r:id="rId9"/>
    <p:sldId id="266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229" autoAdjust="0"/>
  </p:normalViewPr>
  <p:slideViewPr>
    <p:cSldViewPr snapToGrid="0" snapToObjects="1">
      <p:cViewPr varScale="1">
        <p:scale>
          <a:sx n="97" d="100"/>
          <a:sy n="97" d="100"/>
        </p:scale>
        <p:origin x="87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36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B589F-DBA1-4955-BB7D-FF07E336CFE0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31686-80CD-4308-B03E-6CFDA2666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96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31686-80CD-4308-B03E-6CFDA2666E8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228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31686-80CD-4308-B03E-6CFDA2666E8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638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画的是</a:t>
            </a:r>
            <a:r>
              <a:rPr lang="zh-CN" altLang="en-US" b="1" dirty="0"/>
              <a:t>细胞毒性 </a:t>
            </a:r>
            <a:r>
              <a:rPr lang="en-US" altLang="zh-CN" b="1" dirty="0"/>
              <a:t>T </a:t>
            </a:r>
            <a:r>
              <a:rPr lang="zh-CN" altLang="en-US" b="1" dirty="0"/>
              <a:t>细胞（</a:t>
            </a:r>
            <a:r>
              <a:rPr lang="en-US" altLang="zh-CN" b="1" dirty="0"/>
              <a:t>Cytotoxic T cell</a:t>
            </a:r>
            <a:r>
              <a:rPr lang="zh-CN" altLang="en-US" b="1" dirty="0"/>
              <a:t>）通过表面的 </a:t>
            </a:r>
            <a:r>
              <a:rPr lang="en-US" altLang="zh-CN" b="1" dirty="0"/>
              <a:t>TCR</a:t>
            </a:r>
            <a:r>
              <a:rPr lang="zh-CN" altLang="en-US" b="1" dirty="0"/>
              <a:t>，识别靶细胞（</a:t>
            </a:r>
            <a:r>
              <a:rPr lang="en-US" altLang="zh-CN" b="1" dirty="0"/>
              <a:t>Target cell</a:t>
            </a:r>
            <a:r>
              <a:rPr lang="zh-CN" altLang="en-US" b="1" dirty="0"/>
              <a:t>）表面 </a:t>
            </a:r>
            <a:r>
              <a:rPr lang="en-US" altLang="zh-CN" b="1" dirty="0"/>
              <a:t>HLA class I </a:t>
            </a:r>
            <a:r>
              <a:rPr lang="zh-CN" altLang="en-US" b="1" dirty="0"/>
              <a:t>分子呈递的肽（</a:t>
            </a:r>
            <a:r>
              <a:rPr lang="en-US" altLang="zh-CN" b="1" dirty="0"/>
              <a:t>Peptide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：</a:t>
            </a:r>
            <a:r>
              <a:rPr lang="en-US" altLang="zh-CN" dirty="0"/>
              <a:t>BAN </a:t>
            </a:r>
            <a:r>
              <a:rPr lang="zh-CN" altLang="en-US" dirty="0"/>
              <a:t>的核心思想是：</a:t>
            </a:r>
            <a:r>
              <a:rPr lang="zh-CN" altLang="en-US" b="1" dirty="0"/>
              <a:t>不分别看两个对象，而是看它们的 </a:t>
            </a:r>
            <a:r>
              <a:rPr lang="en-US" altLang="zh-CN" b="1" dirty="0"/>
              <a:t>"</a:t>
            </a:r>
            <a:r>
              <a:rPr lang="zh-CN" altLang="en-US" b="1" dirty="0"/>
              <a:t>成对组合</a:t>
            </a:r>
            <a:r>
              <a:rPr lang="en-US" altLang="zh-CN" b="1" dirty="0"/>
              <a:t>"</a:t>
            </a:r>
            <a:r>
              <a:rPr lang="zh-CN" altLang="en-US" dirty="0"/>
              <a:t>。这是它和普通注意力最根本的分歧。</a:t>
            </a:r>
            <a:endParaRPr lang="en-US" altLang="zh-CN" dirty="0"/>
          </a:p>
          <a:p>
            <a:r>
              <a:rPr lang="zh-CN" altLang="en-US" dirty="0"/>
              <a:t>具体：设两个分子（比如肽和 </a:t>
            </a:r>
            <a:r>
              <a:rPr lang="en-US" altLang="zh-CN" dirty="0"/>
              <a:t>HLA </a:t>
            </a:r>
            <a:r>
              <a:rPr lang="zh-CN" altLang="en-US" dirty="0"/>
              <a:t>口袋）的残基表示分别为 </a:t>
            </a:r>
            <a:r>
              <a:rPr lang="en-US" altLang="zh-CN" dirty="0"/>
              <a:t>E,T</a:t>
            </a:r>
            <a:r>
              <a:rPr lang="zh-CN" altLang="en-US" dirty="0"/>
              <a:t>，</a:t>
            </a:r>
            <a:r>
              <a:rPr lang="en-US" altLang="zh-CN" dirty="0"/>
              <a:t>U,V</a:t>
            </a:r>
            <a:r>
              <a:rPr lang="zh-CN" altLang="en-US" dirty="0"/>
              <a:t>是可学习矩阵，投影到共同空间，②步：双线性兼容打分 ③步：二维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归一化 ④步：哈达玛积聚合</a:t>
            </a:r>
            <a:endParaRPr lang="en-US" altLang="zh-CN" dirty="0"/>
          </a:p>
          <a:p>
            <a:r>
              <a:rPr lang="zh-CN" altLang="en-US" dirty="0"/>
              <a:t>上面的公式是 </a:t>
            </a:r>
            <a:r>
              <a:rPr lang="en-US" altLang="zh-CN" dirty="0"/>
              <a:t>"</a:t>
            </a:r>
            <a:r>
              <a:rPr lang="zh-CN" altLang="en-US" dirty="0"/>
              <a:t>算出配对权重</a:t>
            </a:r>
            <a:r>
              <a:rPr lang="en-US" altLang="zh-CN" dirty="0"/>
              <a:t>"</a:t>
            </a:r>
            <a:r>
              <a:rPr lang="zh-CN" altLang="en-US" dirty="0"/>
              <a:t>，下面的公式是 </a:t>
            </a:r>
            <a:r>
              <a:rPr lang="en-US" altLang="zh-CN" dirty="0"/>
              <a:t>"</a:t>
            </a:r>
            <a:r>
              <a:rPr lang="zh-CN" altLang="en-US" dirty="0"/>
              <a:t>用配对权重去加权汇总</a:t>
            </a:r>
            <a:r>
              <a:rPr lang="en-US" altLang="zh-CN" dirty="0"/>
              <a:t>“</a:t>
            </a:r>
          </a:p>
          <a:p>
            <a:endParaRPr lang="en-US" altLang="zh-CN" dirty="0"/>
          </a:p>
          <a:p>
            <a:r>
              <a:rPr lang="en-US" altLang="zh-CN" dirty="0"/>
              <a:t>E</a:t>
            </a:r>
            <a:r>
              <a:rPr lang="zh-CN" altLang="en-US" dirty="0"/>
              <a:t>：肽、</a:t>
            </a:r>
            <a:r>
              <a:rPr lang="en-US" altLang="zh-CN" dirty="0"/>
              <a:t>HLA </a:t>
            </a:r>
            <a:r>
              <a:rPr lang="zh-CN" altLang="en-US" dirty="0"/>
              <a:t>进入 </a:t>
            </a:r>
            <a:r>
              <a:rPr lang="en-US" altLang="zh-CN" b="1" dirty="0"/>
              <a:t>Feature aggregator</a:t>
            </a:r>
            <a:r>
              <a:rPr lang="zh-CN" altLang="en-US" b="1" dirty="0"/>
              <a:t>（特征聚合器）</a:t>
            </a:r>
            <a:r>
              <a:rPr lang="en-US" altLang="zh-CN" dirty="0"/>
              <a:t>—— </a:t>
            </a:r>
            <a:r>
              <a:rPr lang="zh-CN" altLang="en-US" dirty="0"/>
              <a:t>就是</a:t>
            </a:r>
            <a:r>
              <a:rPr lang="zh-CN" altLang="en-US" b="1" dirty="0"/>
              <a:t>冻结（图中明确标了 </a:t>
            </a:r>
            <a:r>
              <a:rPr lang="en-US" altLang="zh-CN" b="1" dirty="0"/>
              <a:t>"freeze"</a:t>
            </a:r>
            <a:r>
              <a:rPr lang="zh-CN" altLang="en-US" b="1" dirty="0"/>
              <a:t>）的 </a:t>
            </a:r>
            <a:r>
              <a:rPr lang="en-US" altLang="zh-CN" b="1" dirty="0"/>
              <a:t>d </a:t>
            </a:r>
            <a:r>
              <a:rPr lang="zh-CN" altLang="en-US" b="1" dirty="0"/>
              <a:t>阶段预训练表示</a:t>
            </a:r>
            <a:r>
              <a:rPr lang="zh-CN" altLang="en-US" dirty="0"/>
              <a:t>，即 </a:t>
            </a:r>
            <a:r>
              <a:rPr lang="en-US" altLang="zh-CN" dirty="0"/>
              <a:t>SSFE + Transformer </a:t>
            </a:r>
            <a:r>
              <a:rPr lang="zh-CN" altLang="en-US" dirty="0"/>
              <a:t>的输出被复用；</a:t>
            </a:r>
            <a:endParaRPr lang="en-US" altLang="zh-CN" dirty="0"/>
          </a:p>
          <a:p>
            <a:r>
              <a:rPr lang="en-US" altLang="zh-CN" b="1" dirty="0">
                <a:effectLst/>
              </a:rPr>
              <a:t>F</a:t>
            </a:r>
            <a:r>
              <a:rPr lang="zh-CN" altLang="en-US" b="1" dirty="0">
                <a:effectLst/>
              </a:rPr>
              <a:t>：</a:t>
            </a:r>
            <a:r>
              <a:rPr lang="en-US" altLang="zh-CN" b="1" dirty="0">
                <a:effectLst/>
              </a:rPr>
              <a:t>Assist cancer immunotherapy and vaccines</a:t>
            </a:r>
            <a:r>
              <a:rPr lang="zh-CN" altLang="en-US" b="1" dirty="0">
                <a:effectLst/>
              </a:rPr>
              <a:t>（辅助癌症免疫治疗与疫苗）</a:t>
            </a:r>
            <a:r>
              <a:rPr lang="zh-CN" altLang="en-US" dirty="0">
                <a:effectLst/>
              </a:rPr>
              <a:t>：肿瘤新抗原（</a:t>
            </a:r>
            <a:r>
              <a:rPr lang="en-US" altLang="zh-CN" dirty="0">
                <a:effectLst/>
              </a:rPr>
              <a:t>mutTP53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mutPIK3CA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mutARHGAP35……</a:t>
            </a:r>
            <a:r>
              <a:rPr lang="zh-CN" altLang="en-US" dirty="0">
                <a:effectLst/>
              </a:rPr>
              <a:t>）→ </a:t>
            </a:r>
            <a:r>
              <a:rPr lang="en-US" altLang="zh-CN" dirty="0">
                <a:effectLst/>
              </a:rPr>
              <a:t>Neoepitopes</a:t>
            </a:r>
            <a:r>
              <a:rPr lang="zh-CN" altLang="en-US" dirty="0">
                <a:effectLst/>
              </a:rPr>
              <a:t>（新表位）→ </a:t>
            </a:r>
            <a:r>
              <a:rPr lang="en-US" altLang="zh-CN" b="1" dirty="0" err="1">
                <a:effectLst/>
              </a:rPr>
              <a:t>StriMap</a:t>
            </a:r>
            <a:r>
              <a:rPr lang="en-US" altLang="zh-CN" b="1" dirty="0">
                <a:effectLst/>
              </a:rPr>
              <a:t> tools</a:t>
            </a:r>
            <a:r>
              <a:rPr lang="en-US" altLang="zh-CN" dirty="0">
                <a:effectLst/>
              </a:rPr>
              <a:t> → T cell therapy</a:t>
            </a:r>
            <a:r>
              <a:rPr lang="zh-CN" altLang="en-US" dirty="0">
                <a:effectLst/>
              </a:rPr>
              <a:t>（</a:t>
            </a:r>
            <a:r>
              <a:rPr lang="en-US" altLang="zh-CN" dirty="0">
                <a:effectLst/>
              </a:rPr>
              <a:t>T </a:t>
            </a:r>
            <a:r>
              <a:rPr lang="zh-CN" altLang="en-US" dirty="0">
                <a:effectLst/>
              </a:rPr>
              <a:t>细胞治疗）</a:t>
            </a:r>
            <a:r>
              <a:rPr lang="en-US" altLang="zh-CN" dirty="0">
                <a:effectLst/>
              </a:rPr>
              <a:t>/ Vaccine</a:t>
            </a:r>
            <a:r>
              <a:rPr lang="zh-CN" altLang="en-US" dirty="0">
                <a:effectLst/>
              </a:rPr>
              <a:t>（疫苗）</a:t>
            </a:r>
            <a:r>
              <a:rPr lang="en-US" altLang="zh-CN" dirty="0">
                <a:effectLst/>
              </a:rPr>
              <a:t>—— </a:t>
            </a:r>
            <a:r>
              <a:rPr lang="zh-CN" altLang="en-US" dirty="0">
                <a:effectLst/>
              </a:rPr>
              <a:t>对应 </a:t>
            </a:r>
            <a:r>
              <a:rPr lang="en-US" altLang="zh-CN" dirty="0">
                <a:effectLst/>
              </a:rPr>
              <a:t>Figure 3 </a:t>
            </a:r>
            <a:r>
              <a:rPr lang="zh-CN" altLang="en-US" dirty="0">
                <a:effectLst/>
              </a:rPr>
              <a:t>的两个癌症排序任务；</a:t>
            </a:r>
          </a:p>
          <a:p>
            <a:r>
              <a:rPr lang="en-US" altLang="zh-CN" b="1" dirty="0">
                <a:effectLst/>
              </a:rPr>
              <a:t>Discover new immunogenic peptides</a:t>
            </a:r>
            <a:r>
              <a:rPr lang="zh-CN" altLang="en-US" b="1" dirty="0">
                <a:effectLst/>
              </a:rPr>
              <a:t>（发现新的免疫原性肽）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Bacteria</a:t>
            </a:r>
            <a:r>
              <a:rPr lang="zh-CN" altLang="en-US" dirty="0">
                <a:effectLst/>
              </a:rPr>
              <a:t>（细菌）→ </a:t>
            </a:r>
            <a:r>
              <a:rPr lang="en-US" altLang="zh-CN" dirty="0">
                <a:effectLst/>
              </a:rPr>
              <a:t>Peptides</a:t>
            </a:r>
            <a:r>
              <a:rPr lang="zh-CN" altLang="en-US" dirty="0">
                <a:effectLst/>
              </a:rPr>
              <a:t>（肽段）→ </a:t>
            </a:r>
            <a:r>
              <a:rPr lang="en-US" altLang="zh-CN" b="1" dirty="0" err="1">
                <a:effectLst/>
              </a:rPr>
              <a:t>StriMap</a:t>
            </a:r>
            <a:r>
              <a:rPr lang="en-US" altLang="zh-CN" b="1" dirty="0">
                <a:effectLst/>
              </a:rPr>
              <a:t> tools</a:t>
            </a:r>
            <a:r>
              <a:rPr lang="en-US" altLang="zh-CN" dirty="0">
                <a:effectLst/>
              </a:rPr>
              <a:t> → Immunogenic peptide</a:t>
            </a:r>
            <a:r>
              <a:rPr lang="zh-CN" altLang="en-US" dirty="0">
                <a:effectLst/>
              </a:rPr>
              <a:t>（免疫原性肽）</a:t>
            </a:r>
            <a:r>
              <a:rPr lang="en-US" altLang="zh-CN" dirty="0">
                <a:effectLst/>
              </a:rPr>
              <a:t>—— </a:t>
            </a:r>
            <a:r>
              <a:rPr lang="zh-CN" altLang="en-US" dirty="0">
                <a:effectLst/>
              </a:rPr>
              <a:t>对应 </a:t>
            </a:r>
            <a:r>
              <a:rPr lang="en-US" altLang="zh-CN" dirty="0">
                <a:effectLst/>
              </a:rPr>
              <a:t>Figure 4–5 </a:t>
            </a:r>
            <a:r>
              <a:rPr lang="zh-CN" altLang="en-US" dirty="0">
                <a:effectLst/>
              </a:rPr>
              <a:t>的强直性脊柱炎细菌肽筛选与实验验证。</a:t>
            </a:r>
            <a:endParaRPr lang="en-US" altLang="zh-CN">
              <a:effectLst/>
            </a:endParaRPr>
          </a:p>
          <a:p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31686-80CD-4308-B03E-6CFDA2666E8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959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Focal</a:t>
            </a:r>
            <a:r>
              <a:rPr lang="zh-CN" altLang="en-US" dirty="0"/>
              <a:t>：</a:t>
            </a:r>
            <a:r>
              <a:rPr lang="en-US" altLang="zh-CN" dirty="0" err="1"/>
              <a:t>foʊkl</a:t>
            </a:r>
            <a:r>
              <a:rPr lang="en-US" altLang="zh-CN" dirty="0"/>
              <a:t> </a:t>
            </a:r>
            <a:r>
              <a:rPr lang="zh-CN" altLang="en-US" dirty="0"/>
              <a:t>焦点损失函数</a:t>
            </a:r>
            <a:endParaRPr lang="en-US" altLang="zh-CN" dirty="0"/>
          </a:p>
          <a:p>
            <a:r>
              <a:rPr lang="en-US" altLang="zh-CN" dirty="0"/>
              <a:t>y</a:t>
            </a:r>
            <a:r>
              <a:rPr lang="zh-CN" altLang="en-US" dirty="0"/>
              <a:t>真实标签：</a:t>
            </a:r>
            <a:r>
              <a:rPr lang="en-US" altLang="zh-CN" dirty="0"/>
              <a:t>y=1\</a:t>
            </a:r>
            <a:r>
              <a:rPr lang="zh-CN" altLang="en-US" dirty="0"/>
              <a:t>正类（结合），</a:t>
            </a:r>
            <a:r>
              <a:rPr lang="en-US" altLang="zh-CN" dirty="0"/>
              <a:t>\(y=0\) </a:t>
            </a:r>
            <a:r>
              <a:rPr lang="zh-CN" altLang="en-US" dirty="0"/>
              <a:t>负类（不结合）</a:t>
            </a:r>
            <a:r>
              <a:rPr lang="en-US" altLang="zh-CN" dirty="0"/>
              <a:t>\(\{0,1\}\)p</a:t>
            </a:r>
            <a:r>
              <a:rPr lang="zh-CN" altLang="en-US" dirty="0"/>
              <a:t>模型输出的</a:t>
            </a:r>
            <a:r>
              <a:rPr lang="zh-CN" altLang="en-US" b="1" dirty="0"/>
              <a:t>正类概率</a:t>
            </a:r>
            <a:r>
              <a:rPr lang="zh-CN" altLang="en-US" dirty="0"/>
              <a:t>（经过 </a:t>
            </a:r>
            <a:r>
              <a:rPr lang="en-US" altLang="zh-CN" dirty="0"/>
              <a:t>Sigmoid </a:t>
            </a:r>
            <a:r>
              <a:rPr lang="zh-CN" altLang="en-US" dirty="0"/>
              <a:t>的分数）</a:t>
            </a:r>
            <a:r>
              <a:rPr lang="en-US" altLang="zh-CN" dirty="0"/>
              <a:t>(0,1)α</a:t>
            </a:r>
            <a:r>
              <a:rPr lang="zh-CN" altLang="en-US" dirty="0"/>
              <a:t>：类别平衡系数，调节正负类的重要性</a:t>
            </a:r>
            <a:r>
              <a:rPr lang="en-US" altLang="zh-CN" dirty="0"/>
              <a:t>\((0,1)\)</a:t>
            </a:r>
            <a:r>
              <a:rPr lang="zh-CN" altLang="en-US" dirty="0"/>
              <a:t>，通常取 </a:t>
            </a:r>
            <a:r>
              <a:rPr lang="en-US" altLang="zh-CN" dirty="0"/>
              <a:t>0.25 </a:t>
            </a:r>
            <a:r>
              <a:rPr lang="zh-CN" altLang="en-US" dirty="0"/>
              <a:t>附近</a:t>
            </a:r>
            <a:r>
              <a:rPr lang="en-US" altLang="zh-CN" dirty="0"/>
              <a:t>gamma·</a:t>
            </a:r>
            <a:r>
              <a:rPr lang="zh-CN" altLang="en-US" dirty="0"/>
              <a:t>聚焦参数（</a:t>
            </a:r>
            <a:r>
              <a:rPr lang="en-US" altLang="zh-CN" dirty="0"/>
              <a:t>focusing parameter</a:t>
            </a:r>
            <a:r>
              <a:rPr lang="zh-CN" altLang="en-US" dirty="0"/>
              <a:t>），调节 </a:t>
            </a:r>
            <a:r>
              <a:rPr lang="en-US" altLang="zh-CN" dirty="0"/>
              <a:t>"</a:t>
            </a:r>
            <a:r>
              <a:rPr lang="zh-CN" altLang="en-US" dirty="0"/>
              <a:t>压易例</a:t>
            </a:r>
            <a:r>
              <a:rPr lang="en-US" altLang="zh-CN" dirty="0"/>
              <a:t>" </a:t>
            </a:r>
            <a:r>
              <a:rPr lang="zh-CN" altLang="en-US" dirty="0"/>
              <a:t>的力度</a:t>
            </a:r>
            <a:r>
              <a:rPr lang="en-US" altLang="zh-CN" dirty="0"/>
              <a:t>\(\</a:t>
            </a:r>
            <a:r>
              <a:rPr lang="en-US" altLang="zh-CN" dirty="0" err="1"/>
              <a:t>geq</a:t>
            </a:r>
            <a:r>
              <a:rPr lang="en-US" altLang="zh-CN" dirty="0"/>
              <a:t> 0\)</a:t>
            </a:r>
            <a:r>
              <a:rPr lang="zh-CN" altLang="en-US" dirty="0"/>
              <a:t>，通常取 </a:t>
            </a:r>
            <a:r>
              <a:rPr lang="en-US" altLang="zh-CN" dirty="0"/>
              <a:t>2</a:t>
            </a:r>
          </a:p>
          <a:p>
            <a:r>
              <a:rPr lang="zh-CN" altLang="en-US" dirty="0"/>
              <a:t>由于 </a:t>
            </a:r>
            <a:r>
              <a:rPr lang="en-US" altLang="zh-CN" dirty="0"/>
              <a:t>y </a:t>
            </a:r>
            <a:r>
              <a:rPr lang="zh-CN" altLang="en-US" dirty="0"/>
              <a:t>只能取 </a:t>
            </a:r>
            <a:r>
              <a:rPr lang="en-US" altLang="zh-CN" dirty="0"/>
              <a:t>0 </a:t>
            </a:r>
            <a:r>
              <a:rPr lang="zh-CN" altLang="en-US" dirty="0"/>
              <a:t>或 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zh-CN" altLang="en-US" b="1" dirty="0"/>
              <a:t>每一条样本实际只会激活其中一项</a:t>
            </a:r>
            <a:r>
              <a:rPr lang="zh-CN" altLang="en-US" dirty="0"/>
              <a:t>：</a:t>
            </a:r>
            <a:r>
              <a:rPr lang="en-US" altLang="zh-CN" dirty="0"/>
              <a:t>Y=1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越大（分得越对）→ 因子越小 → 损失被压</a:t>
            </a:r>
            <a:br>
              <a:rPr lang="zh-CN" altLang="en-US" dirty="0"/>
            </a:b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31686-80CD-4308-B03E-6CFDA2666E8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102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A</a:t>
                </a:r>
                <a:r>
                  <a:rPr lang="zh-CN" altLang="en-US" dirty="0"/>
                  <a:t>图表示在五个基准数据集上模型的排名，颜色越深代表越好</a:t>
                </a:r>
                <a:endParaRPr lang="en-US" altLang="zh-CN" dirty="0"/>
              </a:p>
              <a:p>
                <a:r>
                  <a:rPr lang="en-US" altLang="zh-CN" dirty="0"/>
                  <a:t>B</a:t>
                </a:r>
                <a:r>
                  <a:rPr lang="zh-CN" altLang="en-US" dirty="0"/>
                  <a:t>：把 </a:t>
                </a:r>
                <a:r>
                  <a:rPr lang="en-US" altLang="zh-CN" dirty="0"/>
                  <a:t>Que </a:t>
                </a:r>
                <a:r>
                  <a:rPr lang="zh-CN" altLang="en-US" dirty="0"/>
                  <a:t>数据集按 </a:t>
                </a:r>
                <a:r>
                  <a:rPr lang="en-US" altLang="zh-CN" dirty="0"/>
                  <a:t>HLA </a:t>
                </a:r>
                <a:r>
                  <a:rPr lang="zh-CN" altLang="en-US" dirty="0"/>
                  <a:t>等位基因逐个拆分，</a:t>
                </a:r>
                <a:r>
                  <a:rPr lang="en-US" altLang="zh-CN" dirty="0" err="1"/>
                  <a:t>StriMap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的 </a:t>
                </a:r>
                <a:r>
                  <a:rPr lang="en-US" altLang="zh-CN" dirty="0"/>
                  <a:t>AUPRC </a:t>
                </a:r>
                <a:r>
                  <a:rPr lang="zh-CN" altLang="en-US" dirty="0"/>
                  <a:t>在</a:t>
                </a:r>
                <a:r>
                  <a:rPr lang="zh-CN" altLang="en-US" b="1" dirty="0"/>
                  <a:t>几乎所有等位基因上都高于 </a:t>
                </a:r>
                <a:r>
                  <a:rPr lang="en-US" altLang="zh-CN" b="1" dirty="0" err="1"/>
                  <a:t>deepAntigen</a:t>
                </a:r>
                <a:r>
                  <a:rPr lang="zh-CN" altLang="en-US" dirty="0"/>
                  <a:t>（点在对角线上方）</a:t>
                </a:r>
                <a:r>
                  <a:rPr lang="en-US" altLang="zh-CN" dirty="0"/>
                  <a:t>—— </a:t>
                </a:r>
                <a:r>
                  <a:rPr lang="zh-CN" altLang="en-US" dirty="0"/>
                  <a:t>领先是普遍的，不是少数强等位基因撑起来的；</a:t>
                </a:r>
                <a:endParaRPr lang="en-US" altLang="zh-CN" dirty="0"/>
              </a:p>
              <a:p>
                <a:r>
                  <a:rPr lang="en-US" altLang="zh-CN" dirty="0"/>
                  <a:t>C</a:t>
                </a:r>
                <a:r>
                  <a:rPr lang="zh-CN" altLang="en-US" dirty="0"/>
                  <a:t>图横轴代表模型纵轴是</a:t>
                </a:r>
                <a:r>
                  <a:rPr lang="en-US" altLang="zh-CN" dirty="0"/>
                  <a:t>AUPRC</a:t>
                </a:r>
                <a:r>
                  <a:rPr lang="zh-CN" altLang="en-US" dirty="0"/>
                  <a:t>对比了两个数据集的效果</a:t>
                </a:r>
                <a:endParaRPr lang="en-US" altLang="zh-CN" dirty="0"/>
              </a:p>
              <a:p>
                <a:r>
                  <a:rPr lang="en-US" altLang="zh-CN" dirty="0"/>
                  <a:t>D</a:t>
                </a:r>
                <a:r>
                  <a:rPr lang="zh-CN" altLang="en-US" dirty="0"/>
                  <a:t>图：降维后的两个坐标，</a:t>
                </a:r>
                <a:r>
                  <a:rPr lang="zh-CN" altLang="en-US" b="1" dirty="0"/>
                  <a:t>没有 </a:t>
                </a:r>
                <a:r>
                  <a:rPr lang="en-US" altLang="zh-CN" b="1" dirty="0"/>
                  <a:t>"</a:t>
                </a:r>
                <a:r>
                  <a:rPr lang="zh-CN" altLang="en-US" b="1" dirty="0"/>
                  <a:t>好 </a:t>
                </a:r>
                <a:r>
                  <a:rPr lang="en-US" altLang="zh-CN" b="1" dirty="0"/>
                  <a:t>/ </a:t>
                </a:r>
                <a:r>
                  <a:rPr lang="zh-CN" altLang="en-US" b="1" dirty="0"/>
                  <a:t>坏</a:t>
                </a:r>
                <a:r>
                  <a:rPr lang="en-US" altLang="zh-CN" b="1" dirty="0"/>
                  <a:t>" </a:t>
                </a:r>
                <a:r>
                  <a:rPr lang="zh-CN" altLang="en-US" b="1" dirty="0"/>
                  <a:t>意义</a:t>
                </a:r>
                <a:r>
                  <a:rPr lang="zh-CN" altLang="en-US" dirty="0"/>
                  <a:t>，只表示相似性 </a:t>
                </a:r>
                <a:r>
                  <a:rPr lang="en-US" altLang="zh-CN" dirty="0"/>
                  <a:t>—— </a:t>
                </a:r>
                <a:r>
                  <a:rPr lang="zh-CN" altLang="en-US" dirty="0"/>
                  <a:t>距离近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模型认为这两条肽在表示空间里接近；</a:t>
                </a:r>
                <a:endParaRPr lang="en-US" altLang="zh-CN" dirty="0"/>
              </a:p>
              <a:p>
                <a:r>
                  <a:rPr lang="en-US" altLang="zh-CN" b="1" dirty="0"/>
                  <a:t>f</a:t>
                </a:r>
                <a:r>
                  <a:rPr lang="zh-CN" altLang="en-US" b="1" dirty="0"/>
                  <a:t>：按肽拆分的散点（强在哪条肽上）</a:t>
                </a:r>
              </a:p>
              <a:p>
                <a:r>
                  <a:rPr lang="zh-CN" altLang="en-US" b="1" dirty="0">
                    <a:effectLst/>
                  </a:rPr>
                  <a:t>横轴</a:t>
                </a:r>
                <a:r>
                  <a:rPr lang="zh-CN" altLang="en-US" dirty="0">
                    <a:effectLst/>
                  </a:rPr>
                  <a:t>：</a:t>
                </a:r>
                <a:r>
                  <a:rPr lang="en-US" altLang="zh-CN" dirty="0" err="1">
                    <a:effectLst/>
                  </a:rPr>
                  <a:t>StriMap</a:t>
                </a:r>
                <a:r>
                  <a:rPr lang="en-US" altLang="zh-CN" dirty="0">
                    <a:effectLst/>
                  </a:rPr>
                  <a:t> AUROC</a:t>
                </a:r>
                <a:r>
                  <a:rPr lang="zh-CN" altLang="en-US" dirty="0">
                    <a:effectLst/>
                  </a:rPr>
                  <a:t>；</a:t>
                </a:r>
                <a:r>
                  <a:rPr lang="zh-CN" altLang="en-US" b="1" dirty="0">
                    <a:effectLst/>
                  </a:rPr>
                  <a:t>纵轴</a:t>
                </a:r>
                <a:r>
                  <a:rPr lang="zh-CN" altLang="en-US" dirty="0">
                    <a:effectLst/>
                  </a:rPr>
                  <a:t>：</a:t>
                </a:r>
                <a:r>
                  <a:rPr lang="en-US" altLang="zh-CN" dirty="0" err="1">
                    <a:effectLst/>
                  </a:rPr>
                  <a:t>NetTCR</a:t>
                </a:r>
                <a:r>
                  <a:rPr lang="zh-CN" altLang="en-US" dirty="0">
                    <a:effectLst/>
                  </a:rPr>
                  <a:t>（左）</a:t>
                </a:r>
                <a:r>
                  <a:rPr lang="en-US" altLang="zh-CN" dirty="0">
                    <a:effectLst/>
                  </a:rPr>
                  <a:t>/ </a:t>
                </a:r>
                <a:r>
                  <a:rPr lang="en-US" altLang="zh-CN" dirty="0" err="1">
                    <a:effectLst/>
                  </a:rPr>
                  <a:t>MixTCRpred</a:t>
                </a:r>
                <a:r>
                  <a:rPr lang="zh-CN" altLang="en-US" dirty="0">
                    <a:effectLst/>
                  </a:rPr>
                  <a:t>（右）</a:t>
                </a:r>
                <a:r>
                  <a:rPr lang="en-US" altLang="zh-CN" dirty="0">
                    <a:effectLst/>
                  </a:rPr>
                  <a:t>AUROC</a:t>
                </a:r>
                <a:r>
                  <a:rPr lang="zh-CN" altLang="en-US" dirty="0">
                    <a:effectLst/>
                  </a:rPr>
                  <a:t>；每个点 </a:t>
                </a:r>
                <a:r>
                  <a:rPr lang="en-US" altLang="zh-CN" dirty="0">
                    <a:effectLst/>
                  </a:rPr>
                  <a:t>= </a:t>
                </a:r>
                <a:r>
                  <a:rPr lang="zh-CN" altLang="en-US" dirty="0">
                    <a:effectLst/>
                  </a:rPr>
                  <a:t>一条肽（</a:t>
                </a:r>
                <a:r>
                  <a:rPr lang="en-US" altLang="zh-CN" dirty="0">
                    <a:effectLst/>
                  </a:rPr>
                  <a:t>GPRLKFYGL</a:t>
                </a:r>
                <a:r>
                  <a:rPr lang="zh-CN" altLang="en-US" dirty="0">
                    <a:effectLst/>
                  </a:rPr>
                  <a:t>、</a:t>
                </a:r>
                <a:r>
                  <a:rPr lang="en-US" altLang="zh-CN" dirty="0">
                    <a:effectLst/>
                  </a:rPr>
                  <a:t>KLRKLLF</a:t>
                </a:r>
                <a:r>
                  <a:rPr lang="zh-CN" altLang="en-US" dirty="0">
                    <a:effectLst/>
                  </a:rPr>
                  <a:t>、</a:t>
                </a:r>
                <a:r>
                  <a:rPr lang="en-US" altLang="zh-CN" dirty="0">
                    <a:effectLst/>
                  </a:rPr>
                  <a:t>QKLKLANQ </a:t>
                </a:r>
                <a:r>
                  <a:rPr lang="zh-CN" altLang="en-US" dirty="0">
                    <a:effectLst/>
                  </a:rPr>
                  <a:t>等），虚线 </a:t>
                </a:r>
                <a:r>
                  <a:rPr lang="en-US" altLang="zh-CN" dirty="0">
                    <a:effectLst/>
                  </a:rPr>
                  <a:t>= </a:t>
                </a:r>
                <a:r>
                  <a:rPr lang="zh-CN" altLang="en-US" dirty="0">
                    <a:effectLst/>
                  </a:rPr>
                  <a:t>等性能线；</a:t>
                </a:r>
              </a:p>
              <a:p>
                <a:r>
                  <a:rPr lang="zh-CN" altLang="en-US" b="1" dirty="0">
                    <a:effectLst/>
                  </a:rPr>
                  <a:t>结论</a:t>
                </a:r>
                <a:r>
                  <a:rPr lang="zh-CN" altLang="en-US" dirty="0">
                    <a:effectLst/>
                  </a:rPr>
                  <a:t>：</a:t>
                </a:r>
                <a:r>
                  <a:rPr lang="en-US" altLang="zh-CN" dirty="0">
                    <a:effectLst/>
                  </a:rPr>
                  <a:t>IMMREP22 </a:t>
                </a:r>
                <a:r>
                  <a:rPr lang="zh-CN" altLang="en-US" dirty="0">
                    <a:effectLst/>
                  </a:rPr>
                  <a:t>基准上按肽逐条比较，大多数点在对角线上方（</a:t>
                </a:r>
                <a:r>
                  <a:rPr lang="en-US" altLang="zh-CN" dirty="0" err="1">
                    <a:effectLst/>
                  </a:rPr>
                  <a:t>StriMap</a:t>
                </a:r>
                <a:r>
                  <a:rPr lang="en-US" altLang="zh-CN" dirty="0">
                    <a:effectLst/>
                  </a:rPr>
                  <a:t> </a:t>
                </a:r>
                <a:r>
                  <a:rPr lang="zh-CN" altLang="en-US" dirty="0">
                    <a:effectLst/>
                  </a:rPr>
                  <a:t>更好）</a:t>
                </a:r>
                <a:r>
                  <a:rPr lang="en-US" altLang="zh-CN" dirty="0">
                    <a:effectLst/>
                  </a:rPr>
                  <a:t>——</a:t>
                </a:r>
                <a:r>
                  <a:rPr lang="zh-CN" altLang="en-US" b="1" dirty="0">
                    <a:effectLst/>
                  </a:rPr>
                  <a:t>领先不是靠少数肽拉分，而是分布式的</a:t>
                </a:r>
                <a:r>
                  <a:rPr lang="zh-CN" altLang="en-US" dirty="0">
                    <a:effectLst/>
                  </a:rPr>
                  <a:t>。</a:t>
                </a:r>
              </a:p>
              <a:p>
                <a:r>
                  <a:rPr lang="en-US" altLang="zh-CN" dirty="0"/>
                  <a:t>G</a:t>
                </a:r>
                <a:r>
                  <a:rPr lang="zh-CN" altLang="en-US" dirty="0"/>
                  <a:t>：消融实验分别去掉不同模块看作用</a:t>
                </a:r>
                <a:endParaRPr lang="en-US" altLang="zh-CN" dirty="0"/>
              </a:p>
              <a:p>
                <a:r>
                  <a:rPr lang="en-US" altLang="zh-CN" dirty="0"/>
                  <a:t>H</a:t>
                </a:r>
                <a:r>
                  <a:rPr lang="zh-CN" altLang="en-US" dirty="0"/>
                  <a:t>：临床应用横轴：感染队列纵轴预测结合的百分比排名模型分数与真实免疫状态一致，说明学到的不只是数据集统计偏差。</a:t>
                </a:r>
                <a:endParaRPr lang="en-US" altLang="zh-CN" dirty="0"/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AUROC = Area Under the ROC Curve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，即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ROC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曲线下面积。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先看两个基本指标：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TPR /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召回率 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灵敏度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𝑇𝑃𝑅</m:t>
                      </m:r>
                      <m:r>
                        <a:rPr lang="en-US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𝑇𝑃</m:t>
                          </m:r>
                        </m:num>
                        <m:den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𝑇𝑃</m:t>
                          </m:r>
                          <m:r>
                            <a:rPr lang="en-US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真正例中被正确识别出来的比例。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FPR /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假阳性率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𝐹𝑃𝑅</m:t>
                      </m:r>
                      <m:r>
                        <a:rPr lang="en-US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𝐹𝑃</m:t>
                          </m:r>
                        </m:num>
                        <m:den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𝐹𝑃</m:t>
                          </m:r>
                          <m:r>
                            <a:rPr lang="en-US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𝑇𝑁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真负例中被误判为正例的比例。</a:t>
                </a:r>
              </a:p>
              <a:p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ROC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曲线以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FPR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为横轴、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TPR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为纵轴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，通过不断改变分类阈值得到一条曲线。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AUROC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就是这条曲线下的面积。</a:t>
                </a:r>
              </a:p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 AUPRC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AUPRC = Area Under the Precision-Recall Curve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，即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曲线下面积。</a:t>
                </a:r>
              </a:p>
              <a:p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曲线的两个轴是：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Recall /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召回率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𝑅𝑒𝑐𝑎𝑙𝑙</m:t>
                      </m:r>
                      <m:r>
                        <a:rPr lang="en-US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𝑇𝑃</m:t>
                          </m:r>
                        </m:num>
                        <m:den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𝑇𝑃</m:t>
                          </m:r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ar-AE" altLang="zh-CN" dirty="0"/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Precision /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精确率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𝑃𝑟𝑒𝑐𝑖𝑠𝑖𝑜𝑛</m:t>
                      </m:r>
                      <m:r>
                        <a:rPr lang="en-US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𝑇𝑃</m:t>
                          </m:r>
                        </m:num>
                        <m:den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𝑇𝑃</m:t>
                          </m:r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ar-AE" altLang="zh-CN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预测为正例的样本中，真正是正例的比例。</a:t>
                </a:r>
              </a:p>
              <a:p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曲线以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Recall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为横轴、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Precision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为纵轴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，通过改变阈值得到。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AUPRC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就是这条曲线下的面积，有时也叫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Average Precision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A</a:t>
                </a:r>
                <a:r>
                  <a:rPr lang="zh-CN" altLang="en-US" dirty="0"/>
                  <a:t>图表示在五个基准数据集上模型的排名，颜色越深代表越好</a:t>
                </a:r>
                <a:endParaRPr lang="en-US" altLang="zh-CN" dirty="0"/>
              </a:p>
              <a:p>
                <a:r>
                  <a:rPr lang="en-US" altLang="zh-CN" dirty="0"/>
                  <a:t>B</a:t>
                </a:r>
                <a:r>
                  <a:rPr lang="zh-CN" altLang="en-US" dirty="0"/>
                  <a:t>：把 </a:t>
                </a:r>
                <a:r>
                  <a:rPr lang="en-US" altLang="zh-CN" dirty="0"/>
                  <a:t>Que </a:t>
                </a:r>
                <a:r>
                  <a:rPr lang="zh-CN" altLang="en-US" dirty="0"/>
                  <a:t>数据集按 </a:t>
                </a:r>
                <a:r>
                  <a:rPr lang="en-US" altLang="zh-CN" dirty="0"/>
                  <a:t>HLA </a:t>
                </a:r>
                <a:r>
                  <a:rPr lang="zh-CN" altLang="en-US" dirty="0"/>
                  <a:t>等位基因逐个拆分，</a:t>
                </a:r>
                <a:r>
                  <a:rPr lang="en-US" altLang="zh-CN" dirty="0" err="1"/>
                  <a:t>StriMap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的 </a:t>
                </a:r>
                <a:r>
                  <a:rPr lang="en-US" altLang="zh-CN" dirty="0"/>
                  <a:t>AUPRC </a:t>
                </a:r>
                <a:r>
                  <a:rPr lang="zh-CN" altLang="en-US" dirty="0"/>
                  <a:t>在</a:t>
                </a:r>
                <a:r>
                  <a:rPr lang="zh-CN" altLang="en-US" b="1" dirty="0"/>
                  <a:t>几乎所有等位基因上都高于 </a:t>
                </a:r>
                <a:r>
                  <a:rPr lang="en-US" altLang="zh-CN" b="1" dirty="0" err="1"/>
                  <a:t>deepAntigen</a:t>
                </a:r>
                <a:r>
                  <a:rPr lang="zh-CN" altLang="en-US" dirty="0"/>
                  <a:t>（点在对角线上方）</a:t>
                </a:r>
                <a:r>
                  <a:rPr lang="en-US" altLang="zh-CN" dirty="0"/>
                  <a:t>—— </a:t>
                </a:r>
                <a:r>
                  <a:rPr lang="zh-CN" altLang="en-US" dirty="0"/>
                  <a:t>领先是普遍的，不是少数强等位基因撑起来的；</a:t>
                </a:r>
                <a:endParaRPr lang="en-US" altLang="zh-CN" dirty="0"/>
              </a:p>
              <a:p>
                <a:r>
                  <a:rPr lang="en-US" altLang="zh-CN" dirty="0"/>
                  <a:t>C</a:t>
                </a:r>
                <a:r>
                  <a:rPr lang="zh-CN" altLang="en-US" dirty="0"/>
                  <a:t>图横轴代表模型纵轴是</a:t>
                </a:r>
                <a:r>
                  <a:rPr lang="en-US" altLang="zh-CN" dirty="0"/>
                  <a:t>AUPRC</a:t>
                </a:r>
                <a:r>
                  <a:rPr lang="zh-CN" altLang="en-US" dirty="0"/>
                  <a:t>对比了两个数据集的效果</a:t>
                </a:r>
                <a:endParaRPr lang="en-US" altLang="zh-CN" dirty="0"/>
              </a:p>
              <a:p>
                <a:r>
                  <a:rPr lang="en-US" altLang="zh-CN" dirty="0"/>
                  <a:t>D</a:t>
                </a:r>
                <a:r>
                  <a:rPr lang="zh-CN" altLang="en-US" dirty="0"/>
                  <a:t>图：降维后的两个坐标，</a:t>
                </a:r>
                <a:r>
                  <a:rPr lang="zh-CN" altLang="en-US" b="1" dirty="0"/>
                  <a:t>没有 </a:t>
                </a:r>
                <a:r>
                  <a:rPr lang="en-US" altLang="zh-CN" b="1" dirty="0"/>
                  <a:t>"</a:t>
                </a:r>
                <a:r>
                  <a:rPr lang="zh-CN" altLang="en-US" b="1" dirty="0"/>
                  <a:t>好 </a:t>
                </a:r>
                <a:r>
                  <a:rPr lang="en-US" altLang="zh-CN" b="1" dirty="0"/>
                  <a:t>/ </a:t>
                </a:r>
                <a:r>
                  <a:rPr lang="zh-CN" altLang="en-US" b="1" dirty="0"/>
                  <a:t>坏</a:t>
                </a:r>
                <a:r>
                  <a:rPr lang="en-US" altLang="zh-CN" b="1" dirty="0"/>
                  <a:t>" </a:t>
                </a:r>
                <a:r>
                  <a:rPr lang="zh-CN" altLang="en-US" b="1" dirty="0"/>
                  <a:t>意义</a:t>
                </a:r>
                <a:r>
                  <a:rPr lang="zh-CN" altLang="en-US" dirty="0"/>
                  <a:t>，只表示相似性 </a:t>
                </a:r>
                <a:r>
                  <a:rPr lang="en-US" altLang="zh-CN" dirty="0"/>
                  <a:t>—— </a:t>
                </a:r>
                <a:r>
                  <a:rPr lang="zh-CN" altLang="en-US" dirty="0"/>
                  <a:t>距离近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模型认为这两条肽在表示空间里接近；</a:t>
                </a:r>
                <a:endParaRPr lang="en-US" altLang="zh-CN" dirty="0"/>
              </a:p>
              <a:p>
                <a:r>
                  <a:rPr lang="en-US" altLang="zh-CN" b="1" dirty="0"/>
                  <a:t>f</a:t>
                </a:r>
                <a:r>
                  <a:rPr lang="zh-CN" altLang="en-US" b="1" dirty="0"/>
                  <a:t>：按肽拆分的散点（强在哪条肽上）</a:t>
                </a:r>
              </a:p>
              <a:p>
                <a:r>
                  <a:rPr lang="zh-CN" altLang="en-US" b="1" dirty="0">
                    <a:effectLst/>
                  </a:rPr>
                  <a:t>横轴</a:t>
                </a:r>
                <a:r>
                  <a:rPr lang="zh-CN" altLang="en-US" dirty="0">
                    <a:effectLst/>
                  </a:rPr>
                  <a:t>：</a:t>
                </a:r>
                <a:r>
                  <a:rPr lang="en-US" altLang="zh-CN" dirty="0" err="1">
                    <a:effectLst/>
                  </a:rPr>
                  <a:t>StriMap</a:t>
                </a:r>
                <a:r>
                  <a:rPr lang="en-US" altLang="zh-CN" dirty="0">
                    <a:effectLst/>
                  </a:rPr>
                  <a:t> AUROC</a:t>
                </a:r>
                <a:r>
                  <a:rPr lang="zh-CN" altLang="en-US" dirty="0">
                    <a:effectLst/>
                  </a:rPr>
                  <a:t>；</a:t>
                </a:r>
                <a:r>
                  <a:rPr lang="zh-CN" altLang="en-US" b="1" dirty="0">
                    <a:effectLst/>
                  </a:rPr>
                  <a:t>纵轴</a:t>
                </a:r>
                <a:r>
                  <a:rPr lang="zh-CN" altLang="en-US" dirty="0">
                    <a:effectLst/>
                  </a:rPr>
                  <a:t>：</a:t>
                </a:r>
                <a:r>
                  <a:rPr lang="en-US" altLang="zh-CN" dirty="0" err="1">
                    <a:effectLst/>
                  </a:rPr>
                  <a:t>NetTCR</a:t>
                </a:r>
                <a:r>
                  <a:rPr lang="zh-CN" altLang="en-US" dirty="0">
                    <a:effectLst/>
                  </a:rPr>
                  <a:t>（左）</a:t>
                </a:r>
                <a:r>
                  <a:rPr lang="en-US" altLang="zh-CN" dirty="0">
                    <a:effectLst/>
                  </a:rPr>
                  <a:t>/ </a:t>
                </a:r>
                <a:r>
                  <a:rPr lang="en-US" altLang="zh-CN" dirty="0" err="1">
                    <a:effectLst/>
                  </a:rPr>
                  <a:t>MixTCRpred</a:t>
                </a:r>
                <a:r>
                  <a:rPr lang="zh-CN" altLang="en-US" dirty="0">
                    <a:effectLst/>
                  </a:rPr>
                  <a:t>（右）</a:t>
                </a:r>
                <a:r>
                  <a:rPr lang="en-US" altLang="zh-CN" dirty="0">
                    <a:effectLst/>
                  </a:rPr>
                  <a:t>AUROC</a:t>
                </a:r>
                <a:r>
                  <a:rPr lang="zh-CN" altLang="en-US" dirty="0">
                    <a:effectLst/>
                  </a:rPr>
                  <a:t>；每个点 </a:t>
                </a:r>
                <a:r>
                  <a:rPr lang="en-US" altLang="zh-CN" dirty="0">
                    <a:effectLst/>
                  </a:rPr>
                  <a:t>= </a:t>
                </a:r>
                <a:r>
                  <a:rPr lang="zh-CN" altLang="en-US" dirty="0">
                    <a:effectLst/>
                  </a:rPr>
                  <a:t>一条肽（</a:t>
                </a:r>
                <a:r>
                  <a:rPr lang="en-US" altLang="zh-CN" dirty="0">
                    <a:effectLst/>
                  </a:rPr>
                  <a:t>GPRLKFYGL</a:t>
                </a:r>
                <a:r>
                  <a:rPr lang="zh-CN" altLang="en-US" dirty="0">
                    <a:effectLst/>
                  </a:rPr>
                  <a:t>、</a:t>
                </a:r>
                <a:r>
                  <a:rPr lang="en-US" altLang="zh-CN" dirty="0">
                    <a:effectLst/>
                  </a:rPr>
                  <a:t>KLRKLLF</a:t>
                </a:r>
                <a:r>
                  <a:rPr lang="zh-CN" altLang="en-US" dirty="0">
                    <a:effectLst/>
                  </a:rPr>
                  <a:t>、</a:t>
                </a:r>
                <a:r>
                  <a:rPr lang="en-US" altLang="zh-CN" dirty="0">
                    <a:effectLst/>
                  </a:rPr>
                  <a:t>QKLKLANQ </a:t>
                </a:r>
                <a:r>
                  <a:rPr lang="zh-CN" altLang="en-US" dirty="0">
                    <a:effectLst/>
                  </a:rPr>
                  <a:t>等），虚线 </a:t>
                </a:r>
                <a:r>
                  <a:rPr lang="en-US" altLang="zh-CN" dirty="0">
                    <a:effectLst/>
                  </a:rPr>
                  <a:t>= </a:t>
                </a:r>
                <a:r>
                  <a:rPr lang="zh-CN" altLang="en-US" dirty="0">
                    <a:effectLst/>
                  </a:rPr>
                  <a:t>等性能线；</a:t>
                </a:r>
              </a:p>
              <a:p>
                <a:r>
                  <a:rPr lang="zh-CN" altLang="en-US" b="1" dirty="0">
                    <a:effectLst/>
                  </a:rPr>
                  <a:t>结论</a:t>
                </a:r>
                <a:r>
                  <a:rPr lang="zh-CN" altLang="en-US" dirty="0">
                    <a:effectLst/>
                  </a:rPr>
                  <a:t>：</a:t>
                </a:r>
                <a:r>
                  <a:rPr lang="en-US" altLang="zh-CN" dirty="0">
                    <a:effectLst/>
                  </a:rPr>
                  <a:t>IMMREP22 </a:t>
                </a:r>
                <a:r>
                  <a:rPr lang="zh-CN" altLang="en-US" dirty="0">
                    <a:effectLst/>
                  </a:rPr>
                  <a:t>基准上按肽逐条比较，大多数点在对角线上方（</a:t>
                </a:r>
                <a:r>
                  <a:rPr lang="en-US" altLang="zh-CN" dirty="0" err="1">
                    <a:effectLst/>
                  </a:rPr>
                  <a:t>StriMap</a:t>
                </a:r>
                <a:r>
                  <a:rPr lang="en-US" altLang="zh-CN" dirty="0">
                    <a:effectLst/>
                  </a:rPr>
                  <a:t> </a:t>
                </a:r>
                <a:r>
                  <a:rPr lang="zh-CN" altLang="en-US" dirty="0">
                    <a:effectLst/>
                  </a:rPr>
                  <a:t>更好）</a:t>
                </a:r>
                <a:r>
                  <a:rPr lang="en-US" altLang="zh-CN" dirty="0">
                    <a:effectLst/>
                  </a:rPr>
                  <a:t>——</a:t>
                </a:r>
                <a:r>
                  <a:rPr lang="zh-CN" altLang="en-US" b="1" dirty="0">
                    <a:effectLst/>
                  </a:rPr>
                  <a:t>领先不是靠少数肽拉分，而是分布式的</a:t>
                </a:r>
                <a:r>
                  <a:rPr lang="zh-CN" altLang="en-US" dirty="0">
                    <a:effectLst/>
                  </a:rPr>
                  <a:t>。</a:t>
                </a:r>
              </a:p>
              <a:p>
                <a:r>
                  <a:rPr lang="en-US" altLang="zh-CN" dirty="0"/>
                  <a:t>G</a:t>
                </a:r>
                <a:r>
                  <a:rPr lang="zh-CN" altLang="en-US" dirty="0"/>
                  <a:t>：消融实验分别去掉不同模块看作用</a:t>
                </a:r>
                <a:endParaRPr lang="en-US" altLang="zh-CN" dirty="0"/>
              </a:p>
              <a:p>
                <a:r>
                  <a:rPr lang="en-US" altLang="zh-CN" dirty="0"/>
                  <a:t>H</a:t>
                </a:r>
                <a:r>
                  <a:rPr lang="zh-CN" altLang="en-US" dirty="0"/>
                  <a:t>：临床应用横轴：感染队列纵轴预测结合的百分比排名模型分数与真实免疫状态一致，说明学到的不只是数据集统计偏差。</a:t>
                </a:r>
                <a:endParaRPr lang="en-US" altLang="zh-CN" dirty="0"/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AUROC = Area Under the ROC Curve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，即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ROC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曲线下面积。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先看两个基本指标：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TPR /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召回率 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灵敏度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𝑇𝑃𝑅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𝑇𝑃/(𝑇𝑃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𝐹𝑁)</a:t>
                </a:r>
                <a:endParaRPr lang="zh-CN" altLang="en-US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真正例中被正确识别出来的比例。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FPR /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假阳性率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𝐹𝑃𝑅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𝐹𝑃/(𝐹𝑃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𝑇𝑁)</a:t>
                </a:r>
                <a:endParaRPr lang="zh-CN" altLang="en-US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真负例中被误判为正例的比例。</a:t>
                </a:r>
              </a:p>
              <a:p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ROC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曲线以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FPR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为横轴、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TPR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为纵轴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，通过不断改变分类阈值得到一条曲线。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AUROC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就是这条曲线下的面积。</a:t>
                </a:r>
              </a:p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 AUPRC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AUPRC = Area Under the Precision-Recall Curve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，即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曲线下面积。</a:t>
                </a:r>
              </a:p>
              <a:p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曲线的两个轴是：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Recall /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召回率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𝑅𝑒𝑐𝑎𝑙𝑙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𝐹𝑁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endParaRPr lang="ar-AE" altLang="zh-CN" dirty="0"/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Precision /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精确率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𝑃𝑟𝑒𝑐𝑖𝑠𝑖𝑜𝑛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𝐹𝑃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endParaRPr lang="ar-AE" altLang="zh-CN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预测为正例的样本中，真正是正例的比例。</a:t>
                </a:r>
              </a:p>
              <a:p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曲线以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Recall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为横轴、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Precision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为纵轴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，通过改变阈值得到。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AUPRC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就是这条曲线下的面积，有时也叫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Average Precision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31686-80CD-4308-B03E-6CFDA2666E8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8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需要注意的是这个模型不是生成式模型，所有只能去排序打分。</a:t>
            </a:r>
            <a:endParaRPr lang="en-US" altLang="zh-CN" b="1" dirty="0"/>
          </a:p>
          <a:p>
            <a:r>
              <a:rPr lang="en-US" altLang="zh-CN" b="1" dirty="0"/>
              <a:t>c</a:t>
            </a:r>
            <a:r>
              <a:rPr lang="zh-CN" altLang="en-US" b="1" dirty="0"/>
              <a:t>：用 </a:t>
            </a:r>
            <a:r>
              <a:rPr lang="en-US" altLang="zh-CN" b="1" dirty="0"/>
              <a:t>TP53 </a:t>
            </a:r>
            <a:r>
              <a:rPr lang="zh-CN" altLang="en-US" b="1" dirty="0"/>
              <a:t>作为测试病例</a:t>
            </a:r>
          </a:p>
          <a:p>
            <a:r>
              <a:rPr lang="en-US" altLang="zh-CN" dirty="0"/>
              <a:t>TP53 </a:t>
            </a:r>
            <a:r>
              <a:rPr lang="zh-CN" altLang="en-US" dirty="0"/>
              <a:t>是跨癌种最常见的驱动突变之一。</a:t>
            </a:r>
            <a:r>
              <a:rPr lang="en-US" altLang="zh-CN" dirty="0"/>
              <a:t>c </a:t>
            </a:r>
            <a:r>
              <a:rPr lang="zh-CN" altLang="en-US" dirty="0"/>
              <a:t>图列出 </a:t>
            </a:r>
            <a:r>
              <a:rPr lang="en-US" altLang="zh-CN" dirty="0"/>
              <a:t>4 </a:t>
            </a:r>
            <a:r>
              <a:rPr lang="zh-CN" altLang="en-US" dirty="0"/>
              <a:t>个代表性 </a:t>
            </a:r>
            <a:r>
              <a:rPr lang="en-US" altLang="zh-CN" dirty="0"/>
              <a:t>TP53 </a:t>
            </a:r>
            <a:r>
              <a:rPr lang="zh-CN" altLang="en-US" dirty="0"/>
              <a:t>突变（如 </a:t>
            </a:r>
            <a:r>
              <a:rPr lang="en-US" altLang="zh-CN" dirty="0"/>
              <a:t>Y220D</a:t>
            </a:r>
            <a:r>
              <a:rPr lang="zh-CN" altLang="en-US" dirty="0"/>
              <a:t>、</a:t>
            </a:r>
            <a:r>
              <a:rPr lang="en-US" altLang="zh-CN" dirty="0"/>
              <a:t>C135Y </a:t>
            </a:r>
            <a:r>
              <a:rPr lang="zh-CN" altLang="en-US" dirty="0"/>
              <a:t>等），每个对应一个突变肽（如 </a:t>
            </a:r>
            <a:r>
              <a:rPr lang="en-US" altLang="zh-CN" dirty="0"/>
              <a:t>YSPHLNQY</a:t>
            </a:r>
            <a:r>
              <a:rPr lang="zh-CN" altLang="en-US" dirty="0"/>
              <a:t>），并标注已知有几个实验确认的 </a:t>
            </a:r>
            <a:r>
              <a:rPr lang="en-US" altLang="zh-CN" dirty="0"/>
              <a:t>TCR</a:t>
            </a:r>
            <a:r>
              <a:rPr lang="zh-CN" altLang="en-US" dirty="0"/>
              <a:t>（每个 </a:t>
            </a:r>
            <a:r>
              <a:rPr lang="en-US" altLang="zh-CN" dirty="0"/>
              <a:t>1–3 </a:t>
            </a:r>
            <a:r>
              <a:rPr lang="zh-CN" altLang="en-US" dirty="0"/>
              <a:t>个）。</a:t>
            </a:r>
          </a:p>
          <a:p>
            <a:r>
              <a:rPr lang="en-US" altLang="zh-CN" b="1" dirty="0"/>
              <a:t>d + e</a:t>
            </a:r>
            <a:r>
              <a:rPr lang="zh-CN" altLang="en-US" b="1" dirty="0"/>
              <a:t>：任务 </a:t>
            </a:r>
            <a:r>
              <a:rPr lang="en-US" altLang="zh-CN" b="1" dirty="0"/>
              <a:t>1——TCR-centric </a:t>
            </a:r>
            <a:r>
              <a:rPr lang="zh-CN" altLang="en-US" b="1" dirty="0"/>
              <a:t>排序（找对的 </a:t>
            </a:r>
            <a:r>
              <a:rPr lang="en-US" altLang="zh-CN" b="1" dirty="0"/>
              <a:t>TCR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r>
              <a:rPr lang="en-US" altLang="zh-CN" b="1" dirty="0"/>
              <a:t>M1</a:t>
            </a:r>
            <a:r>
              <a:rPr lang="zh-CN" altLang="en-US" b="1" dirty="0"/>
              <a:t>和</a:t>
            </a:r>
            <a:r>
              <a:rPr lang="en-US" altLang="zh-CN" b="1" dirty="0"/>
              <a:t>m2</a:t>
            </a:r>
            <a:r>
              <a:rPr lang="zh-CN" altLang="en-US" b="1" dirty="0"/>
              <a:t>是肽里面随机突变</a:t>
            </a:r>
            <a:r>
              <a:rPr lang="en-US" altLang="zh-CN" b="1" dirty="0"/>
              <a:t>1-2</a:t>
            </a:r>
            <a:r>
              <a:rPr lang="zh-CN" altLang="en-US" b="1" dirty="0"/>
              <a:t>个残基</a:t>
            </a:r>
          </a:p>
          <a:p>
            <a:r>
              <a:rPr lang="zh-CN" altLang="en-US" b="1" dirty="0"/>
              <a:t>任务设定</a:t>
            </a:r>
            <a:r>
              <a:rPr lang="zh-CN" altLang="en-US" dirty="0"/>
              <a:t>：给定突变肽</a:t>
            </a:r>
            <a:r>
              <a:rPr lang="en-US" altLang="zh-CN" dirty="0"/>
              <a:t>–HLA </a:t>
            </a:r>
            <a:r>
              <a:rPr lang="zh-CN" altLang="en-US" dirty="0"/>
              <a:t>查询，从 </a:t>
            </a:r>
            <a:r>
              <a:rPr lang="en-US" altLang="zh-CN" b="1" dirty="0"/>
              <a:t>7 </a:t>
            </a:r>
            <a:r>
              <a:rPr lang="zh-CN" altLang="en-US" b="1" dirty="0"/>
              <a:t>个确认 </a:t>
            </a:r>
            <a:r>
              <a:rPr lang="en-US" altLang="zh-CN" b="1" dirty="0"/>
              <a:t>TCR + 3144 </a:t>
            </a:r>
            <a:r>
              <a:rPr lang="zh-CN" altLang="en-US" b="1" dirty="0"/>
              <a:t>个阴性候选</a:t>
            </a:r>
            <a:r>
              <a:rPr lang="zh-CN" altLang="en-US" dirty="0"/>
              <a:t>里把真正的识别者排到最前面。</a:t>
            </a:r>
            <a:r>
              <a:rPr lang="zh-CN" altLang="en-US" b="1" dirty="0"/>
              <a:t>完全零样本</a:t>
            </a:r>
            <a:r>
              <a:rPr lang="zh-CN" altLang="en-US" dirty="0"/>
              <a:t>：这些肽和 </a:t>
            </a:r>
            <a:r>
              <a:rPr lang="en-US" altLang="zh-CN" dirty="0"/>
              <a:t>TCR </a:t>
            </a:r>
            <a:r>
              <a:rPr lang="zh-CN" altLang="en-US" dirty="0"/>
              <a:t>训练时都没见过。</a:t>
            </a:r>
            <a:endParaRPr lang="en-US" altLang="zh-CN" dirty="0"/>
          </a:p>
          <a:p>
            <a:r>
              <a:rPr lang="en-US" altLang="zh-CN" dirty="0"/>
              <a:t>D</a:t>
            </a:r>
            <a:r>
              <a:rPr lang="zh-CN" altLang="en-US" dirty="0"/>
              <a:t>代表着有多大可能把真样本排在前面，第一个很高，第二个是正样本只有</a:t>
            </a:r>
            <a:r>
              <a:rPr lang="en-US" altLang="zh-CN" dirty="0"/>
              <a:t>7</a:t>
            </a:r>
            <a:r>
              <a:rPr lang="zh-CN" altLang="en-US" dirty="0"/>
              <a:t>个的时候，可以看到会低很多，但是已经比其他样本高了</a:t>
            </a:r>
            <a:endParaRPr lang="en-US" altLang="zh-CN" dirty="0"/>
          </a:p>
          <a:p>
            <a:r>
              <a:rPr lang="en-US" altLang="zh-CN" dirty="0"/>
              <a:t>E</a:t>
            </a:r>
            <a:r>
              <a:rPr lang="zh-CN" altLang="en-US" dirty="0"/>
              <a:t>表示</a:t>
            </a:r>
            <a:r>
              <a:rPr lang="en-US" altLang="zh-CN" dirty="0"/>
              <a:t>TCR</a:t>
            </a:r>
            <a:r>
              <a:rPr lang="zh-CN" altLang="en-US" dirty="0"/>
              <a:t>排名看是否把真实的排在前面</a:t>
            </a:r>
            <a:endParaRPr lang="en-US" altLang="zh-CN" dirty="0"/>
          </a:p>
          <a:p>
            <a:r>
              <a:rPr lang="en-US" altLang="zh-CN" b="1" dirty="0"/>
              <a:t>f + g</a:t>
            </a:r>
            <a:r>
              <a:rPr lang="zh-CN" altLang="en-US" b="1" dirty="0"/>
              <a:t>：任务 </a:t>
            </a:r>
            <a:r>
              <a:rPr lang="en-US" altLang="zh-CN" b="1" dirty="0"/>
              <a:t>2——neoantigen-centric </a:t>
            </a:r>
            <a:r>
              <a:rPr lang="zh-CN" altLang="en-US" b="1" dirty="0"/>
              <a:t>排序（找对的肽）</a:t>
            </a:r>
          </a:p>
          <a:p>
            <a:r>
              <a:rPr lang="zh-CN" altLang="en-US" b="1" dirty="0"/>
              <a:t>任务设定</a:t>
            </a:r>
            <a:r>
              <a:rPr lang="zh-CN" altLang="en-US" dirty="0"/>
              <a:t>：已知黑色素瘤患者的 </a:t>
            </a:r>
            <a:r>
              <a:rPr lang="en-US" altLang="zh-CN" dirty="0"/>
              <a:t>TCR </a:t>
            </a:r>
            <a:r>
              <a:rPr lang="zh-CN" altLang="en-US" dirty="0"/>
              <a:t>库，从 </a:t>
            </a:r>
            <a:r>
              <a:rPr lang="en-US" altLang="zh-CN" b="1" dirty="0"/>
              <a:t>5 </a:t>
            </a:r>
            <a:r>
              <a:rPr lang="zh-CN" altLang="en-US" b="1" dirty="0"/>
              <a:t>个实验验证的新抗原 </a:t>
            </a:r>
            <a:r>
              <a:rPr lang="en-US" altLang="zh-CN" b="1" dirty="0"/>
              <a:t>+ 101 </a:t>
            </a:r>
            <a:r>
              <a:rPr lang="zh-CN" altLang="en-US" b="1" dirty="0"/>
              <a:t>个其他候选</a:t>
            </a:r>
            <a:r>
              <a:rPr lang="zh-CN" altLang="en-US" dirty="0"/>
              <a:t>（共 </a:t>
            </a:r>
            <a:r>
              <a:rPr lang="en-US" altLang="zh-CN" dirty="0"/>
              <a:t>106 </a:t>
            </a:r>
            <a:r>
              <a:rPr lang="zh-CN" altLang="en-US" dirty="0"/>
              <a:t>个）里把真正免疫原性的肽排到前面，用于疫苗设计。</a:t>
            </a:r>
            <a:endParaRPr lang="en-US" altLang="zh-CN" dirty="0"/>
          </a:p>
          <a:p>
            <a:r>
              <a:rPr lang="en-US" altLang="zh-CN" dirty="0"/>
              <a:t>G</a:t>
            </a:r>
            <a:r>
              <a:rPr lang="zh-CN" altLang="en-US" dirty="0"/>
              <a:t>是把真正抗体排在哪里，越靠左上越好。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1. AUROC</a:t>
            </a:r>
            <a:r>
              <a:rPr lang="zh-CN" altLang="en-US" b="1" dirty="0"/>
              <a:t>：</a:t>
            </a:r>
            <a:r>
              <a:rPr lang="en-US" altLang="zh-CN" b="1" dirty="0"/>
              <a:t>ROC </a:t>
            </a:r>
            <a:r>
              <a:rPr lang="zh-CN" altLang="en-US" b="1" dirty="0"/>
              <a:t>曲线下面积</a:t>
            </a:r>
          </a:p>
          <a:p>
            <a:r>
              <a:rPr lang="en-US" altLang="zh-CN" b="1" dirty="0"/>
              <a:t>ROC </a:t>
            </a:r>
            <a:r>
              <a:rPr lang="zh-CN" altLang="en-US" b="1" dirty="0"/>
              <a:t>曲线的坐标</a:t>
            </a:r>
            <a:r>
              <a:rPr lang="zh-CN" altLang="en-US" dirty="0"/>
              <a:t>：</a:t>
            </a:r>
          </a:p>
          <a:p>
            <a:r>
              <a:rPr lang="zh-CN" altLang="en-US" b="1" dirty="0">
                <a:effectLst/>
              </a:rPr>
              <a:t>横轴 </a:t>
            </a:r>
            <a:r>
              <a:rPr lang="en-US" altLang="zh-CN" b="1" dirty="0">
                <a:effectLst/>
              </a:rPr>
              <a:t>= FPR</a:t>
            </a:r>
            <a:r>
              <a:rPr lang="zh-CN" altLang="en-US" b="1" dirty="0">
                <a:effectLst/>
              </a:rPr>
              <a:t>（假阳性率）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= FP / (FP+TN)——"</a:t>
            </a:r>
            <a:r>
              <a:rPr lang="zh-CN" altLang="en-US" dirty="0">
                <a:effectLst/>
              </a:rPr>
              <a:t>负样本里被误判为正的比例</a:t>
            </a:r>
            <a:r>
              <a:rPr lang="en-US" altLang="zh-CN" dirty="0">
                <a:effectLst/>
              </a:rPr>
              <a:t>"</a:t>
            </a:r>
            <a:r>
              <a:rPr lang="zh-CN" altLang="en-US" dirty="0">
                <a:effectLst/>
              </a:rPr>
              <a:t>，越低越好；</a:t>
            </a:r>
          </a:p>
          <a:p>
            <a:r>
              <a:rPr lang="zh-CN" altLang="en-US" b="1" dirty="0">
                <a:effectLst/>
              </a:rPr>
              <a:t>纵轴 </a:t>
            </a:r>
            <a:r>
              <a:rPr lang="en-US" altLang="zh-CN" b="1" dirty="0">
                <a:effectLst/>
              </a:rPr>
              <a:t>= TPR</a:t>
            </a:r>
            <a:r>
              <a:rPr lang="zh-CN" altLang="en-US" b="1" dirty="0">
                <a:effectLst/>
              </a:rPr>
              <a:t>（真阳性率，</a:t>
            </a:r>
            <a:r>
              <a:rPr lang="en-US" altLang="zh-CN" b="1" dirty="0">
                <a:effectLst/>
              </a:rPr>
              <a:t>= Recall</a:t>
            </a:r>
            <a:r>
              <a:rPr lang="zh-CN" altLang="en-US" b="1" dirty="0">
                <a:effectLst/>
              </a:rPr>
              <a:t>）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= TP / (TP+FN)——"</a:t>
            </a:r>
            <a:r>
              <a:rPr lang="zh-CN" altLang="en-US" dirty="0">
                <a:effectLst/>
              </a:rPr>
              <a:t>正样本里被正确找出的比例</a:t>
            </a:r>
            <a:r>
              <a:rPr lang="en-US" altLang="zh-CN" dirty="0">
                <a:effectLst/>
              </a:rPr>
              <a:t>"</a:t>
            </a:r>
            <a:r>
              <a:rPr lang="zh-CN" altLang="en-US" dirty="0">
                <a:effectLst/>
              </a:rPr>
              <a:t>，越高越好。</a:t>
            </a:r>
          </a:p>
          <a:p>
            <a:r>
              <a:rPr lang="zh-CN" altLang="en-US" dirty="0"/>
              <a:t>每个阈值对应一个 </a:t>
            </a:r>
            <a:r>
              <a:rPr lang="en-US" altLang="zh-CN" dirty="0"/>
              <a:t>(FPR, TPR) </a:t>
            </a:r>
            <a:r>
              <a:rPr lang="zh-CN" altLang="en-US" dirty="0"/>
              <a:t>点，把所有阈值连起来就是 </a:t>
            </a:r>
            <a:r>
              <a:rPr lang="en-US" altLang="zh-CN" dirty="0"/>
              <a:t>ROC </a:t>
            </a:r>
            <a:r>
              <a:rPr lang="zh-CN" altLang="en-US" dirty="0"/>
              <a:t>曲线，曲线下的面积就是 </a:t>
            </a:r>
            <a:r>
              <a:rPr lang="en-US" altLang="zh-CN" dirty="0"/>
              <a:t>AUROC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怎么读</a:t>
            </a:r>
            <a:r>
              <a:rPr lang="zh-CN" altLang="en-US" dirty="0"/>
              <a:t>：</a:t>
            </a:r>
            <a:r>
              <a:rPr lang="en-US" altLang="zh-CN" dirty="0"/>
              <a:t>AUROC = </a:t>
            </a:r>
            <a:r>
              <a:rPr lang="zh-CN" altLang="en-US" b="1" dirty="0"/>
              <a:t>随机抽一个正样本和一个负样本，模型给正样本打的分更高的概率</a:t>
            </a:r>
            <a:r>
              <a:rPr lang="zh-CN" altLang="en-US" dirty="0"/>
              <a:t>。所以：</a:t>
            </a:r>
          </a:p>
          <a:p>
            <a:r>
              <a:rPr lang="en-US" altLang="zh-CN" dirty="0">
                <a:effectLst/>
              </a:rPr>
              <a:t>0.5 = </a:t>
            </a:r>
            <a:r>
              <a:rPr lang="zh-CN" altLang="en-US" dirty="0">
                <a:effectLst/>
              </a:rPr>
              <a:t>纯随机（曲线贴对角线）；</a:t>
            </a:r>
          </a:p>
          <a:p>
            <a:r>
              <a:rPr lang="en-US" altLang="zh-CN" dirty="0">
                <a:effectLst/>
              </a:rPr>
              <a:t>1.0 = </a:t>
            </a:r>
            <a:r>
              <a:rPr lang="zh-CN" altLang="en-US" dirty="0">
                <a:effectLst/>
              </a:rPr>
              <a:t>完美排序（所有正样本都排在所有负样本前面）；</a:t>
            </a:r>
          </a:p>
          <a:p>
            <a:r>
              <a:rPr lang="en-US" altLang="zh-CN" b="1" dirty="0">
                <a:effectLst/>
              </a:rPr>
              <a:t>0.74 = </a:t>
            </a:r>
            <a:r>
              <a:rPr lang="zh-CN" altLang="en-US" b="1" dirty="0">
                <a:effectLst/>
              </a:rPr>
              <a:t>随机挑一对正负样本，正样本有 </a:t>
            </a:r>
            <a:r>
              <a:rPr lang="en-US" altLang="zh-CN" b="1" dirty="0">
                <a:effectLst/>
              </a:rPr>
              <a:t>74% </a:t>
            </a:r>
            <a:r>
              <a:rPr lang="zh-CN" altLang="en-US" b="1" dirty="0">
                <a:effectLst/>
              </a:rPr>
              <a:t>概率排得更靠前</a:t>
            </a:r>
            <a:r>
              <a:rPr lang="zh-CN" altLang="en-US" dirty="0">
                <a:effectLst/>
              </a:rPr>
              <a:t>。</a:t>
            </a:r>
          </a:p>
          <a:p>
            <a:r>
              <a:rPr lang="en-US" altLang="zh-CN" b="1" dirty="0"/>
              <a:t>2. AUPRC</a:t>
            </a:r>
            <a:r>
              <a:rPr lang="zh-CN" altLang="en-US" b="1" dirty="0"/>
              <a:t>：</a:t>
            </a:r>
            <a:r>
              <a:rPr lang="en-US" altLang="zh-CN" b="1" dirty="0"/>
              <a:t>Precision-Recall </a:t>
            </a:r>
            <a:r>
              <a:rPr lang="zh-CN" altLang="en-US" b="1" dirty="0"/>
              <a:t>曲线下面积</a:t>
            </a:r>
          </a:p>
          <a:p>
            <a:r>
              <a:rPr lang="en-US" altLang="zh-CN" b="1" dirty="0"/>
              <a:t>PR </a:t>
            </a:r>
            <a:r>
              <a:rPr lang="zh-CN" altLang="en-US" b="1" dirty="0"/>
              <a:t>曲线的坐标</a:t>
            </a:r>
            <a:r>
              <a:rPr lang="zh-CN" altLang="en-US" dirty="0"/>
              <a:t>：</a:t>
            </a:r>
          </a:p>
          <a:p>
            <a:r>
              <a:rPr lang="zh-CN" altLang="en-US" b="1" dirty="0">
                <a:effectLst/>
              </a:rPr>
              <a:t>横轴 </a:t>
            </a:r>
            <a:r>
              <a:rPr lang="en-US" altLang="zh-CN" b="1" dirty="0">
                <a:effectLst/>
              </a:rPr>
              <a:t>= Recall</a:t>
            </a:r>
            <a:r>
              <a:rPr lang="zh-CN" altLang="en-US" b="1" dirty="0">
                <a:effectLst/>
              </a:rPr>
              <a:t>（召回率）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= TP / (TP+FN)</a:t>
            </a:r>
            <a:r>
              <a:rPr lang="zh-CN" altLang="en-US" dirty="0">
                <a:effectLst/>
              </a:rPr>
              <a:t>，同 </a:t>
            </a:r>
            <a:r>
              <a:rPr lang="en-US" altLang="zh-CN" dirty="0">
                <a:effectLst/>
              </a:rPr>
              <a:t>TPR</a:t>
            </a:r>
            <a:r>
              <a:rPr lang="zh-CN" altLang="en-US" dirty="0">
                <a:effectLst/>
              </a:rPr>
              <a:t>；</a:t>
            </a:r>
          </a:p>
          <a:p>
            <a:r>
              <a:rPr lang="zh-CN" altLang="en-US" b="1" dirty="0">
                <a:effectLst/>
              </a:rPr>
              <a:t>纵轴 </a:t>
            </a:r>
            <a:r>
              <a:rPr lang="en-US" altLang="zh-CN" b="1" dirty="0">
                <a:effectLst/>
              </a:rPr>
              <a:t>= Precision</a:t>
            </a:r>
            <a:r>
              <a:rPr lang="zh-CN" altLang="en-US" b="1" dirty="0">
                <a:effectLst/>
              </a:rPr>
              <a:t>（精确率）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= TP / (TP+FP)——"</a:t>
            </a:r>
            <a:r>
              <a:rPr lang="zh-CN" altLang="en-US" dirty="0">
                <a:effectLst/>
              </a:rPr>
              <a:t>被判为正的里面，真正是正的占比</a:t>
            </a:r>
            <a:r>
              <a:rPr lang="en-US" altLang="zh-CN" dirty="0">
                <a:effectLst/>
              </a:rPr>
              <a:t>"</a:t>
            </a:r>
            <a:r>
              <a:rPr lang="zh-CN" altLang="en-US" dirty="0">
                <a:effectLst/>
              </a:rPr>
              <a:t>，越高越好。</a:t>
            </a:r>
          </a:p>
          <a:p>
            <a:r>
              <a:rPr lang="zh-CN" altLang="en-US" dirty="0"/>
              <a:t>每个阈值对应一个 </a:t>
            </a:r>
            <a:r>
              <a:rPr lang="en-US" altLang="zh-CN" dirty="0"/>
              <a:t>(Recall, Precision) </a:t>
            </a:r>
            <a:r>
              <a:rPr lang="zh-CN" altLang="en-US" dirty="0"/>
              <a:t>点，连起来是 </a:t>
            </a:r>
            <a:r>
              <a:rPr lang="en-US" altLang="zh-CN" dirty="0"/>
              <a:t>PR </a:t>
            </a:r>
            <a:r>
              <a:rPr lang="zh-CN" altLang="en-US" dirty="0"/>
              <a:t>曲线，面积就是 </a:t>
            </a:r>
            <a:r>
              <a:rPr lang="en-US" altLang="zh-CN" dirty="0"/>
              <a:t>AUPRC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关键差别 </a:t>
            </a:r>
            <a:r>
              <a:rPr lang="en-US" altLang="zh-CN" b="1" dirty="0"/>
              <a:t>—— </a:t>
            </a:r>
            <a:r>
              <a:rPr lang="zh-CN" altLang="en-US" b="1" dirty="0"/>
              <a:t>随机基线不是 </a:t>
            </a:r>
            <a:r>
              <a:rPr lang="en-US" altLang="zh-CN" b="1" dirty="0"/>
              <a:t>0.5</a:t>
            </a:r>
            <a:r>
              <a:rPr lang="zh-CN" altLang="en-US" dirty="0"/>
              <a:t>：</a:t>
            </a:r>
            <a:r>
              <a:rPr lang="en-US" altLang="zh-CN" dirty="0"/>
              <a:t>PR </a:t>
            </a:r>
            <a:r>
              <a:rPr lang="zh-CN" altLang="en-US" dirty="0"/>
              <a:t>曲线的随机基线 </a:t>
            </a:r>
            <a:r>
              <a:rPr lang="en-US" altLang="zh-CN" dirty="0"/>
              <a:t>= </a:t>
            </a:r>
            <a:r>
              <a:rPr lang="zh-CN" altLang="en-US" b="1" dirty="0"/>
              <a:t>正样本占总体的比例</a:t>
            </a:r>
            <a:r>
              <a:rPr lang="zh-CN" altLang="en-US" dirty="0"/>
              <a:t>。</a:t>
            </a:r>
          </a:p>
          <a:p>
            <a:r>
              <a:rPr lang="en-US" altLang="zh-CN" dirty="0">
                <a:effectLst/>
              </a:rPr>
              <a:t>Task 1</a:t>
            </a:r>
            <a:r>
              <a:rPr lang="zh-CN" altLang="en-US" dirty="0">
                <a:effectLst/>
              </a:rPr>
              <a:t>（</a:t>
            </a:r>
            <a:r>
              <a:rPr lang="en-US" altLang="zh-CN" dirty="0">
                <a:effectLst/>
              </a:rPr>
              <a:t>7 </a:t>
            </a:r>
            <a:r>
              <a:rPr lang="zh-CN" altLang="en-US" dirty="0">
                <a:effectLst/>
              </a:rPr>
              <a:t>正 </a:t>
            </a:r>
            <a:r>
              <a:rPr lang="en-US" altLang="zh-CN" dirty="0">
                <a:effectLst/>
              </a:rPr>
              <a:t>+ 3144 </a:t>
            </a:r>
            <a:r>
              <a:rPr lang="zh-CN" altLang="en-US" dirty="0">
                <a:effectLst/>
              </a:rPr>
              <a:t>负）：随机基线 </a:t>
            </a:r>
            <a:r>
              <a:rPr lang="en-US" altLang="zh-CN" dirty="0">
                <a:effectLst/>
              </a:rPr>
              <a:t>AUPRC ≈ 7/3151 ≈ </a:t>
            </a:r>
            <a:r>
              <a:rPr lang="en-US" altLang="zh-CN" b="1" dirty="0">
                <a:effectLst/>
              </a:rPr>
              <a:t>0.0022</a:t>
            </a:r>
            <a:r>
              <a:rPr lang="zh-CN" altLang="en-US" dirty="0">
                <a:effectLst/>
              </a:rPr>
              <a:t>；</a:t>
            </a:r>
          </a:p>
          <a:p>
            <a:r>
              <a:rPr lang="en-US" altLang="zh-CN" dirty="0">
                <a:effectLst/>
              </a:rPr>
              <a:t>Task 2</a:t>
            </a:r>
            <a:r>
              <a:rPr lang="zh-CN" altLang="en-US" dirty="0">
                <a:effectLst/>
              </a:rPr>
              <a:t>（</a:t>
            </a:r>
            <a:r>
              <a:rPr lang="en-US" altLang="zh-CN" dirty="0">
                <a:effectLst/>
              </a:rPr>
              <a:t>5 </a:t>
            </a:r>
            <a:r>
              <a:rPr lang="zh-CN" altLang="en-US" dirty="0">
                <a:effectLst/>
              </a:rPr>
              <a:t>正 </a:t>
            </a:r>
            <a:r>
              <a:rPr lang="en-US" altLang="zh-CN" dirty="0">
                <a:effectLst/>
              </a:rPr>
              <a:t>+ 101 </a:t>
            </a:r>
            <a:r>
              <a:rPr lang="zh-CN" altLang="en-US" dirty="0">
                <a:effectLst/>
              </a:rPr>
              <a:t>负）：随机基线 ≈ </a:t>
            </a:r>
            <a:r>
              <a:rPr lang="en-US" altLang="zh-CN" dirty="0">
                <a:effectLst/>
              </a:rPr>
              <a:t>5/106 ≈ </a:t>
            </a:r>
            <a:r>
              <a:rPr lang="en-US" altLang="zh-CN" b="1" dirty="0">
                <a:effectLst/>
              </a:rPr>
              <a:t>0.047</a:t>
            </a:r>
            <a:r>
              <a:rPr lang="zh-CN" altLang="en-US" dirty="0">
                <a:effectLst/>
              </a:rPr>
              <a:t>（论文正文也明确写了 </a:t>
            </a:r>
            <a:r>
              <a:rPr lang="en-US" altLang="zh-CN" dirty="0">
                <a:effectLst/>
              </a:rPr>
              <a:t>AUPRC </a:t>
            </a:r>
            <a:r>
              <a:rPr lang="zh-CN" altLang="en-US" dirty="0">
                <a:effectLst/>
              </a:rPr>
              <a:t>随机基线 </a:t>
            </a:r>
            <a:r>
              <a:rPr lang="en-US" altLang="zh-CN" dirty="0">
                <a:effectLst/>
              </a:rPr>
              <a:t>0.047</a:t>
            </a:r>
            <a:r>
              <a:rPr lang="zh-CN" altLang="en-US" dirty="0">
                <a:effectLst/>
              </a:rPr>
              <a:t>）。</a:t>
            </a:r>
          </a:p>
          <a:p>
            <a:r>
              <a:rPr lang="zh-CN" altLang="en-US" b="1" dirty="0"/>
              <a:t>怎么读</a:t>
            </a:r>
            <a:r>
              <a:rPr lang="zh-CN" altLang="en-US" dirty="0"/>
              <a:t>：</a:t>
            </a:r>
            <a:r>
              <a:rPr lang="en-US" altLang="zh-CN" dirty="0"/>
              <a:t>AUPRC </a:t>
            </a:r>
            <a:r>
              <a:rPr lang="zh-CN" altLang="en-US" dirty="0"/>
              <a:t>高 </a:t>
            </a:r>
            <a:r>
              <a:rPr lang="en-US" altLang="zh-CN" dirty="0"/>
              <a:t>= </a:t>
            </a:r>
            <a:r>
              <a:rPr lang="zh-CN" altLang="en-US" b="1" dirty="0"/>
              <a:t>模型把 </a:t>
            </a:r>
            <a:r>
              <a:rPr lang="en-US" altLang="zh-CN" b="1" dirty="0"/>
              <a:t>"</a:t>
            </a:r>
            <a:r>
              <a:rPr lang="zh-CN" altLang="en-US" b="1" dirty="0"/>
              <a:t>真货</a:t>
            </a:r>
            <a:r>
              <a:rPr lang="en-US" altLang="zh-CN" b="1" dirty="0"/>
              <a:t>" </a:t>
            </a:r>
            <a:r>
              <a:rPr lang="zh-CN" altLang="en-US" b="1" dirty="0"/>
              <a:t>集中在排名的靠前位置</a:t>
            </a:r>
            <a:r>
              <a:rPr lang="en-US" altLang="zh-CN" dirty="0"/>
              <a:t>—— </a:t>
            </a:r>
            <a:r>
              <a:rPr lang="zh-CN" altLang="en-US" dirty="0"/>
              <a:t>因为只有 </a:t>
            </a:r>
            <a:r>
              <a:rPr lang="en-US" altLang="zh-CN" dirty="0"/>
              <a:t>"</a:t>
            </a:r>
            <a:r>
              <a:rPr lang="zh-CN" altLang="en-US" dirty="0"/>
              <a:t>排前面的是真阳性</a:t>
            </a:r>
            <a:r>
              <a:rPr lang="en-US" altLang="zh-CN" dirty="0"/>
              <a:t>"</a:t>
            </a:r>
            <a:r>
              <a:rPr lang="zh-CN" altLang="en-US" dirty="0"/>
              <a:t>，</a:t>
            </a:r>
            <a:r>
              <a:rPr lang="en-US" altLang="zh-CN" dirty="0"/>
              <a:t>Precision </a:t>
            </a:r>
            <a:r>
              <a:rPr lang="zh-CN" altLang="en-US" dirty="0"/>
              <a:t>才高。它在正样本极少时极其苛刻：</a:t>
            </a:r>
            <a:r>
              <a:rPr lang="en-US" altLang="zh-CN" dirty="0"/>
              <a:t>NetTCR2.0 </a:t>
            </a:r>
            <a:r>
              <a:rPr lang="zh-CN" altLang="en-US" dirty="0"/>
              <a:t>的 </a:t>
            </a:r>
            <a:r>
              <a:rPr lang="en-US" altLang="zh-CN" dirty="0"/>
              <a:t>AUPRC=0.00 </a:t>
            </a:r>
            <a:r>
              <a:rPr lang="zh-CN" altLang="en-US" dirty="0"/>
              <a:t>就意味着它几乎没有一个真实 </a:t>
            </a:r>
            <a:r>
              <a:rPr lang="en-US" altLang="zh-CN" dirty="0"/>
              <a:t>TCR </a:t>
            </a:r>
            <a:r>
              <a:rPr lang="zh-CN" altLang="en-US" dirty="0"/>
              <a:t>排进靠前位置。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31686-80CD-4308-B03E-6CFDA2666E8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746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zero-shot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（零样本）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训练时没见过这些肽和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直接用预训练模型预测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TCR </a:t>
            </a:r>
            <a:r>
              <a:rPr lang="zh-CN" altLang="en-US" dirty="0"/>
              <a:t>识别有 </a:t>
            </a:r>
            <a:r>
              <a:rPr lang="en-US" altLang="zh-CN" dirty="0"/>
              <a:t>"</a:t>
            </a:r>
            <a:r>
              <a:rPr lang="zh-CN" altLang="en-US" dirty="0"/>
              <a:t>诱导契合</a:t>
            </a:r>
            <a:r>
              <a:rPr lang="en-US" altLang="zh-CN" dirty="0"/>
              <a:t>"—— </a:t>
            </a:r>
            <a:r>
              <a:rPr lang="zh-CN" altLang="en-US" dirty="0"/>
              <a:t>结合前和结合后，</a:t>
            </a:r>
            <a:r>
              <a:rPr lang="en-US" altLang="zh-CN" dirty="0"/>
              <a:t>TCR / </a:t>
            </a:r>
            <a:r>
              <a:rPr lang="zh-CN" altLang="en-US" dirty="0"/>
              <a:t>肽 </a:t>
            </a:r>
            <a:r>
              <a:rPr lang="en-US" altLang="zh-CN" dirty="0"/>
              <a:t>/ HLA </a:t>
            </a:r>
            <a:r>
              <a:rPr lang="zh-CN" altLang="en-US" dirty="0"/>
              <a:t>的构象会变化。</a:t>
            </a:r>
            <a:r>
              <a:rPr lang="en-US" altLang="zh-CN" dirty="0" err="1"/>
              <a:t>StriMap</a:t>
            </a:r>
            <a:r>
              <a:rPr lang="en-US" altLang="zh-CN" dirty="0"/>
              <a:t> </a:t>
            </a:r>
            <a:r>
              <a:rPr lang="zh-CN" altLang="en-US" dirty="0"/>
              <a:t>只用 </a:t>
            </a:r>
            <a:r>
              <a:rPr lang="en-US" altLang="zh-CN" dirty="0" err="1"/>
              <a:t>ESMFold</a:t>
            </a:r>
            <a:r>
              <a:rPr lang="en-US" altLang="zh-CN" dirty="0"/>
              <a:t> </a:t>
            </a:r>
            <a:r>
              <a:rPr lang="zh-CN" altLang="en-US" dirty="0"/>
              <a:t>预测的</a:t>
            </a:r>
            <a:r>
              <a:rPr lang="zh-CN" altLang="en-US" b="1" dirty="0"/>
              <a:t>单一静态结构</a:t>
            </a:r>
            <a:r>
              <a:rPr lang="zh-CN" altLang="en-US" dirty="0"/>
              <a:t>，相当于给每个分子拍了一张 </a:t>
            </a:r>
            <a:r>
              <a:rPr lang="en-US" altLang="zh-CN" dirty="0"/>
              <a:t>"</a:t>
            </a:r>
            <a:r>
              <a:rPr lang="zh-CN" altLang="en-US" dirty="0"/>
              <a:t>证件照</a:t>
            </a:r>
            <a:r>
              <a:rPr lang="en-US" altLang="zh-CN" dirty="0"/>
              <a:t>"</a:t>
            </a:r>
            <a:r>
              <a:rPr lang="zh-CN" altLang="en-US" dirty="0"/>
              <a:t>，表现不了结合过程中的动态变形</a:t>
            </a:r>
            <a:endParaRPr lang="en-US" altLang="zh-CN" dirty="0"/>
          </a:p>
          <a:p>
            <a:r>
              <a:rPr lang="zh-CN" altLang="en-US" dirty="0"/>
              <a:t>数据库主要记录 </a:t>
            </a:r>
            <a:r>
              <a:rPr lang="en-US" altLang="zh-CN" dirty="0"/>
              <a:t>"</a:t>
            </a:r>
            <a:r>
              <a:rPr lang="zh-CN" altLang="en-US" dirty="0"/>
              <a:t>测过且结合</a:t>
            </a:r>
            <a:r>
              <a:rPr lang="en-US" altLang="zh-CN" dirty="0"/>
              <a:t>" </a:t>
            </a:r>
            <a:r>
              <a:rPr lang="zh-CN" altLang="en-US" dirty="0"/>
              <a:t>的样本；随机错配（</a:t>
            </a:r>
            <a:r>
              <a:rPr lang="en-US" altLang="zh-CN" dirty="0"/>
              <a:t>TCR </a:t>
            </a:r>
            <a:r>
              <a:rPr lang="zh-CN" altLang="en-US" dirty="0"/>
              <a:t>配错 </a:t>
            </a:r>
            <a:r>
              <a:rPr lang="en-US" altLang="zh-CN" dirty="0" err="1"/>
              <a:t>pHLA</a:t>
            </a:r>
            <a:r>
              <a:rPr lang="zh-CN" altLang="en-US" dirty="0"/>
              <a:t>）或人为突变造出的负样本</a:t>
            </a:r>
            <a:r>
              <a:rPr lang="zh-CN" altLang="en-US" b="1" dirty="0"/>
              <a:t>并不保证真的不结合</a:t>
            </a:r>
            <a:r>
              <a:rPr lang="en-US" altLang="zh-CN" dirty="0"/>
              <a:t>—— </a:t>
            </a:r>
            <a:r>
              <a:rPr lang="zh-CN" altLang="en-US" dirty="0"/>
              <a:t>它可能只是没人测过，甚至其实结合。所以负样本标签含噪声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31686-80CD-4308-B03E-6CFDA2666E8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71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Image 29">
            <a:extLst>
              <a:ext uri="{FF2B5EF4-FFF2-40B4-BE49-F238E27FC236}">
                <a16:creationId xmlns:a16="http://schemas.microsoft.com/office/drawing/2014/main" id="{5EF01246-4BF6-7504-9A91-D64F4FA9D5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48011" y="0"/>
            <a:ext cx="712124" cy="712124"/>
          </a:xfrm>
          <a:prstGeom prst="rect">
            <a:avLst/>
          </a:prstGeom>
        </p:spPr>
      </p:pic>
      <p:pic>
        <p:nvPicPr>
          <p:cNvPr id="10" name="Image 29">
            <a:extLst>
              <a:ext uri="{FF2B5EF4-FFF2-40B4-BE49-F238E27FC236}">
                <a16:creationId xmlns:a16="http://schemas.microsoft.com/office/drawing/2014/main" id="{E284FA33-1196-4D17-7725-16FC08A5B3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477"/>
          <a:stretch>
            <a:fillRect/>
          </a:stretch>
        </p:blipFill>
        <p:spPr>
          <a:xfrm>
            <a:off x="11461790" y="1"/>
            <a:ext cx="730210" cy="7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29">
            <a:extLst>
              <a:ext uri="{FF2B5EF4-FFF2-40B4-BE49-F238E27FC236}">
                <a16:creationId xmlns:a16="http://schemas.microsoft.com/office/drawing/2014/main" id="{60BFA5B1-43A5-2004-E165-6B1D5A7105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48011" y="0"/>
            <a:ext cx="712124" cy="712124"/>
          </a:xfrm>
          <a:prstGeom prst="rect">
            <a:avLst/>
          </a:prstGeom>
        </p:spPr>
      </p:pic>
      <p:pic>
        <p:nvPicPr>
          <p:cNvPr id="8" name="Image 29">
            <a:extLst>
              <a:ext uri="{FF2B5EF4-FFF2-40B4-BE49-F238E27FC236}">
                <a16:creationId xmlns:a16="http://schemas.microsoft.com/office/drawing/2014/main" id="{BBCD9B28-D66E-5F9B-324F-88AD466839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477"/>
          <a:stretch>
            <a:fillRect/>
          </a:stretch>
        </p:blipFill>
        <p:spPr>
          <a:xfrm>
            <a:off x="11461790" y="1"/>
            <a:ext cx="730210" cy="7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29">
            <a:extLst>
              <a:ext uri="{FF2B5EF4-FFF2-40B4-BE49-F238E27FC236}">
                <a16:creationId xmlns:a16="http://schemas.microsoft.com/office/drawing/2014/main" id="{3378935F-4DFA-3345-F933-FB9A944B6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48011" y="0"/>
            <a:ext cx="712124" cy="712124"/>
          </a:xfrm>
          <a:prstGeom prst="rect">
            <a:avLst/>
          </a:prstGeom>
        </p:spPr>
      </p:pic>
      <p:pic>
        <p:nvPicPr>
          <p:cNvPr id="8" name="Image 29">
            <a:extLst>
              <a:ext uri="{FF2B5EF4-FFF2-40B4-BE49-F238E27FC236}">
                <a16:creationId xmlns:a16="http://schemas.microsoft.com/office/drawing/2014/main" id="{42B7B1CD-8EAD-766F-958D-3E33C0165F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477"/>
          <a:stretch>
            <a:fillRect/>
          </a:stretch>
        </p:blipFill>
        <p:spPr>
          <a:xfrm>
            <a:off x="11461790" y="1"/>
            <a:ext cx="730210" cy="7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Image 29">
            <a:extLst>
              <a:ext uri="{FF2B5EF4-FFF2-40B4-BE49-F238E27FC236}">
                <a16:creationId xmlns:a16="http://schemas.microsoft.com/office/drawing/2014/main" id="{59AEEDC8-EB9E-432C-C3B4-B254C9646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48011" y="0"/>
            <a:ext cx="712124" cy="712124"/>
          </a:xfrm>
          <a:prstGeom prst="rect">
            <a:avLst/>
          </a:prstGeom>
        </p:spPr>
      </p:pic>
      <p:pic>
        <p:nvPicPr>
          <p:cNvPr id="9" name="Image 29">
            <a:extLst>
              <a:ext uri="{FF2B5EF4-FFF2-40B4-BE49-F238E27FC236}">
                <a16:creationId xmlns:a16="http://schemas.microsoft.com/office/drawing/2014/main" id="{54573022-8487-4352-4105-AD88AF5FBB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477"/>
          <a:stretch>
            <a:fillRect/>
          </a:stretch>
        </p:blipFill>
        <p:spPr>
          <a:xfrm>
            <a:off x="11461790" y="1"/>
            <a:ext cx="730210" cy="7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Image 29">
            <a:extLst>
              <a:ext uri="{FF2B5EF4-FFF2-40B4-BE49-F238E27FC236}">
                <a16:creationId xmlns:a16="http://schemas.microsoft.com/office/drawing/2014/main" id="{E2C1E65C-1939-7928-DB43-FD084E6A26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48011" y="0"/>
            <a:ext cx="712124" cy="712124"/>
          </a:xfrm>
          <a:prstGeom prst="rect">
            <a:avLst/>
          </a:prstGeom>
        </p:spPr>
      </p:pic>
      <p:pic>
        <p:nvPicPr>
          <p:cNvPr id="11" name="Image 29">
            <a:extLst>
              <a:ext uri="{FF2B5EF4-FFF2-40B4-BE49-F238E27FC236}">
                <a16:creationId xmlns:a16="http://schemas.microsoft.com/office/drawing/2014/main" id="{D3CC599A-2702-CD2A-9C5E-C38D99D460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477"/>
          <a:stretch>
            <a:fillRect/>
          </a:stretch>
        </p:blipFill>
        <p:spPr>
          <a:xfrm>
            <a:off x="11461790" y="1"/>
            <a:ext cx="730210" cy="7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Image 29">
            <a:extLst>
              <a:ext uri="{FF2B5EF4-FFF2-40B4-BE49-F238E27FC236}">
                <a16:creationId xmlns:a16="http://schemas.microsoft.com/office/drawing/2014/main" id="{A7B000AD-A926-2385-3364-316F5DC114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48011" y="0"/>
            <a:ext cx="712124" cy="712124"/>
          </a:xfrm>
          <a:prstGeom prst="rect">
            <a:avLst/>
          </a:prstGeom>
        </p:spPr>
      </p:pic>
      <p:pic>
        <p:nvPicPr>
          <p:cNvPr id="7" name="Image 29">
            <a:extLst>
              <a:ext uri="{FF2B5EF4-FFF2-40B4-BE49-F238E27FC236}">
                <a16:creationId xmlns:a16="http://schemas.microsoft.com/office/drawing/2014/main" id="{7A32D66E-A4F3-4145-A382-E0C5CF108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477"/>
          <a:stretch>
            <a:fillRect/>
          </a:stretch>
        </p:blipFill>
        <p:spPr>
          <a:xfrm>
            <a:off x="11461790" y="1"/>
            <a:ext cx="730210" cy="7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Image 29">
            <a:extLst>
              <a:ext uri="{FF2B5EF4-FFF2-40B4-BE49-F238E27FC236}">
                <a16:creationId xmlns:a16="http://schemas.microsoft.com/office/drawing/2014/main" id="{513BB6D7-9E36-D682-2C6B-0BDF23DF9A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477"/>
          <a:stretch>
            <a:fillRect/>
          </a:stretch>
        </p:blipFill>
        <p:spPr>
          <a:xfrm>
            <a:off x="11461790" y="1"/>
            <a:ext cx="730210" cy="7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Image 29">
            <a:extLst>
              <a:ext uri="{FF2B5EF4-FFF2-40B4-BE49-F238E27FC236}">
                <a16:creationId xmlns:a16="http://schemas.microsoft.com/office/drawing/2014/main" id="{663959A8-8181-4161-8CBC-96053CFE3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477"/>
          <a:stretch>
            <a:fillRect/>
          </a:stretch>
        </p:blipFill>
        <p:spPr>
          <a:xfrm>
            <a:off x="11461790" y="1"/>
            <a:ext cx="730210" cy="7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Image 29">
            <a:extLst>
              <a:ext uri="{FF2B5EF4-FFF2-40B4-BE49-F238E27FC236}">
                <a16:creationId xmlns:a16="http://schemas.microsoft.com/office/drawing/2014/main" id="{5A260CF2-04BB-5B97-C0D4-282CF1B0B0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477"/>
          <a:stretch>
            <a:fillRect/>
          </a:stretch>
        </p:blipFill>
        <p:spPr>
          <a:xfrm>
            <a:off x="11461790" y="1"/>
            <a:ext cx="730210" cy="7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29">
            <a:extLst>
              <a:ext uri="{FF2B5EF4-FFF2-40B4-BE49-F238E27FC236}">
                <a16:creationId xmlns:a16="http://schemas.microsoft.com/office/drawing/2014/main" id="{7EC5BC4B-6E5C-1180-8951-C0C3BCA1F3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477"/>
          <a:stretch>
            <a:fillRect/>
          </a:stretch>
        </p:blipFill>
        <p:spPr>
          <a:xfrm>
            <a:off x="11461790" y="1"/>
            <a:ext cx="730210" cy="7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29">
            <a:extLst>
              <a:ext uri="{FF2B5EF4-FFF2-40B4-BE49-F238E27FC236}">
                <a16:creationId xmlns:a16="http://schemas.microsoft.com/office/drawing/2014/main" id="{50643CA4-1AF7-F748-706F-9CD621EBC1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477"/>
          <a:stretch>
            <a:fillRect/>
          </a:stretch>
        </p:blipFill>
        <p:spPr>
          <a:xfrm>
            <a:off x="11461790" y="1"/>
            <a:ext cx="730210" cy="7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29">
            <a:extLst>
              <a:ext uri="{FF2B5EF4-FFF2-40B4-BE49-F238E27FC236}">
                <a16:creationId xmlns:a16="http://schemas.microsoft.com/office/drawing/2014/main" id="{4D6FCD65-0233-CBD0-0E68-9AFF8704ED7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448011" y="0"/>
            <a:ext cx="712124" cy="712124"/>
          </a:xfrm>
          <a:prstGeom prst="rect">
            <a:avLst/>
          </a:prstGeom>
        </p:spPr>
      </p:pic>
      <p:pic>
        <p:nvPicPr>
          <p:cNvPr id="8" name="Image 29">
            <a:extLst>
              <a:ext uri="{FF2B5EF4-FFF2-40B4-BE49-F238E27FC236}">
                <a16:creationId xmlns:a16="http://schemas.microsoft.com/office/drawing/2014/main" id="{0A3E3B61-26E4-DCE5-7AB1-8B175D29349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2477"/>
          <a:stretch>
            <a:fillRect/>
          </a:stretch>
        </p:blipFill>
        <p:spPr>
          <a:xfrm>
            <a:off x="11461790" y="1"/>
            <a:ext cx="730210" cy="7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6616" y="5138928"/>
            <a:ext cx="11484864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88"/>
              </a:spcAft>
            </a:pPr>
            <a:r>
              <a:rPr sz="2064" b="1" dirty="0" err="1">
                <a:solidFill>
                  <a:srgbClr val="006D39"/>
                </a:solidFill>
                <a:latin typeface="Arial"/>
                <a:ea typeface="Microsoft YaHei"/>
              </a:rPr>
              <a:t>StriMap：面向</a:t>
            </a:r>
            <a:r>
              <a:rPr sz="2064" b="1" dirty="0">
                <a:solidFill>
                  <a:srgbClr val="006D39"/>
                </a:solidFill>
                <a:latin typeface="Arial"/>
                <a:ea typeface="Microsoft YaHei"/>
              </a:rPr>
              <a:t> TCR–肽–HLA </a:t>
            </a:r>
            <a:r>
              <a:rPr sz="2064" b="1" dirty="0" err="1">
                <a:solidFill>
                  <a:srgbClr val="006D39"/>
                </a:solidFill>
                <a:latin typeface="Arial"/>
                <a:ea typeface="Microsoft YaHei"/>
              </a:rPr>
              <a:t>相互作用的结构信息深度学习框架</a:t>
            </a:r>
            <a:endParaRPr sz="2064" b="1" dirty="0">
              <a:solidFill>
                <a:srgbClr val="006D39"/>
              </a:solidFill>
              <a:latin typeface="Arial"/>
              <a:ea typeface="Microsoft YaHei"/>
            </a:endParaRPr>
          </a:p>
          <a:p>
            <a:pPr>
              <a:lnSpc>
                <a:spcPct val="120000"/>
              </a:lnSpc>
              <a:spcAft>
                <a:spcPts val="688"/>
              </a:spcAft>
            </a:pPr>
            <a:r>
              <a:rPr sz="1118" b="0" dirty="0">
                <a:solidFill>
                  <a:srgbClr val="555555"/>
                </a:solidFill>
                <a:latin typeface="Arial"/>
                <a:ea typeface="Microsoft YaHei"/>
              </a:rPr>
              <a:t>A structure-informed deep learning framework for modeling TCR–peptide–HLA interactions</a:t>
            </a:r>
            <a:r>
              <a:rPr lang="en-US" sz="1118" b="0" dirty="0">
                <a:solidFill>
                  <a:srgbClr val="555555"/>
                </a:solidFill>
                <a:latin typeface="Arial"/>
                <a:ea typeface="Microsoft YaHei"/>
              </a:rPr>
              <a:t> </a:t>
            </a:r>
            <a:r>
              <a:rPr lang="zh-CN" altLang="en-US" sz="1118" b="0" dirty="0">
                <a:solidFill>
                  <a:srgbClr val="555555"/>
                </a:solidFill>
                <a:latin typeface="Arial"/>
                <a:ea typeface="Microsoft YaHei"/>
              </a:rPr>
              <a:t>第一单位：</a:t>
            </a:r>
            <a:r>
              <a:rPr lang="en-US" altLang="zh-CN" sz="1200" dirty="0"/>
              <a:t> Broad Institute of MIT and Harvard</a:t>
            </a:r>
            <a:endParaRPr sz="1118" b="0" dirty="0">
              <a:solidFill>
                <a:srgbClr val="555555"/>
              </a:solidFill>
              <a:latin typeface="Arial"/>
              <a:ea typeface="Microsoft YaHei"/>
            </a:endParaRPr>
          </a:p>
          <a:p>
            <a:pPr>
              <a:lnSpc>
                <a:spcPct val="120000"/>
              </a:lnSpc>
            </a:pPr>
            <a:r>
              <a:rPr sz="1032" b="0" dirty="0">
                <a:solidFill>
                  <a:srgbClr val="1A1A1A"/>
                </a:solidFill>
                <a:latin typeface="Arial"/>
                <a:ea typeface="Microsoft YaHei"/>
              </a:rPr>
              <a:t>Nature Communications　·　2026.09.25　·　DOI: 10.1038/s41467-026-78063-1　·　Kai Cao, Rui Li, Martin </a:t>
            </a:r>
            <a:r>
              <a:rPr sz="1032" b="0" dirty="0" err="1">
                <a:solidFill>
                  <a:srgbClr val="1A1A1A"/>
                </a:solidFill>
                <a:latin typeface="Arial"/>
                <a:ea typeface="Microsoft YaHei"/>
              </a:rPr>
              <a:t>Stražar</a:t>
            </a:r>
            <a:r>
              <a:rPr sz="1032" b="0" dirty="0">
                <a:solidFill>
                  <a:srgbClr val="1A1A1A"/>
                </a:solidFill>
                <a:latin typeface="Arial"/>
                <a:ea typeface="Microsoft YaHei"/>
              </a:rPr>
              <a:t>, Ramnik J. Xavier 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6272784"/>
            <a:ext cx="114848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dirty="0" err="1">
                <a:solidFill>
                  <a:srgbClr val="1A1A1A"/>
                </a:solidFill>
                <a:latin typeface="Arial"/>
                <a:ea typeface="Microsoft YaHei"/>
              </a:rPr>
              <a:t>汇报人</a:t>
            </a:r>
            <a:r>
              <a:rPr sz="1300" b="0" dirty="0">
                <a:solidFill>
                  <a:srgbClr val="1A1A1A"/>
                </a:solidFill>
                <a:latin typeface="Arial"/>
                <a:ea typeface="Microsoft YaHei"/>
              </a:rPr>
              <a:t>：</a:t>
            </a:r>
            <a:r>
              <a:rPr lang="zh-CN" altLang="en-US" sz="1300" b="0" dirty="0">
                <a:solidFill>
                  <a:srgbClr val="1A1A1A"/>
                </a:solidFill>
                <a:latin typeface="Arial"/>
                <a:ea typeface="Microsoft YaHei"/>
              </a:rPr>
              <a:t>武文泽</a:t>
            </a:r>
            <a:r>
              <a:rPr sz="1300" b="0" dirty="0">
                <a:solidFill>
                  <a:srgbClr val="1A1A1A"/>
                </a:solidFill>
                <a:latin typeface="Arial"/>
                <a:ea typeface="Microsoft YaHei"/>
              </a:rPr>
              <a:t>　　　　</a:t>
            </a:r>
            <a:r>
              <a:rPr sz="1300" b="0" dirty="0" err="1">
                <a:solidFill>
                  <a:srgbClr val="1A1A1A"/>
                </a:solidFill>
                <a:latin typeface="Arial"/>
                <a:ea typeface="Microsoft YaHei"/>
              </a:rPr>
              <a:t>时间</a:t>
            </a:r>
            <a:r>
              <a:rPr lang="zh-CN" altLang="en-US" sz="1300" b="0" dirty="0">
                <a:solidFill>
                  <a:srgbClr val="1A1A1A"/>
                </a:solidFill>
                <a:latin typeface="Arial"/>
                <a:ea typeface="Microsoft YaHei"/>
              </a:rPr>
              <a:t>：</a:t>
            </a:r>
            <a:r>
              <a:rPr lang="en-US" altLang="zh-CN" sz="1300" b="0" dirty="0">
                <a:solidFill>
                  <a:srgbClr val="1A1A1A"/>
                </a:solidFill>
                <a:latin typeface="Arial"/>
                <a:ea typeface="Microsoft YaHei"/>
              </a:rPr>
              <a:t>2026.10.05</a:t>
            </a:r>
            <a:endParaRPr sz="1300" b="0" dirty="0">
              <a:solidFill>
                <a:srgbClr val="1A1A1A"/>
              </a:solidFill>
              <a:latin typeface="Arial"/>
              <a:ea typeface="Microsoft YaHei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F9EF23A-3577-548E-AE95-223FE7A67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274320"/>
            <a:ext cx="9391066" cy="41584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317175" y="4709160"/>
            <a:ext cx="2834640" cy="283464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57255" y="5349240"/>
            <a:ext cx="1645920" cy="164592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51560" y="-1051560"/>
            <a:ext cx="1600200" cy="160020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39728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9184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759184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978640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978640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500" b="1">
                <a:solidFill>
                  <a:srgbClr val="006D39"/>
                </a:solidFill>
                <a:latin typeface="Arial"/>
                <a:ea typeface="Microsoft YaHei"/>
              </a:rPr>
              <a:t>研究背景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786384"/>
            <a:ext cx="12191695" cy="0"/>
          </a:xfrm>
          <a:prstGeom prst="line">
            <a:avLst/>
          </a:prstGeom>
          <a:ln w="12700">
            <a:solidFill>
              <a:srgbClr val="BD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9184" y="1005840"/>
            <a:ext cx="11539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432"/>
              </a:spcAft>
              <a:defRPr sz="1350" b="1">
                <a:solidFill>
                  <a:srgbClr val="006D39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sz="1600" dirty="0"/>
              <a:t>概念详解</a:t>
            </a:r>
            <a:r>
              <a:rPr sz="1600" dirty="0"/>
              <a:t>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1353312"/>
            <a:ext cx="11539728" cy="15208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2000"/>
              </a:lnSpc>
            </a:pPr>
            <a:r>
              <a:rPr lang="zh-CN" altLang="en-US" sz="1400" dirty="0">
                <a:solidFill>
                  <a:srgbClr val="1A1A1A"/>
                </a:solidFill>
                <a:latin typeface="Arial"/>
                <a:ea typeface="Microsoft YaHei"/>
              </a:rPr>
              <a:t>抗原肽：本质是一条多肽长度较短</a:t>
            </a:r>
            <a:endParaRPr lang="en-US" altLang="zh-CN" sz="1400" dirty="0">
              <a:solidFill>
                <a:srgbClr val="1A1A1A"/>
              </a:solidFill>
              <a:latin typeface="Arial"/>
              <a:ea typeface="Microsoft YaHei"/>
            </a:endParaRPr>
          </a:p>
          <a:p>
            <a:pPr>
              <a:lnSpc>
                <a:spcPct val="162000"/>
              </a:lnSpc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HLA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和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TCR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：本质是一种蛋白质复合物</a:t>
            </a:r>
            <a:endParaRPr lang="en-US" altLang="zh-CN" sz="1400" b="0" dirty="0">
              <a:solidFill>
                <a:srgbClr val="1A1A1A"/>
              </a:solidFill>
              <a:latin typeface="Arial"/>
              <a:ea typeface="Microsoft YaHei"/>
            </a:endParaRPr>
          </a:p>
          <a:p>
            <a:pPr>
              <a:lnSpc>
                <a:spcPct val="162000"/>
              </a:lnSpc>
            </a:pPr>
            <a:r>
              <a:rPr lang="zh-CN" altLang="en-US" sz="1400" dirty="0">
                <a:solidFill>
                  <a:srgbClr val="1A1A1A"/>
                </a:solidFill>
                <a:latin typeface="Arial"/>
                <a:ea typeface="Microsoft YaHei"/>
              </a:rPr>
              <a:t>抗原肽与</a:t>
            </a:r>
            <a:r>
              <a:rPr lang="en-US" altLang="zh-CN" sz="1400" dirty="0">
                <a:solidFill>
                  <a:srgbClr val="1A1A1A"/>
                </a:solidFill>
                <a:latin typeface="Arial"/>
                <a:ea typeface="Microsoft YaHei"/>
              </a:rPr>
              <a:t>HLA</a:t>
            </a:r>
            <a:r>
              <a:rPr lang="zh-CN" altLang="en-US" sz="1400" dirty="0">
                <a:solidFill>
                  <a:srgbClr val="1A1A1A"/>
                </a:solidFill>
                <a:latin typeface="Arial"/>
                <a:ea typeface="Microsoft YaHei"/>
              </a:rPr>
              <a:t>结合：抗原肽进入</a:t>
            </a:r>
            <a:r>
              <a:rPr lang="en-US" altLang="zh-CN" sz="1400" dirty="0">
                <a:solidFill>
                  <a:srgbClr val="1A1A1A"/>
                </a:solidFill>
                <a:latin typeface="Arial"/>
                <a:ea typeface="Microsoft YaHei"/>
              </a:rPr>
              <a:t>HLA</a:t>
            </a:r>
            <a:r>
              <a:rPr lang="zh-CN" altLang="en-US" sz="1400" dirty="0">
                <a:solidFill>
                  <a:srgbClr val="1A1A1A"/>
                </a:solidFill>
                <a:latin typeface="Arial"/>
                <a:ea typeface="Microsoft YaHei"/>
              </a:rPr>
              <a:t>的肽结合槽，部分锚定残基插入口袋，通过氢键、静电作用、疏水作用和范德华力形成稳定的</a:t>
            </a:r>
            <a:r>
              <a:rPr lang="en-US" altLang="zh-CN" sz="1400" dirty="0" err="1">
                <a:solidFill>
                  <a:srgbClr val="1A1A1A"/>
                </a:solidFill>
                <a:latin typeface="Arial"/>
                <a:ea typeface="Microsoft YaHei"/>
              </a:rPr>
              <a:t>pHLA</a:t>
            </a:r>
            <a:r>
              <a:rPr lang="zh-CN" altLang="en-US" sz="1400" dirty="0">
                <a:solidFill>
                  <a:srgbClr val="1A1A1A"/>
                </a:solidFill>
                <a:latin typeface="Arial"/>
                <a:ea typeface="Microsoft YaHei"/>
              </a:rPr>
              <a:t>复合物。</a:t>
            </a:r>
            <a:endParaRPr lang="en-US" altLang="zh-CN" sz="1400" dirty="0">
              <a:solidFill>
                <a:srgbClr val="1A1A1A"/>
              </a:solidFill>
              <a:latin typeface="Arial"/>
              <a:ea typeface="Microsoft YaHei"/>
            </a:endParaRPr>
          </a:p>
          <a:p>
            <a:pPr>
              <a:lnSpc>
                <a:spcPct val="162000"/>
              </a:lnSpc>
            </a:pPr>
            <a:r>
              <a:rPr lang="en-US" sz="1400" dirty="0">
                <a:solidFill>
                  <a:srgbClr val="1A1A1A"/>
                </a:solidFill>
                <a:latin typeface="Arial"/>
                <a:ea typeface="Microsoft YaHei"/>
              </a:rPr>
              <a:t>TCR</a:t>
            </a:r>
            <a:r>
              <a:rPr lang="zh-CN" altLang="en-US" sz="1400" dirty="0">
                <a:solidFill>
                  <a:srgbClr val="1A1A1A"/>
                </a:solidFill>
                <a:latin typeface="Arial"/>
                <a:ea typeface="Microsoft YaHei"/>
              </a:rPr>
              <a:t>与</a:t>
            </a:r>
            <a:r>
              <a:rPr lang="en-US" altLang="zh-CN" sz="1400" dirty="0" err="1">
                <a:solidFill>
                  <a:srgbClr val="1A1A1A"/>
                </a:solidFill>
                <a:latin typeface="Arial"/>
                <a:ea typeface="Microsoft YaHei"/>
              </a:rPr>
              <a:t>pHLA</a:t>
            </a:r>
            <a:r>
              <a:rPr lang="zh-CN" altLang="en-US" sz="1400" dirty="0">
                <a:solidFill>
                  <a:srgbClr val="1A1A1A"/>
                </a:solidFill>
                <a:latin typeface="Arial"/>
                <a:ea typeface="Microsoft YaHei"/>
              </a:rPr>
              <a:t>结合： </a:t>
            </a:r>
            <a:r>
              <a:rPr lang="en-US" altLang="zh-CN" sz="1400" dirty="0">
                <a:solidFill>
                  <a:srgbClr val="1A1A1A"/>
                </a:solidFill>
                <a:latin typeface="Arial"/>
                <a:ea typeface="Microsoft YaHei"/>
              </a:rPr>
              <a:t>TCR</a:t>
            </a:r>
            <a:r>
              <a:rPr lang="zh-CN" altLang="en-US" sz="1400" dirty="0">
                <a:solidFill>
                  <a:srgbClr val="1A1A1A"/>
                </a:solidFill>
                <a:latin typeface="Arial"/>
                <a:ea typeface="Microsoft YaHei"/>
              </a:rPr>
              <a:t>是</a:t>
            </a:r>
            <a:r>
              <a:rPr lang="en-US" altLang="zh-CN" sz="1400" dirty="0">
                <a:solidFill>
                  <a:srgbClr val="1A1A1A"/>
                </a:solidFill>
                <a:latin typeface="Arial"/>
                <a:ea typeface="Microsoft YaHei"/>
              </a:rPr>
              <a:t>T</a:t>
            </a:r>
            <a:r>
              <a:rPr lang="zh-CN" altLang="en-US" sz="1400" dirty="0">
                <a:solidFill>
                  <a:srgbClr val="1A1A1A"/>
                </a:solidFill>
                <a:latin typeface="Arial"/>
                <a:ea typeface="Microsoft YaHei"/>
              </a:rPr>
              <a:t>细胞表面的受体，它与特定</a:t>
            </a:r>
            <a:r>
              <a:rPr lang="en-US" altLang="zh-CN" sz="1400" dirty="0" err="1">
                <a:solidFill>
                  <a:srgbClr val="1A1A1A"/>
                </a:solidFill>
                <a:latin typeface="Arial"/>
                <a:ea typeface="Microsoft YaHei"/>
              </a:rPr>
              <a:t>pHLA</a:t>
            </a:r>
            <a:r>
              <a:rPr lang="zh-CN" altLang="en-US" sz="1400" dirty="0">
                <a:solidFill>
                  <a:srgbClr val="1A1A1A"/>
                </a:solidFill>
                <a:latin typeface="Arial"/>
                <a:ea typeface="Microsoft YaHei"/>
              </a:rPr>
              <a:t>结合后，可以触发</a:t>
            </a:r>
            <a:r>
              <a:rPr lang="en-US" altLang="zh-CN" sz="1400" dirty="0">
                <a:solidFill>
                  <a:srgbClr val="1A1A1A"/>
                </a:solidFill>
                <a:latin typeface="Arial"/>
                <a:ea typeface="Microsoft YaHei"/>
              </a:rPr>
              <a:t>T</a:t>
            </a:r>
            <a:r>
              <a:rPr lang="zh-CN" altLang="en-US" sz="1400" dirty="0">
                <a:solidFill>
                  <a:srgbClr val="1A1A1A"/>
                </a:solidFill>
                <a:latin typeface="Arial"/>
                <a:ea typeface="Microsoft YaHei"/>
              </a:rPr>
              <a:t>细胞识别并响应呈递该抗原的细胞。</a:t>
            </a:r>
            <a:endParaRPr sz="1400" dirty="0">
              <a:solidFill>
                <a:srgbClr val="1A1A1A"/>
              </a:solidFill>
              <a:latin typeface="Arial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9184" y="3148462"/>
            <a:ext cx="11539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600" b="1" dirty="0" err="1">
                <a:solidFill>
                  <a:srgbClr val="006D39"/>
                </a:solidFill>
                <a:latin typeface="Arial"/>
                <a:ea typeface="Microsoft YaHei"/>
              </a:rPr>
              <a:t>面临的困难与现有方法局限</a:t>
            </a:r>
            <a:r>
              <a:rPr sz="1600" b="1" dirty="0">
                <a:solidFill>
                  <a:srgbClr val="006D39"/>
                </a:solidFill>
                <a:latin typeface="Arial"/>
                <a:ea typeface="Microsoft YaHei"/>
              </a:rPr>
              <a:t>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" y="3532510"/>
            <a:ext cx="11539728" cy="2850001"/>
          </a:xfrm>
          <a:prstGeom prst="rect">
            <a:avLst/>
          </a:prstGeom>
          <a:noFill/>
          <a:ln w="12700">
            <a:solidFill>
              <a:srgbClr val="BD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770254"/>
            <a:ext cx="11064240" cy="23745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2000"/>
              </a:lnSpc>
              <a:spcAft>
                <a:spcPts val="890"/>
              </a:spcAft>
            </a:pPr>
            <a:r>
              <a:rPr sz="1400" b="1" dirty="0" err="1">
                <a:solidFill>
                  <a:srgbClr val="1A1A1A"/>
                </a:solidFill>
                <a:latin typeface="Arial"/>
                <a:ea typeface="Microsoft YaHei"/>
              </a:rPr>
              <a:t>空间几何信息未被充分利用：</a:t>
            </a:r>
            <a:r>
              <a:rPr sz="1400" dirty="0" err="1">
                <a:solidFill>
                  <a:srgbClr val="1A1A1A"/>
                </a:solidFill>
                <a:latin typeface="Arial"/>
                <a:ea typeface="Microsoft YaHei"/>
              </a:rPr>
              <a:t>现有方法主要依赖序列特征，没有充分利用残基之间的空间几何关系。抗原肽、HLA</a:t>
            </a:r>
            <a:r>
              <a:rPr sz="140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Arial"/>
                <a:ea typeface="Microsoft YaHei"/>
              </a:rPr>
              <a:t>结合槽与</a:t>
            </a:r>
            <a:r>
              <a:rPr sz="1400" dirty="0">
                <a:solidFill>
                  <a:srgbClr val="1A1A1A"/>
                </a:solidFill>
                <a:latin typeface="Arial"/>
                <a:ea typeface="Microsoft YaHei"/>
              </a:rPr>
              <a:t> TCR </a:t>
            </a:r>
            <a:r>
              <a:rPr sz="1400" dirty="0" err="1">
                <a:solidFill>
                  <a:srgbClr val="1A1A1A"/>
                </a:solidFill>
                <a:latin typeface="Arial"/>
                <a:ea typeface="Microsoft YaHei"/>
              </a:rPr>
              <a:t>之间的识别本质上是一个界面互补问题，仅凭序列难以描述界面上的形状与化学匹配</a:t>
            </a:r>
            <a:r>
              <a:rPr sz="1400" dirty="0">
                <a:solidFill>
                  <a:srgbClr val="1A1A1A"/>
                </a:solidFill>
                <a:latin typeface="Arial"/>
                <a:ea typeface="Microsoft YaHei"/>
              </a:rPr>
              <a:t>。</a:t>
            </a:r>
          </a:p>
          <a:p>
            <a:pPr>
              <a:lnSpc>
                <a:spcPct val="162000"/>
              </a:lnSpc>
              <a:spcAft>
                <a:spcPts val="890"/>
              </a:spcAft>
            </a:pPr>
            <a:r>
              <a:rPr sz="1400" b="1" dirty="0" err="1">
                <a:solidFill>
                  <a:srgbClr val="1A1A1A"/>
                </a:solidFill>
                <a:latin typeface="Arial"/>
                <a:ea typeface="Microsoft YaHei"/>
              </a:rPr>
              <a:t>两个任务被割裂处理：</a:t>
            </a:r>
            <a:r>
              <a:rPr sz="1400" dirty="0" err="1">
                <a:solidFill>
                  <a:srgbClr val="1A1A1A"/>
                </a:solidFill>
                <a:latin typeface="Arial"/>
                <a:ea typeface="Microsoft YaHei"/>
              </a:rPr>
              <a:t>肽</a:t>
            </a:r>
            <a:r>
              <a:rPr sz="1400" dirty="0">
                <a:solidFill>
                  <a:srgbClr val="1A1A1A"/>
                </a:solidFill>
                <a:latin typeface="Arial"/>
                <a:ea typeface="Microsoft YaHei"/>
              </a:rPr>
              <a:t>–HLA </a:t>
            </a:r>
            <a:r>
              <a:rPr sz="1400" dirty="0" err="1">
                <a:solidFill>
                  <a:srgbClr val="1A1A1A"/>
                </a:solidFill>
                <a:latin typeface="Arial"/>
                <a:ea typeface="Microsoft YaHei"/>
              </a:rPr>
              <a:t>呈递与</a:t>
            </a:r>
            <a:r>
              <a:rPr sz="1400" dirty="0">
                <a:solidFill>
                  <a:srgbClr val="1A1A1A"/>
                </a:solidFill>
                <a:latin typeface="Arial"/>
                <a:ea typeface="Microsoft YaHei"/>
              </a:rPr>
              <a:t> TCR </a:t>
            </a:r>
            <a:r>
              <a:rPr sz="1400" dirty="0" err="1">
                <a:solidFill>
                  <a:srgbClr val="1A1A1A"/>
                </a:solidFill>
                <a:latin typeface="Arial"/>
                <a:ea typeface="Microsoft YaHei"/>
              </a:rPr>
              <a:t>识别通常被当作两个彼此独立的任务，没有体现“先呈递、后识别”的</a:t>
            </a:r>
            <a:r>
              <a:rPr lang="zh-CN" altLang="en-US" sz="1400" dirty="0">
                <a:solidFill>
                  <a:srgbClr val="1A1A1A"/>
                </a:solidFill>
                <a:latin typeface="Arial"/>
                <a:ea typeface="Microsoft YaHei"/>
              </a:rPr>
              <a:t>顺序</a:t>
            </a:r>
            <a:r>
              <a:rPr sz="1400" dirty="0" err="1">
                <a:solidFill>
                  <a:srgbClr val="1A1A1A"/>
                </a:solidFill>
                <a:latin typeface="Arial"/>
                <a:ea typeface="Microsoft YaHei"/>
              </a:rPr>
              <a:t>关系。这使模型难以区分两种不同的突变效应：突变让抗原肽更容易被</a:t>
            </a:r>
            <a:r>
              <a:rPr sz="1400" dirty="0">
                <a:solidFill>
                  <a:srgbClr val="1A1A1A"/>
                </a:solidFill>
                <a:latin typeface="Arial"/>
                <a:ea typeface="Microsoft YaHei"/>
              </a:rPr>
              <a:t> HLA </a:t>
            </a:r>
            <a:r>
              <a:rPr sz="1400" dirty="0" err="1">
                <a:solidFill>
                  <a:srgbClr val="1A1A1A"/>
                </a:solidFill>
                <a:latin typeface="Arial"/>
                <a:ea typeface="Microsoft YaHei"/>
              </a:rPr>
              <a:t>呈递，或在呈递相近的情况下改变了</a:t>
            </a:r>
            <a:r>
              <a:rPr sz="1400" dirty="0">
                <a:solidFill>
                  <a:srgbClr val="1A1A1A"/>
                </a:solidFill>
                <a:latin typeface="Arial"/>
                <a:ea typeface="Microsoft YaHei"/>
              </a:rPr>
              <a:t> TCR </a:t>
            </a:r>
            <a:r>
              <a:rPr sz="1400" dirty="0" err="1">
                <a:solidFill>
                  <a:srgbClr val="1A1A1A"/>
                </a:solidFill>
                <a:latin typeface="Arial"/>
                <a:ea typeface="Microsoft YaHei"/>
              </a:rPr>
              <a:t>的识别能力</a:t>
            </a:r>
            <a:r>
              <a:rPr sz="1400" dirty="0">
                <a:solidFill>
                  <a:srgbClr val="1A1A1A"/>
                </a:solidFill>
                <a:latin typeface="Arial"/>
                <a:ea typeface="Microsoft YaHei"/>
              </a:rPr>
              <a:t>。</a:t>
            </a:r>
          </a:p>
          <a:p>
            <a:pPr>
              <a:lnSpc>
                <a:spcPct val="162000"/>
              </a:lnSpc>
              <a:spcAft>
                <a:spcPts val="890"/>
              </a:spcAft>
            </a:pPr>
            <a:r>
              <a:rPr sz="1400" b="1" dirty="0">
                <a:solidFill>
                  <a:srgbClr val="1A1A1A"/>
                </a:solidFill>
                <a:latin typeface="Arial"/>
                <a:ea typeface="Microsoft YaHei"/>
              </a:rPr>
              <a:t>负样本不可靠：</a:t>
            </a:r>
            <a:r>
              <a:rPr sz="1400" dirty="0">
                <a:solidFill>
                  <a:srgbClr val="1A1A1A"/>
                </a:solidFill>
                <a:latin typeface="Arial"/>
                <a:ea typeface="Microsoft YaHei"/>
              </a:rPr>
              <a:t>实验确认的非结合样本很少，“数据库中没有记录”并不等于真实不结合，简单随机生成负样本容易让模型学习数据集差异等捷径。在突变新抗原场景中，突变肽与正常肽往往只差一个氨基酸，更缺乏接近真实应用的困难负样本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10367" y="645566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Arial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317175" y="4709160"/>
            <a:ext cx="2834640" cy="283464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57255" y="5349240"/>
            <a:ext cx="1645920" cy="164592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51560" y="-1051560"/>
            <a:ext cx="1600200" cy="160020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39728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9184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759184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978640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978640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500" b="1" dirty="0">
                <a:solidFill>
                  <a:srgbClr val="006D39"/>
                </a:solidFill>
                <a:latin typeface="Arial"/>
                <a:ea typeface="Microsoft YaHei"/>
              </a:rPr>
              <a:t>创新点</a:t>
            </a:r>
            <a:r>
              <a:rPr sz="2500" b="1" dirty="0">
                <a:solidFill>
                  <a:srgbClr val="006D39"/>
                </a:solidFill>
                <a:latin typeface="Arial"/>
                <a:ea typeface="Microsoft YaHei"/>
              </a:rPr>
              <a:t>：</a:t>
            </a:r>
            <a:r>
              <a:rPr sz="2500" b="1" dirty="0" err="1">
                <a:solidFill>
                  <a:srgbClr val="006D39"/>
                </a:solidFill>
                <a:latin typeface="Arial"/>
                <a:ea typeface="Microsoft YaHei"/>
              </a:rPr>
              <a:t>从三点局限到三项设计</a:t>
            </a:r>
            <a:endParaRPr sz="2500" b="1" dirty="0">
              <a:solidFill>
                <a:srgbClr val="006D39"/>
              </a:solidFill>
              <a:latin typeface="Arial"/>
              <a:ea typeface="Microsoft YaHei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0" y="786384"/>
            <a:ext cx="12191695" cy="0"/>
          </a:xfrm>
          <a:prstGeom prst="line">
            <a:avLst/>
          </a:prstGeom>
          <a:ln w="12700">
            <a:solidFill>
              <a:srgbClr val="BD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9184" y="1005840"/>
            <a:ext cx="11539728" cy="7875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2000"/>
              </a:lnSpc>
            </a:pPr>
            <a:r>
              <a:rPr lang="zh-CN" altLang="en-US" sz="1450" b="0" dirty="0">
                <a:solidFill>
                  <a:srgbClr val="1A1A1A"/>
                </a:solidFill>
                <a:latin typeface="Arial"/>
                <a:ea typeface="Microsoft YaHei"/>
              </a:rPr>
              <a:t>上一页的三点局限指向同一个判断：现有方法把 </a:t>
            </a:r>
            <a:r>
              <a:rPr lang="en-US" altLang="zh-CN" sz="1450" b="0" dirty="0">
                <a:solidFill>
                  <a:srgbClr val="1A1A1A"/>
                </a:solidFill>
                <a:latin typeface="Arial"/>
                <a:ea typeface="Microsoft YaHei"/>
              </a:rPr>
              <a:t>TCR–</a:t>
            </a:r>
            <a:r>
              <a:rPr lang="zh-CN" altLang="en-US" sz="1450" b="0" dirty="0">
                <a:solidFill>
                  <a:srgbClr val="1A1A1A"/>
                </a:solidFill>
                <a:latin typeface="Arial"/>
                <a:ea typeface="Microsoft YaHei"/>
              </a:rPr>
              <a:t>肽</a:t>
            </a:r>
            <a:r>
              <a:rPr lang="en-US" altLang="zh-CN" sz="1450" b="0" dirty="0">
                <a:solidFill>
                  <a:srgbClr val="1A1A1A"/>
                </a:solidFill>
                <a:latin typeface="Arial"/>
                <a:ea typeface="Microsoft YaHei"/>
              </a:rPr>
              <a:t>–HLA </a:t>
            </a:r>
            <a:r>
              <a:rPr lang="zh-CN" altLang="en-US" sz="1450" b="0" dirty="0">
                <a:solidFill>
                  <a:srgbClr val="1A1A1A"/>
                </a:solidFill>
                <a:latin typeface="Arial"/>
                <a:ea typeface="Microsoft YaHei"/>
              </a:rPr>
              <a:t>识别当成“用序列特征做分类”，而没有把它当作一个有先后顺序、有三维界面的免疫过程。</a:t>
            </a:r>
            <a:r>
              <a:rPr lang="en-US" altLang="zh-CN" sz="1450" b="0" dirty="0" err="1">
                <a:solidFill>
                  <a:srgbClr val="1A1A1A"/>
                </a:solidFill>
                <a:latin typeface="Arial"/>
                <a:ea typeface="Microsoft YaHei"/>
              </a:rPr>
              <a:t>StriMap</a:t>
            </a:r>
            <a:r>
              <a:rPr lang="zh-CN" altLang="en-US" sz="1450" b="0" dirty="0">
                <a:solidFill>
                  <a:srgbClr val="1A1A1A"/>
                </a:solidFill>
                <a:latin typeface="Arial"/>
                <a:ea typeface="Microsoft YaHei"/>
              </a:rPr>
              <a:t> 的三项设计分别回应这三点，也构成本文的主要贡献。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2049444"/>
            <a:ext cx="11539728" cy="4333067"/>
          </a:xfrm>
          <a:prstGeom prst="rect">
            <a:avLst/>
          </a:prstGeom>
          <a:noFill/>
          <a:ln w="12700">
            <a:solidFill>
              <a:srgbClr val="BD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287188"/>
            <a:ext cx="11064240" cy="38575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spcAft>
                <a:spcPts val="969"/>
              </a:spcAft>
            </a:pPr>
            <a:r>
              <a:rPr lang="zh-CN" altLang="en-US" sz="1358" b="1" dirty="0">
                <a:solidFill>
                  <a:srgbClr val="1A1A1A"/>
                </a:solidFill>
                <a:latin typeface="Arial"/>
                <a:ea typeface="Microsoft YaHei"/>
              </a:rPr>
              <a:t>① 用结构补上序列看不到的界面信息：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对应“空间几何未被充分利用”。不要求实验解析的复合物结构，而是先用 </a:t>
            </a:r>
            <a:r>
              <a:rPr lang="en-US" altLang="zh-CN" sz="1358" b="0" dirty="0" err="1">
                <a:solidFill>
                  <a:srgbClr val="1A1A1A"/>
                </a:solidFill>
                <a:latin typeface="Arial"/>
                <a:ea typeface="Microsoft YaHei"/>
              </a:rPr>
              <a:t>ESMFold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 预测结构，再以残基为节点构建几何图、用 </a:t>
            </a:r>
            <a:r>
              <a:rPr lang="en-US" altLang="zh-CN" sz="1358" b="0" dirty="0">
                <a:solidFill>
                  <a:srgbClr val="1A1A1A"/>
                </a:solidFill>
                <a:latin typeface="Arial"/>
                <a:ea typeface="Microsoft YaHei"/>
              </a:rPr>
              <a:t>EGNN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等变图神经网络提取空间几何表示，并与氨基酸理化性质、</a:t>
            </a:r>
            <a:r>
              <a:rPr lang="en-US" altLang="zh-CN" sz="1358" b="0" dirty="0">
                <a:solidFill>
                  <a:srgbClr val="1A1A1A"/>
                </a:solidFill>
                <a:latin typeface="Arial"/>
                <a:ea typeface="Microsoft YaHei"/>
              </a:rPr>
              <a:t>ESM2 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语言模型表示做门控交叉注意力融合。抗原肽、</a:t>
            </a:r>
            <a:r>
              <a:rPr lang="en-US" altLang="zh-CN" sz="1358" b="0" dirty="0">
                <a:solidFill>
                  <a:srgbClr val="1A1A1A"/>
                </a:solidFill>
                <a:latin typeface="Arial"/>
                <a:ea typeface="Microsoft YaHei"/>
              </a:rPr>
              <a:t>HLA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 结合槽之间的形状与化学互补因此可以被显式建模。</a:t>
            </a:r>
          </a:p>
          <a:p>
            <a:pPr>
              <a:lnSpc>
                <a:spcPct val="150000"/>
              </a:lnSpc>
              <a:spcAft>
                <a:spcPts val="969"/>
              </a:spcAft>
            </a:pPr>
            <a:r>
              <a:rPr lang="zh-CN" altLang="en-US" sz="1358" b="1" dirty="0">
                <a:solidFill>
                  <a:srgbClr val="1A1A1A"/>
                </a:solidFill>
                <a:latin typeface="Arial"/>
                <a:ea typeface="Microsoft YaHei"/>
              </a:rPr>
              <a:t>② 把“呈递”与“识别”串成一个两阶段过程：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对应“两个任务被割裂”。第一阶段先输出肽</a:t>
            </a:r>
            <a:r>
              <a:rPr lang="en-US" altLang="zh-CN" sz="1358" b="0" dirty="0">
                <a:solidFill>
                  <a:srgbClr val="1A1A1A"/>
                </a:solidFill>
                <a:latin typeface="Arial"/>
                <a:ea typeface="Microsoft YaHei"/>
              </a:rPr>
              <a:t>–HLA 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呈递分数，第二阶段复用第一阶段学到的表示，再判断 </a:t>
            </a:r>
            <a:r>
              <a:rPr lang="en-US" altLang="zh-CN" sz="1358" b="0" dirty="0">
                <a:solidFill>
                  <a:srgbClr val="1A1A1A"/>
                </a:solidFill>
                <a:latin typeface="Arial"/>
                <a:ea typeface="Microsoft YaHei"/>
              </a:rPr>
              <a:t>TCR 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能否识别该复合物；同时用 </a:t>
            </a:r>
            <a:r>
              <a:rPr lang="en-US" altLang="zh-CN" sz="1358" b="0" dirty="0">
                <a:solidFill>
                  <a:srgbClr val="1A1A1A"/>
                </a:solidFill>
                <a:latin typeface="Arial"/>
                <a:ea typeface="Microsoft YaHei"/>
              </a:rPr>
              <a:t>BAN 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双线性注意力为 </a:t>
            </a:r>
            <a:r>
              <a:rPr lang="en-US" altLang="zh-CN" sz="1358" b="0" dirty="0">
                <a:solidFill>
                  <a:srgbClr val="1A1A1A"/>
                </a:solidFill>
                <a:latin typeface="Arial"/>
                <a:ea typeface="Microsoft YaHei"/>
              </a:rPr>
              <a:t>CDR3–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肽、</a:t>
            </a:r>
            <a:r>
              <a:rPr lang="en-US" altLang="zh-CN" sz="1358" b="0" dirty="0">
                <a:solidFill>
                  <a:srgbClr val="1A1A1A"/>
                </a:solidFill>
                <a:latin typeface="Arial"/>
                <a:ea typeface="Microsoft YaHei"/>
              </a:rPr>
              <a:t>TCR–HLA 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等跨分子残基对建立二维相互作用图。模型由此能区分两种突变效应：突变让肽更容易被呈递，或在呈递相近的情况下改变 </a:t>
            </a:r>
            <a:r>
              <a:rPr lang="en-US" altLang="zh-CN" sz="1358" b="0" dirty="0">
                <a:solidFill>
                  <a:srgbClr val="1A1A1A"/>
                </a:solidFill>
                <a:latin typeface="Arial"/>
                <a:ea typeface="Microsoft YaHei"/>
              </a:rPr>
              <a:t>TCR 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的识别能力。</a:t>
            </a:r>
          </a:p>
          <a:p>
            <a:pPr>
              <a:lnSpc>
                <a:spcPct val="150000"/>
              </a:lnSpc>
              <a:spcAft>
                <a:spcPts val="969"/>
              </a:spcAft>
            </a:pPr>
            <a:r>
              <a:rPr lang="zh-CN" altLang="en-US" sz="1358" b="1" dirty="0">
                <a:solidFill>
                  <a:srgbClr val="1A1A1A"/>
                </a:solidFill>
                <a:latin typeface="Arial"/>
                <a:ea typeface="Microsoft YaHei"/>
              </a:rPr>
              <a:t>③ 让负样本在训练中动态生成：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对应“负样本不可靠”。放弃固定负样本库，每个训练轮次把 </a:t>
            </a:r>
            <a:r>
              <a:rPr lang="en-US" altLang="zh-CN" sz="1358" b="0" dirty="0">
                <a:solidFill>
                  <a:srgbClr val="1A1A1A"/>
                </a:solidFill>
                <a:latin typeface="Arial"/>
                <a:ea typeface="Microsoft YaHei"/>
              </a:rPr>
              <a:t>TCR 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与不匹配的 </a:t>
            </a:r>
            <a:r>
              <a:rPr lang="en-US" altLang="zh-CN" sz="1358" b="0" dirty="0" err="1">
                <a:solidFill>
                  <a:srgbClr val="1A1A1A"/>
                </a:solidFill>
                <a:latin typeface="Arial"/>
                <a:ea typeface="Microsoft YaHei"/>
              </a:rPr>
              <a:t>pHLA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 随机重组，按 </a:t>
            </a:r>
            <a:r>
              <a:rPr lang="en-US" altLang="zh-CN" sz="1358" b="0" dirty="0">
                <a:solidFill>
                  <a:srgbClr val="1A1A1A"/>
                </a:solidFill>
                <a:latin typeface="Arial"/>
                <a:ea typeface="Microsoft YaHei"/>
              </a:rPr>
              <a:t>3∶1 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生成负样本，扩大有效负样本空间；再构造突变感知的困难负样本逼近真实近邻负例，并以 </a:t>
            </a:r>
            <a:r>
              <a:rPr lang="en-US" altLang="zh-CN" sz="1358" b="0" dirty="0">
                <a:solidFill>
                  <a:srgbClr val="1A1A1A"/>
                </a:solidFill>
                <a:latin typeface="Arial"/>
                <a:ea typeface="Microsoft YaHei"/>
              </a:rPr>
              <a:t>focal loss </a:t>
            </a:r>
            <a:r>
              <a:rPr lang="zh-CN" altLang="en-US" sz="1358" b="0" dirty="0">
                <a:solidFill>
                  <a:srgbClr val="1A1A1A"/>
                </a:solidFill>
                <a:latin typeface="Arial"/>
                <a:ea typeface="Microsoft YaHei"/>
              </a:rPr>
              <a:t>训练。这缓解了模型记住固定负样本、学到数据集捷径的问题。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317175" y="4709160"/>
            <a:ext cx="2834640" cy="283464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57255" y="5349240"/>
            <a:ext cx="1645920" cy="164592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51560" y="-1051560"/>
            <a:ext cx="1600200" cy="160020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978640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500" b="1">
                <a:solidFill>
                  <a:srgbClr val="006D39"/>
                </a:solidFill>
                <a:latin typeface="Arial"/>
                <a:ea typeface="Microsoft YaHei"/>
              </a:rPr>
              <a:t>研究方法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786384"/>
            <a:ext cx="12191695" cy="0"/>
          </a:xfrm>
          <a:prstGeom prst="line">
            <a:avLst/>
          </a:prstGeom>
          <a:ln w="12700">
            <a:solidFill>
              <a:srgbClr val="BD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9184" y="1097280"/>
            <a:ext cx="11539728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006D39"/>
                </a:solidFill>
                <a:latin typeface="Arial"/>
                <a:ea typeface="Microsoft YaHei"/>
              </a:rPr>
              <a:t>两阶段建模框架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1609344"/>
            <a:ext cx="11539728" cy="12220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2000"/>
              </a:lnSpc>
            </a:pPr>
            <a:r>
              <a:rPr sz="1500" b="0" dirty="0" err="1">
                <a:solidFill>
                  <a:srgbClr val="1A1A1A"/>
                </a:solidFill>
                <a:latin typeface="Arial"/>
                <a:ea typeface="Microsoft YaHei"/>
              </a:rPr>
              <a:t>StriMap</a:t>
            </a:r>
            <a:r>
              <a:rPr sz="1500" b="0" dirty="0">
                <a:solidFill>
                  <a:srgbClr val="1A1A1A"/>
                </a:solidFill>
                <a:latin typeface="Arial"/>
                <a:ea typeface="Microsoft YaHei"/>
              </a:rPr>
              <a:t> 把 TCR–肽–HLA </a:t>
            </a:r>
            <a:r>
              <a:rPr sz="1500" b="0" dirty="0" err="1">
                <a:solidFill>
                  <a:srgbClr val="1A1A1A"/>
                </a:solidFill>
                <a:latin typeface="Arial"/>
                <a:ea typeface="Microsoft YaHei"/>
              </a:rPr>
              <a:t>相互作用建模为一个结构信息驱动的两阶段问题：先判断抗原肽能否被特定</a:t>
            </a:r>
            <a:r>
              <a:rPr sz="1500" b="0" dirty="0">
                <a:solidFill>
                  <a:srgbClr val="1A1A1A"/>
                </a:solidFill>
                <a:latin typeface="Arial"/>
                <a:ea typeface="Microsoft YaHei"/>
              </a:rPr>
              <a:t> HLA </a:t>
            </a:r>
            <a:r>
              <a:rPr sz="1500" b="0" dirty="0" err="1">
                <a:solidFill>
                  <a:srgbClr val="1A1A1A"/>
                </a:solidFill>
                <a:latin typeface="Arial"/>
                <a:ea typeface="Microsoft YaHei"/>
              </a:rPr>
              <a:t>结合和呈递，再判断</a:t>
            </a:r>
            <a:r>
              <a:rPr sz="1500" b="0" dirty="0">
                <a:solidFill>
                  <a:srgbClr val="1A1A1A"/>
                </a:solidFill>
                <a:latin typeface="Arial"/>
                <a:ea typeface="Microsoft YaHei"/>
              </a:rPr>
              <a:t> TCR </a:t>
            </a:r>
            <a:r>
              <a:rPr sz="1500" b="0" dirty="0" err="1">
                <a:solidFill>
                  <a:srgbClr val="1A1A1A"/>
                </a:solidFill>
                <a:latin typeface="Arial"/>
                <a:ea typeface="Microsoft YaHei"/>
              </a:rPr>
              <a:t>能否识别形成的肽</a:t>
            </a:r>
            <a:r>
              <a:rPr sz="1500" b="0" dirty="0">
                <a:solidFill>
                  <a:srgbClr val="1A1A1A"/>
                </a:solidFill>
                <a:latin typeface="Arial"/>
                <a:ea typeface="Microsoft YaHei"/>
              </a:rPr>
              <a:t>–HLA </a:t>
            </a:r>
            <a:r>
              <a:rPr sz="1500" b="0" dirty="0" err="1">
                <a:solidFill>
                  <a:srgbClr val="1A1A1A"/>
                </a:solidFill>
                <a:latin typeface="Arial"/>
                <a:ea typeface="Microsoft YaHei"/>
              </a:rPr>
              <a:t>复合物</a:t>
            </a:r>
            <a:r>
              <a:rPr sz="1500" b="0" dirty="0">
                <a:solidFill>
                  <a:srgbClr val="1A1A1A"/>
                </a:solidFill>
                <a:latin typeface="Arial"/>
                <a:ea typeface="Microsoft YaHei"/>
              </a:rPr>
              <a:t>。</a:t>
            </a:r>
            <a:r>
              <a:rPr lang="zh-CN" altLang="en-US" sz="1500" b="0" dirty="0">
                <a:solidFill>
                  <a:srgbClr val="1A1A1A"/>
                </a:solidFill>
                <a:latin typeface="Arial"/>
                <a:ea typeface="Microsoft YaHei"/>
              </a:rPr>
              <a:t>意思就是把</a:t>
            </a:r>
            <a:r>
              <a:rPr sz="1500" b="0" dirty="0" err="1">
                <a:solidFill>
                  <a:srgbClr val="1A1A1A"/>
                </a:solidFill>
                <a:latin typeface="Arial"/>
                <a:ea typeface="Microsoft YaHei"/>
              </a:rPr>
              <a:t>第一阶段的输出</a:t>
            </a:r>
            <a:r>
              <a:rPr lang="zh-CN" altLang="en-US" sz="1500" b="0" dirty="0">
                <a:solidFill>
                  <a:srgbClr val="1A1A1A"/>
                </a:solidFill>
                <a:latin typeface="Arial"/>
                <a:ea typeface="Microsoft YaHei"/>
              </a:rPr>
              <a:t>作为</a:t>
            </a:r>
            <a:r>
              <a:rPr sz="1500" b="0" dirty="0" err="1">
                <a:solidFill>
                  <a:srgbClr val="1A1A1A"/>
                </a:solidFill>
                <a:latin typeface="Arial"/>
                <a:ea typeface="Microsoft YaHei"/>
              </a:rPr>
              <a:t>是第二阶段</a:t>
            </a:r>
            <a:r>
              <a:rPr lang="zh-CN" altLang="en-US" sz="1500" b="0" dirty="0">
                <a:solidFill>
                  <a:srgbClr val="1A1A1A"/>
                </a:solidFill>
                <a:latin typeface="Arial"/>
                <a:ea typeface="Microsoft YaHei"/>
              </a:rPr>
              <a:t>的先验</a:t>
            </a:r>
            <a:r>
              <a:rPr sz="1500" b="0" dirty="0">
                <a:solidFill>
                  <a:srgbClr val="1A1A1A"/>
                </a:solidFill>
                <a:latin typeface="Arial"/>
                <a:ea typeface="Microsoft YaHei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" y="3288639"/>
            <a:ext cx="11539728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600" b="1" dirty="0" err="1">
                <a:solidFill>
                  <a:srgbClr val="006D39"/>
                </a:solidFill>
                <a:latin typeface="Arial"/>
                <a:ea typeface="Microsoft YaHei"/>
              </a:rPr>
              <a:t>表示与训练</a:t>
            </a:r>
            <a:r>
              <a:rPr sz="1600" b="1" dirty="0">
                <a:solidFill>
                  <a:srgbClr val="006D39"/>
                </a:solidFill>
                <a:latin typeface="Arial"/>
                <a:ea typeface="Microsoft YaHei"/>
              </a:rPr>
              <a:t>：</a:t>
            </a:r>
            <a:r>
              <a:rPr lang="zh-CN" altLang="en-US" sz="1600" b="1" dirty="0">
                <a:solidFill>
                  <a:srgbClr val="006D39"/>
                </a:solidFill>
                <a:latin typeface="Arial"/>
                <a:ea typeface="Microsoft YaHei"/>
              </a:rPr>
              <a:t>方法构成与本节安排</a:t>
            </a:r>
            <a:endParaRPr sz="1600" b="1" dirty="0">
              <a:solidFill>
                <a:srgbClr val="006D39"/>
              </a:solidFill>
              <a:latin typeface="Arial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9184" y="3800703"/>
            <a:ext cx="11539728" cy="20368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2000"/>
              </a:lnSpc>
            </a:pPr>
            <a:r>
              <a:rPr lang="zh-CN" altLang="en-US" sz="1500" dirty="0">
                <a:solidFill>
                  <a:srgbClr val="1A1A1A"/>
                </a:solidFill>
                <a:latin typeface="Arial"/>
                <a:ea typeface="Microsoft YaHei"/>
              </a:rPr>
              <a:t>方法由四块构成，① 特征提取（</a:t>
            </a:r>
            <a:r>
              <a:rPr lang="en-US" altLang="zh-CN" sz="1500" dirty="0">
                <a:solidFill>
                  <a:srgbClr val="1A1A1A"/>
                </a:solidFill>
                <a:latin typeface="Arial"/>
                <a:ea typeface="Microsoft YaHei"/>
              </a:rPr>
              <a:t>SSFE</a:t>
            </a:r>
            <a:r>
              <a:rPr lang="zh-CN" altLang="en-US" sz="1500" dirty="0">
                <a:solidFill>
                  <a:srgbClr val="1A1A1A"/>
                </a:solidFill>
                <a:latin typeface="Arial"/>
                <a:ea typeface="Microsoft YaHei"/>
              </a:rPr>
              <a:t>）在残基层面融合理化性质、</a:t>
            </a:r>
            <a:r>
              <a:rPr lang="en-US" altLang="zh-CN" sz="1500" dirty="0">
                <a:solidFill>
                  <a:srgbClr val="1A1A1A"/>
                </a:solidFill>
                <a:latin typeface="Arial"/>
                <a:ea typeface="Microsoft YaHei"/>
              </a:rPr>
              <a:t>ESM2 </a:t>
            </a:r>
            <a:r>
              <a:rPr lang="zh-CN" altLang="en-US" sz="1500" dirty="0">
                <a:solidFill>
                  <a:srgbClr val="1A1A1A"/>
                </a:solidFill>
                <a:latin typeface="Arial"/>
                <a:ea typeface="Microsoft YaHei"/>
              </a:rPr>
              <a:t>语言模型表示与 </a:t>
            </a:r>
            <a:r>
              <a:rPr lang="en-US" altLang="zh-CN" sz="1500" dirty="0" err="1">
                <a:solidFill>
                  <a:srgbClr val="1A1A1A"/>
                </a:solidFill>
                <a:latin typeface="Arial"/>
                <a:ea typeface="Microsoft YaHei"/>
              </a:rPr>
              <a:t>ESMFold+EGNN</a:t>
            </a:r>
            <a:r>
              <a:rPr lang="en-US" altLang="zh-CN" sz="150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lang="zh-CN" altLang="en-US" sz="1500" dirty="0">
                <a:solidFill>
                  <a:srgbClr val="1A1A1A"/>
                </a:solidFill>
                <a:latin typeface="Arial"/>
                <a:ea typeface="Microsoft YaHei"/>
              </a:rPr>
              <a:t>预测结构中的空间几何；② 跨分子配对（</a:t>
            </a:r>
            <a:r>
              <a:rPr lang="en-US" altLang="zh-CN" sz="1500" dirty="0">
                <a:solidFill>
                  <a:srgbClr val="1A1A1A"/>
                </a:solidFill>
                <a:latin typeface="Arial"/>
                <a:ea typeface="Microsoft YaHei"/>
              </a:rPr>
              <a:t>BAN</a:t>
            </a:r>
            <a:r>
              <a:rPr lang="zh-CN" altLang="en-US" sz="1500" dirty="0">
                <a:solidFill>
                  <a:srgbClr val="1A1A1A"/>
                </a:solidFill>
                <a:latin typeface="Arial"/>
                <a:ea typeface="Microsoft YaHei"/>
              </a:rPr>
              <a:t>）用双线性注意力学习残基对相互作用；③ 两阶段预测器依次输出呈递分数与识别分数；④ 训练策略用动态负采样与突变感知困难负样本缓解负样本不可靠。推理时只需输入序列，结构由 </a:t>
            </a:r>
            <a:r>
              <a:rPr lang="en-US" altLang="zh-CN" sz="1500" dirty="0" err="1">
                <a:solidFill>
                  <a:srgbClr val="1A1A1A"/>
                </a:solidFill>
                <a:latin typeface="Arial"/>
                <a:ea typeface="Microsoft YaHei"/>
              </a:rPr>
              <a:t>ESMFold</a:t>
            </a:r>
            <a:r>
              <a:rPr lang="en-US" altLang="zh-CN" sz="150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lang="zh-CN" altLang="en-US" sz="1500" dirty="0">
                <a:solidFill>
                  <a:srgbClr val="1A1A1A"/>
                </a:solidFill>
                <a:latin typeface="Arial"/>
                <a:ea typeface="Microsoft YaHei"/>
              </a:rPr>
              <a:t>预测，不依赖实验解析的复合物结构。</a:t>
            </a:r>
            <a:endParaRPr sz="1500" b="0" dirty="0">
              <a:solidFill>
                <a:srgbClr val="1A1A1A"/>
              </a:solidFill>
              <a:latin typeface="Arial"/>
              <a:ea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10367" y="645566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Arial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AC964-7BDB-CC95-B2CD-EC4BD9C27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485B3AE-C808-DACE-702A-29AF30916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438" y="804673"/>
            <a:ext cx="9265475" cy="602294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3C93097-8528-3993-CC8E-D671C201A09D}"/>
              </a:ext>
            </a:extLst>
          </p:cNvPr>
          <p:cNvSpPr/>
          <p:nvPr/>
        </p:nvSpPr>
        <p:spPr>
          <a:xfrm>
            <a:off x="10317175" y="4709160"/>
            <a:ext cx="2834640" cy="283464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9A1ECA1-C79F-A1AC-011D-DFAD5E954EF3}"/>
              </a:ext>
            </a:extLst>
          </p:cNvPr>
          <p:cNvSpPr/>
          <p:nvPr/>
        </p:nvSpPr>
        <p:spPr>
          <a:xfrm>
            <a:off x="10957255" y="5349240"/>
            <a:ext cx="1645920" cy="164592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C8ADB17-3EE8-BA4A-9189-8237AE556B5E}"/>
              </a:ext>
            </a:extLst>
          </p:cNvPr>
          <p:cNvSpPr/>
          <p:nvPr/>
        </p:nvSpPr>
        <p:spPr>
          <a:xfrm>
            <a:off x="-1051560" y="-1051560"/>
            <a:ext cx="1600200" cy="160020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0D89E7-0F35-730D-6F12-9CB37CEEBCF5}"/>
              </a:ext>
            </a:extLst>
          </p:cNvPr>
          <p:cNvSpPr/>
          <p:nvPr/>
        </p:nvSpPr>
        <p:spPr>
          <a:xfrm>
            <a:off x="11539728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806E0E-465E-5DDE-7678-EE93BE70F4A7}"/>
              </a:ext>
            </a:extLst>
          </p:cNvPr>
          <p:cNvSpPr/>
          <p:nvPr/>
        </p:nvSpPr>
        <p:spPr>
          <a:xfrm>
            <a:off x="11978640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F20807-5954-9BFD-A400-2809038588C3}"/>
              </a:ext>
            </a:extLst>
          </p:cNvPr>
          <p:cNvSpPr txBox="1"/>
          <p:nvPr/>
        </p:nvSpPr>
        <p:spPr>
          <a:xfrm>
            <a:off x="749808" y="21945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zh-CN" sz="2500" b="1" dirty="0" err="1">
                <a:solidFill>
                  <a:srgbClr val="006D39"/>
                </a:solidFill>
                <a:latin typeface="Arial"/>
                <a:ea typeface="Microsoft YaHei"/>
              </a:rPr>
              <a:t>StriMap</a:t>
            </a:r>
            <a:r>
              <a:rPr lang="zh-CN" altLang="en-US" sz="2500" b="1" dirty="0">
                <a:solidFill>
                  <a:srgbClr val="006D39"/>
                </a:solidFill>
                <a:latin typeface="Arial"/>
                <a:ea typeface="Microsoft YaHei"/>
              </a:rPr>
              <a:t>网络模型</a:t>
            </a:r>
            <a:endParaRPr sz="2500" b="1" dirty="0">
              <a:solidFill>
                <a:srgbClr val="006D39"/>
              </a:solidFill>
              <a:latin typeface="Arial"/>
              <a:ea typeface="Microsoft YaHei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43541DEE-7651-1246-3E82-8699548D1B35}"/>
              </a:ext>
            </a:extLst>
          </p:cNvPr>
          <p:cNvCxnSpPr/>
          <p:nvPr/>
        </p:nvCxnSpPr>
        <p:spPr>
          <a:xfrm>
            <a:off x="0" y="786384"/>
            <a:ext cx="12191695" cy="0"/>
          </a:xfrm>
          <a:prstGeom prst="line">
            <a:avLst/>
          </a:prstGeom>
          <a:ln w="12700">
            <a:solidFill>
              <a:srgbClr val="BD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9AC3F2B-674D-D92F-AE7B-A83D10C3A20F}"/>
              </a:ext>
            </a:extLst>
          </p:cNvPr>
          <p:cNvSpPr txBox="1"/>
          <p:nvPr/>
        </p:nvSpPr>
        <p:spPr>
          <a:xfrm>
            <a:off x="10710367" y="645566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Arial"/>
                <a:ea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930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317175" y="4709160"/>
            <a:ext cx="2834640" cy="283464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57255" y="5349240"/>
            <a:ext cx="1645920" cy="164592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51560" y="-1051560"/>
            <a:ext cx="1600200" cy="160020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39728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9184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978640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978640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500" b="1" dirty="0">
                <a:solidFill>
                  <a:srgbClr val="006D39"/>
                </a:solidFill>
                <a:latin typeface="Arial"/>
                <a:ea typeface="Microsoft YaHei"/>
              </a:rPr>
              <a:t>训练策略：负样本设计与损失</a:t>
            </a:r>
            <a:endParaRPr sz="2500" b="1" dirty="0">
              <a:solidFill>
                <a:srgbClr val="006D39"/>
              </a:solidFill>
              <a:latin typeface="Arial"/>
              <a:ea typeface="Microsoft YaHei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0" y="786384"/>
            <a:ext cx="12191695" cy="0"/>
          </a:xfrm>
          <a:prstGeom prst="line">
            <a:avLst/>
          </a:prstGeom>
          <a:ln w="12700">
            <a:solidFill>
              <a:srgbClr val="BD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9184" y="1005840"/>
            <a:ext cx="11539728" cy="22153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zh-CN" altLang="en-US" sz="2000" b="1" dirty="0">
                <a:solidFill>
                  <a:srgbClr val="006D39"/>
                </a:solidFill>
                <a:latin typeface="Arial"/>
                <a:ea typeface="Microsoft YaHei"/>
              </a:rPr>
              <a:t>难点</a:t>
            </a:r>
            <a:r>
              <a:rPr lang="en-US" altLang="zh-CN" sz="2000" b="1" dirty="0">
                <a:solidFill>
                  <a:srgbClr val="006D39"/>
                </a:solidFill>
                <a:latin typeface="Arial"/>
                <a:ea typeface="Microsoft YaHei"/>
              </a:rPr>
              <a:t>——TCR </a:t>
            </a:r>
            <a:r>
              <a:rPr lang="zh-CN" altLang="en-US" sz="2000" b="1" dirty="0">
                <a:solidFill>
                  <a:srgbClr val="006D39"/>
                </a:solidFill>
                <a:latin typeface="Arial"/>
                <a:ea typeface="Microsoft YaHei"/>
              </a:rPr>
              <a:t>数据没有可靠负样本 </a:t>
            </a:r>
            <a:endParaRPr lang="en-US" altLang="zh-CN" sz="2000" b="1" dirty="0">
              <a:solidFill>
                <a:srgbClr val="006D39"/>
              </a:solidFill>
              <a:latin typeface="Arial"/>
              <a:ea typeface="Microsoft YaHei"/>
            </a:endParaRPr>
          </a:p>
          <a:p>
            <a:pPr>
              <a:lnSpc>
                <a:spcPct val="200000"/>
              </a:lnSpc>
              <a:spcAft>
                <a:spcPts val="1000"/>
              </a:spcAft>
            </a:pPr>
            <a:r>
              <a:rPr lang="zh-CN" altLang="en-US" sz="1700" dirty="0">
                <a:solidFill>
                  <a:srgbClr val="1A1A1A"/>
                </a:solidFill>
                <a:latin typeface="+mn-ea"/>
              </a:rPr>
              <a:t>实验确认的负样本很多，但并不代表都不去结合。此外若在整个训练过程中反复使用同一批固定的负样本，模型容易记住这批样本、学到数据集差异一类的捷径，迁移到新的 </a:t>
            </a:r>
            <a:r>
              <a:rPr lang="en-US" altLang="zh-CN" sz="1700" dirty="0">
                <a:solidFill>
                  <a:srgbClr val="1A1A1A"/>
                </a:solidFill>
                <a:latin typeface="+mn-ea"/>
              </a:rPr>
              <a:t>TCR–</a:t>
            </a:r>
            <a:r>
              <a:rPr lang="en-US" altLang="zh-CN" sz="1700" dirty="0" err="1">
                <a:solidFill>
                  <a:srgbClr val="1A1A1A"/>
                </a:solidFill>
                <a:latin typeface="+mn-ea"/>
              </a:rPr>
              <a:t>pHLA</a:t>
            </a:r>
            <a:r>
              <a:rPr lang="en-US" altLang="zh-CN" sz="1700" dirty="0">
                <a:solidFill>
                  <a:srgbClr val="1A1A1A"/>
                </a:solidFill>
                <a:latin typeface="+mn-ea"/>
              </a:rPr>
              <a:t> </a:t>
            </a:r>
            <a:r>
              <a:rPr lang="zh-CN" altLang="en-US" sz="1700" dirty="0">
                <a:solidFill>
                  <a:srgbClr val="1A1A1A"/>
                </a:solidFill>
                <a:latin typeface="+mn-ea"/>
              </a:rPr>
              <a:t>组合时性能下降；在突变新抗原场景中，突变肽与正常肽往往只差一个氨基酸，固定的负样本库更难覆盖这类近邻负例。</a:t>
            </a:r>
            <a:endParaRPr sz="1700" dirty="0">
              <a:solidFill>
                <a:srgbClr val="1A1A1A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9184" y="3440684"/>
            <a:ext cx="1153972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  <a:spcAft>
                <a:spcPts val="492"/>
              </a:spcAft>
            </a:pPr>
            <a:r>
              <a:rPr sz="2000" b="1" dirty="0" err="1">
                <a:solidFill>
                  <a:srgbClr val="006D39"/>
                </a:solidFill>
                <a:latin typeface="Arial"/>
                <a:ea typeface="Microsoft YaHei"/>
              </a:rPr>
              <a:t>负样本与训练策略</a:t>
            </a:r>
            <a:endParaRPr sz="2000" b="1" dirty="0">
              <a:solidFill>
                <a:srgbClr val="006D39"/>
              </a:solidFill>
              <a:latin typeface="Arial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9184" y="3806444"/>
            <a:ext cx="11539728" cy="2576068"/>
          </a:xfrm>
          <a:prstGeom prst="rect">
            <a:avLst/>
          </a:prstGeom>
          <a:noFill/>
          <a:ln w="12700">
            <a:solidFill>
              <a:srgbClr val="BD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66928" y="4044188"/>
                <a:ext cx="11064240" cy="21005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45000"/>
                  </a:lnSpc>
                  <a:spcAft>
                    <a:spcPts val="484"/>
                  </a:spcAft>
                </a:pPr>
                <a:r>
                  <a:rPr sz="1261" b="1" dirty="0" err="1">
                    <a:solidFill>
                      <a:srgbClr val="1A1A1A"/>
                    </a:solidFill>
                    <a:latin typeface="Arial"/>
                    <a:ea typeface="Microsoft YaHei"/>
                  </a:rPr>
                  <a:t>动态负采样（DNS</a:t>
                </a:r>
                <a:r>
                  <a:rPr sz="1261" b="1" dirty="0">
                    <a:solidFill>
                      <a:srgbClr val="1A1A1A"/>
                    </a:solidFill>
                    <a:latin typeface="Arial"/>
                    <a:ea typeface="Microsoft YaHei"/>
                  </a:rPr>
                  <a:t>）：</a:t>
                </a:r>
                <a:r>
                  <a:rPr sz="1261" b="0" dirty="0" err="1">
                    <a:solidFill>
                      <a:srgbClr val="1A1A1A"/>
                    </a:solidFill>
                    <a:latin typeface="Arial"/>
                    <a:ea typeface="Microsoft YaHei"/>
                  </a:rPr>
                  <a:t>固定正样本，将</a:t>
                </a:r>
                <a:r>
                  <a:rPr sz="1261" b="0" dirty="0">
                    <a:solidFill>
                      <a:srgbClr val="1A1A1A"/>
                    </a:solidFill>
                    <a:latin typeface="Arial"/>
                    <a:ea typeface="Microsoft YaHei"/>
                  </a:rPr>
                  <a:t> TCR </a:t>
                </a:r>
                <a:r>
                  <a:rPr sz="1261" b="0" dirty="0" err="1">
                    <a:solidFill>
                      <a:srgbClr val="1A1A1A"/>
                    </a:solidFill>
                    <a:latin typeface="Arial"/>
                    <a:ea typeface="Microsoft YaHei"/>
                  </a:rPr>
                  <a:t>与不匹配的</a:t>
                </a:r>
                <a:r>
                  <a:rPr sz="1261" b="0" dirty="0">
                    <a:solidFill>
                      <a:srgbClr val="1A1A1A"/>
                    </a:solidFill>
                    <a:latin typeface="Arial"/>
                    <a:ea typeface="Microsoft YaHei"/>
                  </a:rPr>
                  <a:t> </a:t>
                </a:r>
                <a:r>
                  <a:rPr sz="1261" b="0" dirty="0" err="1">
                    <a:solidFill>
                      <a:srgbClr val="1A1A1A"/>
                    </a:solidFill>
                    <a:latin typeface="Arial"/>
                    <a:ea typeface="Microsoft YaHei"/>
                  </a:rPr>
                  <a:t>pHLA</a:t>
                </a:r>
                <a:r>
                  <a:rPr sz="1261" b="0" dirty="0">
                    <a:solidFill>
                      <a:srgbClr val="1A1A1A"/>
                    </a:solidFill>
                    <a:latin typeface="Arial"/>
                    <a:ea typeface="Microsoft YaHei"/>
                  </a:rPr>
                  <a:t> </a:t>
                </a:r>
                <a:r>
                  <a:rPr sz="1261" b="0" dirty="0" err="1">
                    <a:solidFill>
                      <a:srgbClr val="1A1A1A"/>
                    </a:solidFill>
                    <a:latin typeface="Arial"/>
                    <a:ea typeface="Microsoft YaHei"/>
                  </a:rPr>
                  <a:t>随机重组，按</a:t>
                </a:r>
                <a:r>
                  <a:rPr sz="1261" b="0" dirty="0">
                    <a:solidFill>
                      <a:srgbClr val="1A1A1A"/>
                    </a:solidFill>
                    <a:latin typeface="Arial"/>
                    <a:ea typeface="Microsoft YaHei"/>
                  </a:rPr>
                  <a:t> 3∶1 </a:t>
                </a:r>
                <a:r>
                  <a:rPr sz="1261" b="0" dirty="0" err="1">
                    <a:solidFill>
                      <a:srgbClr val="1A1A1A"/>
                    </a:solidFill>
                    <a:latin typeface="Arial"/>
                    <a:ea typeface="Microsoft YaHei"/>
                  </a:rPr>
                  <a:t>的负正比例生成负样本。模型在每个训练轮次重新生成组合，扩大有效负样本空间，降低记住固定负样本的风险</a:t>
                </a:r>
                <a:r>
                  <a:rPr sz="1261" b="0" dirty="0">
                    <a:solidFill>
                      <a:srgbClr val="1A1A1A"/>
                    </a:solidFill>
                    <a:latin typeface="Arial"/>
                    <a:ea typeface="Microsoft YaHei"/>
                  </a:rPr>
                  <a:t>。</a:t>
                </a:r>
                <a:r>
                  <a:rPr lang="zh-CN" altLang="en-US" sz="1261" dirty="0">
                    <a:solidFill>
                      <a:srgbClr val="1A1A1A"/>
                    </a:solidFill>
                    <a:latin typeface="Arial"/>
                    <a:ea typeface="Microsoft YaHei"/>
                  </a:rPr>
                  <a:t>代价是突变后的序列仍可能具有真实结合能力，因此不可避免地引入一定标签噪声。</a:t>
                </a:r>
                <a:endParaRPr sz="1261" b="0" dirty="0">
                  <a:solidFill>
                    <a:srgbClr val="1A1A1A"/>
                  </a:solidFill>
                  <a:latin typeface="Arial"/>
                  <a:ea typeface="Microsoft YaHei"/>
                </a:endParaRPr>
              </a:p>
              <a:p>
                <a:pPr>
                  <a:lnSpc>
                    <a:spcPct val="145000"/>
                  </a:lnSpc>
                  <a:spcAft>
                    <a:spcPts val="484"/>
                  </a:spcAft>
                </a:pPr>
                <a:r>
                  <a:rPr sz="1261" b="1" dirty="0" err="1">
                    <a:solidFill>
                      <a:srgbClr val="1A1A1A"/>
                    </a:solidFill>
                    <a:latin typeface="Arial"/>
                    <a:ea typeface="Microsoft YaHei"/>
                  </a:rPr>
                  <a:t>突变感知困难负样本：</a:t>
                </a:r>
                <a:r>
                  <a:rPr sz="1261" b="0" dirty="0" err="1">
                    <a:solidFill>
                      <a:srgbClr val="1A1A1A"/>
                    </a:solidFill>
                    <a:latin typeface="Arial"/>
                    <a:ea typeface="Microsoft YaHei"/>
                  </a:rPr>
                  <a:t>在正样本肽中随机替换</a:t>
                </a:r>
                <a:r>
                  <a:rPr sz="1261" b="0" dirty="0">
                    <a:solidFill>
                      <a:srgbClr val="1A1A1A"/>
                    </a:solidFill>
                    <a:latin typeface="Arial"/>
                    <a:ea typeface="Microsoft YaHei"/>
                  </a:rPr>
                  <a:t> 1～2 </a:t>
                </a:r>
                <a:r>
                  <a:rPr sz="1261" b="0" dirty="0" err="1">
                    <a:solidFill>
                      <a:srgbClr val="1A1A1A"/>
                    </a:solidFill>
                    <a:latin typeface="Arial"/>
                    <a:ea typeface="Microsoft YaHei"/>
                  </a:rPr>
                  <a:t>个残基</a:t>
                </a:r>
                <a:r>
                  <a:rPr sz="1261" b="0" dirty="0">
                    <a:solidFill>
                      <a:srgbClr val="1A1A1A"/>
                    </a:solidFill>
                    <a:latin typeface="Arial"/>
                    <a:ea typeface="Microsoft YaHei"/>
                  </a:rPr>
                  <a:t>。</a:t>
                </a:r>
                <a:endParaRPr lang="en-US" sz="1261" b="0" dirty="0">
                  <a:solidFill>
                    <a:srgbClr val="1A1A1A"/>
                  </a:solidFill>
                  <a:latin typeface="Arial"/>
                  <a:ea typeface="Microsoft YaHei"/>
                </a:endParaRPr>
              </a:p>
              <a:p>
                <a:pPr>
                  <a:lnSpc>
                    <a:spcPct val="145000"/>
                  </a:lnSpc>
                  <a:spcAft>
                    <a:spcPts val="484"/>
                  </a:spcAft>
                </a:pPr>
                <a:r>
                  <a:rPr sz="1261" b="1" dirty="0" err="1">
                    <a:solidFill>
                      <a:srgbClr val="1A1A1A"/>
                    </a:solidFill>
                    <a:latin typeface="Arial"/>
                    <a:ea typeface="Microsoft YaHei"/>
                  </a:rPr>
                  <a:t>损失函数与配置：</a:t>
                </a:r>
                <a:r>
                  <a:rPr sz="1261" b="0" dirty="0" err="1">
                    <a:solidFill>
                      <a:srgbClr val="1A1A1A"/>
                    </a:solidFill>
                    <a:latin typeface="Arial"/>
                    <a:ea typeface="Microsoft YaHei"/>
                  </a:rPr>
                  <a:t>使用</a:t>
                </a:r>
                <a:r>
                  <a:rPr sz="1261" b="0" dirty="0">
                    <a:solidFill>
                      <a:srgbClr val="1A1A1A"/>
                    </a:solidFill>
                    <a:latin typeface="Arial"/>
                    <a:ea typeface="Microsoft YaHei"/>
                  </a:rPr>
                  <a:t> focal loss </a:t>
                </a:r>
                <a:r>
                  <a:rPr sz="1261" b="0" dirty="0" err="1">
                    <a:solidFill>
                      <a:srgbClr val="1A1A1A"/>
                    </a:solidFill>
                    <a:latin typeface="Arial"/>
                    <a:ea typeface="Microsoft YaHei"/>
                  </a:rPr>
                  <a:t>降低大量容易分类样本的影响并提高困难样本权重</a:t>
                </a:r>
                <a:r>
                  <a:rPr sz="1261" b="0" dirty="0">
                    <a:solidFill>
                      <a:srgbClr val="1A1A1A"/>
                    </a:solidFill>
                    <a:latin typeface="Arial"/>
                    <a:ea typeface="Microsoft YaHei"/>
                  </a:rPr>
                  <a:t>；</a:t>
                </a:r>
                <a:endParaRPr lang="en-US" sz="1261" b="0" dirty="0">
                  <a:solidFill>
                    <a:srgbClr val="1A1A1A"/>
                  </a:solidFill>
                  <a:latin typeface="Arial"/>
                  <a:ea typeface="Microsoft YaHei"/>
                </a:endParaRPr>
              </a:p>
              <a:p>
                <a:pPr>
                  <a:lnSpc>
                    <a:spcPct val="145000"/>
                  </a:lnSpc>
                  <a:spcAft>
                    <a:spcPts val="484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𝓛</m:t>
                      </m:r>
                      <m:r>
                        <a:rPr lang="en-US" sz="1600" b="1" i="1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=−</m:t>
                      </m:r>
                      <m:r>
                        <a:rPr lang="en-US" sz="1600" b="1" i="1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𝜶</m:t>
                      </m:r>
                      <m:r>
                        <a:rPr lang="en-US" sz="1600" b="1" i="1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 </m:t>
                      </m:r>
                      <m:r>
                        <a:rPr lang="en-US" sz="1600" b="1" i="1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𝒚</m:t>
                      </m:r>
                      <m:r>
                        <a:rPr lang="en-US" sz="1600" b="1" i="1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 </m:t>
                      </m:r>
                      <m:sSup>
                        <m:sSupPr>
                          <m:ctrlP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</a:rPr>
                              </m:ctrlPr>
                            </m:dPr>
                            <m:e>
                              <m:r>
                                <a:rPr lang="en-US" sz="1600" b="1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</a:rPr>
                                <m:t>𝟏</m:t>
                              </m:r>
                              <m:r>
                                <a:rPr lang="en-US" sz="1600" b="1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</a:rPr>
                                <m:t>−</m:t>
                              </m:r>
                              <m:r>
                                <a:rPr lang="en-US" sz="1600" b="1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</a:rPr>
                                <m:t>𝒑</m:t>
                              </m:r>
                            </m:e>
                          </m:d>
                        </m:e>
                        <m:sup>
                          <m: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  <m:t>𝜸</m:t>
                          </m:r>
                        </m:sup>
                      </m:sSup>
                      <m:func>
                        <m:funcPr>
                          <m:ctrlP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</m:ctrlPr>
                        </m:funcPr>
                        <m:fName>
                          <m:r>
                            <a:rPr lang="en-US" sz="1600" b="1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  <m:t>𝐥𝐨𝐠</m:t>
                          </m:r>
                        </m:fName>
                        <m:e>
                          <m: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  <m:t>𝒑</m:t>
                          </m:r>
                        </m:e>
                      </m:func>
                      <m:r>
                        <a:rPr lang="en-US" sz="1600" b="1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 − </m:t>
                      </m:r>
                      <m:d>
                        <m:dPr>
                          <m:ctrlP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</m:ctrlPr>
                        </m:dPr>
                        <m:e>
                          <m: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  <m:t>𝟏</m:t>
                          </m:r>
                          <m: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  <m:t>−</m:t>
                          </m:r>
                          <m: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  <m:t>𝜶</m:t>
                          </m:r>
                        </m:e>
                      </m:d>
                      <m:d>
                        <m:dPr>
                          <m:ctrlP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</m:ctrlPr>
                        </m:dPr>
                        <m:e>
                          <m: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  <m:t>𝟏</m:t>
                          </m:r>
                          <m: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  <m:t>−</m:t>
                          </m:r>
                          <m: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  <m:t>𝒚</m:t>
                          </m:r>
                        </m:e>
                      </m:d>
                      <m:r>
                        <a:rPr lang="en-US" sz="1600" b="1" i="1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 </m:t>
                      </m:r>
                      <m:sSup>
                        <m:sSupPr>
                          <m:ctrlP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  <m:t>𝒑</m:t>
                          </m:r>
                        </m:e>
                        <m:sup>
                          <m: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  <m:t>𝜸</m:t>
                          </m:r>
                        </m:sup>
                      </m:sSup>
                      <m:func>
                        <m:funcPr>
                          <m:ctrlPr>
                            <a:rPr lang="en-US" sz="1600" b="1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</m:ctrlPr>
                        </m:funcPr>
                        <m:fName>
                          <m:r>
                            <a:rPr lang="en-US" sz="1600" b="1" i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Microsoft YaHei"/>
                            </a:rPr>
                            <m:t>𝐥𝐨𝐠</m:t>
                          </m:r>
                        </m:fName>
                        <m:e>
                          <m:d>
                            <m:dPr>
                              <m:ctrlPr>
                                <a:rPr lang="en-US" sz="1600" b="1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</a:rPr>
                              </m:ctrlPr>
                            </m:dPr>
                            <m:e>
                              <m:r>
                                <a:rPr lang="en-US" sz="1600" b="1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</a:rPr>
                                <m:t>𝟏</m:t>
                              </m:r>
                              <m:r>
                                <a:rPr lang="en-US" sz="1600" b="1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</a:rPr>
                                <m:t>−</m:t>
                              </m:r>
                              <m:r>
                                <a:rPr lang="en-US" sz="1600" b="1" i="1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</a:rPr>
                                <m:t>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261" b="0" dirty="0">
                  <a:solidFill>
                    <a:srgbClr val="1A1A1A"/>
                  </a:solidFill>
                  <a:latin typeface="Arial"/>
                  <a:ea typeface="Microsoft YaHei"/>
                </a:endParaRPr>
              </a:p>
              <a:p>
                <a:pPr>
                  <a:lnSpc>
                    <a:spcPct val="145000"/>
                  </a:lnSpc>
                  <a:spcAft>
                    <a:spcPts val="484"/>
                  </a:spcAft>
                </a:pPr>
                <a:endParaRPr lang="en-US" sz="1261" b="0" dirty="0">
                  <a:solidFill>
                    <a:srgbClr val="1A1A1A"/>
                  </a:solidFill>
                  <a:latin typeface="Arial"/>
                  <a:ea typeface="Microsoft YaHei"/>
                </a:endParaRPr>
              </a:p>
              <a:p>
                <a:pPr>
                  <a:lnSpc>
                    <a:spcPct val="145000"/>
                  </a:lnSpc>
                  <a:spcAft>
                    <a:spcPts val="484"/>
                  </a:spcAft>
                </a:pPr>
                <a:endParaRPr sz="1261" b="0" dirty="0">
                  <a:solidFill>
                    <a:srgbClr val="1A1A1A"/>
                  </a:solidFill>
                  <a:latin typeface="Arial"/>
                  <a:ea typeface="Microsoft YaHei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4044188"/>
                <a:ext cx="11064240" cy="2100580"/>
              </a:xfrm>
              <a:prstGeom prst="rect">
                <a:avLst/>
              </a:prstGeom>
              <a:blipFill>
                <a:blip r:embed="rId3"/>
                <a:stretch>
                  <a:fillRect l="-882" r="-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0710367" y="645566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Arial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317175" y="4709160"/>
            <a:ext cx="2834640" cy="283464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57255" y="5349240"/>
            <a:ext cx="1645920" cy="164592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51560" y="-1051560"/>
            <a:ext cx="1600200" cy="160020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39728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9184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978640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978640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500" b="1" dirty="0" err="1">
                <a:solidFill>
                  <a:srgbClr val="006D39"/>
                </a:solidFill>
                <a:latin typeface="Arial"/>
                <a:ea typeface="Microsoft YaHei"/>
              </a:rPr>
              <a:t>StriMap</a:t>
            </a:r>
            <a:r>
              <a:rPr sz="2500" b="1" dirty="0">
                <a:solidFill>
                  <a:srgbClr val="006D39"/>
                </a:solidFill>
                <a:latin typeface="Arial"/>
                <a:ea typeface="Microsoft YaHei"/>
              </a:rPr>
              <a:t> </a:t>
            </a:r>
            <a:r>
              <a:rPr sz="2500" b="1" dirty="0" err="1">
                <a:solidFill>
                  <a:srgbClr val="006D39"/>
                </a:solidFill>
                <a:latin typeface="Arial"/>
                <a:ea typeface="Microsoft YaHei"/>
              </a:rPr>
              <a:t>框架的基准测试与</a:t>
            </a:r>
            <a:r>
              <a:rPr lang="zh-CN" altLang="en-US" sz="2500" b="1" dirty="0">
                <a:solidFill>
                  <a:srgbClr val="006D39"/>
                </a:solidFill>
                <a:latin typeface="Arial"/>
                <a:ea typeface="Microsoft YaHei"/>
              </a:rPr>
              <a:t>消融实验</a:t>
            </a:r>
            <a:endParaRPr sz="2500" b="1" dirty="0">
              <a:solidFill>
                <a:srgbClr val="006D39"/>
              </a:solidFill>
              <a:latin typeface="Arial"/>
              <a:ea typeface="Microsoft YaHei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0" y="786384"/>
            <a:ext cx="12191695" cy="0"/>
          </a:xfrm>
          <a:prstGeom prst="line">
            <a:avLst/>
          </a:prstGeom>
          <a:ln w="12700">
            <a:solidFill>
              <a:srgbClr val="BD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76854" y="1000335"/>
            <a:ext cx="4828032" cy="5413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  <a:spcAft>
                <a:spcPts val="950"/>
              </a:spcAft>
            </a:pPr>
            <a:r>
              <a:rPr sz="1235" b="1" dirty="0" err="1">
                <a:solidFill>
                  <a:srgbClr val="1A1A1A"/>
                </a:solidFill>
                <a:latin typeface="Arial"/>
                <a:ea typeface="Microsoft YaHei"/>
              </a:rPr>
              <a:t>实验目的：</a:t>
            </a:r>
            <a:r>
              <a:rPr sz="1235" b="0" dirty="0" err="1">
                <a:solidFill>
                  <a:srgbClr val="1A1A1A"/>
                </a:solidFill>
                <a:latin typeface="Arial"/>
                <a:ea typeface="Microsoft YaHei"/>
              </a:rPr>
              <a:t>验证</a:t>
            </a:r>
            <a:r>
              <a:rPr sz="1235" b="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sz="1235" b="0" dirty="0" err="1">
                <a:solidFill>
                  <a:srgbClr val="1A1A1A"/>
                </a:solidFill>
                <a:latin typeface="Arial"/>
                <a:ea typeface="Microsoft YaHei"/>
              </a:rPr>
              <a:t>StriMap</a:t>
            </a:r>
            <a:r>
              <a:rPr sz="1235" b="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sz="1235" b="0" dirty="0" err="1">
                <a:solidFill>
                  <a:srgbClr val="1A1A1A"/>
                </a:solidFill>
                <a:latin typeface="Arial"/>
                <a:ea typeface="Microsoft YaHei"/>
              </a:rPr>
              <a:t>在肽</a:t>
            </a:r>
            <a:r>
              <a:rPr sz="1235" b="0" dirty="0">
                <a:solidFill>
                  <a:srgbClr val="1A1A1A"/>
                </a:solidFill>
                <a:latin typeface="Arial"/>
                <a:ea typeface="Microsoft YaHei"/>
              </a:rPr>
              <a:t>–HLA </a:t>
            </a:r>
            <a:r>
              <a:rPr sz="1235" b="0" dirty="0" err="1">
                <a:solidFill>
                  <a:srgbClr val="1A1A1A"/>
                </a:solidFill>
                <a:latin typeface="Arial"/>
                <a:ea typeface="Microsoft YaHei"/>
              </a:rPr>
              <a:t>呈递预测与</a:t>
            </a:r>
            <a:r>
              <a:rPr sz="1235" b="0" dirty="0">
                <a:solidFill>
                  <a:srgbClr val="1A1A1A"/>
                </a:solidFill>
                <a:latin typeface="Arial"/>
                <a:ea typeface="Microsoft YaHei"/>
              </a:rPr>
              <a:t> TCR–</a:t>
            </a:r>
            <a:r>
              <a:rPr sz="1235" b="0" dirty="0" err="1">
                <a:solidFill>
                  <a:srgbClr val="1A1A1A"/>
                </a:solidFill>
                <a:latin typeface="Arial"/>
                <a:ea typeface="Microsoft YaHei"/>
              </a:rPr>
              <a:t>pHLA</a:t>
            </a:r>
            <a:r>
              <a:rPr sz="1235" b="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sz="1235" b="0" dirty="0" err="1">
                <a:solidFill>
                  <a:srgbClr val="1A1A1A"/>
                </a:solidFill>
                <a:latin typeface="Arial"/>
                <a:ea typeface="Microsoft YaHei"/>
              </a:rPr>
              <a:t>识别预测上的性能，考察结构信息、门控融合、BAN</a:t>
            </a:r>
            <a:r>
              <a:rPr sz="1235" b="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sz="1235" b="0" dirty="0" err="1">
                <a:solidFill>
                  <a:srgbClr val="1A1A1A"/>
                </a:solidFill>
                <a:latin typeface="Arial"/>
                <a:ea typeface="Microsoft YaHei"/>
              </a:rPr>
              <a:t>与动态负采样各模块的贡献，并与</a:t>
            </a:r>
            <a:r>
              <a:rPr sz="1235" b="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sz="1235" b="0" dirty="0" err="1">
                <a:solidFill>
                  <a:srgbClr val="1A1A1A"/>
                </a:solidFill>
                <a:latin typeface="Arial"/>
                <a:ea typeface="Microsoft YaHei"/>
              </a:rPr>
              <a:t>NetMHCpan、BigMHC、EPACT、NetTCR、STAPLER</a:t>
            </a:r>
            <a:r>
              <a:rPr sz="1235" b="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sz="1235" b="0" dirty="0" err="1">
                <a:solidFill>
                  <a:srgbClr val="1A1A1A"/>
                </a:solidFill>
                <a:latin typeface="Arial"/>
                <a:ea typeface="Microsoft YaHei"/>
              </a:rPr>
              <a:t>等方法进行系统比较</a:t>
            </a:r>
            <a:r>
              <a:rPr sz="1235" b="0" dirty="0">
                <a:solidFill>
                  <a:srgbClr val="1A1A1A"/>
                </a:solidFill>
                <a:latin typeface="Arial"/>
                <a:ea typeface="Microsoft YaHei"/>
              </a:rPr>
              <a:t>。</a:t>
            </a:r>
          </a:p>
          <a:p>
            <a:pPr>
              <a:lnSpc>
                <a:spcPct val="145000"/>
              </a:lnSpc>
              <a:spcBef>
                <a:spcPts val="854"/>
              </a:spcBef>
              <a:spcAft>
                <a:spcPts val="380"/>
              </a:spcAft>
            </a:pPr>
            <a:r>
              <a:rPr sz="1235" b="1" dirty="0" err="1">
                <a:solidFill>
                  <a:srgbClr val="1A1A1A"/>
                </a:solidFill>
                <a:latin typeface="Arial"/>
                <a:ea typeface="Microsoft YaHei"/>
              </a:rPr>
              <a:t>实验结果</a:t>
            </a:r>
            <a:r>
              <a:rPr sz="1235" b="1" dirty="0">
                <a:solidFill>
                  <a:srgbClr val="1A1A1A"/>
                </a:solidFill>
                <a:latin typeface="Arial"/>
                <a:ea typeface="Microsoft YaHei"/>
              </a:rPr>
              <a:t>：</a:t>
            </a:r>
          </a:p>
          <a:p>
            <a:pPr>
              <a:lnSpc>
                <a:spcPct val="145000"/>
              </a:lnSpc>
              <a:spcAft>
                <a:spcPts val="380"/>
              </a:spcAft>
            </a:pPr>
            <a:r>
              <a:rPr sz="1188" b="0" dirty="0" err="1">
                <a:solidFill>
                  <a:srgbClr val="1A1A1A"/>
                </a:solidFill>
                <a:latin typeface="Arial"/>
                <a:ea typeface="Microsoft YaHei"/>
              </a:rPr>
              <a:t>StriMap</a:t>
            </a:r>
            <a:r>
              <a:rPr sz="1188" b="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sz="1188" b="0" dirty="0" err="1">
                <a:solidFill>
                  <a:srgbClr val="1A1A1A"/>
                </a:solidFill>
                <a:latin typeface="Arial"/>
                <a:ea typeface="Microsoft YaHei"/>
              </a:rPr>
              <a:t>在多个独立数据集的同分布、数据集迁移与表位级分布外测试中整体排名靠前，模型学到的肽表示能按</a:t>
            </a:r>
            <a:r>
              <a:rPr sz="1188" b="0" dirty="0">
                <a:solidFill>
                  <a:srgbClr val="1A1A1A"/>
                </a:solidFill>
                <a:latin typeface="Arial"/>
                <a:ea typeface="Microsoft YaHei"/>
              </a:rPr>
              <a:t> HLA </a:t>
            </a:r>
            <a:r>
              <a:rPr sz="1188" b="0" dirty="0" err="1">
                <a:solidFill>
                  <a:srgbClr val="1A1A1A"/>
                </a:solidFill>
                <a:latin typeface="Arial"/>
                <a:ea typeface="Microsoft YaHei"/>
              </a:rPr>
              <a:t>等位基因及内部结合基序形成聚类</a:t>
            </a:r>
            <a:r>
              <a:rPr sz="1188" b="0" dirty="0">
                <a:solidFill>
                  <a:srgbClr val="1A1A1A"/>
                </a:solidFill>
                <a:latin typeface="Arial"/>
                <a:ea typeface="Microsoft YaHei"/>
              </a:rPr>
              <a:t>。</a:t>
            </a:r>
          </a:p>
          <a:p>
            <a:pPr>
              <a:lnSpc>
                <a:spcPct val="145000"/>
              </a:lnSpc>
              <a:spcAft>
                <a:spcPts val="380"/>
              </a:spcAft>
            </a:pPr>
            <a:r>
              <a:rPr sz="1188" b="0" dirty="0">
                <a:solidFill>
                  <a:srgbClr val="1A1A1A"/>
                </a:solidFill>
                <a:latin typeface="Arial"/>
                <a:ea typeface="Microsoft YaHei"/>
              </a:rPr>
              <a:t>TCR–</a:t>
            </a:r>
            <a:r>
              <a:rPr sz="1188" b="0" dirty="0" err="1">
                <a:solidFill>
                  <a:srgbClr val="1A1A1A"/>
                </a:solidFill>
                <a:latin typeface="Arial"/>
                <a:ea typeface="Microsoft YaHei"/>
              </a:rPr>
              <a:t>pHLA</a:t>
            </a:r>
            <a:r>
              <a:rPr sz="1188" b="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sz="1188" b="0" dirty="0" err="1">
                <a:solidFill>
                  <a:srgbClr val="1A1A1A"/>
                </a:solidFill>
                <a:latin typeface="Arial"/>
                <a:ea typeface="Microsoft YaHei"/>
              </a:rPr>
              <a:t>识别任务上整体优于</a:t>
            </a:r>
            <a:r>
              <a:rPr sz="1188" b="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sz="1188" b="0" dirty="0" err="1">
                <a:solidFill>
                  <a:srgbClr val="1A1A1A"/>
                </a:solidFill>
                <a:latin typeface="Arial"/>
                <a:ea typeface="Microsoft YaHei"/>
              </a:rPr>
              <a:t>EPACT、pMTnet、NetTCR、MixTCRpred</a:t>
            </a:r>
            <a:r>
              <a:rPr sz="1188" b="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sz="1188" b="0" dirty="0" err="1">
                <a:solidFill>
                  <a:srgbClr val="1A1A1A"/>
                </a:solidFill>
                <a:latin typeface="Arial"/>
                <a:ea typeface="Microsoft YaHei"/>
              </a:rPr>
              <a:t>等方法</a:t>
            </a:r>
            <a:r>
              <a:rPr sz="1188" b="0" dirty="0">
                <a:solidFill>
                  <a:srgbClr val="1A1A1A"/>
                </a:solidFill>
                <a:latin typeface="Arial"/>
                <a:ea typeface="Microsoft YaHei"/>
              </a:rPr>
              <a:t>。</a:t>
            </a:r>
          </a:p>
          <a:p>
            <a:pPr>
              <a:lnSpc>
                <a:spcPct val="145000"/>
              </a:lnSpc>
              <a:spcAft>
                <a:spcPts val="380"/>
              </a:spcAft>
            </a:pPr>
            <a:r>
              <a:rPr sz="1188" b="0" dirty="0" err="1">
                <a:solidFill>
                  <a:srgbClr val="1A1A1A"/>
                </a:solidFill>
                <a:latin typeface="Arial"/>
                <a:ea typeface="Microsoft YaHei"/>
              </a:rPr>
              <a:t>消融实验显示，完整模型</a:t>
            </a:r>
            <a:r>
              <a:rPr sz="1188" b="0" dirty="0">
                <a:solidFill>
                  <a:srgbClr val="1A1A1A"/>
                </a:solidFill>
                <a:latin typeface="Arial"/>
                <a:ea typeface="Microsoft YaHei"/>
              </a:rPr>
              <a:t> AUPRC 0.51 / AUROC 0.74；去除 DNS </a:t>
            </a:r>
            <a:r>
              <a:rPr sz="1188" b="0" dirty="0" err="1">
                <a:solidFill>
                  <a:srgbClr val="1A1A1A"/>
                </a:solidFill>
                <a:latin typeface="Arial"/>
                <a:ea typeface="Microsoft YaHei"/>
              </a:rPr>
              <a:t>降至</a:t>
            </a:r>
            <a:r>
              <a:rPr sz="1188" b="0" dirty="0">
                <a:solidFill>
                  <a:srgbClr val="1A1A1A"/>
                </a:solidFill>
                <a:latin typeface="Arial"/>
                <a:ea typeface="Microsoft YaHei"/>
              </a:rPr>
              <a:t> 0.47 / 0.72，去除结构模块为 0.47 / 0.72，改为简单拼接为 0.47 / 0.72，去除 TCR α </a:t>
            </a:r>
            <a:r>
              <a:rPr sz="1188" b="0" dirty="0" err="1">
                <a:solidFill>
                  <a:srgbClr val="1A1A1A"/>
                </a:solidFill>
                <a:latin typeface="Arial"/>
                <a:ea typeface="Microsoft YaHei"/>
              </a:rPr>
              <a:t>链降至</a:t>
            </a:r>
            <a:r>
              <a:rPr sz="1188" b="0" dirty="0">
                <a:solidFill>
                  <a:srgbClr val="1A1A1A"/>
                </a:solidFill>
                <a:latin typeface="Arial"/>
                <a:ea typeface="Microsoft YaHei"/>
              </a:rPr>
              <a:t> 0.40 / 0.66。</a:t>
            </a:r>
          </a:p>
          <a:p>
            <a:pPr>
              <a:lnSpc>
                <a:spcPct val="145000"/>
              </a:lnSpc>
              <a:spcBef>
                <a:spcPts val="854"/>
              </a:spcBef>
              <a:spcAft>
                <a:spcPts val="950"/>
              </a:spcAft>
            </a:pPr>
            <a:r>
              <a:rPr sz="1235" b="1" dirty="0" err="1">
                <a:solidFill>
                  <a:srgbClr val="1A1A1A"/>
                </a:solidFill>
                <a:latin typeface="Arial"/>
                <a:ea typeface="Microsoft YaHei"/>
              </a:rPr>
              <a:t>实验结论：</a:t>
            </a:r>
            <a:r>
              <a:rPr sz="1235" b="0" dirty="0" err="1">
                <a:solidFill>
                  <a:srgbClr val="1A1A1A"/>
                </a:solidFill>
                <a:latin typeface="Arial"/>
                <a:ea typeface="Microsoft YaHei"/>
              </a:rPr>
              <a:t>StriMap</a:t>
            </a:r>
            <a:r>
              <a:rPr sz="1235" b="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sz="1235" b="0" dirty="0" err="1">
                <a:solidFill>
                  <a:srgbClr val="1A1A1A"/>
                </a:solidFill>
                <a:latin typeface="Arial"/>
                <a:ea typeface="Microsoft YaHei"/>
              </a:rPr>
              <a:t>具有较强的呈递与识别预测能力，性能提升来自多个模块共同作用而非单一模块；但不同数据集负样本构造方式不同，数值不能简单横向比较</a:t>
            </a:r>
            <a:r>
              <a:rPr sz="1235" b="0" dirty="0">
                <a:solidFill>
                  <a:srgbClr val="1A1A1A"/>
                </a:solidFill>
                <a:latin typeface="Arial"/>
                <a:ea typeface="Microsoft YaHei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10367" y="645566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Arial"/>
                <a:ea typeface="Microsoft YaHei"/>
              </a:rPr>
              <a:t>7</a:t>
            </a:r>
          </a:p>
        </p:txBody>
      </p:sp>
      <p:pic>
        <p:nvPicPr>
          <p:cNvPr id="16" name="Picture 12" descr="fig2.png">
            <a:extLst>
              <a:ext uri="{FF2B5EF4-FFF2-40B4-BE49-F238E27FC236}">
                <a16:creationId xmlns:a16="http://schemas.microsoft.com/office/drawing/2014/main" id="{82E2C78D-711C-A15D-AD29-39B1B9EF40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3" t="-1" b="633"/>
          <a:stretch>
            <a:fillRect/>
          </a:stretch>
        </p:blipFill>
        <p:spPr>
          <a:xfrm>
            <a:off x="0" y="899727"/>
            <a:ext cx="7134170" cy="57388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317175" y="4709160"/>
            <a:ext cx="2834640" cy="283464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57255" y="5349240"/>
            <a:ext cx="1645920" cy="164592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51560" y="-1051560"/>
            <a:ext cx="1600200" cy="160020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39728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9184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978640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978640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500" b="1">
                <a:solidFill>
                  <a:srgbClr val="006D39"/>
                </a:solidFill>
                <a:latin typeface="Arial"/>
                <a:ea typeface="Microsoft YaHei"/>
              </a:rPr>
              <a:t>癌症新抗原与 TCR 排序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786384"/>
            <a:ext cx="12191695" cy="0"/>
          </a:xfrm>
          <a:prstGeom prst="line">
            <a:avLst/>
          </a:prstGeom>
          <a:ln w="12700">
            <a:solidFill>
              <a:srgbClr val="BD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82" y="5034709"/>
            <a:ext cx="12067130" cy="182328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920"/>
              </a:spcAft>
            </a:pPr>
            <a:r>
              <a:rPr sz="1400" b="1" dirty="0" err="1">
                <a:solidFill>
                  <a:srgbClr val="1A1A1A"/>
                </a:solidFill>
                <a:latin typeface="+mj-ea"/>
                <a:ea typeface="+mj-ea"/>
              </a:rPr>
              <a:t>实验目的：</a:t>
            </a:r>
            <a:r>
              <a:rPr sz="1400" b="0" dirty="0" err="1">
                <a:solidFill>
                  <a:srgbClr val="1A1A1A"/>
                </a:solidFill>
                <a:latin typeface="+mj-ea"/>
                <a:ea typeface="+mj-ea"/>
              </a:rPr>
              <a:t>验证</a:t>
            </a:r>
            <a:r>
              <a:rPr sz="1400" b="0" dirty="0">
                <a:solidFill>
                  <a:srgbClr val="1A1A1A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1A1A1A"/>
                </a:solidFill>
                <a:latin typeface="+mj-ea"/>
                <a:ea typeface="+mj-ea"/>
              </a:rPr>
              <a:t>StriMap</a:t>
            </a:r>
            <a:r>
              <a:rPr sz="1400" b="0" dirty="0">
                <a:solidFill>
                  <a:srgbClr val="1A1A1A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1A1A1A"/>
                </a:solidFill>
                <a:latin typeface="+mj-ea"/>
                <a:ea typeface="+mj-ea"/>
              </a:rPr>
              <a:t>在癌症新抗原场景中的排序能力，包括“已知新抗原寻找对应</a:t>
            </a:r>
            <a:r>
              <a:rPr sz="1400" b="0" dirty="0">
                <a:solidFill>
                  <a:srgbClr val="1A1A1A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1A1A1A"/>
                </a:solidFill>
                <a:latin typeface="+mj-ea"/>
                <a:ea typeface="+mj-ea"/>
              </a:rPr>
              <a:t>TCR”与“已知患者</a:t>
            </a:r>
            <a:r>
              <a:rPr sz="1400" b="0" dirty="0">
                <a:solidFill>
                  <a:srgbClr val="1A1A1A"/>
                </a:solidFill>
                <a:latin typeface="+mj-ea"/>
                <a:ea typeface="+mj-ea"/>
              </a:rPr>
              <a:t> TCR </a:t>
            </a:r>
            <a:r>
              <a:rPr sz="1400" b="0" dirty="0" err="1">
                <a:solidFill>
                  <a:srgbClr val="1A1A1A"/>
                </a:solidFill>
                <a:latin typeface="+mj-ea"/>
                <a:ea typeface="+mj-ea"/>
              </a:rPr>
              <a:t>库寻找新抗原”两个临床相关任务</a:t>
            </a:r>
            <a:r>
              <a:rPr sz="1400" b="0" dirty="0">
                <a:solidFill>
                  <a:srgbClr val="1A1A1A"/>
                </a:solidFill>
                <a:latin typeface="+mj-ea"/>
                <a:ea typeface="+mj-ea"/>
              </a:rPr>
              <a:t>。</a:t>
            </a:r>
            <a:endParaRPr lang="en-US" sz="1400" b="0" dirty="0">
              <a:solidFill>
                <a:srgbClr val="1A1A1A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920"/>
              </a:spcAft>
            </a:pPr>
            <a:r>
              <a:rPr sz="1400" b="1" dirty="0" err="1">
                <a:solidFill>
                  <a:srgbClr val="1A1A1A"/>
                </a:solidFill>
                <a:latin typeface="+mj-ea"/>
                <a:ea typeface="+mj-ea"/>
              </a:rPr>
              <a:t>实验结果：</a:t>
            </a:r>
            <a:r>
              <a:rPr lang="en-US" altLang="zh-CN" sz="1400" dirty="0" err="1">
                <a:solidFill>
                  <a:srgbClr val="1A1A1A"/>
                </a:solidFill>
                <a:latin typeface="+mj-ea"/>
                <a:ea typeface="+mj-ea"/>
              </a:rPr>
              <a:t>AUROC</a:t>
            </a:r>
            <a:r>
              <a:rPr lang="en-US" altLang="zh-CN" sz="1400" dirty="0">
                <a:solidFill>
                  <a:srgbClr val="1A1A1A"/>
                </a:solidFill>
                <a:latin typeface="+mj-ea"/>
                <a:ea typeface="+mj-ea"/>
              </a:rPr>
              <a:t> </a:t>
            </a:r>
            <a:r>
              <a:rPr lang="zh-CN" altLang="en-US" sz="1400" dirty="0">
                <a:solidFill>
                  <a:srgbClr val="1A1A1A"/>
                </a:solidFill>
                <a:latin typeface="+mj-ea"/>
                <a:ea typeface="+mj-ea"/>
              </a:rPr>
              <a:t>与 </a:t>
            </a:r>
            <a:r>
              <a:rPr lang="en-US" altLang="zh-CN" sz="1400" dirty="0">
                <a:solidFill>
                  <a:srgbClr val="1A1A1A"/>
                </a:solidFill>
                <a:latin typeface="+mj-ea"/>
                <a:ea typeface="+mj-ea"/>
              </a:rPr>
              <a:t>AUPRC </a:t>
            </a:r>
            <a:r>
              <a:rPr lang="zh-CN" altLang="en-US" sz="1400" dirty="0">
                <a:solidFill>
                  <a:srgbClr val="1A1A1A"/>
                </a:solidFill>
                <a:latin typeface="+mj-ea"/>
                <a:ea typeface="+mj-ea"/>
              </a:rPr>
              <a:t>两个指标上，</a:t>
            </a:r>
            <a:r>
              <a:rPr lang="en-US" altLang="zh-CN" sz="1400" dirty="0" err="1">
                <a:solidFill>
                  <a:srgbClr val="1A1A1A"/>
                </a:solidFill>
                <a:latin typeface="+mj-ea"/>
                <a:ea typeface="+mj-ea"/>
              </a:rPr>
              <a:t>StriMap</a:t>
            </a:r>
            <a:r>
              <a:rPr lang="en-US" altLang="zh-CN" sz="1400" dirty="0">
                <a:solidFill>
                  <a:srgbClr val="1A1A1A"/>
                </a:solidFill>
                <a:latin typeface="+mj-ea"/>
                <a:ea typeface="+mj-ea"/>
              </a:rPr>
              <a:t> </a:t>
            </a:r>
            <a:r>
              <a:rPr lang="zh-CN" altLang="en-US" sz="1400" dirty="0">
                <a:solidFill>
                  <a:srgbClr val="1A1A1A"/>
                </a:solidFill>
                <a:latin typeface="+mj-ea"/>
                <a:ea typeface="+mj-ea"/>
              </a:rPr>
              <a:t>变体均优于全部基线：</a:t>
            </a:r>
            <a:r>
              <a:rPr lang="en-US" altLang="zh-CN" sz="1400" dirty="0">
                <a:solidFill>
                  <a:srgbClr val="1A1A1A"/>
                </a:solidFill>
                <a:latin typeface="+mj-ea"/>
                <a:ea typeface="+mj-ea"/>
              </a:rPr>
              <a:t>StriMap-M2 </a:t>
            </a:r>
            <a:r>
              <a:rPr lang="zh-CN" altLang="en-US" sz="1400" dirty="0">
                <a:solidFill>
                  <a:srgbClr val="1A1A1A"/>
                </a:solidFill>
                <a:latin typeface="+mj-ea"/>
                <a:ea typeface="+mj-ea"/>
              </a:rPr>
              <a:t>取得最高 </a:t>
            </a:r>
            <a:r>
              <a:rPr lang="en-US" altLang="zh-CN" sz="1400" dirty="0">
                <a:solidFill>
                  <a:srgbClr val="1A1A1A"/>
                </a:solidFill>
                <a:latin typeface="+mj-ea"/>
                <a:ea typeface="+mj-ea"/>
              </a:rPr>
              <a:t>AUROC 0.74</a:t>
            </a:r>
            <a:r>
              <a:rPr lang="zh-CN" altLang="en-US" sz="1400" dirty="0">
                <a:solidFill>
                  <a:srgbClr val="1A1A1A"/>
                </a:solidFill>
                <a:latin typeface="+mj-ea"/>
                <a:ea typeface="+mj-ea"/>
              </a:rPr>
              <a:t>，</a:t>
            </a:r>
            <a:r>
              <a:rPr lang="en-US" altLang="zh-CN" sz="1400" dirty="0">
                <a:solidFill>
                  <a:srgbClr val="1A1A1A"/>
                </a:solidFill>
                <a:latin typeface="+mj-ea"/>
                <a:ea typeface="+mj-ea"/>
              </a:rPr>
              <a:t>StriMap-M1 </a:t>
            </a:r>
            <a:r>
              <a:rPr lang="zh-CN" altLang="en-US" sz="1400" dirty="0">
                <a:solidFill>
                  <a:srgbClr val="1A1A1A"/>
                </a:solidFill>
                <a:latin typeface="+mj-ea"/>
                <a:ea typeface="+mj-ea"/>
              </a:rPr>
              <a:t>取得最高 </a:t>
            </a:r>
            <a:r>
              <a:rPr lang="en-US" altLang="zh-CN" sz="1400" dirty="0">
                <a:solidFill>
                  <a:srgbClr val="1A1A1A"/>
                </a:solidFill>
                <a:latin typeface="+mj-ea"/>
                <a:ea typeface="+mj-ea"/>
              </a:rPr>
              <a:t>AUPRC 0.13</a:t>
            </a:r>
            <a:endParaRPr sz="1400" dirty="0">
              <a:solidFill>
                <a:srgbClr val="1A1A1A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920"/>
              </a:spcAft>
            </a:pPr>
            <a:r>
              <a:rPr sz="1400" b="1" dirty="0" err="1">
                <a:solidFill>
                  <a:srgbClr val="1A1A1A"/>
                </a:solidFill>
                <a:latin typeface="+mj-ea"/>
                <a:ea typeface="+mj-ea"/>
              </a:rPr>
              <a:t>实验结论</a:t>
            </a:r>
            <a:r>
              <a:rPr sz="1400" b="1" dirty="0">
                <a:solidFill>
                  <a:srgbClr val="1A1A1A"/>
                </a:solidFill>
                <a:latin typeface="+mj-ea"/>
                <a:ea typeface="+mj-ea"/>
              </a:rPr>
              <a:t>：</a:t>
            </a:r>
            <a:r>
              <a:rPr lang="zh-CN" altLang="en-US" sz="1400" dirty="0">
                <a:solidFill>
                  <a:srgbClr val="1A1A1A"/>
                </a:solidFill>
                <a:latin typeface="+mj-ea"/>
                <a:ea typeface="+mj-ea"/>
              </a:rPr>
              <a:t>无论是给定肽寻找</a:t>
            </a:r>
            <a:r>
              <a:rPr lang="en-US" altLang="zh-CN" sz="1400" dirty="0">
                <a:solidFill>
                  <a:srgbClr val="1A1A1A"/>
                </a:solidFill>
                <a:latin typeface="+mj-ea"/>
                <a:ea typeface="+mj-ea"/>
              </a:rPr>
              <a:t>TCR</a:t>
            </a:r>
            <a:r>
              <a:rPr lang="zh-CN" altLang="en-US" sz="1400" dirty="0">
                <a:solidFill>
                  <a:srgbClr val="1A1A1A"/>
                </a:solidFill>
                <a:latin typeface="+mj-ea"/>
                <a:ea typeface="+mj-ea"/>
              </a:rPr>
              <a:t>还是给定</a:t>
            </a:r>
            <a:r>
              <a:rPr lang="en-US" altLang="zh-CN" sz="1400" dirty="0">
                <a:solidFill>
                  <a:srgbClr val="1A1A1A"/>
                </a:solidFill>
                <a:latin typeface="+mj-ea"/>
                <a:ea typeface="+mj-ea"/>
              </a:rPr>
              <a:t>TCR</a:t>
            </a:r>
            <a:r>
              <a:rPr lang="zh-CN" altLang="en-US" sz="1400" dirty="0">
                <a:solidFill>
                  <a:srgbClr val="1A1A1A"/>
                </a:solidFill>
                <a:latin typeface="+mj-ea"/>
                <a:ea typeface="+mj-ea"/>
              </a:rPr>
              <a:t>寻找肽都要比其他的模型要强</a:t>
            </a:r>
            <a:endParaRPr sz="1400" dirty="0">
              <a:solidFill>
                <a:srgbClr val="1A1A1A"/>
              </a:solidFill>
              <a:latin typeface="+mj-ea"/>
              <a:ea typeface="+mj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10367" y="645566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Arial"/>
                <a:ea typeface="Microsoft YaHei"/>
              </a:rPr>
              <a:t>8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A163158-6862-DED0-4510-1F1C7F76D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875740"/>
            <a:ext cx="9556955" cy="4033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317175" y="4709160"/>
            <a:ext cx="2834640" cy="283464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57255" y="5349240"/>
            <a:ext cx="1645920" cy="164592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51560" y="-1051560"/>
            <a:ext cx="1600200" cy="1600200"/>
          </a:xfrm>
          <a:prstGeom prst="ellipse">
            <a:avLst/>
          </a:prstGeom>
          <a:noFill/>
          <a:ln w="12700">
            <a:solidFill>
              <a:srgbClr val="DD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39728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9184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978640" y="201168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978640" y="420623"/>
            <a:ext cx="45720" cy="45720"/>
          </a:xfrm>
          <a:prstGeom prst="ellipse">
            <a:avLst/>
          </a:prstGeom>
          <a:solidFill>
            <a:srgbClr val="D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500" b="1">
                <a:solidFill>
                  <a:srgbClr val="006D39"/>
                </a:solidFill>
                <a:latin typeface="Arial"/>
                <a:ea typeface="Microsoft YaHei"/>
              </a:rPr>
              <a:t>总结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786384"/>
            <a:ext cx="12191695" cy="0"/>
          </a:xfrm>
          <a:prstGeom prst="line">
            <a:avLst/>
          </a:prstGeom>
          <a:ln w="12700">
            <a:solidFill>
              <a:srgbClr val="BD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9184" y="1005840"/>
            <a:ext cx="11539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500" b="1" dirty="0" err="1">
                <a:solidFill>
                  <a:srgbClr val="006D39"/>
                </a:solidFill>
                <a:latin typeface="Arial"/>
                <a:ea typeface="Microsoft YaHei"/>
              </a:rPr>
              <a:t>核心贡献</a:t>
            </a:r>
            <a:r>
              <a:rPr sz="1350" b="1" dirty="0">
                <a:solidFill>
                  <a:srgbClr val="006D39"/>
                </a:solidFill>
                <a:latin typeface="Arial"/>
                <a:ea typeface="Microsoft YaHei"/>
              </a:rPr>
              <a:t>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389888"/>
            <a:ext cx="11539728" cy="1423492"/>
          </a:xfrm>
          <a:prstGeom prst="rect">
            <a:avLst/>
          </a:prstGeom>
          <a:noFill/>
          <a:ln w="12700">
            <a:solidFill>
              <a:srgbClr val="BD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8" y="1548536"/>
            <a:ext cx="11064240" cy="12008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en-US" altLang="zh-CN" sz="1400" b="0" dirty="0" err="1">
                <a:solidFill>
                  <a:srgbClr val="1A1A1A"/>
                </a:solidFill>
                <a:latin typeface="Arial"/>
                <a:ea typeface="Microsoft YaHei"/>
              </a:rPr>
              <a:t>StriMap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 把“抗原呈递”与“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TCR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 识别”建模为前后关联的连续过程，使网络结构与真实免疫识别顺序对应；在残基层面：融合理化、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ESM2 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表示与 </a:t>
            </a:r>
            <a:r>
              <a:rPr lang="en-US" altLang="zh-CN" sz="1400" b="0" dirty="0" err="1">
                <a:solidFill>
                  <a:srgbClr val="1A1A1A"/>
                </a:solidFill>
                <a:latin typeface="Arial"/>
                <a:ea typeface="Microsoft YaHei"/>
              </a:rPr>
              <a:t>ESMFold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 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+ EGNN 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空间几何，经门控交叉注意力与 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BAN 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建模跨分子残基配对；并针对 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TCR 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数据缺乏可靠负样本的问题设计动态负采样与突变感知困难负样本。在癌症新抗原排序与自身免疫抗原发现中，模型给出了可实验验证的候选，实现了从千万级筛选到体外验证的完整链路。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" y="3069412"/>
            <a:ext cx="1153972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500" b="1" dirty="0" err="1">
                <a:solidFill>
                  <a:srgbClr val="006D39"/>
                </a:solidFill>
                <a:latin typeface="Arial"/>
                <a:ea typeface="Microsoft YaHei"/>
              </a:rPr>
              <a:t>局限性与未来展望</a:t>
            </a:r>
            <a:r>
              <a:rPr sz="1500" b="1" dirty="0">
                <a:solidFill>
                  <a:srgbClr val="006D39"/>
                </a:solidFill>
                <a:latin typeface="Arial"/>
                <a:ea typeface="Microsoft YaHei"/>
              </a:rPr>
              <a:t>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3453460"/>
            <a:ext cx="11539728" cy="2929051"/>
          </a:xfrm>
          <a:prstGeom prst="rect">
            <a:avLst/>
          </a:prstGeom>
          <a:noFill/>
          <a:ln w="12700">
            <a:solidFill>
              <a:srgbClr val="BD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691204"/>
            <a:ext cx="11064240" cy="24535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1A1A1A"/>
                </a:solidFill>
                <a:latin typeface="Arial"/>
                <a:ea typeface="Microsoft YaHei"/>
              </a:rPr>
              <a:t>零样本泛化证据有限：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TCR–</a:t>
            </a:r>
            <a:r>
              <a:rPr lang="en-US" altLang="zh-CN" sz="1400" b="0" dirty="0" err="1">
                <a:solidFill>
                  <a:srgbClr val="1A1A1A"/>
                </a:solidFill>
                <a:latin typeface="Arial"/>
                <a:ea typeface="Microsoft YaHei"/>
              </a:rPr>
              <a:t>pHLA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 数据稀疏且分布不均。作者认为少量疾病或患者特异数据参与微调的 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few-shot 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模式目前更可靠。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1A1A1A"/>
                </a:solidFill>
                <a:latin typeface="Arial"/>
                <a:ea typeface="Microsoft YaHei"/>
              </a:rPr>
              <a:t>结构来自预测的单体或链结构：</a:t>
            </a:r>
            <a:r>
              <a:rPr lang="en-US" altLang="zh-CN" sz="1400" b="0" dirty="0" err="1">
                <a:solidFill>
                  <a:srgbClr val="1A1A1A"/>
                </a:solidFill>
                <a:latin typeface="Arial"/>
                <a:ea typeface="Microsoft YaHei"/>
              </a:rPr>
              <a:t>ESMFold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 提供残基自身的结构环境，但模型并没有先获得完整 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TCR–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肽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–HLA 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复合物的真实结合构象，跨分子界面主要由注意力与 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BAN 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从数据中推断，不能等同于原子级复合物对接。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zh-CN" altLang="en-US" sz="1400" b="1" dirty="0">
                <a:solidFill>
                  <a:srgbClr val="1A1A1A"/>
                </a:solidFill>
                <a:latin typeface="Arial"/>
                <a:ea typeface="Microsoft YaHei"/>
              </a:rPr>
              <a:t>缺少构象动态与系统负样本：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TCR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 识别存在诱导契合与构象变化，单一预测结构难以表示这种动态过程；随机错配或人为突变的负样本也不一定真正不结合。当前模型主要覆盖 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HLA I 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类与 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CD8⁺ T 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细胞，未来可引入结构不确定性与构象集合、补充系统实验负样本，并扩展到 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HLA II 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类与更广泛的受体</a:t>
            </a:r>
            <a:r>
              <a:rPr lang="en-US" altLang="zh-CN" sz="1400" b="0" dirty="0">
                <a:solidFill>
                  <a:srgbClr val="1A1A1A"/>
                </a:solidFill>
                <a:latin typeface="Arial"/>
                <a:ea typeface="Microsoft YaHei"/>
              </a:rPr>
              <a:t>–</a:t>
            </a:r>
            <a:r>
              <a:rPr lang="zh-CN" altLang="en-US" sz="1400" b="0" dirty="0">
                <a:solidFill>
                  <a:srgbClr val="1A1A1A"/>
                </a:solidFill>
                <a:latin typeface="Arial"/>
                <a:ea typeface="Microsoft YaHei"/>
              </a:rPr>
              <a:t>配体体系。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0367" y="645566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Arial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0" t="1008" r="16790" b="-802"/>
          <a:stretch>
            <a:fillRect/>
          </a:stretch>
        </p:blipFill>
        <p:spPr>
          <a:xfrm>
            <a:off x="-186267" y="0"/>
            <a:ext cx="12564534" cy="7067550"/>
          </a:xfrm>
          <a:prstGeom prst="rect">
            <a:avLst/>
          </a:prstGeom>
          <a:gradFill>
            <a:gsLst>
              <a:gs pos="10000">
                <a:schemeClr val="accent6">
                  <a:lumMod val="90000"/>
                </a:schemeClr>
              </a:gs>
              <a:gs pos="100000">
                <a:schemeClr val="bg1">
                  <a:alpha val="0"/>
                </a:schemeClr>
              </a:gs>
              <a:gs pos="48000">
                <a:schemeClr val="bg1">
                  <a:alpha val="50000"/>
                </a:schemeClr>
              </a:gs>
            </a:gsLst>
            <a:lin ang="5400000" scaled="1"/>
          </a:gradFill>
          <a:ln w="0">
            <a:noFill/>
          </a:ln>
        </p:spPr>
      </p:pic>
      <p:sp>
        <p:nvSpPr>
          <p:cNvPr id="5" name="矩形 4"/>
          <p:cNvSpPr/>
          <p:nvPr/>
        </p:nvSpPr>
        <p:spPr>
          <a:xfrm>
            <a:off x="-186266" y="0"/>
            <a:ext cx="12564533" cy="5676900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0"/>
                  <a:lumOff val="100000"/>
                  <a:alpha val="0"/>
                </a:srgbClr>
              </a:gs>
              <a:gs pos="26000">
                <a:schemeClr val="bg1">
                  <a:alpha val="70000"/>
                </a:schemeClr>
              </a:gs>
              <a:gs pos="79000">
                <a:schemeClr val="bg1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0576" y="72762"/>
            <a:ext cx="12058933" cy="369449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715967" y="3223206"/>
            <a:ext cx="276006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kern="8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4281032" y="3423261"/>
            <a:ext cx="52203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388936" y="3423261"/>
            <a:ext cx="52203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3013</Words>
  <Application>Microsoft Office PowerPoint</Application>
  <PresentationFormat>宽屏</PresentationFormat>
  <Paragraphs>138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微软雅黑</vt:lpstr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文泽 武</cp:lastModifiedBy>
  <cp:revision>55</cp:revision>
  <dcterms:created xsi:type="dcterms:W3CDTF">2013-01-27T09:14:16Z</dcterms:created>
  <dcterms:modified xsi:type="dcterms:W3CDTF">2026-10-05T07:04:22Z</dcterms:modified>
  <cp:category/>
</cp:coreProperties>
</file>