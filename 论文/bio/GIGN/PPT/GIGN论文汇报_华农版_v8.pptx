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e9a3c2a5a50424d" /><Relationship Type="http://schemas.openxmlformats.org/officeDocument/2006/relationships/extended-properties" Target="/docProps/app.xml" Id="Rf09d28b5bc4d4421" /><Relationship Type="http://schemas.openxmlformats.org/officeDocument/2006/relationships/officeDocument" Target="/ppt/presentation.xml" Id="R5c29eaab814a4dd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81d29bc9734e38"/>
  </p:sldMasterIdLst>
  <p:notesMasterIdLst>
    <p:notesMasterId xmlns:r="http://schemas.openxmlformats.org/officeDocument/2006/relationships" r:id="R81a49a0a3f344bd4"/>
  </p:notesMasterIdLst>
  <p:sldIdLst>
    <p:sldId xmlns:r="http://schemas.openxmlformats.org/officeDocument/2006/relationships" id="256" r:id="R18a5328232ff4b93"/>
    <p:sldId xmlns:r="http://schemas.openxmlformats.org/officeDocument/2006/relationships" id="257" r:id="R3b2abc62728e43a9"/>
    <p:sldId xmlns:r="http://schemas.openxmlformats.org/officeDocument/2006/relationships" id="258" r:id="Rcb859eaf25ea4a78"/>
    <p:sldId xmlns:r="http://schemas.openxmlformats.org/officeDocument/2006/relationships" id="259" r:id="Re19fd061d3104128"/>
    <p:sldId xmlns:r="http://schemas.openxmlformats.org/officeDocument/2006/relationships" id="260" r:id="R175de326622446de"/>
    <p:sldId xmlns:r="http://schemas.openxmlformats.org/officeDocument/2006/relationships" id="261" r:id="Rcab2ea1aa7c84f5d"/>
    <p:sldId xmlns:r="http://schemas.openxmlformats.org/officeDocument/2006/relationships" id="262" r:id="Re7cd90c04785496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97afc5472914717" /><Relationship Type="http://schemas.openxmlformats.org/officeDocument/2006/relationships/slideMaster" Target="/ppt/slideMasters/slideMaster1.xml" Id="R3581d29bc9734e38" /><Relationship Type="http://schemas.openxmlformats.org/officeDocument/2006/relationships/notesMaster" Target="/ppt/notesMasters/notesMaster1.xml" Id="R81a49a0a3f344bd4" /><Relationship Type="http://schemas.openxmlformats.org/officeDocument/2006/relationships/presProps" Target="/ppt/presProps.xml" Id="R48b054d46feb4db7" /><Relationship Type="http://schemas.openxmlformats.org/officeDocument/2006/relationships/tableStyles" Target="/ppt/tableStyles.xml" Id="R0b7910eb8e064c38" /><Relationship Type="http://schemas.openxmlformats.org/officeDocument/2006/relationships/slide" Target="/ppt/slides/slide1.xml" Id="R18a5328232ff4b93" /><Relationship Type="http://schemas.openxmlformats.org/officeDocument/2006/relationships/slide" Target="/ppt/slides/slide2.xml" Id="R3b2abc62728e43a9" /><Relationship Type="http://schemas.openxmlformats.org/officeDocument/2006/relationships/slide" Target="/ppt/slides/slide3.xml" Id="Rcb859eaf25ea4a78" /><Relationship Type="http://schemas.openxmlformats.org/officeDocument/2006/relationships/slide" Target="/ppt/slides/slide4.xml" Id="Re19fd061d3104128" /><Relationship Type="http://schemas.openxmlformats.org/officeDocument/2006/relationships/slide" Target="/ppt/slides/slide5.xml" Id="R175de326622446de" /><Relationship Type="http://schemas.openxmlformats.org/officeDocument/2006/relationships/slide" Target="/ppt/slides/slide6.xml" Id="Rcab2ea1aa7c84f5d" /><Relationship Type="http://schemas.openxmlformats.org/officeDocument/2006/relationships/slide" Target="/ppt/slides/slide7.xml" Id="Re7cd90c04785496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57fed410364f4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52ee93e7418413b" /><Relationship Type="http://schemas.openxmlformats.org/officeDocument/2006/relationships/notesMaster" Target="/ppt/notesMasters/notesMaster1.xml" Id="Rf5e9cb779542496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3237dea8bc24fa3" /><Relationship Type="http://schemas.openxmlformats.org/officeDocument/2006/relationships/notesMaster" Target="/ppt/notesMasters/notesMaster1.xml" Id="R1dbaec7226f349b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7e3efca9c5144d9" /><Relationship Type="http://schemas.openxmlformats.org/officeDocument/2006/relationships/notesMaster" Target="/ppt/notesMasters/notesMaster1.xml" Id="R5718986ae8fa4b2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aa92f5e49a24226" /><Relationship Type="http://schemas.openxmlformats.org/officeDocument/2006/relationships/notesMaster" Target="/ppt/notesMasters/notesMaster1.xml" Id="R850da03139714f2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ae09f0525474937" /><Relationship Type="http://schemas.openxmlformats.org/officeDocument/2006/relationships/notesMaster" Target="/ppt/notesMasters/notesMaster1.xml" Id="Rbdfd502f9f1a428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7aa337ae0d14edf" /><Relationship Type="http://schemas.openxmlformats.org/officeDocument/2006/relationships/notesMaster" Target="/ppt/notesMasters/notesMaster1.xml" Id="Rf68ae647f72a446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33be8e852d543ff" /><Relationship Type="http://schemas.openxmlformats.org/officeDocument/2006/relationships/notesMaster" Target="/ppt/notesMasters/notesMaster1.xml" Id="R4dc6d28eb051440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Yang et al., J. Phys. Chem. Lett. 2023, 14, 2020–2033. DOI: 10.1021/acs.jpclett.2c03906</a:t>
            </a:r>
          </a:p>
          <a:p xmlns:a="http://schemas.openxmlformats.org/drawingml/2006/main">
            <a:r>
              <a:t>视觉参考：华中农业大学信息学院定制模板 https://coi.hzau.edu.cn/xygk/wh/dzmb.htm 。色彩与标识：学校官方网站 https://www.hzau.edu.cn/info/1172/12644_2.htm ，华农绿 RGB(0,112,50)。校名校徽原图 https://www.hzau.edu.cn/images/LOGO.png 。本文件为重新设计的个人文献汇报，不是学校发布的官方模板原文件。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Motivation follows the paper's distinction between interaction-free and interaction-based methods, its discussion of data scarcity, and the need for structural and interaction inductive biases. Source: Yang et al., J. Phys. Chem. Lett. 2023, 14, 2020–2033. DOI: 10.1021/acs.jpclett.2c03906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3 reproduced from the paper. Source: Yang et al., J. Phys. Chem. Lett. 2023, 14, 2020–2033. DOI: 10.1021/acs.jpclett.2c03906. Local source image: E:\Obsidian\paper\论文\GIGN\Pasted image 20260911161022.png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Equation 9 states that U(cov) and U(ncov) are implemented as MLPs. The paper does not specify their internal layer-by-layer structure in the main text and does not report a 2/3/4-layer comparison. Source: Yang et al., J. Phys. Chem. Lett. 2023, 14, 2020–2033. DOI: 10.1021/acs.jpclett.2c03906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paper uses RBF distance expansion, a linear projection, and the Hadamard product as its message function. The comparison with concatenation is explanatory analysis rather than an ablation reported by the paper. Source: Yang et al., J. Phys. Chem. Lett. 2023, 14, 2020–2033. DOI: 10.1021/acs.jpclett.2c03906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Yang et al., J. Phys. Chem. Lett. 2023, 14, 2020–2033. DOI: 10.1021/acs.jpclett.2c03906</a:t>
            </a:r>
          </a:p>
          <a:p xmlns:a="http://schemas.openxmlformats.org/drawingml/2006/main">
            <a:r>
              <a:t>来源：Table 1 与 Data Set Preparation。表格选择6个代表基线，原表包含更多模型。主实验所有模型共用数据划分，报告三次运行均值。本页省略标准差以便比较，原文完整数值见Table 1。增量由GIGN均值减IGN均值计算，没有据此声称统计显著。复合物无重叠不等于蛋白质或配体无重叠。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Yang et al., J. Phys. Chem. Lett. 2023, 14, 2020–2033. DOI: 10.1021/acs.jpclett.2c03906</a:t>
            </a:r>
          </a:p>
          <a:p xmlns:a="http://schemas.openxmlformats.org/drawingml/2006/main">
            <a:r>
              <a:t>来源：Table 2, 3, 4 与 Redocked Structures 章节。冷启动从原11,904个训练样本重新按8:1:1划分，不与主基准直接混同。重对接取2016测试集中RMSD最低且小于2Å的构象。正文变体名VarTR/VarR与表格TRVar/RVar次序不同，本页采用Table 2名称。完整模型均值占优，不表示每项差异都经显著性检验。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5f4bdb7ad7456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a404ab71d904136" /><Relationship Type="http://schemas.openxmlformats.org/officeDocument/2006/relationships/slideLayout" Target="/ppt/slideLayouts/slideLayout1.xml" Id="R7e15ea42c77346c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e15ea42c77346c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8a5732430147de" /><Relationship Type="http://schemas.openxmlformats.org/officeDocument/2006/relationships/image" Target="/ppt/media/image.png" Id="Rd1b9fc46fe664014" /><Relationship Type="http://schemas.openxmlformats.org/officeDocument/2006/relationships/notesSlide" Target="/ppt/notesSlides/notesSlide1.xml" Id="Re314d085436842a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27061794b24f79" /><Relationship Type="http://schemas.openxmlformats.org/officeDocument/2006/relationships/notesSlide" Target="/ppt/notesSlides/notesSlide2.xml" Id="R66f8253c975d408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7a8cd8de0b4033" /><Relationship Type="http://schemas.openxmlformats.org/officeDocument/2006/relationships/image" Target="/ppt/media/image2.png" Id="R7a4bb228aa444750" /><Relationship Type="http://schemas.openxmlformats.org/officeDocument/2006/relationships/notesSlide" Target="/ppt/notesSlides/notesSlide3.xml" Id="R5945c23f582b4a3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efbf80fd1841bb" /><Relationship Type="http://schemas.openxmlformats.org/officeDocument/2006/relationships/notesSlide" Target="/ppt/notesSlides/notesSlide4.xml" Id="R6594757eae6d474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cad4c49a1041d3" /><Relationship Type="http://schemas.openxmlformats.org/officeDocument/2006/relationships/notesSlide" Target="/ppt/notesSlides/notesSlide5.xml" Id="Rf761870facee4ac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b8dac668f3459f" /><Relationship Type="http://schemas.openxmlformats.org/officeDocument/2006/relationships/chart" Target="/ppt/slides/charts/chart1.xml" Id="R47235088b5cc4577" /><Relationship Type="http://schemas.openxmlformats.org/officeDocument/2006/relationships/notesSlide" Target="/ppt/notesSlides/notesSlide6.xml" Id="R93c73b256b19461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88abf062894977" /><Relationship Type="http://schemas.openxmlformats.org/officeDocument/2006/relationships/notesSlide" Target="/ppt/notesSlides/notesSlide7.xml" Id="R0301f50deb9b4267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ΔRₚ</c:v>
          </c:tx>
          <c:spPr>
            <a:solidFill xmlns:a="http://schemas.openxmlformats.org/drawingml/2006/main">
              <a:srgbClr val="007032"/>
            </a:solidFill>
          </c:spPr>
          <c:cat>
            <c:numLit>
              <c:formatCode>General</c:formatCode>
              <c:ptCount val="3"/>
              <c:pt idx="0">
                <c:v>2013</c:v>
              </c:pt>
              <c:pt idx="1">
                <c:v>2016</c:v>
              </c:pt>
              <c:pt idx="2">
                <c:v>2019</c:v>
              </c:pt>
            </c:numLit>
          </c:cat>
          <c:val>
            <c:numLit>
              <c:formatCode>+0.000</c:formatCode>
              <c:ptCount val="3"/>
              <c:pt idx="0">
                <c:v>0.014</c:v>
              </c:pt>
              <c:pt idx="1">
                <c:v>0.019</c:v>
              </c:pt>
              <c:pt idx="2">
                <c:v>0.011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007032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0.028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C1DB26-6C30-4FC0-BA4E-AA8FE3BF7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495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32"/>
          </a:solidFill>
          <a:ln xmlns:a="http://schemas.openxmlformats.org/drawingml/2006/main" w="0">
            <a:noFill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b9fc46fe664014"/>
          <a:stretch xmlns:a="http://schemas.openxmlformats.org/drawingml/2006/main"/>
        </p:blipFill>
        <p:spPr>
          <a:xfrm xmlns:a="http://schemas.openxmlformats.org/drawingml/2006/main">
            <a:off x="648932" y="381000"/>
            <a:ext cx="3140787" cy="71437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0842B9-65A7-4C66-822F-4B03C459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2387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文献汇报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C8354E-2228-4ED1-A28E-FDAFB618E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943100"/>
            <a:ext cx="6667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GIGN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274A47-3690-4F06-B989-FE3E501B6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40995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基于三维结构的蛋白质–配体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B07011-E59E-4C5B-8D63-3FCF2832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952875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结合亲和力预测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411E3D-5037-4B24-95BB-E6A9F0B44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Geometric Interaction Graph Neural Network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8D0002-5D20-44A4-932E-C9D634364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578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Yang Z. et al.  /  The Journal of Physical Chemistry Letters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FF1D6A-D172-4D0D-8D11-189BC0ED7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0275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2023, 14(8): 2020–2033     DOI: 10.1021/acs.jpclett.2c03906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6E98A9-3BEB-4ECA-91B6-7A54C8CD6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8655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32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2220344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0C6D08F-4A75-4DFF-9913-B17B6013D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华中农业大学 / 文献汇报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45A9AA-54E2-4B07-9506-1837F8D84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研究背景与研究动机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521F11-BEB8-49D2-AD3D-A5E3AFEE1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610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3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1903F9-CFCB-4E6E-81DA-CFDDB5BF5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610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5692C7-FAB6-4B6E-A172-D72AB38A2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华中农业大学   ·   GIGN 文献汇报   ·   JPCL 2023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889FC6-C8A4-4B5C-A644-76F46F524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4865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91BC30-049E-48C3-8036-68BACD7A7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6203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目标：从蛋白质–配体复合物的三维结构，直接预测结合亲和力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E9B779-D53A-4CA9-87F2-B1315BB73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71675"/>
            <a:ext cx="990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输入：原子化学特征、三维坐标与化学键    |    输出：一个连续的亲和力预测值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1A315F-4199-4A77-9C14-DC9A918C1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476500"/>
            <a:ext cx="9525" cy="2733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D3BD61-D477-4915-B5C1-C9CF14C35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476500"/>
            <a:ext cx="9525" cy="2733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F419D4-8229-48CC-802E-972898410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E2E099-E4B6-4561-B3F8-D38E61B02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288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为什么要预测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93369D-3702-4AC7-952D-61E111907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52750"/>
            <a:ext cx="2905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结合亲和力（PLA）用于候选化合物排序，也服务于虚拟筛选和先导化合物优化。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4EE05F-9A3A-44A6-863D-6A84180E2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00475"/>
            <a:ext cx="28860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55D01E-F69D-4D32-9C2E-35B6FE923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719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实验测定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93A24C-63A7-4093-BCAF-C566277EA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67200"/>
            <a:ext cx="2905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成本高、周期长，难以覆盖大规模候选分子。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D249E5-5D1B-4123-AF91-C79FBFE8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447925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38B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B38B4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FFD62E-EFF2-49EF-94DA-F4010EEB5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2887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亲和力由什么决定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A3E95F-83AE-4E24-9977-9C22E5820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952750"/>
            <a:ext cx="3143250" cy="64770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BB9213-2A7C-4051-8B9D-061A784F2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384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分子内部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31DBDA-9DC9-4FA1-8177-66469076A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86125"/>
            <a:ext cx="2838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共价拓扑决定原子的局部化学环境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8AD64A-72B4-4172-9427-1A0D4FAAE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705225"/>
            <a:ext cx="3143250" cy="64770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0DE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EE5208-A4DF-40AE-8BB3-D0FBE788C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79095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9B5B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9B5B18"/>
                </a:solidFill>
                <a:latin typeface="Microsoft YaHei"/>
                <a:ea typeface="Microsoft YaHei"/>
                <a:cs typeface="Microsoft YaHei"/>
              </a:rPr>
              <a:t>分子之间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FEBD2A-3722-4C67-AD6C-AFBED09A6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38600"/>
            <a:ext cx="2838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三维距离与空间接触反映结合相互作用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B829A6-A708-49A8-9A96-D31AFFBD2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552950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两类信息必须联合建模；同一种原子处在不同空间位置时，对结合的贡献也不同。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4845AA-034D-4480-AC80-1CA9B1DC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447925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FB2DF3-573A-49DE-A0E1-2AA595217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2887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现有方法的缺口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C5F338-223B-48C0-97AE-319FB6E0D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622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无相互作用方法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3D552A-AD6E-4046-A2B3-1158FF681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3850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8911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序列、SMILES 或二维图不包含真实结合构象，难以显式描述蛋白质–配体接触。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4350CC-84E1-48E7-96C3-4E3907ECD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9243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F24239-3561-48E9-8015-E14A7B78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08622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9B5B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9B5B18"/>
                </a:solidFill>
                <a:latin typeface="Microsoft YaHei"/>
                <a:ea typeface="Microsoft YaHei"/>
                <a:cs typeface="Microsoft YaHei"/>
              </a:rPr>
              <a:t>三维相互作用方法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2421587-F723-4866-8B62-5CB725718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362450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体素表示计算开销较大；已有图模型可能混合两类边，或分阶段处理分子内、分子间作用。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EF27F37-4064-4799-9D57-43BF7DA56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610850" cy="695325"/>
          </a:xfrm>
          <a:prstGeom xmlns:a="http://schemas.openxmlformats.org/drawingml/2006/main" prst="roundRect">
            <a:avLst>
              <a:gd name="adj" fmla="val 17808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4362D69-BAFF-4FEB-A9E3-94FAC881D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007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论文的研究问题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0228B8C-F362-42B1-A580-F53815C96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57875"/>
            <a:ext cx="10077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能否在同一张原子图中联合学习分子内部结构与跨分子接触，同时区分两类关系并满足平移、旋转不变性？</a:t>
            </a:r>
          </a:p>
        </p:txBody>
      </p:sp>
    </p:spTree>
    <p:extLst>
      <p:ext uri="{BB962C8B-B14F-4D97-AF65-F5344CB8AC3E}">
        <p14:creationId xmlns:p14="http://schemas.microsoft.com/office/powerpoint/2010/main" val="20256995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47AB39-7B60-441C-841C-2A9B4B6ED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华中农业大学 / 文献汇报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F139CF-B736-483A-94EE-0F2632444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方法：三维相互作用图 + 异质消息传递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8F8070-8C1B-4D98-97CF-C30470A8F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610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3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F8E6B8-255C-44E5-99C4-4BC748673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610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0A00A2-1B5A-427E-9EBF-6BC9E4798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华中农业大学   ·   GIGN 文献汇报   ·   JPCL 2023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3AFC48-29C8-4DD8-A18A-590AA1932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4865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EE4882-29EB-42A9-BD13-6BF23E566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5829300" cy="4572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4bb228aa444750"/>
          <a:stretch xmlns:a="http://schemas.openxmlformats.org/drawingml/2006/main"/>
        </p:blipFill>
        <p:spPr>
          <a:xfrm xmlns:a="http://schemas.openxmlformats.org/drawingml/2006/main">
            <a:off x="1170514" y="1666875"/>
            <a:ext cx="4707471" cy="423862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0CDB41-223F-4D7C-B747-48DBC3C99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19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03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9A7383-172A-4C76-89FC-BB72B848A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002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构图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C2D7A6-A595-47F0-B120-C03A8721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924050"/>
            <a:ext cx="3905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原子为节点；分子内部化学键为共价边；蛋白质–配体原子对距离 &lt; 5 Å 时建立候选非共价边。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4D2F7A-654F-40CB-B2F1-5FFAF2960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71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03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D3AF01-2317-4BFC-B6E1-5F0FD46C7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527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三层异质交互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7C393F-94F6-4D6F-92C6-1A5AEEE7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76600"/>
            <a:ext cx="3905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共价与非共价消息分别聚合、分别更新，再相加融合；三层逐步扩大原子的多跳感受野。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B60325-49E4-4062-92FD-E71A8090B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24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38B4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CFFD11-05BD-4A97-B4AC-A89798309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3053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读出亲和力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8AAB3C-1489-4957-978A-A45E13688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629150"/>
            <a:ext cx="3905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对全部原子表示做 global sum pooling，再由 MLP 输出一个结合亲和力预测值。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7AB6D0-079B-4AF4-A238-96E3D301F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562600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距离先决定是否连边，再经 RBF → Linear 得到逐通道权重；三维坐标只通过原子间距离进入模型。</a:t>
            </a:r>
          </a:p>
        </p:txBody>
      </p:sp>
    </p:spTree>
    <p:extLst>
      <p:ext uri="{BB962C8B-B14F-4D97-AF65-F5344CB8AC3E}">
        <p14:creationId xmlns:p14="http://schemas.microsoft.com/office/powerpoint/2010/main" val="8881351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2CAED76-A321-4296-96F0-CA3CDE058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华中农业大学 / 文献汇报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E54ABD-CC60-45FC-96C6-6D29BD5AA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创新一：异质交互层分别建模两类关系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6550BA-B74B-4525-BF44-79FECE51C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610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3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630C13-B127-427C-9D66-8508300F7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610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C41C4E-EBD6-4053-9F96-DACAEC5F4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华中农业大学   ·   GIGN 文献汇报   ·   JPCL 2023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5A68AC-279C-469F-B8F4-021CA8563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4865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FE834B-9021-425F-9340-EAEE1458D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9525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F6DD78-5240-4C4C-9DD0-BA92C62B3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559C02-13E6-4879-9539-99F38CC93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5049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关系分通道建模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052224-6635-4512-A4EE-6E724F397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050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弥补的不足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2510A3-669D-49AF-9195-DF26DF94F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8125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74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同质 GNN 把共价键与跨分子接触当成同一种关系，数量较多的非共价消息可能淹没分子内部结构。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BD1B75-8F02-4E6A-A1FC-1109FBA9E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051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B428B1-E549-4CE5-AE72-7C793FF1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57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核心机制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9437AA-9D26-4A13-A652-B434867A8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81400"/>
            <a:ext cx="4953000" cy="409575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989B48-D153-46D9-AB4A-9D6802185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48075"/>
            <a:ext cx="464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共价边  E⁽ᶜᵒᵛ⁾  →  求和聚合  mᵢ⁽ᶜᵒᵛ⁾  →  更新网络  U⁽ᶜᵒᵛ⁾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BE743B-71F2-4C75-85E2-7AEFA02CC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67175"/>
            <a:ext cx="4953000" cy="409575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FFF0D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A06F3D-BCE5-4778-99E4-CA5D604CC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33850"/>
            <a:ext cx="464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9B5B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9B5B18"/>
                </a:solidFill>
                <a:latin typeface="Microsoft YaHei"/>
                <a:ea typeface="Microsoft YaHei"/>
                <a:cs typeface="Microsoft YaHei"/>
              </a:rPr>
              <a:t>非共价边  E⁽ⁿᶜᵒᵛ⁾  →  求和聚合  mᵢ⁽ⁿᶜᵒᵛ⁾  →  更新网络  U⁽ⁿᶜᵒᵛ⁾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C4B4A5-9E69-41E4-AC77-2F75A0C37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910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63D2C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1" i="0">
                <a:solidFill>
                  <a:srgbClr val="163D2C"/>
                </a:solidFill>
                <a:latin typeface="Cambria Math"/>
                <a:ea typeface="Cambria Math"/>
                <a:cs typeface="Cambria Math"/>
              </a:rPr>
              <a:t>hᵢ⁽ᵗ⁺¹⁾ = U⁽ᶜᵒᵛ⁾(hᵢ⁽ᵗ⁾, mᵢ⁽ᶜᵒᵛ⁾) + U⁽ⁿᶜᵒᵛ⁾(hᵢ⁽ᵗ⁾, mᵢ⁽ⁿᶜᵒᵛ⁾)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072ED2-541C-4161-AE5A-2207D8B5D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958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作用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9D5A14-1855-4541-8E0E-2B22F19A4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43525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保留化学骨架与跨分子接触的不同语义，减少两类消息过早混合。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848965-B7E4-49F0-8FFD-1514A8D7C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边界：两个分支内部仍采用相同的求和聚合。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8FBDCF-EC31-41B1-8E23-0A288C5F9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5240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B38B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B38B4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AB3BA8-99B0-41C2-BCA7-B5C69CDBD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15049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层内分工与参数独立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0B26F9-A273-4FAF-85C4-2CE0FBD57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050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关键区别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6C65DE-5B9C-4C04-BF5E-8C01CFCC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81250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两个分支的消息形式和求和聚合相同，但邻居集合不同；更新函数 U⁽ᶜᵒᵛ⁾ 与 U⁽ⁿᶜᵒᵛ⁾ 分别学习。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9EFC4A-1E83-4F19-8CFD-E1DC96EE5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051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93C70F-ACA2-4695-8418-E049F665B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575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更新函数 U 是什么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147A4B-7FCE-4CFA-93E7-8191CA604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81400"/>
            <a:ext cx="4762500" cy="409575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FFF0DE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EB7BA9-B3BA-4ED2-955F-7AA415EB5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48075"/>
            <a:ext cx="445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9B5B18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1" i="0">
                <a:solidFill>
                  <a:srgbClr val="9B5B18"/>
                </a:solidFill>
                <a:latin typeface="Cambria Math"/>
                <a:ea typeface="Cambria Math"/>
                <a:cs typeface="Cambria Math"/>
              </a:rPr>
              <a:t>U⁽ᶜᵒᵛ⁾(hᵢ,mᵢ) 与 U⁽ⁿᶜᵒᵛ⁾(hᵢ,mᵢ)：两个独立 MLP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C892E0-F290-4C1F-ACFF-7BB1E6389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43375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63D2C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1" i="0">
                <a:solidFill>
                  <a:srgbClr val="163D2C"/>
                </a:solidFill>
                <a:latin typeface="Cambria Math"/>
                <a:ea typeface="Cambria Math"/>
                <a:cs typeface="Cambria Math"/>
              </a:rPr>
              <a:t>消息函数 → 求和聚合 → MLP 更新 → 两分支相加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639F14F-912A-45A6-BBAD-61E399430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591050"/>
            <a:ext cx="4762500" cy="428625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14F18C3-4748-40AB-9B0A-D66E21A2C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57725"/>
            <a:ext cx="445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07032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1" i="0">
                <a:solidFill>
                  <a:srgbClr val="007032"/>
                </a:solidFill>
                <a:latin typeface="Cambria Math"/>
                <a:ea typeface="Cambria Math"/>
                <a:cs typeface="Cambria Math"/>
              </a:rPr>
              <a:t>第1层 → 第2层 → 第3层：逐步扩大多跳感受野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0476E6F-38D2-493A-8467-9E39BC15D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0958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作用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FB9F3A7-17BB-4051-9564-86400B8F1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343525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消息函数决定“从邻居取什么”；求和负责汇总；U 结合原状态与聚合消息完成更新。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E0E6761-A07D-4AFB-9032-218E4FCC6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9055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9B5B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9B5B18"/>
                </a:solidFill>
                <a:latin typeface="Microsoft YaHei"/>
                <a:ea typeface="Microsoft YaHei"/>
                <a:cs typeface="Microsoft YaHei"/>
              </a:rPr>
              <a:t>原文仅说明 U 由 MLP 实现；未展开内部结构，也未比较 2 / 3 / 4 层。</a:t>
            </a:r>
          </a:p>
        </p:txBody>
      </p:sp>
    </p:spTree>
    <p:extLst>
      <p:ext uri="{BB962C8B-B14F-4D97-AF65-F5344CB8AC3E}">
        <p14:creationId xmlns:p14="http://schemas.microsoft.com/office/powerpoint/2010/main" val="1964793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A378376-05B1-492C-85C7-71BB6967B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华中农业大学 / 文献汇报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2996CA-7EC2-46FC-837D-27DC820EA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创新二：RBF距离编码 + 哈达玛积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28FB7E-7BDF-4977-BC95-2F5A5635D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610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3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6F9093-BCB5-43F9-BDFF-EDC6C799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610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3A0F4E-0E4F-4B16-995F-7C061A75B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华中农业大学   ·   GIGN 文献汇报   ·   JPCL 2023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F94354-DC85-4FB0-AEC7-024A7FA1A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4865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665B29-EB88-4797-A4E9-538E7EC94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从三维坐标到距离调制消息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D9421E-1E7F-4713-98B5-CC5631A76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38112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B12FA0-099A-4E09-83C6-E906261C1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9775"/>
            <a:ext cx="12287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坐标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A4B5C1-6F23-40FF-9034-DFA6F1F5C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14575"/>
            <a:ext cx="12287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rᵢ，rⱼ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A7D2D8-0F07-4EDD-89D4-265EA035B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152650"/>
            <a:ext cx="295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277EB2-99AD-431C-8559-53621AE50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914525"/>
            <a:ext cx="1714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0DE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43CC86-A212-4881-8C85-268DB1A23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09775"/>
            <a:ext cx="1562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9B5B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9B5B18"/>
                </a:solidFill>
                <a:latin typeface="Microsoft YaHei"/>
                <a:ea typeface="Microsoft YaHei"/>
                <a:cs typeface="Microsoft YaHei"/>
              </a:rPr>
              <a:t>距离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F73CBB-47E2-4825-870A-603BE3EC6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314575"/>
            <a:ext cx="1562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72A3A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1" i="0">
                <a:solidFill>
                  <a:srgbClr val="172A3A"/>
                </a:solidFill>
                <a:latin typeface="Cambria Math"/>
                <a:ea typeface="Cambria Math"/>
                <a:cs typeface="Cambria Math"/>
              </a:rPr>
              <a:t>dⱼᵢ = ‖rⱼ−rᵢ‖₂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F9CE6B-6029-41AF-993B-07FE5C871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152650"/>
            <a:ext cx="295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DD4F74-92CA-4AA5-B453-BB7174E2C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914525"/>
            <a:ext cx="138112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0DC117-8617-4679-A242-9723C421F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09775"/>
            <a:ext cx="12287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RBF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4217FE-8853-4592-83C7-E9656D38F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14575"/>
            <a:ext cx="12287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72A3A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1" i="0">
                <a:solidFill>
                  <a:srgbClr val="172A3A"/>
                </a:solidFill>
                <a:latin typeface="Cambria Math"/>
                <a:ea typeface="Cambria Math"/>
                <a:cs typeface="Cambria Math"/>
              </a:rPr>
              <a:t>1维 → K维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53B1DA-48D7-4500-98DC-664A92CD4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152650"/>
            <a:ext cx="295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2CA834-15FA-4F26-BEFF-87E87BFEC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914525"/>
            <a:ext cx="138112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681976-4CA9-4500-AC4E-F826FFC6A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009775"/>
            <a:ext cx="12287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Linear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BE5531-747B-4845-91FE-653DE0960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314575"/>
            <a:ext cx="12287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72A3A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1" i="0">
                <a:solidFill>
                  <a:srgbClr val="172A3A"/>
                </a:solidFill>
                <a:latin typeface="Cambria Math"/>
                <a:ea typeface="Cambria Math"/>
                <a:cs typeface="Cambria Math"/>
              </a:rPr>
              <a:t>K维 → m维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83AAB1-E38E-4C76-A01A-D911FFB4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152650"/>
            <a:ext cx="295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5444E9-D9B6-4333-967A-E5D1A638D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914525"/>
            <a:ext cx="147637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FF1D46-E9B9-4798-9D0F-5B7E7DB4B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009775"/>
            <a:ext cx="13239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距离权重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628F3D-C602-4408-8D8F-C35EF3EC1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314575"/>
            <a:ext cx="13239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72A3A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1" i="0">
                <a:solidFill>
                  <a:srgbClr val="172A3A"/>
                </a:solidFill>
                <a:latin typeface="Cambria Math"/>
                <a:ea typeface="Cambria Math"/>
                <a:cs typeface="Cambria Math"/>
              </a:rPr>
              <a:t>λ(dⱼᵢ)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82A6C6-20AC-4691-BE12-FC2276BD7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152650"/>
            <a:ext cx="295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094D2E-F372-4746-8C6D-BAB808303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1914525"/>
            <a:ext cx="166687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0DE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488DCC-0FCC-4A53-B7CE-DDB88D198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009775"/>
            <a:ext cx="15144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9B5B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9B5B18"/>
                </a:solidFill>
                <a:latin typeface="Microsoft YaHei"/>
                <a:ea typeface="Microsoft YaHei"/>
                <a:cs typeface="Microsoft YaHei"/>
              </a:rPr>
              <a:t>消息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3AA1EB-BEC4-4147-8E78-79F72B775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314575"/>
            <a:ext cx="15144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72A3A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1" i="0">
                <a:solidFill>
                  <a:srgbClr val="172A3A"/>
                </a:solidFill>
                <a:latin typeface="Cambria Math"/>
                <a:ea typeface="Cambria Math"/>
                <a:cs typeface="Cambria Math"/>
              </a:rPr>
              <a:t>hⱼ⁽ᵗ⁾ ⊙ λ(dⱼᵢ)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A51CA2-A097-4080-A8D3-AA7CDE7AB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0610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5 Å 阈值只决定是否连边；RBF进一步编码已连边原子对在不同距离下应传递多少信息。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5A9B126-770E-44E3-B93E-B0FE4DE6F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3333750" cy="2181225"/>
          </a:xfrm>
          <a:prstGeom xmlns:a="http://schemas.openxmlformats.org/drawingml/2006/main" prst="roundRect">
            <a:avLst>
              <a:gd name="adj" fmla="val 61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C2010B-2C14-4D19-BB62-8B55A71ED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766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为什么不只用绝对距离？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6694C5A-2EB4-43CA-96DD-6948231F3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原始距离当然可以直接输入模型，但它只有一个标量。简单线性变换难以表达“过近排斥—合适最强—过远减弱”等非单调距离效应。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B8ED4CF-3F96-420D-AED9-1B878F5DB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2783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多个重叠高斯中心提供平滑的局部响应：相近距离得到相近编码，也更容易组合出复杂距离函数。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07F849E-AB37-4EA5-9451-3A19E452B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286125"/>
            <a:ext cx="3333750" cy="2181225"/>
          </a:xfrm>
          <a:prstGeom xmlns:a="http://schemas.openxmlformats.org/drawingml/2006/main" prst="roundRect">
            <a:avLst>
              <a:gd name="adj" fmla="val 6114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EF2CBAE-52B0-4F56-B3CF-0F63250E6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4766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为什么使用哈达玛积？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17DA723-0AA1-4572-A433-3B709137A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905250"/>
            <a:ext cx="295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Linear 把 K 维 RBF 投影为与 hⱼ 相同的 m 维，λ(d) 因而可以逐通道调节邻居原子特征。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D773EAF-C819-4227-BE1A-291BA8854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686300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它保留 m 维消息；不会像点积那样压成标量，也不会像直接乘距离标量那样统一缩放所有通道。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9064E88-4F1A-43D1-B330-482C85664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86125"/>
            <a:ext cx="3619500" cy="2181225"/>
          </a:xfrm>
          <a:prstGeom xmlns:a="http://schemas.openxmlformats.org/drawingml/2006/main" prst="roundRect">
            <a:avLst>
              <a:gd name="adj" fmla="val 6114"/>
            </a:avLst>
          </a:prstGeom>
          <a:solidFill xmlns:a="http://schemas.openxmlformats.org/drawingml/2006/main">
            <a:srgbClr val="FFF0DE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DB8343E-4D9D-4A53-B70A-0342C8F29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476625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与拼接有什么区别？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0F161F3-6318-4B6C-ADF5-3F0963171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9052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只拼接后接线性层：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A8CE6DB-4633-43A2-B847-6F0F45E4B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1719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9B5B18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1" i="0">
                <a:solidFill>
                  <a:srgbClr val="9B5B18"/>
                </a:solidFill>
                <a:latin typeface="Cambria Math"/>
                <a:ea typeface="Cambria Math"/>
                <a:cs typeface="Cambria Math"/>
              </a:rPr>
              <a:t>W[hⱼ ∥ λ] = Wₕhⱼ + Wdλ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2BE31AB-D1C6-453E-9841-260B171B5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591050"/>
            <a:ext cx="3238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42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它分别加权两部分再相加，没有显式的输入乘法项。MLP可以学习更复杂交互，但参数与过拟合风险也会增加。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176C3B3-EC72-449B-90FE-5FDE29D0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61085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DDDC8DD-2B7C-4DA8-8A56-3FE8E7A53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62625"/>
            <a:ext cx="10267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论文选择：提前计算 hⱼ ⊙ λ(d)，用较少参数加入“距离调节特征”的结构先验；拼接或混合方案可能更灵活，但本文未验证。</a:t>
            </a:r>
          </a:p>
        </p:txBody>
      </p:sp>
    </p:spTree>
    <p:extLst>
      <p:ext uri="{BB962C8B-B14F-4D97-AF65-F5344CB8AC3E}">
        <p14:creationId xmlns:p14="http://schemas.microsoft.com/office/powerpoint/2010/main" val="12524710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8CEE8A-A0AD-476C-A072-6DE517A37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华中农业大学 / 文献汇报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EA368C-90FA-47E3-AF59-11A2B8A2F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研究结果：主基准性能与实验设置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41DCC6-CB19-4017-9D1C-A65D33088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610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3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01CFB8-7F92-43D9-8AE2-0F9673D4F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610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45DA57-FD2D-40F7-AC0A-B1B4A9B9F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华中农业大学   ·   GIGN 文献汇报   ·   JPCL 2023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6C89A5-0B29-4A59-9377-40DA97BA2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4865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81234A-9DAF-4F3B-97F2-7C0CD5421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代表模型对比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77F9D3-E682-481C-A945-C4D4C7E0A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81175"/>
            <a:ext cx="7524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每格为 RMSE / Rₚ，分别越低 / 越高越好</a:t>
            </a:r>
          </a:p>
        </p:txBody>
      </p:sp>
      <p:graphicFrame>
        <p:nvGraphicFramePr>
          <p:cNvPr id="29" name=""/>
          <p:cNvGraphicFramePr/>
          <p:nvPr/>
        </p:nvGraphicFramePr>
        <p:xfrm>
          <a:off xmlns:a="http://schemas.openxmlformats.org/drawingml/2006/main" x="609600" y="2133600"/>
          <a:ext xmlns:a="http://schemas.openxmlformats.org/drawingml/2006/main" cx="7239000" cy="2857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466850"/>
                <a:gridCol w="1924050"/>
                <a:gridCol w="1924050"/>
                <a:gridCol w="1924050"/>
              </a:tblGrid>
              <a:tr h="357188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</a:t>
                      </a:r>
                    </a:p>
                  </a:txBody>
                  <a:tcPr marL="91440" marR="91440" marT="45720" marB="45720" anchor="ctr">
                    <a:solidFill>
                      <a:srgbClr val="007032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2013 core</a:t>
                      </a:r>
                    </a:p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 = 107</a:t>
                      </a:r>
                    </a:p>
                  </a:txBody>
                  <a:tcPr marL="91440" marR="91440" marT="45720" marB="45720" anchor="ctr">
                    <a:solidFill>
                      <a:srgbClr val="007032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2016 core</a:t>
                      </a:r>
                    </a:p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 = 285</a:t>
                      </a:r>
                    </a:p>
                  </a:txBody>
                  <a:tcPr marL="91440" marR="91440" marT="45720" marB="45720" anchor="ctr">
                    <a:solidFill>
                      <a:srgbClr val="007032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2019 holdout</a:t>
                      </a:r>
                    </a:p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 = 4,366</a:t>
                      </a:r>
                    </a:p>
                  </a:txBody>
                  <a:tcPr marL="91440" marR="91440" marT="45720" marB="45720" anchor="ctr">
                    <a:solidFill>
                      <a:srgbClr val="007032"/>
                    </a:solidFill>
                  </a:tcPr>
                </a:tc>
              </a:tr>
              <a:tr h="357188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DeepDTA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1.639 / 0.718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1.357 / 0.785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1.485 / 0.586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7188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Pafnucy</a:t>
                      </a:r>
                    </a:p>
                  </a:txBody>
                  <a:tcPr marL="91440" marR="91440" marT="45720" marB="45720" anchor="ctr">
                    <a:solidFill>
                      <a:srgbClr val="F7F9F7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1.517 / 0.783</a:t>
                      </a:r>
                    </a:p>
                  </a:txBody>
                  <a:tcPr marL="91440" marR="91440" marT="45720" marB="45720" anchor="ctr">
                    <a:solidFill>
                      <a:srgbClr val="F7F9F7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1.450 / 0.769</a:t>
                      </a:r>
                    </a:p>
                  </a:txBody>
                  <a:tcPr marL="91440" marR="91440" marT="45720" marB="45720" anchor="ctr">
                    <a:solidFill>
                      <a:srgbClr val="F7F9F7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1.438 / 0.612</a:t>
                      </a:r>
                    </a:p>
                  </a:txBody>
                  <a:tcPr marL="91440" marR="91440" marT="45720" marB="45720" anchor="ctr">
                    <a:solidFill>
                      <a:srgbClr val="F7F9F7"/>
                    </a:solidFill>
                  </a:tcPr>
                </a:tc>
              </a:tr>
              <a:tr h="357188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PotentialNet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1.607 / 0.773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1.503 / 0.772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1.514 / 0.564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7188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GNN-DTI</a:t>
                      </a:r>
                    </a:p>
                  </a:txBody>
                  <a:tcPr marL="91440" marR="91440" marT="45720" marB="45720" anchor="ctr">
                    <a:solidFill>
                      <a:srgbClr val="F7F9F7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1.533 / 0.767</a:t>
                      </a:r>
                    </a:p>
                  </a:txBody>
                  <a:tcPr marL="91440" marR="91440" marT="45720" marB="45720" anchor="ctr">
                    <a:solidFill>
                      <a:srgbClr val="F7F9F7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1.384 / 0.779</a:t>
                      </a:r>
                    </a:p>
                  </a:txBody>
                  <a:tcPr marL="91440" marR="91440" marT="45720" marB="45720" anchor="ctr">
                    <a:solidFill>
                      <a:srgbClr val="F7F9F7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1.446 / 0.614</a:t>
                      </a:r>
                    </a:p>
                  </a:txBody>
                  <a:tcPr marL="91440" marR="91440" marT="45720" marB="45720" anchor="ctr">
                    <a:solidFill>
                      <a:srgbClr val="F7F9F7"/>
                    </a:solidFill>
                  </a:tcPr>
                </a:tc>
              </a:tr>
              <a:tr h="357188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IGN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1.428 / 0.807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1.269 / 0.821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1.410 / 0.630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7188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EGNN</a:t>
                      </a:r>
                    </a:p>
                  </a:txBody>
                  <a:tcPr marL="91440" marR="91440" marT="45720" marB="45720" anchor="ctr">
                    <a:solidFill>
                      <a:srgbClr val="F7F9F7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1.498 / 0.782</a:t>
                      </a:r>
                    </a:p>
                  </a:txBody>
                  <a:tcPr marL="91440" marR="91440" marT="45720" marB="45720" anchor="ctr">
                    <a:solidFill>
                      <a:srgbClr val="F7F9F7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1.289 / 0.816</a:t>
                      </a:r>
                    </a:p>
                  </a:txBody>
                  <a:tcPr marL="91440" marR="91440" marT="45720" marB="45720" anchor="ctr">
                    <a:solidFill>
                      <a:srgbClr val="F7F9F7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1.399 / 0.628</a:t>
                      </a:r>
                    </a:p>
                  </a:txBody>
                  <a:tcPr marL="91440" marR="91440" marT="45720" marB="45720" anchor="ctr">
                    <a:solidFill>
                      <a:srgbClr val="F7F9F7"/>
                    </a:solidFill>
                  </a:tcPr>
                </a:tc>
              </a:tr>
              <a:tr h="357188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0070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GIGN</a:t>
                      </a:r>
                    </a:p>
                  </a:txBody>
                  <a:tcPr marL="91440" marR="91440" marT="45720" marB="45720" anchor="ctr">
                    <a:solidFill>
                      <a:srgbClr val="EAF3EC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0070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1.380 / 0.821</a:t>
                      </a:r>
                    </a:p>
                  </a:txBody>
                  <a:tcPr marL="91440" marR="91440" marT="45720" marB="45720" anchor="ctr">
                    <a:solidFill>
                      <a:srgbClr val="EAF3EC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0070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1.190 / 0.840</a:t>
                      </a:r>
                    </a:p>
                  </a:txBody>
                  <a:tcPr marL="91440" marR="91440" marT="45720" marB="45720" anchor="ctr">
                    <a:solidFill>
                      <a:srgbClr val="EAF3EC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0070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1.393 / 0.641</a:t>
                      </a:r>
                    </a:p>
                  </a:txBody>
                  <a:tcPr marL="91440" marR="91440" marT="45720" marB="45720" anchor="ctr">
                    <a:solidFill>
                      <a:srgbClr val="EAF3EC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AA23C7-300F-42BA-A0F0-EC1643808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428750"/>
            <a:ext cx="2981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实验如何比较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36EF5C-CE59-4EBA-9FB6-7987CFA83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14525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训练与验证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0F9E16-229B-4357-90F5-0FC246DF7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257425"/>
            <a:ext cx="30003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PDBbind 2016</a:t>
            </a:r>
          </a:p>
          <a:p xmlns:a="http://schemas.openxmlformats.org/drawingml/2006/main">
            <a:pPr algn="l">
              <a:defRPr sz="13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训练 11,904，验证 1,000</a:t>
            </a:r>
          </a:p>
          <a:p xmlns:a="http://schemas.openxmlformats.org/drawingml/2006/main">
            <a:pPr algn="l">
              <a:defRPr sz="13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各模型使用相同的数据划分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C2293A-2182-4101-BD0D-83C23C687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124200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评估方式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17F813-D0AF-4DE6-9534-F93BF47BE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467100"/>
            <a:ext cx="30003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3 个随机种子独立训练</a:t>
            </a:r>
          </a:p>
          <a:p xmlns:a="http://schemas.openxmlformats.org/drawingml/2006/main">
            <a:pPr algn="l">
              <a:defRPr sz="13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按验证集最低 RMSE 选模型</a:t>
            </a:r>
          </a:p>
          <a:p xmlns:a="http://schemas.openxmlformats.org/drawingml/2006/main">
            <a:pPr algn="l">
              <a:defRPr sz="13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表中展示 3 次运行的均值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2F1071-82B8-4674-A5D9-72DB666EB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362450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2019 holdout 的意义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2CA191-4934-4750-9E12-7BF4D4E88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05350"/>
            <a:ext cx="30003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使用较新、未重叠的复合物，</a:t>
            </a:r>
          </a:p>
          <a:p xmlns:a="http://schemas.openxmlformats.org/drawingml/2006/main">
            <a:pPr algn="l">
              <a:defRPr sz="13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近似时间外推，比 core 更难。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4FED8F-1B7C-440D-BC33-859409157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Rₚ 相对最佳基线 IGN 的绝对提升</a:t>
            </a:r>
          </a:p>
        </p:txBody>
      </p:sp>
      <p:graphicFrame>
        <p:nvGraphicFramePr>
          <p:cNvPr id="38" name="Chart"/>
          <p:cNvGraphicFramePr/>
          <p:nvPr/>
        </p:nvGraphicFramePr>
        <p:xfrm>
          <a:off xmlns:a="http://schemas.openxmlformats.org/drawingml/2006/main" x="581025" y="5524500"/>
          <a:ext xmlns:a="http://schemas.openxmlformats.org/drawingml/2006/main" cx="4286250" cy="7715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7235088b5cc4577"/>
          </a:graphicData>
        </a:graphic>
      </p:graphicFrame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B5B3F9-1FAD-4BAF-8DDD-409514D2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2863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主要结论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B35C8E-07A0-4608-B557-968456FAD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638800"/>
            <a:ext cx="5981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GIGN 在三个测试集的两项指标均最优。</a:t>
            </a:r>
          </a:p>
          <a:p xmlns:a="http://schemas.openxmlformats.org/drawingml/2006/main">
            <a:pPr algn="l">
              <a:defRPr sz="142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2019 Rₚ 仍仅 0.641，提升幅度较小，外推能力仍有限。</a:t>
            </a:r>
          </a:p>
        </p:txBody>
      </p:sp>
    </p:spTree>
    <p:extLst>
      <p:ext uri="{BB962C8B-B14F-4D97-AF65-F5344CB8AC3E}">
        <p14:creationId xmlns:p14="http://schemas.microsoft.com/office/powerpoint/2010/main" val="8987570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75E36E-F57D-4957-816D-ED8E841FE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华中农业大学 / 文献汇报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AE294F-B084-49FD-B7C8-537485507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研究结果：消融验证与泛化能力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AA31E9-AE28-4943-8632-F92362D43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610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3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1C1E50-CE20-4380-8575-11E92B76C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610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239A00-F380-4E88-AC34-53C79B8E8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华中农业大学   ·   GIGN 文献汇报   ·   JPCL 2023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655BD9-EE39-4BBD-AC85-4AB0510A7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4865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BB9F29-59E8-421B-B4B3-D64B09216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7048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消融实验：去掉什么，性能如何变化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BD4A4B-A3DC-4E29-8CA7-F5252FAF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81175"/>
            <a:ext cx="7191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Pearson Rₚ（↑），均值 ± 标准差，3 次独立运行</a:t>
            </a:r>
          </a:p>
        </p:txBody>
      </p:sp>
      <p:graphicFrame>
        <p:nvGraphicFramePr>
          <p:cNvPr id="28" name=""/>
          <p:cNvGraphicFramePr/>
          <p:nvPr/>
        </p:nvGraphicFramePr>
        <p:xfrm>
          <a:off xmlns:a="http://schemas.openxmlformats.org/drawingml/2006/main" x="609600" y="2114550"/>
          <a:ext xmlns:a="http://schemas.openxmlformats.org/drawingml/2006/main" cx="7620000" cy="19335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076325"/>
                <a:gridCol w="2000250"/>
                <a:gridCol w="1514475"/>
                <a:gridCol w="1514475"/>
                <a:gridCol w="1514475"/>
              </a:tblGrid>
              <a:tr h="386715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模型变体</a:t>
                      </a:r>
                    </a:p>
                  </a:txBody>
                  <a:tcPr marL="91440" marR="91440" marT="45720" marB="45720" anchor="ctr">
                    <a:solidFill>
                      <a:srgbClr val="007032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改动</a:t>
                      </a:r>
                    </a:p>
                  </a:txBody>
                  <a:tcPr marL="91440" marR="91440" marT="45720" marB="45720" anchor="ctr">
                    <a:solidFill>
                      <a:srgbClr val="007032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2013</a:t>
                      </a:r>
                    </a:p>
                  </a:txBody>
                  <a:tcPr marL="91440" marR="91440" marT="45720" marB="45720" anchor="ctr">
                    <a:solidFill>
                      <a:srgbClr val="007032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2016</a:t>
                      </a:r>
                    </a:p>
                  </a:txBody>
                  <a:tcPr marL="91440" marR="91440" marT="45720" marB="45720" anchor="ctr">
                    <a:solidFill>
                      <a:srgbClr val="007032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2019</a:t>
                      </a:r>
                    </a:p>
                  </a:txBody>
                  <a:tcPr marL="91440" marR="91440" marT="45720" marB="45720" anchor="ctr">
                    <a:solidFill>
                      <a:srgbClr val="007032"/>
                    </a:solidFill>
                  </a:tcPr>
                </a:tc>
              </a:tr>
              <a:tr h="386715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TMP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两类边同质传播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.791 ± .003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.822 ± .004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.634 ± .004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6715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TRVar</a:t>
                      </a:r>
                    </a:p>
                  </a:txBody>
                  <a:tcPr marL="91440" marR="91440" marT="45720" marB="45720" anchor="ctr">
                    <a:solidFill>
                      <a:srgbClr val="F7F9F7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加入绝对坐标</a:t>
                      </a:r>
                    </a:p>
                  </a:txBody>
                  <a:tcPr marL="91440" marR="91440" marT="45720" marB="45720" anchor="ctr">
                    <a:solidFill>
                      <a:srgbClr val="F7F9F7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.763 ± .019</a:t>
                      </a:r>
                    </a:p>
                  </a:txBody>
                  <a:tcPr marL="91440" marR="91440" marT="45720" marB="45720" anchor="ctr">
                    <a:solidFill>
                      <a:srgbClr val="F7F9F7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.760 ± .010</a:t>
                      </a:r>
                    </a:p>
                  </a:txBody>
                  <a:tcPr marL="91440" marR="91440" marT="45720" marB="45720" anchor="ctr">
                    <a:solidFill>
                      <a:srgbClr val="F7F9F7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.550 ± .007</a:t>
                      </a:r>
                    </a:p>
                  </a:txBody>
                  <a:tcPr marL="91440" marR="91440" marT="45720" marB="45720" anchor="ctr">
                    <a:solidFill>
                      <a:srgbClr val="F7F9F7"/>
                    </a:solidFill>
                  </a:tcPr>
                </a:tc>
              </a:tr>
              <a:tr h="386715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RVar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坐标减去配体质心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.765 ± .007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.788 ± .013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.608 ± .006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6715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0070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GIGN</a:t>
                      </a:r>
                    </a:p>
                  </a:txBody>
                  <a:tcPr marL="91440" marR="91440" marT="45720" marB="45720" anchor="ctr">
                    <a:solidFill>
                      <a:srgbClr val="EAF3EC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0070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异质传播＋不变性</a:t>
                      </a:r>
                    </a:p>
                  </a:txBody>
                  <a:tcPr marL="91440" marR="91440" marT="45720" marB="45720" anchor="ctr">
                    <a:solidFill>
                      <a:srgbClr val="EAF3EC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0070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.821 ± .003</a:t>
                      </a:r>
                    </a:p>
                  </a:txBody>
                  <a:tcPr marL="91440" marR="91440" marT="45720" marB="45720" anchor="ctr">
                    <a:solidFill>
                      <a:srgbClr val="EAF3EC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0070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.840 ± .007</a:t>
                      </a:r>
                    </a:p>
                  </a:txBody>
                  <a:tcPr marL="91440" marR="91440" marT="45720" marB="45720" anchor="ctr">
                    <a:solidFill>
                      <a:srgbClr val="EAF3EC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0070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.641 ± .006</a:t>
                      </a:r>
                    </a:p>
                  </a:txBody>
                  <a:tcPr marL="91440" marR="91440" marT="45720" marB="45720" anchor="ctr">
                    <a:solidFill>
                      <a:srgbClr val="EAF3EC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440A84-88D9-4FDD-9EAD-679674AD4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14478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两个设计得到支持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7F52B6-0299-4F39-AA31-7813F763C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1924050"/>
            <a:ext cx="266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关系分通道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231CAF-0D1F-4824-9633-A5A8DC735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257425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三组测试均优于同质传播，支持对两类消息分别建模。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9CB962-1127-4446-BEB1-0C8E604EB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981325"/>
            <a:ext cx="266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平移、旋转不变性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3560DB-75A2-432F-8F87-5256A4595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324225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绝对坐标使性能下降。质心归一化有所恢复，完整模型最佳。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EFB814-92F2-46D6-97F6-1DE3918F3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9575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进一步验证：模型能否推广到其他场景</a:t>
            </a:r>
          </a:p>
        </p:txBody>
      </p:sp>
      <p:graphicFrame>
        <p:nvGraphicFramePr>
          <p:cNvPr id="35" name=""/>
          <p:cNvGraphicFramePr/>
          <p:nvPr/>
        </p:nvGraphicFramePr>
        <p:xfrm>
          <a:off xmlns:a="http://schemas.openxmlformats.org/drawingml/2006/main" x="609600" y="4600575"/>
          <a:ext xmlns:a="http://schemas.openxmlformats.org/drawingml/2006/main" cx="7620000" cy="16478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676400"/>
                <a:gridCol w="3467100"/>
                <a:gridCol w="1238250"/>
                <a:gridCol w="1238250"/>
              </a:tblGrid>
              <a:tr h="329565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测试场景</a:t>
                      </a:r>
                    </a:p>
                  </a:txBody>
                  <a:tcPr marL="91440" marR="91440" marT="45720" marB="45720" anchor="ctr">
                    <a:solidFill>
                      <a:srgbClr val="007032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条件</a:t>
                      </a:r>
                    </a:p>
                  </a:txBody>
                  <a:tcPr marL="91440" marR="91440" marT="45720" marB="45720" anchor="ctr">
                    <a:solidFill>
                      <a:srgbClr val="007032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RMSE ↓</a:t>
                      </a:r>
                    </a:p>
                  </a:txBody>
                  <a:tcPr marL="91440" marR="91440" marT="45720" marB="45720" anchor="ctr">
                    <a:solidFill>
                      <a:srgbClr val="007032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Rₚ ↑</a:t>
                      </a:r>
                    </a:p>
                  </a:txBody>
                  <a:tcPr marL="91440" marR="91440" marT="45720" marB="45720" anchor="ctr">
                    <a:solidFill>
                      <a:srgbClr val="007032"/>
                    </a:solidFill>
                  </a:tcPr>
                </a:tc>
              </a:tr>
              <a:tr h="329565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跨数据集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CSAR-HiQ，N = 47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1.498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0.774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29565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重新对接</a:t>
                      </a:r>
                    </a:p>
                  </a:txBody>
                  <a:tcPr marL="91440" marR="91440" marT="45720" marB="45720" anchor="ctr">
                    <a:solidFill>
                      <a:srgbClr val="F7F9F7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近天然构象，RMSD &lt; 2 Å</a:t>
                      </a:r>
                    </a:p>
                  </a:txBody>
                  <a:tcPr marL="91440" marR="91440" marT="45720" marB="45720" anchor="ctr">
                    <a:solidFill>
                      <a:srgbClr val="F7F9F7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1.261</a:t>
                      </a:r>
                    </a:p>
                  </a:txBody>
                  <a:tcPr marL="91440" marR="91440" marT="45720" marB="45720" anchor="ctr">
                    <a:solidFill>
                      <a:srgbClr val="F7F9F7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0.826</a:t>
                      </a:r>
                    </a:p>
                  </a:txBody>
                  <a:tcPr marL="91440" marR="91440" marT="45720" marB="45720" anchor="ctr">
                    <a:solidFill>
                      <a:srgbClr val="F7F9F7"/>
                    </a:solidFill>
                  </a:tcPr>
                </a:tc>
              </a:tr>
              <a:tr h="329565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配体骨架冷启动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按骨架分组，8:1:1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1.353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0.685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29565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蛋白质冷启动</a:t>
                      </a:r>
                    </a:p>
                  </a:txBody>
                  <a:tcPr marL="91440" marR="91440" marT="45720" marB="45720" anchor="ctr">
                    <a:solidFill>
                      <a:srgbClr val="F7F9F7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30% 序列相似性分组</a:t>
                      </a:r>
                    </a:p>
                  </a:txBody>
                  <a:tcPr marL="91440" marR="91440" marT="45720" marB="45720" anchor="ctr">
                    <a:solidFill>
                      <a:srgbClr val="F7F9F7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1.521</a:t>
                      </a:r>
                    </a:p>
                  </a:txBody>
                  <a:tcPr marL="91440" marR="91440" marT="45720" marB="45720" anchor="ctr">
                    <a:solidFill>
                      <a:srgbClr val="F7F9F7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0.565</a:t>
                      </a:r>
                    </a:p>
                  </a:txBody>
                  <a:tcPr marL="91440" marR="91440" marT="45720" marB="45720" anchor="ctr">
                    <a:solidFill>
                      <a:srgbClr val="F7F9F7"/>
                    </a:solidFill>
                  </a:tcPr>
                </a:tc>
              </a:tr>
            </a:tbl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78210B-2B4A-4154-B217-FB6A48870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219575"/>
            <a:ext cx="2809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适用范围与限制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DE891E-4C56-46E0-B04E-A5F1FE82C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64820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蛋白质冷启动未保持领先：EGNN 的 Rₚ 为 0.579。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A5DC0F-92D8-4B57-86CC-BE52B22A2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5419725"/>
            <a:ext cx="2667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对接验证仅覆盖 RMSD &lt; 2 Å 的近天然构象，不能代表任意错误位姿。</a:t>
            </a:r>
          </a:p>
        </p:txBody>
      </p:sp>
    </p:spTree>
    <p:extLst>
      <p:ext uri="{BB962C8B-B14F-4D97-AF65-F5344CB8AC3E}">
        <p14:creationId xmlns:p14="http://schemas.microsoft.com/office/powerpoint/2010/main" val="15627441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2026-09-14T10:09:37.0450000Z</dcterms:created>
  <dcterms:modified xsi:type="dcterms:W3CDTF">2026-09-14T10:09:37.0450000Z</dcterms:modified>
</coreProperties>
</file>