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填写三位汇报人姓名和正式日期。封面沿用华中农业大学身份。建议汇报时长30–40分钟，内容页共18页。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全组共同，控制在2分钟。只建立ensemble、环境依赖和验证三个概念，不在此处展开全部生物学背景。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全组共同。此图是整场汇报的导航图，第一次展示全链条，后续每一部分回到对应节点。不要声称六篇论文已经组成真实流水线。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全组共同。此页说明叙事结构。每位同学的论文应当服务于一个问题，不要形成三段独立论文汇报。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负责人A，讲解约3分钟。先说明GOOSE在总路线中的位置，再讲规则和可控变量。图像占位区用于替换论文原图，保持当前位置和大小。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负责人A，讲解约3分钟。需要解释距离图代表每个构象中的残基间距离，不能把模型输出理解成一个结构。图像占位区用于替换论文原图。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负责人：你，讲解约4分钟。详细网络内容保留在答疑，不在大汇报中逐一解释IPA、GSO和所有MLP。图像占位区用于替换论文原图。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负责人A与你共同完成。表格中四处“填写”需要根据原文补齐，尤其是环境输入和速度。若没有统一基准，保留不可直接比较的结论。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负责人：你，建议3分钟。Unified ensemble framework作为评价框架使用，不作为独立论文精讲。强调forward model和非唯一性即可。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全组共同。此页是汇报的逻辑转折。不要声称有了ensemble就自动获得功能；由此引出LLPSense和后续设计工作。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负责人B，讲解约3分钟。严格核对输入、输出和环境变量。若论文没有显式ensemble，不要补写这一层。图像占位区用于替换论文原图。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B负责，全组讨论。此页不是现有论文结论，而是从文献链条提出的研究假设。汇报时必须明确标注为未来工作。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负责人：你，讲解约4分钟。重点讲自由态ensemble和结合态构象的区别，以及ProteinMPNN和AF2在流程中的作用。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负责人：你。此页用于纠正常见误解。只用一个案例，不需要详细展开三个靶标的生物学背景。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负责人B，讲解约4分钟。重点区分预测LLPS和设计能在凝聚体中执行定位功能的分子。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负责人：你和B共同完成。界面肽的结构假设一栏必须按原文补充，不能根据binder论文推断。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全组共同。与第3页不同，此页在读完六篇论文后总结证据层级和缺口。红色断点标出ensemble到环境依赖行为之间的关键断点。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全组共同。每条局限都应当能够回扣前面的论文，不新增未经讨论的结论。建议2分钟。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全组共同。明确三个方向的风险和工作量递增。若老师要求选择课题，优先推荐方向一或方向二。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结束页。可在答疑时返回第17页研究链条或第19页可行方向。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4995933148fc39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c9853a269b21d3f.png"/>
  <Relationship Id="rId3" Type="http://schemas.openxmlformats.org/officeDocument/2006/relationships/image" Target="../media/image_604995933148fc39.jpg"/>
  <Relationship Id="rId4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grpSp>
        <p:nvGrpSpPr>
          <p:cNvPr id="4" name="cover-kicker"/>
          <p:cNvGrpSpPr/>
          <p:nvPr/>
        </p:nvGrpSpPr>
        <p:grpSpPr>
          <a:xfrm>
            <a:off x="753618" y="812482"/>
            <a:ext cx="4918710" cy="322707"/>
            <a:chOff x="753618" y="812482"/>
            <a:chExt cx="4918710" cy="322707"/>
          </a:xfrm>
        </p:grpSpPr>
        <p:sp>
          <p:nvSpPr>
            <p:cNvPr id="3" name="TextBox 3"/>
            <p:cNvSpPr txBox="1"/>
            <p:nvPr/>
          </p:nvSpPr>
          <p:spPr>
            <a:xfrm>
              <a:off x="753618" y="812482"/>
              <a:ext cx="4918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IDP / IDR × ARTIFICIAL INTELLIGENCE</a:t>
              </a:r>
            </a:p>
          </p:txBody>
        </p:sp>
      </p:grpSp>
      <p:grpSp>
        <p:nvGrpSpPr>
          <p:cNvPr id="7" name="cover-title"/>
          <p:cNvGrpSpPr/>
          <p:nvPr/>
        </p:nvGrpSpPr>
        <p:grpSpPr>
          <a:xfrm>
            <a:off x="742950" y="1565910"/>
            <a:ext cx="6822948" cy="1235202"/>
            <a:chOff x="742950" y="1565910"/>
            <a:chExt cx="6822948" cy="1235202"/>
          </a:xfrm>
        </p:grpSpPr>
        <p:sp>
          <p:nvSpPr>
            <p:cNvPr id="5" name="TextBox 5"/>
            <p:cNvSpPr txBox="1"/>
            <p:nvPr/>
          </p:nvSpPr>
          <p:spPr>
            <a:xfrm>
              <a:off x="742950" y="1565910"/>
              <a:ext cx="68229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无序蛋白人工智能研究进展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8858" y="233172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序列、构象系综、功能与设计</a:t>
              </a:r>
            </a:p>
          </p:txBody>
        </p:sp>
      </p:grpSp>
      <p:grpSp>
        <p:nvGrpSpPr>
          <p:cNvPr id="10" name="cover-sub"/>
          <p:cNvGrpSpPr/>
          <p:nvPr/>
        </p:nvGrpSpPr>
        <p:grpSpPr>
          <a:xfrm>
            <a:off x="771906" y="3329940"/>
            <a:ext cx="6800088" cy="763905"/>
            <a:chOff x="771906" y="3329940"/>
            <a:chExt cx="6800088" cy="763905"/>
          </a:xfrm>
        </p:grpSpPr>
        <p:sp>
          <p:nvSpPr>
            <p:cNvPr id="8" name="TextBox 8"/>
            <p:cNvSpPr txBox="1"/>
            <p:nvPr/>
          </p:nvSpPr>
          <p:spPr>
            <a:xfrm>
              <a:off x="771906" y="3329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三人小组文献调研与研究路线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3430" y="3800475"/>
              <a:ext cx="6798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以六篇代表性工作为节点，梳理 AI–IDP 的任务链、验证边界与可行研究方向</a:t>
              </a:r>
            </a:p>
          </p:txBody>
        </p:sp>
      </p:grpSp>
      <p:grpSp>
        <p:nvGrpSpPr>
          <p:cNvPr id="16" name="cover-meta"/>
          <p:cNvGrpSpPr/>
          <p:nvPr/>
        </p:nvGrpSpPr>
        <p:grpSpPr>
          <a:xfrm>
            <a:off x="774192" y="5048250"/>
            <a:ext cx="11074908" cy="1657350"/>
            <a:chOff x="774192" y="5048250"/>
            <a:chExt cx="11074908" cy="1657350"/>
          </a:xfrm>
        </p:grpSpPr>
        <p:sp>
          <p:nvSpPr>
            <p:cNvPr id="11" name="TextBox 11"/>
            <p:cNvSpPr txBox="1"/>
            <p:nvPr/>
          </p:nvSpPr>
          <p:spPr>
            <a:xfrm>
              <a:off x="774192" y="5454968"/>
              <a:ext cx="3023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汇报人：A、B、C 时间：2026.__.__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954" y="5947410"/>
              <a:ext cx="73133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3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 U A Z H O N G A G R I C U L T U R A L U N I V E R S I T Y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7000" y="5048250"/>
              <a:ext cx="1066800" cy="10668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11525250" y="6381750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639997" y="6479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38125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0" y="857250"/>
                </a:moveTo>
                <a:cubicBezTo>
                  <a:pt x="2095500" y="0"/>
                  <a:pt x="4000500" y="666750"/>
                  <a:pt x="6667500" y="523875"/>
                </a:cubicBezTo>
                <a:cubicBezTo>
                  <a:pt x="9334500" y="381000"/>
                  <a:pt x="10287000" y="133350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2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38694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IDP/IDR 的研究对象</a:t>
              </a:r>
            </a:p>
          </p:txBody>
        </p:sp>
      </p:grpSp>
      <p:grpSp>
        <p:nvGrpSpPr>
          <p:cNvPr id="18" name="folded"/>
          <p:cNvGrpSpPr/>
          <p:nvPr/>
        </p:nvGrpSpPr>
        <p:grpSpPr>
          <a:xfrm>
            <a:off x="829818" y="1681163"/>
            <a:ext cx="3437382" cy="2681287"/>
            <a:chOff x="829818" y="1681163"/>
            <a:chExt cx="3437382" cy="2681287"/>
          </a:xfrm>
        </p:grpSpPr>
        <p:grpSp>
          <p:nvGrpSpPr>
            <p:cNvPr id="12" name="Group 12"/>
            <p:cNvGrpSpPr/>
            <p:nvPr/>
          </p:nvGrpSpPr>
          <p:grpSpPr>
            <a:xfrm>
              <a:off x="982498" y="1681163"/>
              <a:ext cx="206540" cy="371764"/>
              <a:chOff x="982498" y="1681163"/>
              <a:chExt cx="206540" cy="37176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82498" y="1681163"/>
                <a:ext cx="206540" cy="371764"/>
              </a:xfrm>
              <a:custGeom>
                <a:avLst/>
                <a:gdLst/>
                <a:ahLst/>
                <a:cxnLst/>
                <a:rect l="l" t="t" r="r" b="b"/>
                <a:pathLst>
                  <a:path w="206540" h="371764">
                    <a:moveTo>
                      <a:pt x="206540" y="0"/>
                    </a:moveTo>
                    <a:lnTo>
                      <a:pt x="206540" y="20638"/>
                    </a:lnTo>
                    <a:cubicBezTo>
                      <a:pt x="206334" y="89815"/>
                      <a:pt x="171869" y="144937"/>
                      <a:pt x="103188" y="186027"/>
                    </a:cubicBezTo>
                    <a:cubicBezTo>
                      <a:pt x="34506" y="227095"/>
                      <a:pt x="172034" y="144752"/>
                      <a:pt x="103353" y="185738"/>
                    </a:cubicBezTo>
                    <a:cubicBezTo>
                      <a:pt x="34671" y="226806"/>
                      <a:pt x="165" y="281950"/>
                      <a:pt x="0" y="351127"/>
                    </a:cubicBezTo>
                    <a:lnTo>
                      <a:pt x="0" y="371764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82498" y="1681163"/>
                <a:ext cx="206540" cy="371764"/>
              </a:xfrm>
              <a:custGeom>
                <a:avLst/>
                <a:gdLst/>
                <a:ahLst/>
                <a:cxnLst/>
                <a:rect l="l" t="t" r="r" b="b"/>
                <a:pathLst>
                  <a:path w="206540" h="371764">
                    <a:moveTo>
                      <a:pt x="206540" y="371764"/>
                    </a:moveTo>
                    <a:lnTo>
                      <a:pt x="206540" y="351127"/>
                    </a:lnTo>
                    <a:cubicBezTo>
                      <a:pt x="206334" y="281950"/>
                      <a:pt x="171869" y="226827"/>
                      <a:pt x="103188" y="185738"/>
                    </a:cubicBezTo>
                    <a:cubicBezTo>
                      <a:pt x="34506" y="144669"/>
                      <a:pt x="172034" y="227013"/>
                      <a:pt x="103353" y="186027"/>
                    </a:cubicBezTo>
                    <a:cubicBezTo>
                      <a:pt x="34671" y="144937"/>
                      <a:pt x="165" y="89815"/>
                      <a:pt x="0" y="20638"/>
                    </a:cubicBez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2663" y="1701800"/>
                <a:ext cx="20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9525">
                    <a:moveTo>
                      <a:pt x="0" y="0"/>
                    </a:moveTo>
                    <a:lnTo>
                      <a:pt x="206375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82663" y="2032001"/>
                <a:ext cx="20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9525">
                    <a:moveTo>
                      <a:pt x="0" y="0"/>
                    </a:moveTo>
                    <a:lnTo>
                      <a:pt x="206375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3300" y="1784350"/>
                <a:ext cx="165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525">
                    <a:moveTo>
                      <a:pt x="0" y="0"/>
                    </a:moveTo>
                    <a:lnTo>
                      <a:pt x="16510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3300" y="1949451"/>
                <a:ext cx="165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525">
                    <a:moveTo>
                      <a:pt x="0" y="0"/>
                    </a:moveTo>
                    <a:lnTo>
                      <a:pt x="16510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513332" y="17259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折叠蛋白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23936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氨基酸序列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143125" y="2505075"/>
              <a:ext cx="1762125" cy="9525"/>
            </a:xfrm>
            <a:custGeom>
              <a:avLst/>
              <a:gdLst/>
              <a:ahLst/>
              <a:cxnLst/>
              <a:rect l="l" t="t" r="r" b="b"/>
              <a:pathLst>
                <a:path w="1762125" h="9525">
                  <a:moveTo>
                    <a:pt x="0" y="0"/>
                  </a:moveTo>
                  <a:lnTo>
                    <a:pt x="1762125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24481" y="2853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少数主导结构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162300" y="3257550"/>
              <a:ext cx="1104900" cy="11049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</p:grpSp>
      <p:grpSp>
        <p:nvGrpSpPr>
          <p:cNvPr id="24" name="disordered"/>
          <p:cNvGrpSpPr/>
          <p:nvPr/>
        </p:nvGrpSpPr>
        <p:grpSpPr>
          <a:xfrm>
            <a:off x="5894832" y="1630680"/>
            <a:ext cx="4392168" cy="3107245"/>
            <a:chOff x="5894832" y="1630680"/>
            <a:chExt cx="4392168" cy="3107245"/>
          </a:xfrm>
        </p:grpSpPr>
        <p:sp>
          <p:nvSpPr>
            <p:cNvPr id="19" name="TextBox 19"/>
            <p:cNvSpPr txBox="1"/>
            <p:nvPr/>
          </p:nvSpPr>
          <p:spPr>
            <a:xfrm>
              <a:off x="5894832" y="1630680"/>
              <a:ext cx="12602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IDP / IDR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97118" y="2155508"/>
              <a:ext cx="1160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序列 + 环境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572250" y="2476500"/>
              <a:ext cx="3714750" cy="1714500"/>
            </a:xfrm>
            <a:custGeom>
              <a:avLst/>
              <a:gdLst/>
              <a:ahLst/>
              <a:cxnLst/>
              <a:rect l="l" t="t" r="r" b="b"/>
              <a:pathLst>
                <a:path w="3714750" h="1714500">
                  <a:moveTo>
                    <a:pt x="666750" y="0"/>
                  </a:moveTo>
                  <a:cubicBezTo>
                    <a:pt x="95250" y="476250"/>
                    <a:pt x="1238250" y="571500"/>
                    <a:pt x="619125" y="1095375"/>
                  </a:cubicBezTo>
                  <a:cubicBezTo>
                    <a:pt x="0" y="1619250"/>
                    <a:pt x="1619250" y="1714500"/>
                    <a:pt x="2286000" y="952500"/>
                  </a:cubicBezTo>
                  <a:cubicBezTo>
                    <a:pt x="2952750" y="190500"/>
                    <a:pt x="3048000" y="190500"/>
                    <a:pt x="3714750" y="904875"/>
                  </a:cubicBez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25868" y="415575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构象概率分布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27392" y="44738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多个状态与不同权重</a:t>
              </a:r>
            </a:p>
          </p:txBody>
        </p:sp>
      </p:grpSp>
      <p:grpSp>
        <p:nvGrpSpPr>
          <p:cNvPr id="30" name="basics"/>
          <p:cNvGrpSpPr/>
          <p:nvPr/>
        </p:nvGrpSpPr>
        <p:grpSpPr>
          <a:xfrm>
            <a:off x="609600" y="4953000"/>
            <a:ext cx="10972800" cy="1047750"/>
            <a:chOff x="609600" y="4953000"/>
            <a:chExt cx="10972800" cy="1047750"/>
          </a:xfrm>
        </p:grpSpPr>
        <p:sp>
          <p:nvSpPr>
            <p:cNvPr id="25" name="Rectangle 25"/>
            <p:cNvSpPr/>
            <p:nvPr/>
          </p:nvSpPr>
          <p:spPr>
            <a:xfrm>
              <a:off x="609600" y="4953000"/>
              <a:ext cx="109728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2480" y="50958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汇报所需基础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3242" y="5435918"/>
              <a:ext cx="6493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-398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ensemble 表示多个构象及其统计权重　 • 盐浓度、温度和结合伙伴会改变分布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3242" y="5712142"/>
              <a:ext cx="4530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-398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评价模型时必须同时看全局尺寸、局部结构和分布覆盖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46392" y="51120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后续六篇论文分别处理这条任务链中的不同环节</a:t>
              </a:r>
            </a:p>
          </p:txBody>
        </p:sp>
      </p:grpSp>
      <p:grpSp>
        <p:nvGrpSpPr>
          <p:cNvPr id="32" name="object-takeaway"/>
          <p:cNvGrpSpPr/>
          <p:nvPr/>
        </p:nvGrpSpPr>
        <p:grpSpPr>
          <a:xfrm>
            <a:off x="602742" y="6007418"/>
            <a:ext cx="4738878" cy="264033"/>
            <a:chOff x="602742" y="6007418"/>
            <a:chExt cx="4738878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602742" y="600741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研究对象不再是一张结构图，而是受条件影响的构象分布。</a:t>
              </a:r>
            </a:p>
          </p:txBody>
        </p:sp>
      </p:grpSp>
      <p:grpSp>
        <p:nvGrpSpPr>
          <p:cNvPr id="36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666750"/>
            <a:ext cx="12192000" cy="3619500"/>
          </a:xfrm>
          <a:custGeom>
            <a:avLst/>
            <a:gdLst/>
            <a:ahLst/>
            <a:cxnLst/>
            <a:rect l="l" t="t" r="r" b="b"/>
            <a:pathLst>
              <a:path w="12192000" h="3619500">
                <a:moveTo>
                  <a:pt x="0" y="3619500"/>
                </a:moveTo>
                <a:cubicBezTo>
                  <a:pt x="2095500" y="0"/>
                  <a:pt x="4000500" y="3000375"/>
                  <a:pt x="6667500" y="3095625"/>
                </a:cubicBezTo>
                <a:cubicBezTo>
                  <a:pt x="9334500" y="3190875"/>
                  <a:pt x="10287000" y="952500"/>
                  <a:pt x="12192000" y="242887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3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31866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AI–IDP 任务地图</a:t>
              </a:r>
            </a:p>
          </p:txBody>
        </p:sp>
      </p:grpSp>
      <p:grpSp>
        <p:nvGrpSpPr>
          <p:cNvPr id="19" name="chain"/>
          <p:cNvGrpSpPr/>
          <p:nvPr/>
        </p:nvGrpSpPr>
        <p:grpSpPr>
          <a:xfrm>
            <a:off x="371094" y="2390775"/>
            <a:ext cx="9946386" cy="1141095"/>
            <a:chOff x="371094" y="2390775"/>
            <a:chExt cx="9946386" cy="1141095"/>
          </a:xfrm>
        </p:grpSpPr>
        <p:sp>
          <p:nvSpPr>
            <p:cNvPr id="6" name="Line 6"/>
            <p:cNvSpPr/>
            <p:nvPr/>
          </p:nvSpPr>
          <p:spPr>
            <a:xfrm>
              <a:off x="762000" y="2714625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4381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71094" y="3238500"/>
              <a:ext cx="781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IDR 序列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22669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79320" y="3238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序列性质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095750" y="2390775"/>
              <a:ext cx="647700" cy="6477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008120" y="3238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构象系综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9245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69255" y="3238500"/>
              <a:ext cx="15582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相互作用与 LLPS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533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64755" y="32385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生物学功能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5821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94520" y="3238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工程设计</a:t>
              </a:r>
            </a:p>
          </p:txBody>
        </p:sp>
      </p:grpSp>
      <p:grpSp>
        <p:nvGrpSpPr>
          <p:cNvPr id="21" name="above-0"/>
          <p:cNvGrpSpPr/>
          <p:nvPr/>
        </p:nvGrpSpPr>
        <p:grpSpPr>
          <a:xfrm>
            <a:off x="850392" y="1425892"/>
            <a:ext cx="648835" cy="264033"/>
            <a:chOff x="850392" y="1425892"/>
            <a:chExt cx="648835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850392" y="1425892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GOOSE</a:t>
              </a:r>
            </a:p>
          </p:txBody>
        </p:sp>
      </p:grpSp>
      <p:grpSp>
        <p:nvGrpSpPr>
          <p:cNvPr id="23" name="above-1"/>
          <p:cNvGrpSpPr/>
          <p:nvPr/>
        </p:nvGrpSpPr>
        <p:grpSpPr>
          <a:xfrm>
            <a:off x="3326892" y="1425892"/>
            <a:ext cx="967835" cy="492633"/>
            <a:chOff x="3326892" y="1425892"/>
            <a:chExt cx="967835" cy="492633"/>
          </a:xfrm>
        </p:grpSpPr>
        <p:sp>
          <p:nvSpPr>
            <p:cNvPr id="22" name="TextBox 22"/>
            <p:cNvSpPr txBox="1"/>
            <p:nvPr/>
          </p:nvSpPr>
          <p:spPr>
            <a:xfrm>
              <a:off x="3326892" y="1425892"/>
              <a:ext cx="967835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STARLING ID</a:t>
              </a:r>
              <a:br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PFold</a:t>
              </a:r>
            </a:p>
          </p:txBody>
        </p:sp>
      </p:grpSp>
      <p:grpSp>
        <p:nvGrpSpPr>
          <p:cNvPr id="25" name="above-2"/>
          <p:cNvGrpSpPr/>
          <p:nvPr/>
        </p:nvGrpSpPr>
        <p:grpSpPr>
          <a:xfrm>
            <a:off x="5803392" y="1425892"/>
            <a:ext cx="877104" cy="264033"/>
            <a:chOff x="5803392" y="1425892"/>
            <a:chExt cx="87710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5803392" y="1425892"/>
              <a:ext cx="877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LLPSense</a:t>
              </a:r>
            </a:p>
          </p:txBody>
        </p:sp>
      </p:grpSp>
      <p:grpSp>
        <p:nvGrpSpPr>
          <p:cNvPr id="27" name="above-3"/>
          <p:cNvGrpSpPr/>
          <p:nvPr/>
        </p:nvGrpSpPr>
        <p:grpSpPr>
          <a:xfrm>
            <a:off x="8279892" y="1425892"/>
            <a:ext cx="1210866" cy="721233"/>
            <a:chOff x="8279892" y="1425892"/>
            <a:chExt cx="1210866" cy="721233"/>
          </a:xfrm>
        </p:grpSpPr>
        <p:sp>
          <p:nvSpPr>
            <p:cNvPr id="26" name="TextBox 26"/>
            <p:cNvSpPr txBox="1"/>
            <p:nvPr/>
          </p:nvSpPr>
          <p:spPr>
            <a:xfrm>
              <a:off x="8279892" y="1425892"/>
              <a:ext cx="1210866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IDR binder</a:t>
              </a:r>
              <a:br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interface pep</a:t>
              </a:r>
              <a:br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tide</a:t>
              </a:r>
            </a:p>
          </p:txBody>
        </p:sp>
      </p:grpSp>
      <p:grpSp>
        <p:nvGrpSpPr>
          <p:cNvPr id="29" name="below-0"/>
          <p:cNvGrpSpPr/>
          <p:nvPr/>
        </p:nvGrpSpPr>
        <p:grpSpPr>
          <a:xfrm>
            <a:off x="850392" y="4283392"/>
            <a:ext cx="2414016" cy="949833"/>
            <a:chOff x="850392" y="4283392"/>
            <a:chExt cx="2414016" cy="949833"/>
          </a:xfrm>
        </p:grpSpPr>
        <p:sp>
          <p:nvSpPr>
            <p:cNvPr id="28" name="TextBox 28"/>
            <p:cNvSpPr txBox="1"/>
            <p:nvPr/>
          </p:nvSpPr>
          <p:spPr>
            <a:xfrm>
              <a:off x="850392" y="4283392"/>
              <a:ext cx="2414016" cy="949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Unified ensemb</a:t>
              </a:r>
              <a:br/>
              <a:r>
                <a:rPr lang="zh-CN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le framework：实</a:t>
              </a:r>
              <a:br/>
              <a:r>
                <a:rPr lang="zh-CN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验观测、模拟与重加权共同约束</a:t>
              </a:r>
              <a:br/>
              <a:r>
                <a:rPr lang="zh-CN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构象系综</a:t>
              </a:r>
            </a:p>
          </p:txBody>
        </p:sp>
      </p:grpSp>
      <p:grpSp>
        <p:nvGrpSpPr>
          <p:cNvPr id="32" name="takeaway"/>
          <p:cNvGrpSpPr/>
          <p:nvPr/>
        </p:nvGrpSpPr>
        <p:grpSpPr>
          <a:xfrm>
            <a:off x="609600" y="5334000"/>
            <a:ext cx="10972800" cy="685800"/>
            <a:chOff x="609600" y="5334000"/>
            <a:chExt cx="10972800" cy="685800"/>
          </a:xfrm>
        </p:grpSpPr>
        <p:sp>
          <p:nvSpPr>
            <p:cNvPr id="30" name="Rectangle 30"/>
            <p:cNvSpPr/>
            <p:nvPr/>
          </p:nvSpPr>
          <p:spPr>
            <a:xfrm>
              <a:off x="609600" y="5334000"/>
              <a:ext cx="109728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9818" y="5565458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当前断点：这些论文覆盖多个节点，但尚未形成经过实验约束的端到端系统</a:t>
              </a:r>
            </a:p>
          </p:txBody>
        </p:sp>
      </p:grpSp>
      <p:grpSp>
        <p:nvGrpSpPr>
          <p:cNvPr id="36" name="footer-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4"/>
          <p:cNvSpPr/>
          <p:nvPr/>
        </p:nvSpPr>
        <p:spPr>
          <a:xfrm>
            <a:off x="0" y="-1905000"/>
            <a:ext cx="12192000" cy="6191250"/>
          </a:xfrm>
          <a:custGeom>
            <a:avLst/>
            <a:gdLst/>
            <a:ahLst/>
            <a:cxnLst/>
            <a:rect l="l" t="t" r="r" b="b"/>
            <a:pathLst>
              <a:path w="12192000" h="6191250">
                <a:moveTo>
                  <a:pt x="0" y="3048000"/>
                </a:moveTo>
                <a:cubicBezTo>
                  <a:pt x="2095500" y="3429000"/>
                  <a:pt x="4000500" y="6191250"/>
                  <a:pt x="6667500" y="3095625"/>
                </a:cubicBezTo>
                <a:cubicBezTo>
                  <a:pt x="9334500" y="0"/>
                  <a:pt x="10287000" y="4572000"/>
                  <a:pt x="12192000" y="5715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4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本次汇报的三个问题</a:t>
              </a:r>
            </a:p>
          </p:txBody>
        </p:sp>
      </p:grpSp>
      <p:grpSp>
        <p:nvGrpSpPr>
          <p:cNvPr id="10" name="question-1"/>
          <p:cNvGrpSpPr/>
          <p:nvPr/>
        </p:nvGrpSpPr>
        <p:grpSpPr>
          <a:xfrm>
            <a:off x="655320" y="1616392"/>
            <a:ext cx="2953512" cy="2109597"/>
            <a:chOff x="655320" y="1616392"/>
            <a:chExt cx="2953512" cy="2109597"/>
          </a:xfrm>
        </p:grpSpPr>
        <p:sp>
          <p:nvSpPr>
            <p:cNvPr id="6" name="TextBox 6"/>
            <p:cNvSpPr txBox="1"/>
            <p:nvPr/>
          </p:nvSpPr>
          <p:spPr>
            <a:xfrm>
              <a:off x="659892" y="16163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5320" y="1995488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可信的构象系综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66750" y="24574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8368" y="2774632"/>
              <a:ext cx="2950464" cy="951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能否从一条 IDR 序列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生成覆盖合理、局部结构可信的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ensemble？</a:t>
              </a:r>
            </a:p>
          </p:txBody>
        </p:sp>
      </p:grpSp>
      <p:grpSp>
        <p:nvGrpSpPr>
          <p:cNvPr id="15" name="question-2"/>
          <p:cNvGrpSpPr/>
          <p:nvPr/>
        </p:nvGrpSpPr>
        <p:grpSpPr>
          <a:xfrm>
            <a:off x="4417695" y="1616392"/>
            <a:ext cx="2868930" cy="2423922"/>
            <a:chOff x="4417695" y="1616392"/>
            <a:chExt cx="2868930" cy="2423922"/>
          </a:xfrm>
        </p:grpSpPr>
        <p:sp>
          <p:nvSpPr>
            <p:cNvPr id="11" name="TextBox 11"/>
            <p:cNvSpPr txBox="1"/>
            <p:nvPr/>
          </p:nvSpPr>
          <p:spPr>
            <a:xfrm>
              <a:off x="4422267" y="16163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17695" y="1995488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环境与功能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429125" y="24574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20743" y="2774632"/>
              <a:ext cx="2248472" cy="1265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sequence、ensemb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 和 environmen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 怎样共同决定 LLPS 与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相互作用？</a:t>
              </a:r>
            </a:p>
          </p:txBody>
        </p:sp>
      </p:grpSp>
      <p:grpSp>
        <p:nvGrpSpPr>
          <p:cNvPr id="20" name="question-3"/>
          <p:cNvGrpSpPr/>
          <p:nvPr/>
        </p:nvGrpSpPr>
        <p:grpSpPr>
          <a:xfrm>
            <a:off x="8180070" y="1616392"/>
            <a:ext cx="2868930" cy="2109597"/>
            <a:chOff x="8180070" y="1616392"/>
            <a:chExt cx="2868930" cy="2109597"/>
          </a:xfrm>
        </p:grpSpPr>
        <p:sp>
          <p:nvSpPr>
            <p:cNvPr id="16" name="TextBox 16"/>
            <p:cNvSpPr txBox="1"/>
            <p:nvPr/>
          </p:nvSpPr>
          <p:spPr>
            <a:xfrm>
              <a:off x="8184642" y="16163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0070" y="19954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功能分子设计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191500" y="24574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83118" y="2774632"/>
              <a:ext cx="2531364" cy="951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能否围绕 IDR 或凝聚体设计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binder、定位肽和新的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IDR 序列？</a:t>
              </a:r>
            </a:p>
          </p:txBody>
        </p:sp>
      </p:grpSp>
      <p:grpSp>
        <p:nvGrpSpPr>
          <p:cNvPr id="22" name="question-note"/>
          <p:cNvGrpSpPr/>
          <p:nvPr/>
        </p:nvGrpSpPr>
        <p:grpSpPr>
          <a:xfrm>
            <a:off x="658368" y="5679758"/>
            <a:ext cx="5569839" cy="322707"/>
            <a:chOff x="658368" y="5679758"/>
            <a:chExt cx="5569839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58368" y="5679758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六篇论文按照问题出现，不按照阅读人或发表顺序排列。</a:t>
              </a:r>
            </a:p>
          </p:txBody>
        </p:sp>
      </p:grpSp>
      <p:grpSp>
        <p:nvGrpSpPr>
          <p:cNvPr id="26" name="footer-4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4" name="Rectangle 2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4232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GOOSE：可控 IDR 序列设计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985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放置 GOOSE 核心流程图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建议选择：用户指定性质、序列生成、性质检查三部分均出现的图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141470" cy="1000125"/>
            <a:chOff x="6858000" y="1333500"/>
            <a:chExt cx="414147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怎样根据预设的序列或聚合物性质反向生成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408045" cy="1000125"/>
            <a:chOff x="6858000" y="2333625"/>
            <a:chExt cx="3408045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22516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输入：长度、电荷、疏水性、κ 等目标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输出：满足约束的 IDR 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141470" cy="1000125"/>
            <a:chOff x="6858000" y="3333750"/>
            <a:chExt cx="414147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展示性质命中率、序列多样性，以及与天然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的比较。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4284345" cy="1217295"/>
            <a:chOff x="6858000" y="4333875"/>
            <a:chExt cx="428434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410146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GOOSE 主要设计序列，不直接输出具有统计权重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的三维 ensemble。</a:t>
              </a:r>
            </a:p>
          </p:txBody>
        </p:sp>
      </p:grp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6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8008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STARLING：快速构象系综生成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529437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放置 STARLING 模型与输出图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建议选择：sequence / ionic strength 输入、距离图或三维构象输出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141470" cy="1000125"/>
            <a:chOff x="6858000" y="1333500"/>
            <a:chExt cx="414147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能否从序列和条件快速生成大量相互一致的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379470" cy="1000125"/>
            <a:chOff x="6858000" y="2333625"/>
            <a:chExt cx="337947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196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输入：IDR 序列及论文支持的环境条件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输出：残基距离表示和三维构象集合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160520" cy="1000125"/>
            <a:chOff x="6858000" y="3333750"/>
            <a:chExt cx="416052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39776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突出采样速度、全局尺寸分布和与参考 ensemb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 的一致性。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3808095" cy="1217295"/>
            <a:chOff x="6858000" y="4333875"/>
            <a:chExt cx="380809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362521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模型生成的样本仍受训练 ensemble 和力场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质量限制。</a:t>
              </a:r>
            </a:p>
          </p:txBody>
        </p:sp>
      </p:grp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524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762250"/>
                </a:moveTo>
                <a:cubicBezTo>
                  <a:pt x="2095500" y="0"/>
                  <a:pt x="4000500" y="1524000"/>
                  <a:pt x="6667500" y="2238375"/>
                </a:cubicBezTo>
                <a:cubicBezTo>
                  <a:pt x="9334500" y="2952750"/>
                  <a:pt x="10287000" y="1143000"/>
                  <a:pt x="12192000" y="8572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7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74587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IDPFold：残基刚体扩散生成 ensemble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375989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放置 IDPFold Figure 1C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 sequence feature、Initialization Block、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Denoising Block 和输出路径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198620" cy="1000125"/>
            <a:chOff x="6858000" y="1333500"/>
            <a:chExt cx="419862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40157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怎样在原子级主链框架上直接生成多样的 IDP 构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象？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627120" cy="1000125"/>
            <a:chOff x="6858000" y="2333625"/>
            <a:chExt cx="362712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444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输入：氨基酸序列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输出：多次采样得到的主链构象及扭转角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770120" cy="1000125"/>
            <a:chOff x="6858000" y="3333750"/>
            <a:chExt cx="477012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4587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选择一项全局尺寸结果和一项局部结构结果，不逐层讲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完全部网络。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4770120" cy="1217295"/>
            <a:chOff x="6858000" y="4333875"/>
            <a:chExt cx="4770120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4587240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独立样本不提供构象转换速率，也不能自动解释为真实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平衡权重。</a:t>
              </a:r>
            </a:p>
          </p:txBody>
        </p:sp>
      </p:grpSp>
      <p:grpSp>
        <p:nvGrpSpPr>
          <p:cNvPr id="31" name="footer-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-1285875"/>
            <a:ext cx="12192000" cy="5000625"/>
          </a:xfrm>
          <a:custGeom>
            <a:avLst/>
            <a:gdLst/>
            <a:ahLst/>
            <a:cxnLst/>
            <a:rect l="l" t="t" r="r" b="b"/>
            <a:pathLst>
              <a:path w="12192000" h="5000625">
                <a:moveTo>
                  <a:pt x="0" y="2428875"/>
                </a:moveTo>
                <a:cubicBezTo>
                  <a:pt x="2095500" y="3667125"/>
                  <a:pt x="4000500" y="4953000"/>
                  <a:pt x="6667500" y="2476500"/>
                </a:cubicBezTo>
                <a:cubicBezTo>
                  <a:pt x="9334500" y="0"/>
                  <a:pt x="10287000" y="5000625"/>
                  <a:pt x="12192000" y="43815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8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6374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STARLING 与 IDPFold 的比较</a:t>
              </a:r>
            </a:p>
          </p:txBody>
        </p:sp>
      </p:grpSp>
      <p:grpSp>
        <p:nvGrpSpPr>
          <p:cNvPr id="62" name="comparison-table"/>
          <p:cNvGrpSpPr/>
          <p:nvPr/>
        </p:nvGrpSpPr>
        <p:grpSpPr>
          <a:xfrm>
            <a:off x="609600" y="1285875"/>
            <a:ext cx="10972800" cy="4191000"/>
            <a:chOff x="609600" y="1285875"/>
            <a:chExt cx="10972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285875"/>
              <a:ext cx="1619250" cy="59871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7992" y="1378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228850" y="1285875"/>
              <a:ext cx="2714625" cy="59871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17242" y="1378268"/>
              <a:ext cx="85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STARLING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43475" y="1285875"/>
              <a:ext cx="2714625" cy="59871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031867" y="1378268"/>
              <a:ext cx="6736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IDPFold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58100" y="1285875"/>
              <a:ext cx="3924300" cy="59871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46492" y="137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汇报中的结论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1884589"/>
              <a:ext cx="1619250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8754" y="1993174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核心任务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28850" y="1884589"/>
              <a:ext cx="2714625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18004" y="1993174"/>
              <a:ext cx="170383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序列与条件生成 ensembl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43475" y="1884589"/>
              <a:ext cx="2714625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32629" y="1993174"/>
              <a:ext cx="1409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序列生成 ensemble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58100" y="1884589"/>
              <a:ext cx="3924300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47254" y="1993174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任务相近，建模路线不同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9600" y="2483304"/>
              <a:ext cx="1619250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8754" y="2591889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结构表示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228850" y="2483304"/>
              <a:ext cx="2714625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318004" y="2591889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按原文填写距离或构象表示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943475" y="2483304"/>
              <a:ext cx="2714625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32629" y="2591889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残基刚体框架与扭转角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58100" y="2483304"/>
              <a:ext cx="3924300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47254" y="2591889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表示决定可评价的结构细节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3082018"/>
              <a:ext cx="1619250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8754" y="3190603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环境条件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228850" y="3082018"/>
              <a:ext cx="2714625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18004" y="3190603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填写论文实际支持的条件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943475" y="3082018"/>
              <a:ext cx="2714625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32629" y="3190603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填写论文实际支持的条件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082018"/>
              <a:ext cx="3924300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7254" y="3190603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不能把未输入的条件当作已建模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3680732"/>
              <a:ext cx="1619250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8754" y="378931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计算效率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228850" y="3680732"/>
              <a:ext cx="2714625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18004" y="3789317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填写论文报告的速度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943475" y="3680732"/>
              <a:ext cx="2714625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032629" y="3789317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填写论文报告的速度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58100" y="3680732"/>
              <a:ext cx="3924300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47254" y="3789317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统一硬件和序列长度后再比较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" y="4279446"/>
              <a:ext cx="1619250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8754" y="4388031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主要证据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228850" y="4279446"/>
              <a:ext cx="2714625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318004" y="4388031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全局尺寸、分布和参考系综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43475" y="4279446"/>
              <a:ext cx="2714625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032629" y="4388031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全局与局部结构观测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58100" y="4279446"/>
              <a:ext cx="3924300" cy="598714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47254" y="4388031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保留实验与模拟来源差异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4878161"/>
              <a:ext cx="1619250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8754" y="4986746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共同局限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228850" y="4878161"/>
              <a:ext cx="2714625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318004" y="4986746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训练数据和力场偏差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943475" y="4878161"/>
              <a:ext cx="2714625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032629" y="4986746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训练数据和力场偏差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658100" y="4878161"/>
              <a:ext cx="3924300" cy="598714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47254" y="4986746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两者都不能直接证明真实平衡分布</a:t>
              </a:r>
            </a:p>
          </p:txBody>
        </p:sp>
      </p:grpSp>
      <p:grpSp>
        <p:nvGrpSpPr>
          <p:cNvPr id="65" name="conclusion"/>
          <p:cNvGrpSpPr/>
          <p:nvPr/>
        </p:nvGrpSpPr>
        <p:grpSpPr>
          <a:xfrm>
            <a:off x="601980" y="5676900"/>
            <a:ext cx="10980420" cy="455295"/>
            <a:chOff x="601980" y="5676900"/>
            <a:chExt cx="10980420" cy="455295"/>
          </a:xfrm>
        </p:grpSpPr>
        <p:sp>
          <p:nvSpPr>
            <p:cNvPr id="63" name="Line 63"/>
            <p:cNvSpPr/>
            <p:nvPr/>
          </p:nvSpPr>
          <p:spPr>
            <a:xfrm>
              <a:off x="609600" y="5676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1980" y="58388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结论写法：比较建模假设、输出分辨率和验证证据，不简单宣布某个模型更好。</a:t>
              </a:r>
            </a:p>
          </p:txBody>
        </p:sp>
      </p:grpSp>
      <p:grpSp>
        <p:nvGrpSpPr>
          <p:cNvPr id="69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66" name="Image 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67" name="Rectangle 6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-190500"/>
            <a:ext cx="12192000" cy="4476750"/>
          </a:xfrm>
          <a:custGeom>
            <a:avLst/>
            <a:gdLst/>
            <a:ahLst/>
            <a:cxnLst/>
            <a:rect l="l" t="t" r="r" b="b"/>
            <a:pathLst>
              <a:path w="12192000" h="4476750">
                <a:moveTo>
                  <a:pt x="0" y="2381250"/>
                </a:moveTo>
                <a:cubicBezTo>
                  <a:pt x="2095500" y="857250"/>
                  <a:pt x="4000500" y="4476750"/>
                  <a:pt x="6667500" y="2238375"/>
                </a:cubicBezTo>
                <a:cubicBezTo>
                  <a:pt x="9334500" y="0"/>
                  <a:pt x="10287000" y="1809750"/>
                  <a:pt x="12192000" y="40005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9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构象系综的确定与验证</a:t>
              </a:r>
            </a:p>
          </p:txBody>
        </p:sp>
      </p:grpSp>
      <p:grpSp>
        <p:nvGrpSpPr>
          <p:cNvPr id="20" name="validation-flow"/>
          <p:cNvGrpSpPr/>
          <p:nvPr/>
        </p:nvGrpSpPr>
        <p:grpSpPr>
          <a:xfrm>
            <a:off x="762000" y="1952625"/>
            <a:ext cx="10239375" cy="666750"/>
            <a:chOff x="762000" y="1952625"/>
            <a:chExt cx="10239375" cy="666750"/>
          </a:xfrm>
        </p:grpSpPr>
        <p:sp>
          <p:nvSpPr>
            <p:cNvPr id="6" name="Rectangle 6"/>
            <p:cNvSpPr/>
            <p:nvPr/>
          </p:nvSpPr>
          <p:spPr>
            <a:xfrm>
              <a:off x="762000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05535" y="21988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候选构象池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428875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905125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19029" y="2198846"/>
              <a:ext cx="14295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forward model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572000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048250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87365" y="21988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实验观测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15125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91375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4910" y="21988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统计重加权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858250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334500" y="1952625"/>
              <a:ext cx="1666875" cy="6667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02525" y="2198846"/>
              <a:ext cx="15213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一致的 ensemble</a:t>
              </a:r>
            </a:p>
          </p:txBody>
        </p:sp>
      </p:grpSp>
      <p:grpSp>
        <p:nvGrpSpPr>
          <p:cNvPr id="25" name="exp-constraints"/>
          <p:cNvGrpSpPr/>
          <p:nvPr/>
        </p:nvGrpSpPr>
        <p:grpSpPr>
          <a:xfrm>
            <a:off x="656844" y="3694748"/>
            <a:ext cx="2731232" cy="1520095"/>
            <a:chOff x="656844" y="3694748"/>
            <a:chExt cx="2731232" cy="1520095"/>
          </a:xfrm>
        </p:grpSpPr>
        <p:sp>
          <p:nvSpPr>
            <p:cNvPr id="21" name="TextBox 21"/>
            <p:cNvSpPr txBox="1"/>
            <p:nvPr/>
          </p:nvSpPr>
          <p:spPr>
            <a:xfrm>
              <a:off x="656844" y="36947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实验约束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8749" y="4163854"/>
              <a:ext cx="23825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0561" indent="-170561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SAXS：整体尺寸与形状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8749" y="4535329"/>
              <a:ext cx="20462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0561" indent="-170561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PRE：瞬时长程接触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8749" y="4906804"/>
              <a:ext cx="27293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0561" indent="-170561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NMR：局部环境与构象倾向</a:t>
              </a:r>
            </a:p>
          </p:txBody>
        </p:sp>
      </p:grpSp>
      <p:grpSp>
        <p:nvGrpSpPr>
          <p:cNvPr id="31" name="boundaries"/>
          <p:cNvGrpSpPr/>
          <p:nvPr/>
        </p:nvGrpSpPr>
        <p:grpSpPr>
          <a:xfrm>
            <a:off x="6181344" y="3694748"/>
            <a:ext cx="5468874" cy="1967103"/>
            <a:chOff x="6181344" y="3694748"/>
            <a:chExt cx="5468874" cy="1967103"/>
          </a:xfrm>
        </p:grpSpPr>
        <p:sp>
          <p:nvSpPr>
            <p:cNvPr id="26" name="TextBox 26"/>
            <p:cNvSpPr txBox="1"/>
            <p:nvPr/>
          </p:nvSpPr>
          <p:spPr>
            <a:xfrm>
              <a:off x="6181344" y="36947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需要保留的边界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3630" y="4171950"/>
              <a:ext cx="31960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实验通常观测 ensemble 的平均量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3630" y="4543425"/>
              <a:ext cx="31960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不同 ensemble 可能产生相似观测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83630" y="4914900"/>
              <a:ext cx="2600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单一指标不能唯一确定分布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84392" y="5397818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这篇综述承担评价框架，不需要像研究论文一样展开全部实验技术。</a:t>
              </a:r>
            </a:p>
          </p:txBody>
        </p:sp>
      </p:grpSp>
      <p:grpSp>
        <p:nvGrpSpPr>
          <p:cNvPr id="35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3" name="Rectangle 3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0"/>
          <p:cNvSpPr/>
          <p:nvPr/>
        </p:nvSpPr>
        <p:spPr>
          <a:xfrm>
            <a:off x="0" y="95250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286000"/>
                </a:moveTo>
                <a:cubicBezTo>
                  <a:pt x="2095500" y="571500"/>
                  <a:pt x="4000500" y="857250"/>
                  <a:pt x="6667500" y="1952625"/>
                </a:cubicBezTo>
                <a:cubicBezTo>
                  <a:pt x="9334500" y="3048000"/>
                  <a:pt x="10287000" y="171450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0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494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ensemble 与功能之间的断点</a:t>
              </a:r>
            </a:p>
          </p:txBody>
        </p:sp>
      </p:grpSp>
      <p:grpSp>
        <p:nvGrpSpPr>
          <p:cNvPr id="23" name="gap-chain"/>
          <p:cNvGrpSpPr/>
          <p:nvPr/>
        </p:nvGrpSpPr>
        <p:grpSpPr>
          <a:xfrm>
            <a:off x="1136142" y="2235518"/>
            <a:ext cx="9998472" cy="2004821"/>
            <a:chOff x="1136142" y="2235518"/>
            <a:chExt cx="9998472" cy="2004821"/>
          </a:xfrm>
        </p:grpSpPr>
        <p:sp>
          <p:nvSpPr>
            <p:cNvPr id="6" name="TextBox 6"/>
            <p:cNvSpPr txBox="1"/>
            <p:nvPr/>
          </p:nvSpPr>
          <p:spPr>
            <a:xfrm>
              <a:off x="1136142" y="2235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当前薄弱连接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578597" y="3017044"/>
              <a:ext cx="214484" cy="386063"/>
              <a:chOff x="1578597" y="3017044"/>
              <a:chExt cx="214484" cy="38606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578597" y="3017044"/>
                <a:ext cx="214484" cy="386063"/>
              </a:xfrm>
              <a:custGeom>
                <a:avLst/>
                <a:gdLst/>
                <a:ahLst/>
                <a:cxnLst/>
                <a:rect l="l" t="t" r="r" b="b"/>
                <a:pathLst>
                  <a:path w="214484" h="386063">
                    <a:moveTo>
                      <a:pt x="214484" y="0"/>
                    </a:moveTo>
                    <a:lnTo>
                      <a:pt x="214484" y="21431"/>
                    </a:lnTo>
                    <a:cubicBezTo>
                      <a:pt x="214270" y="93269"/>
                      <a:pt x="178479" y="150512"/>
                      <a:pt x="107156" y="193181"/>
                    </a:cubicBezTo>
                    <a:cubicBezTo>
                      <a:pt x="35833" y="235829"/>
                      <a:pt x="178651" y="150319"/>
                      <a:pt x="107328" y="192881"/>
                    </a:cubicBezTo>
                    <a:cubicBezTo>
                      <a:pt x="36005" y="235529"/>
                      <a:pt x="171" y="292794"/>
                      <a:pt x="0" y="364631"/>
                    </a:cubicBezTo>
                    <a:lnTo>
                      <a:pt x="0" y="386063"/>
                    </a:lnTo>
                  </a:path>
                </a:pathLst>
              </a:custGeom>
              <a:noFill/>
              <a:ln w="428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78597" y="3017044"/>
                <a:ext cx="214484" cy="386063"/>
              </a:xfrm>
              <a:custGeom>
                <a:avLst/>
                <a:gdLst/>
                <a:ahLst/>
                <a:cxnLst/>
                <a:rect l="l" t="t" r="r" b="b"/>
                <a:pathLst>
                  <a:path w="214484" h="386063">
                    <a:moveTo>
                      <a:pt x="214484" y="386063"/>
                    </a:moveTo>
                    <a:lnTo>
                      <a:pt x="214484" y="364631"/>
                    </a:lnTo>
                    <a:cubicBezTo>
                      <a:pt x="214270" y="292794"/>
                      <a:pt x="178479" y="235551"/>
                      <a:pt x="107156" y="192881"/>
                    </a:cubicBezTo>
                    <a:cubicBezTo>
                      <a:pt x="35833" y="150233"/>
                      <a:pt x="178651" y="235744"/>
                      <a:pt x="107328" y="193181"/>
                    </a:cubicBezTo>
                    <a:cubicBezTo>
                      <a:pt x="36005" y="150512"/>
                      <a:pt x="171" y="93269"/>
                      <a:pt x="0" y="21431"/>
                    </a:cubicBezTo>
                    <a:lnTo>
                      <a:pt x="0" y="0"/>
                    </a:lnTo>
                  </a:path>
                </a:pathLst>
              </a:custGeom>
              <a:noFill/>
              <a:ln w="428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578769" y="3038475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4286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578769" y="3381375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4286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600200" y="31242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4286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00200" y="329565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42862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085594" y="3075622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氨基酸序列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619500" y="31908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048233" y="3009900"/>
              <a:ext cx="381017" cy="381000"/>
              <a:chOff x="5048233" y="3009900"/>
              <a:chExt cx="381017" cy="381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143500" y="310515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261938" y="6382"/>
                    </a:moveTo>
                    <a:cubicBezTo>
                      <a:pt x="276672" y="14889"/>
                      <a:pt x="285750" y="30611"/>
                      <a:pt x="285750" y="47625"/>
                    </a:cubicBezTo>
                    <a:lnTo>
                      <a:pt x="285750" y="238125"/>
                    </a:lnTo>
                    <a:cubicBezTo>
                      <a:pt x="285750" y="264428"/>
                      <a:pt x="264428" y="285750"/>
                      <a:pt x="238125" y="285750"/>
                    </a:cubicBezTo>
                    <a:lnTo>
                      <a:pt x="47625" y="285750"/>
                    </a:lnTo>
                    <a:cubicBezTo>
                      <a:pt x="21322" y="285750"/>
                      <a:pt x="0" y="264428"/>
                      <a:pt x="0" y="2381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47625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48233" y="3009900"/>
                <a:ext cx="285767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67" h="285750">
                    <a:moveTo>
                      <a:pt x="23829" y="279416"/>
                    </a:moveTo>
                    <a:cubicBezTo>
                      <a:pt x="9079" y="270900"/>
                      <a:pt x="0" y="255156"/>
                      <a:pt x="17" y="238125"/>
                    </a:cubicBezTo>
                    <a:lnTo>
                      <a:pt x="17" y="47625"/>
                    </a:lnTo>
                    <a:cubicBezTo>
                      <a:pt x="17" y="21322"/>
                      <a:pt x="21339" y="0"/>
                      <a:pt x="47642" y="0"/>
                    </a:cubicBezTo>
                    <a:lnTo>
                      <a:pt x="238142" y="0"/>
                    </a:lnTo>
                    <a:cubicBezTo>
                      <a:pt x="264444" y="0"/>
                      <a:pt x="285767" y="21322"/>
                      <a:pt x="285767" y="47625"/>
                    </a:cubicBezTo>
                    <a:lnTo>
                      <a:pt x="285767" y="238125"/>
                    </a:lnTo>
                    <a:cubicBezTo>
                      <a:pt x="285767" y="264428"/>
                      <a:pt x="264444" y="285750"/>
                      <a:pt x="238142" y="285750"/>
                    </a:cubicBezTo>
                    <a:lnTo>
                      <a:pt x="166704" y="285750"/>
                    </a:lnTo>
                  </a:path>
                </a:pathLst>
              </a:custGeom>
              <a:noFill/>
              <a:ln w="47625">
                <a:solidFill>
                  <a:schemeClr val="accent3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5705094" y="3075622"/>
              <a:ext cx="20890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自由态 ensemble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715250" y="319087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38100">
              <a:solidFill>
                <a:srgbClr val="C93C3C"/>
              </a:solidFill>
              <a:custDash>
                <a:ds d="250000" sp="250000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72144" y="3075622"/>
              <a:ext cx="23624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LLPS / 结合 / 功能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8368" y="39176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环境、浓度、伙伴分子</a:t>
              </a:r>
            </a:p>
          </p:txBody>
        </p:sp>
      </p:grpSp>
      <p:grpSp>
        <p:nvGrpSpPr>
          <p:cNvPr id="25" name="gap-takeaway"/>
          <p:cNvGrpSpPr/>
          <p:nvPr/>
        </p:nvGrpSpPr>
        <p:grpSpPr>
          <a:xfrm>
            <a:off x="1134618" y="5060632"/>
            <a:ext cx="9834045" cy="322707"/>
            <a:chOff x="1134618" y="5060632"/>
            <a:chExt cx="9834045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1134618" y="5060632"/>
              <a:ext cx="98340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已有模型经常直接从序列预测功能标签，尚未证明 ensemble 是可解释、必要且可迁移的中间变量。</a:t>
              </a:r>
            </a:p>
          </p:txBody>
        </p:sp>
      </p:grpSp>
      <p:grpSp>
        <p:nvGrpSpPr>
          <p:cNvPr id="29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666875"/>
            <a:ext cx="12192000" cy="3429000"/>
          </a:xfrm>
          <a:custGeom>
            <a:avLst/>
            <a:gdLst/>
            <a:ahLst/>
            <a:cxnLst/>
            <a:rect l="l" t="t" r="r" b="b"/>
            <a:pathLst>
              <a:path w="12192000" h="3429000">
                <a:moveTo>
                  <a:pt x="0" y="2619375"/>
                </a:moveTo>
                <a:cubicBezTo>
                  <a:pt x="2095500" y="714375"/>
                  <a:pt x="4000500" y="762000"/>
                  <a:pt x="6667500" y="2095500"/>
                </a:cubicBezTo>
                <a:cubicBezTo>
                  <a:pt x="9334500" y="3429000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1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671115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LLPSense：环境依赖的相分离预测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2999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放置 LLPSense 数据流与结果图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优先选择能够同时看出序列、环境输入和相分离输出的图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438650" cy="1000125"/>
            <a:chOff x="6858000" y="1333500"/>
            <a:chExt cx="443865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怎样利用序列与环境信息预测相分离相关行为？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436620" cy="1000125"/>
            <a:chOff x="6858000" y="2333625"/>
            <a:chExt cx="343662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2537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输入：按原文填写序列特征与环境变量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输出：按原文填写分类、分数或相边界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770120" cy="1000125"/>
            <a:chOff x="6858000" y="3333750"/>
            <a:chExt cx="477012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4587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突出环境条件是否真正改善预测，以及采用了什么独立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3750945" cy="1464945"/>
            <a:chOff x="6858000" y="4333875"/>
            <a:chExt cx="3750945" cy="146494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3568065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确认模型是否显式使用 ensemble，避免把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到 LLPS 的直接预测说成机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制模型。</a:t>
              </a:r>
            </a:p>
          </p:txBody>
        </p:sp>
      </p:grpSp>
      <p:grpSp>
        <p:nvGrpSpPr>
          <p:cNvPr id="31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-666750"/>
            <a:ext cx="12192000" cy="3714750"/>
          </a:xfrm>
          <a:custGeom>
            <a:avLst/>
            <a:gdLst/>
            <a:ahLst/>
            <a:cxnLst/>
            <a:rect l="l" t="t" r="r" b="b"/>
            <a:pathLst>
              <a:path w="12192000" h="3714750">
                <a:moveTo>
                  <a:pt x="0" y="1809750"/>
                </a:moveTo>
                <a:cubicBezTo>
                  <a:pt x="2095500" y="1333500"/>
                  <a:pt x="4000500" y="3714750"/>
                  <a:pt x="6667500" y="1857375"/>
                </a:cubicBezTo>
                <a:cubicBezTo>
                  <a:pt x="9334500" y="0"/>
                  <a:pt x="10287000" y="2286000"/>
                  <a:pt x="12192000" y="3048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2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87712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sequence、ensemble 与 LLPS 的待验证关系</a:t>
              </a:r>
            </a:p>
          </p:txBody>
        </p:sp>
      </p:grpSp>
      <p:grpSp>
        <p:nvGrpSpPr>
          <p:cNvPr id="15" name="chain"/>
          <p:cNvGrpSpPr/>
          <p:nvPr/>
        </p:nvGrpSpPr>
        <p:grpSpPr>
          <a:xfrm>
            <a:off x="310134" y="2390775"/>
            <a:ext cx="10287571" cy="1141095"/>
            <a:chOff x="310134" y="2390775"/>
            <a:chExt cx="10287571" cy="1141095"/>
          </a:xfrm>
        </p:grpSpPr>
        <p:sp>
          <p:nvSpPr>
            <p:cNvPr id="6" name="Line 6"/>
            <p:cNvSpPr/>
            <p:nvPr/>
          </p:nvSpPr>
          <p:spPr>
            <a:xfrm>
              <a:off x="762000" y="2714625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4381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10134" y="3238500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34861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72537" y="3238500"/>
              <a:ext cx="2074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conditioned ensemble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534150" y="2390775"/>
              <a:ext cx="647700" cy="6477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04427" y="3238500"/>
              <a:ext cx="2307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multivalent interaction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95821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14294" y="3238500"/>
              <a:ext cx="13834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LLPS behavior</a:t>
              </a:r>
            </a:p>
          </p:txBody>
        </p:sp>
      </p:grpSp>
      <p:grpSp>
        <p:nvGrpSpPr>
          <p:cNvPr id="17" name="above-0"/>
          <p:cNvGrpSpPr/>
          <p:nvPr/>
        </p:nvGrpSpPr>
        <p:grpSpPr>
          <a:xfrm>
            <a:off x="850392" y="1425892"/>
            <a:ext cx="1649349" cy="264033"/>
            <a:chOff x="850392" y="1425892"/>
            <a:chExt cx="1649349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850392" y="14258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需要验证的中间机制</a:t>
              </a:r>
            </a:p>
          </p:txBody>
        </p:sp>
      </p:grpSp>
      <p:grpSp>
        <p:nvGrpSpPr>
          <p:cNvPr id="19" name="below-0"/>
          <p:cNvGrpSpPr/>
          <p:nvPr/>
        </p:nvGrpSpPr>
        <p:grpSpPr>
          <a:xfrm>
            <a:off x="850392" y="4283392"/>
            <a:ext cx="1831086" cy="949833"/>
            <a:chOff x="850392" y="4283392"/>
            <a:chExt cx="1831086" cy="949833"/>
          </a:xfrm>
        </p:grpSpPr>
        <p:sp>
          <p:nvSpPr>
            <p:cNvPr id="18" name="TextBox 18"/>
            <p:cNvSpPr txBox="1"/>
            <p:nvPr/>
          </p:nvSpPr>
          <p:spPr>
            <a:xfrm>
              <a:off x="850392" y="4283392"/>
              <a:ext cx="1831086" cy="949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推荐比较 仅序列模型 序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列 + 环境模型 序列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环境 + ensembl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 模型</a:t>
              </a:r>
            </a:p>
          </p:txBody>
        </p:sp>
      </p:grpSp>
      <p:grpSp>
        <p:nvGrpSpPr>
          <p:cNvPr id="21" name="below-1"/>
          <p:cNvGrpSpPr/>
          <p:nvPr/>
        </p:nvGrpSpPr>
        <p:grpSpPr>
          <a:xfrm>
            <a:off x="3517392" y="4283392"/>
            <a:ext cx="1951101" cy="949833"/>
            <a:chOff x="3517392" y="4283392"/>
            <a:chExt cx="1951101" cy="949833"/>
          </a:xfrm>
        </p:grpSpPr>
        <p:sp>
          <p:nvSpPr>
            <p:cNvPr id="20" name="TextBox 20"/>
            <p:cNvSpPr txBox="1"/>
            <p:nvPr/>
          </p:nvSpPr>
          <p:spPr>
            <a:xfrm>
              <a:off x="3517392" y="4283392"/>
              <a:ext cx="1951101" cy="949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独立验证 保留蛋白级划分</a:t>
              </a:r>
              <a:br/>
              <a:r>
                <a:rPr lang="zh-CN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更换 ensemble 生</a:t>
              </a:r>
              <a:br/>
              <a:r>
                <a:rPr lang="zh-CN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成器 使用实验或独立模拟</a:t>
              </a:r>
              <a:br/>
              <a:r>
                <a:rPr lang="zh-CN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</p:grpSp>
      <p:grpSp>
        <p:nvGrpSpPr>
          <p:cNvPr id="25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3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5664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柔性 IDR 靶标的 binder 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58285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放置 Diffusing binders Figure 1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保留靶序列、共同扩散、ProteinMPNN、AF2筛选和实验验证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770120" cy="1000125"/>
            <a:chOff x="6858000" y="1333500"/>
            <a:chExt cx="477012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4587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靶标没有固定结构时，怎样设计能够结合它的有结构蛋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白？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4389120" cy="1000125"/>
            <a:chOff x="6858000" y="2333625"/>
            <a:chExt cx="438912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4206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输入：选定 IDR 靶序列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输出：结合态靶构象、binder 主链和 binder 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842510" cy="1000125"/>
            <a:chOff x="6858000" y="3333750"/>
            <a:chExt cx="484251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选择一个结合亲和力结果和一个代表性复合物结构。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3941445" cy="1217295"/>
            <a:chOff x="6858000" y="4333875"/>
            <a:chExt cx="394144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375856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生成的是候选结合态，不是自由态 ensemble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的统计重建。</a:t>
              </a:r>
            </a:p>
          </p:txBody>
        </p:sp>
      </p:grp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4"/>
          <p:cNvSpPr/>
          <p:nvPr/>
        </p:nvSpPr>
        <p:spPr>
          <a:xfrm>
            <a:off x="0" y="15240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714500"/>
                </a:moveTo>
                <a:cubicBezTo>
                  <a:pt x="2095500" y="857250"/>
                  <a:pt x="4000500" y="2762250"/>
                  <a:pt x="6667500" y="1381125"/>
                </a:cubicBezTo>
                <a:cubicBezTo>
                  <a:pt x="9334500" y="0"/>
                  <a:pt x="10287000" y="2190750"/>
                  <a:pt x="12192000" y="2286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4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7641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binder 设计的证据与适用边界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81125"/>
            <a:ext cx="10972800" cy="1809750"/>
            <a:chOff x="609600" y="1381125"/>
            <a:chExt cx="10972800" cy="1809750"/>
          </a:xfrm>
        </p:grpSpPr>
        <p:sp>
          <p:nvSpPr>
            <p:cNvPr id="6" name="Rectangle 6"/>
            <p:cNvSpPr/>
            <p:nvPr/>
          </p:nvSpPr>
          <p:spPr>
            <a:xfrm>
              <a:off x="609600" y="1381125"/>
              <a:ext cx="10972800" cy="1809750"/>
            </a:xfrm>
            <a:prstGeom prst="roundRect">
              <a:avLst>
                <a:gd name="adj" fmla="val 2105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635919"/>
              <a:ext cx="183925" cy="271462"/>
              <a:chOff x="927212" y="1635919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635919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726406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635919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8680" y="2124075"/>
              <a:ext cx="32632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放置代表性靶标结果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建议只选一个：G3BP1、PrP 或 IL-2RG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显示靶片段、设计复合物和实验亲和力</a:t>
              </a:r>
            </a:p>
          </p:txBody>
        </p:sp>
      </p:grpSp>
      <p:grpSp>
        <p:nvGrpSpPr>
          <p:cNvPr id="17" name="proved"/>
          <p:cNvGrpSpPr/>
          <p:nvPr/>
        </p:nvGrpSpPr>
        <p:grpSpPr>
          <a:xfrm>
            <a:off x="599694" y="3742372"/>
            <a:ext cx="4632579" cy="1608773"/>
            <a:chOff x="599694" y="3742372"/>
            <a:chExt cx="4632579" cy="1608773"/>
          </a:xfrm>
        </p:grpSpPr>
        <p:sp>
          <p:nvSpPr>
            <p:cNvPr id="13" name="TextBox 13"/>
            <p:cNvSpPr txBox="1"/>
            <p:nvPr/>
          </p:nvSpPr>
          <p:spPr>
            <a:xfrm>
              <a:off x="599694" y="374237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论文证明了什么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238625"/>
              <a:ext cx="4630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柔性靶序列可以在设计过程中形成兼容的结合构象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4648200"/>
              <a:ext cx="2742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设计的 binder 具有稳定折叠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980" y="5057775"/>
              <a:ext cx="3216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部分候选通过亲和力和特异性实验</a:t>
              </a:r>
            </a:p>
          </p:txBody>
        </p:sp>
      </p:grpSp>
      <p:grpSp>
        <p:nvGrpSpPr>
          <p:cNvPr id="22" name="not-proved"/>
          <p:cNvGrpSpPr/>
          <p:nvPr/>
        </p:nvGrpSpPr>
        <p:grpSpPr>
          <a:xfrm>
            <a:off x="6324219" y="3742372"/>
            <a:ext cx="3552254" cy="1608773"/>
            <a:chOff x="6324219" y="3742372"/>
            <a:chExt cx="3552254" cy="1608773"/>
          </a:xfrm>
        </p:grpSpPr>
        <p:sp>
          <p:nvSpPr>
            <p:cNvPr id="18" name="TextBox 18"/>
            <p:cNvSpPr txBox="1"/>
            <p:nvPr/>
          </p:nvSpPr>
          <p:spPr>
            <a:xfrm>
              <a:off x="6324219" y="3742372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论文没有证明什么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26505" y="4238625"/>
              <a:ext cx="29441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没有恢复完整自由态 ensemble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26505" y="4648200"/>
              <a:ext cx="3549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一个 binder 不需要覆盖所有自由构象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26505" y="5057775"/>
              <a:ext cx="2834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AF2 置信度不能替代结合实验</a:t>
              </a:r>
            </a:p>
          </p:txBody>
        </p:sp>
      </p:grpSp>
      <p:grpSp>
        <p:nvGrpSpPr>
          <p:cNvPr id="26" name="footer-14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4" name="Rectangle 2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7185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凝聚体界面的 de novo 肽设计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1285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放置 interface peptide 设计流程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建议包括序列设计、凝聚体定位和界面富集的显微证据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5044440" cy="1000125"/>
            <a:chOff x="6858000" y="1333500"/>
            <a:chExt cx="504444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怎样设计能够优先定位在生物分子凝聚体界面的短肽？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246120" cy="1000125"/>
            <a:chOff x="6858000" y="2333625"/>
            <a:chExt cx="324612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063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输入：按原文填写凝聚体与设计条件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输出：具有界面定位偏好的新肽序列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770120" cy="1000125"/>
            <a:chOff x="6858000" y="3333750"/>
            <a:chExt cx="477012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4587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用显微图和定量富集指标证明肽位于界面，而不是只进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入凝聚体内部。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4503420" cy="1217295"/>
            <a:chOff x="6858000" y="4333875"/>
            <a:chExt cx="4503420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4320540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这项工作面向凝聚体介观环境，不等同于针对单个 I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 靶点设计 binder。</a:t>
              </a:r>
            </a:p>
          </p:txBody>
        </p:sp>
      </p:grp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6"/>
          <p:cNvSpPr/>
          <p:nvPr/>
        </p:nvSpPr>
        <p:spPr>
          <a:xfrm>
            <a:off x="0" y="-47625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1190625"/>
                </a:moveTo>
                <a:cubicBezTo>
                  <a:pt x="2095500" y="1571625"/>
                  <a:pt x="4000500" y="2476500"/>
                  <a:pt x="6667500" y="1238250"/>
                </a:cubicBezTo>
                <a:cubicBezTo>
                  <a:pt x="9334500" y="0"/>
                  <a:pt x="10287000" y="2714625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6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两种功能分子设计路线</a:t>
              </a:r>
            </a:p>
          </p:txBody>
        </p:sp>
      </p:grpSp>
      <p:grpSp>
        <p:nvGrpSpPr>
          <p:cNvPr id="54" name="comparison-table"/>
          <p:cNvGrpSpPr/>
          <p:nvPr/>
        </p:nvGrpSpPr>
        <p:grpSpPr>
          <a:xfrm>
            <a:off x="609600" y="1285875"/>
            <a:ext cx="10972800" cy="4191000"/>
            <a:chOff x="609600" y="1285875"/>
            <a:chExt cx="10972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285875"/>
              <a:ext cx="1619250" cy="698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7992" y="1378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228850" y="1285875"/>
              <a:ext cx="2714625" cy="698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17242" y="1378268"/>
              <a:ext cx="9372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IDR binder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43475" y="1285875"/>
              <a:ext cx="2714625" cy="698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031867" y="1378268"/>
              <a:ext cx="1453896" cy="464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condensate-inte</a:t>
              </a:r>
              <a:br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rface peptide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58100" y="1285875"/>
              <a:ext cx="3924300" cy="698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46492" y="137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汇报中的定位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1984375"/>
              <a:ext cx="161925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8754" y="2092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设计对象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28850" y="1984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18004" y="2092960"/>
              <a:ext cx="181051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有稳定折叠的蛋白质 binde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43475" y="1984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32629" y="2092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58100" y="1984375"/>
              <a:ext cx="392430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47254" y="2092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产物尺度不同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9600" y="2682875"/>
              <a:ext cx="1619250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8754" y="2791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228850" y="2682875"/>
              <a:ext cx="2714625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318004" y="2791460"/>
              <a:ext cx="1484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识别选定 IDR 靶片段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943475" y="2682875"/>
              <a:ext cx="2714625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32629" y="2791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富集于凝聚体界面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58100" y="2682875"/>
              <a:ext cx="3924300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47254" y="2791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靶向对象不同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3381375"/>
              <a:ext cx="161925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8754" y="3489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结构假设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228850" y="3381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18004" y="3489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联合生成候选结合态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943475" y="3381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32629" y="3489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按论文实际机制填写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381375"/>
              <a:ext cx="392430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7254" y="3489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不能套用同一结构逻辑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4079875"/>
              <a:ext cx="1619250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8754" y="4188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关键验证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228850" y="4079875"/>
              <a:ext cx="2714625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18004" y="41884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亲和力、特异性、稳定性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943475" y="4079875"/>
              <a:ext cx="2714625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032629" y="41884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显微定位与界面富集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58100" y="4079875"/>
              <a:ext cx="3924300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47254" y="418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评价终点不同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" y="4778375"/>
              <a:ext cx="161925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8754" y="4886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主要用途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228850" y="4778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318004" y="4886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阻断、捕获或检测靶标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43475" y="4778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032629" y="4886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凝聚体界面调控与递送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58100" y="4778375"/>
              <a:ext cx="392430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47254" y="4886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均属于功能工程</a:t>
              </a:r>
            </a:p>
          </p:txBody>
        </p:sp>
      </p:grpSp>
      <p:grpSp>
        <p:nvGrpSpPr>
          <p:cNvPr id="57" name="conclusion"/>
          <p:cNvGrpSpPr/>
          <p:nvPr/>
        </p:nvGrpSpPr>
        <p:grpSpPr>
          <a:xfrm>
            <a:off x="601980" y="5676900"/>
            <a:ext cx="10980420" cy="455295"/>
            <a:chOff x="601980" y="5676900"/>
            <a:chExt cx="10980420" cy="455295"/>
          </a:xfrm>
        </p:grpSpPr>
        <p:sp>
          <p:nvSpPr>
            <p:cNvPr id="55" name="Line 55"/>
            <p:cNvSpPr/>
            <p:nvPr/>
          </p:nvSpPr>
          <p:spPr>
            <a:xfrm>
              <a:off x="609600" y="5676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1980" y="5838825"/>
              <a:ext cx="7375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共同变化：研究目标从“描述 IDP”推进到“设计能够改变或利用 IDP 行为的分子”。</a:t>
              </a:r>
            </a:p>
          </p:txBody>
        </p:sp>
      </p:grpSp>
      <p:grpSp>
        <p:nvGrpSpPr>
          <p:cNvPr id="61" name="footer-1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9" name="Rectangle 5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047750"/>
            <a:ext cx="12192000" cy="2667000"/>
          </a:xfrm>
          <a:custGeom>
            <a:avLst/>
            <a:gdLst/>
            <a:ahLst/>
            <a:cxnLst/>
            <a:rect l="l" t="t" r="r" b="b"/>
            <a:pathLst>
              <a:path w="12192000" h="2667000">
                <a:moveTo>
                  <a:pt x="0" y="1143000"/>
                </a:moveTo>
                <a:cubicBezTo>
                  <a:pt x="2095500" y="1333500"/>
                  <a:pt x="4000500" y="2000250"/>
                  <a:pt x="6667500" y="1000125"/>
                </a:cubicBezTo>
                <a:cubicBezTo>
                  <a:pt x="9334500" y="0"/>
                  <a:pt x="10287000" y="2667000"/>
                  <a:pt x="12192000" y="13335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7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六篇论文在研究链条中的位置</a:t>
              </a:r>
            </a:p>
          </p:txBody>
        </p:sp>
      </p:grpSp>
      <p:grpSp>
        <p:nvGrpSpPr>
          <p:cNvPr id="19" name="chain"/>
          <p:cNvGrpSpPr/>
          <p:nvPr/>
        </p:nvGrpSpPr>
        <p:grpSpPr>
          <a:xfrm>
            <a:off x="350520" y="2390775"/>
            <a:ext cx="9966960" cy="1141095"/>
            <a:chOff x="350520" y="2390775"/>
            <a:chExt cx="9966960" cy="1141095"/>
          </a:xfrm>
        </p:grpSpPr>
        <p:sp>
          <p:nvSpPr>
            <p:cNvPr id="6" name="Line 6"/>
            <p:cNvSpPr/>
            <p:nvPr/>
          </p:nvSpPr>
          <p:spPr>
            <a:xfrm>
              <a:off x="762000" y="2714625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4381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0520" y="3238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目标性质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22669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99894" y="3238500"/>
              <a:ext cx="781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IDR 序列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095750" y="2390775"/>
              <a:ext cx="647700" cy="6477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972782" y="3238500"/>
              <a:ext cx="893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9245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34990" y="3238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环境依赖行为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533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67650" y="3238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582150" y="2390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94520" y="3238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工程设计</a:t>
              </a:r>
            </a:p>
          </p:txBody>
        </p:sp>
      </p:grpSp>
      <p:grpSp>
        <p:nvGrpSpPr>
          <p:cNvPr id="21" name="above-0"/>
          <p:cNvGrpSpPr/>
          <p:nvPr/>
        </p:nvGrpSpPr>
        <p:grpSpPr>
          <a:xfrm>
            <a:off x="850392" y="1425892"/>
            <a:ext cx="648835" cy="264033"/>
            <a:chOff x="850392" y="1425892"/>
            <a:chExt cx="648835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850392" y="1425892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GOOSE</a:t>
              </a:r>
            </a:p>
          </p:txBody>
        </p:sp>
      </p:grpSp>
      <p:grpSp>
        <p:nvGrpSpPr>
          <p:cNvPr id="23" name="above-1"/>
          <p:cNvGrpSpPr/>
          <p:nvPr/>
        </p:nvGrpSpPr>
        <p:grpSpPr>
          <a:xfrm>
            <a:off x="3326892" y="1425892"/>
            <a:ext cx="967835" cy="492633"/>
            <a:chOff x="3326892" y="1425892"/>
            <a:chExt cx="967835" cy="492633"/>
          </a:xfrm>
        </p:grpSpPr>
        <p:sp>
          <p:nvSpPr>
            <p:cNvPr id="22" name="TextBox 22"/>
            <p:cNvSpPr txBox="1"/>
            <p:nvPr/>
          </p:nvSpPr>
          <p:spPr>
            <a:xfrm>
              <a:off x="3326892" y="1425892"/>
              <a:ext cx="967835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STARLING ID</a:t>
              </a:r>
              <a:br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PFold</a:t>
              </a:r>
            </a:p>
          </p:txBody>
        </p:sp>
      </p:grpSp>
      <p:grpSp>
        <p:nvGrpSpPr>
          <p:cNvPr id="25" name="above-2"/>
          <p:cNvGrpSpPr/>
          <p:nvPr/>
        </p:nvGrpSpPr>
        <p:grpSpPr>
          <a:xfrm>
            <a:off x="5803392" y="1425892"/>
            <a:ext cx="877104" cy="264033"/>
            <a:chOff x="5803392" y="1425892"/>
            <a:chExt cx="87710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5803392" y="1425892"/>
              <a:ext cx="877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LLPSense</a:t>
              </a:r>
            </a:p>
          </p:txBody>
        </p:sp>
      </p:grpSp>
      <p:grpSp>
        <p:nvGrpSpPr>
          <p:cNvPr id="27" name="above-3"/>
          <p:cNvGrpSpPr/>
          <p:nvPr/>
        </p:nvGrpSpPr>
        <p:grpSpPr>
          <a:xfrm>
            <a:off x="8279892" y="1425892"/>
            <a:ext cx="1210866" cy="492633"/>
            <a:chOff x="8279892" y="1425892"/>
            <a:chExt cx="1210866" cy="492633"/>
          </a:xfrm>
        </p:grpSpPr>
        <p:sp>
          <p:nvSpPr>
            <p:cNvPr id="26" name="TextBox 26"/>
            <p:cNvSpPr txBox="1"/>
            <p:nvPr/>
          </p:nvSpPr>
          <p:spPr>
            <a:xfrm>
              <a:off x="8279892" y="1425892"/>
              <a:ext cx="12108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binder inte</a:t>
              </a:r>
              <a:br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rface peptide</a:t>
              </a:r>
            </a:p>
          </p:txBody>
        </p:sp>
      </p:grpSp>
      <p:grpSp>
        <p:nvGrpSpPr>
          <p:cNvPr id="29" name="below-0"/>
          <p:cNvGrpSpPr/>
          <p:nvPr/>
        </p:nvGrpSpPr>
        <p:grpSpPr>
          <a:xfrm>
            <a:off x="850392" y="4283392"/>
            <a:ext cx="1548194" cy="492633"/>
            <a:chOff x="850392" y="4283392"/>
            <a:chExt cx="1548194" cy="492633"/>
          </a:xfrm>
        </p:grpSpPr>
        <p:sp>
          <p:nvSpPr>
            <p:cNvPr id="28" name="TextBox 28"/>
            <p:cNvSpPr txBox="1"/>
            <p:nvPr/>
          </p:nvSpPr>
          <p:spPr>
            <a:xfrm>
              <a:off x="850392" y="4283392"/>
              <a:ext cx="154819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Unified framew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ork 实验与模拟约束</a:t>
              </a:r>
            </a:p>
          </p:txBody>
        </p:sp>
      </p:grpSp>
      <p:grpSp>
        <p:nvGrpSpPr>
          <p:cNvPr id="31" name="below-1"/>
          <p:cNvGrpSpPr/>
          <p:nvPr/>
        </p:nvGrpSpPr>
        <p:grpSpPr>
          <a:xfrm>
            <a:off x="3517392" y="4283392"/>
            <a:ext cx="2294001" cy="492633"/>
            <a:chOff x="3517392" y="4283392"/>
            <a:chExt cx="2294001" cy="492633"/>
          </a:xfrm>
        </p:grpSpPr>
        <p:sp>
          <p:nvSpPr>
            <p:cNvPr id="30" name="TextBox 30"/>
            <p:cNvSpPr txBox="1"/>
            <p:nvPr/>
          </p:nvSpPr>
          <p:spPr>
            <a:xfrm>
              <a:off x="3517392" y="4283392"/>
              <a:ext cx="229400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已有证据 方法在各自任务上已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经取得结果</a:t>
              </a:r>
            </a:p>
          </p:txBody>
        </p:sp>
      </p:grpSp>
      <p:grpSp>
        <p:nvGrpSpPr>
          <p:cNvPr id="33" name="below-2"/>
          <p:cNvGrpSpPr/>
          <p:nvPr/>
        </p:nvGrpSpPr>
        <p:grpSpPr>
          <a:xfrm>
            <a:off x="6184392" y="4283392"/>
            <a:ext cx="2242566" cy="492633"/>
            <a:chOff x="6184392" y="4283392"/>
            <a:chExt cx="2242566" cy="492633"/>
          </a:xfrm>
        </p:grpSpPr>
        <p:sp>
          <p:nvSpPr>
            <p:cNvPr id="32" name="TextBox 32"/>
            <p:cNvSpPr txBox="1"/>
            <p:nvPr/>
          </p:nvSpPr>
          <p:spPr>
            <a:xfrm>
              <a:off x="6184392" y="4283392"/>
              <a:ext cx="22425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尚未连接 ensemble、</a:t>
              </a:r>
              <a:br/>
              <a:r>
                <a:rPr lang="zh-CN" sz="1350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环境与功能之间仍缺统一验证</a:t>
              </a:r>
            </a:p>
          </p:txBody>
        </p:sp>
      </p:grpSp>
      <p:grpSp>
        <p:nvGrpSpPr>
          <p:cNvPr id="3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8"/>
          <p:cNvSpPr/>
          <p:nvPr/>
        </p:nvSpPr>
        <p:spPr>
          <a:xfrm>
            <a:off x="0" y="666750"/>
            <a:ext cx="12192000" cy="3000375"/>
          </a:xfrm>
          <a:custGeom>
            <a:avLst/>
            <a:gdLst/>
            <a:ahLst/>
            <a:cxnLst/>
            <a:rect l="l" t="t" r="r" b="b"/>
            <a:pathLst>
              <a:path w="12192000" h="3000375">
                <a:moveTo>
                  <a:pt x="0" y="2571750"/>
                </a:moveTo>
                <a:cubicBezTo>
                  <a:pt x="2095500" y="0"/>
                  <a:pt x="4000500" y="3000375"/>
                  <a:pt x="6667500" y="2238375"/>
                </a:cubicBezTo>
                <a:cubicBezTo>
                  <a:pt x="9334500" y="1476375"/>
                  <a:pt x="10287000" y="952500"/>
                  <a:pt x="12192000" y="242887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8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现有方法的共同局限</a:t>
              </a:r>
            </a:p>
          </p:txBody>
        </p:sp>
      </p:grpSp>
      <p:grpSp>
        <p:nvGrpSpPr>
          <p:cNvPr id="10" name="limit-1"/>
          <p:cNvGrpSpPr/>
          <p:nvPr/>
        </p:nvGrpSpPr>
        <p:grpSpPr>
          <a:xfrm>
            <a:off x="653796" y="1448752"/>
            <a:ext cx="10585704" cy="513398"/>
            <a:chOff x="653796" y="1448752"/>
            <a:chExt cx="10585704" cy="513398"/>
          </a:xfrm>
        </p:grpSpPr>
        <p:sp>
          <p:nvSpPr>
            <p:cNvPr id="6" name="TextBox 6"/>
            <p:cNvSpPr txBox="1"/>
            <p:nvPr/>
          </p:nvSpPr>
          <p:spPr>
            <a:xfrm>
              <a:off x="653796" y="1448752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19987" y="1461611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训练数据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26130" y="1485900"/>
              <a:ext cx="5215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 IDP ensemble 数据稀缺，模型大量依赖模拟与力场。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1952625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limit-2"/>
          <p:cNvGrpSpPr/>
          <p:nvPr/>
        </p:nvGrpSpPr>
        <p:grpSpPr>
          <a:xfrm>
            <a:off x="653796" y="2353628"/>
            <a:ext cx="10585704" cy="513397"/>
            <a:chOff x="653796" y="2353628"/>
            <a:chExt cx="10585704" cy="513397"/>
          </a:xfrm>
        </p:grpSpPr>
        <p:sp>
          <p:nvSpPr>
            <p:cNvPr id="11" name="TextBox 11"/>
            <p:cNvSpPr txBox="1"/>
            <p:nvPr/>
          </p:nvSpPr>
          <p:spPr>
            <a:xfrm>
              <a:off x="653796" y="23536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19987" y="2366486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评价不唯一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26130" y="23907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不同构象分布可能产生相似的平均实验观测。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428750" y="2857500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limit-3"/>
          <p:cNvGrpSpPr/>
          <p:nvPr/>
        </p:nvGrpSpPr>
        <p:grpSpPr>
          <a:xfrm>
            <a:off x="653796" y="3258502"/>
            <a:ext cx="10585704" cy="513398"/>
            <a:chOff x="653796" y="3258502"/>
            <a:chExt cx="10585704" cy="513398"/>
          </a:xfrm>
        </p:grpSpPr>
        <p:sp>
          <p:nvSpPr>
            <p:cNvPr id="16" name="TextBox 16"/>
            <p:cNvSpPr txBox="1"/>
            <p:nvPr/>
          </p:nvSpPr>
          <p:spPr>
            <a:xfrm>
              <a:off x="653796" y="3258502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19987" y="3271361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环境依赖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26130" y="329565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温度、盐浓度、浓度和伙伴分子尚未被统一建模。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428750" y="3762375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5" name="limit-4"/>
          <p:cNvGrpSpPr/>
          <p:nvPr/>
        </p:nvGrpSpPr>
        <p:grpSpPr>
          <a:xfrm>
            <a:off x="653796" y="4163378"/>
            <a:ext cx="10585704" cy="513397"/>
            <a:chOff x="653796" y="4163378"/>
            <a:chExt cx="10585704" cy="513397"/>
          </a:xfrm>
        </p:grpSpPr>
        <p:sp>
          <p:nvSpPr>
            <p:cNvPr id="21" name="TextBox 21"/>
            <p:cNvSpPr txBox="1"/>
            <p:nvPr/>
          </p:nvSpPr>
          <p:spPr>
            <a:xfrm>
              <a:off x="653796" y="416337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19987" y="417623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模块割裂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26130" y="4200525"/>
              <a:ext cx="6042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sequence、ensemble、function 和 design 通常由不同模型处理。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428750" y="4667250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0" name="limit-5"/>
          <p:cNvGrpSpPr/>
          <p:nvPr/>
        </p:nvGrpSpPr>
        <p:grpSpPr>
          <a:xfrm>
            <a:off x="653796" y="5068252"/>
            <a:ext cx="10585704" cy="513398"/>
            <a:chOff x="653796" y="5068252"/>
            <a:chExt cx="10585704" cy="513398"/>
          </a:xfrm>
        </p:grpSpPr>
        <p:sp>
          <p:nvSpPr>
            <p:cNvPr id="26" name="TextBox 26"/>
            <p:cNvSpPr txBox="1"/>
            <p:nvPr/>
          </p:nvSpPr>
          <p:spPr>
            <a:xfrm>
              <a:off x="653796" y="5068252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C93C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19987" y="5081111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验证成本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26130" y="510540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计算分数提高不等于真实功能提高，关键设计仍需独立验证。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1428750" y="5572125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4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2" name="Rectangle 32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9"/>
          <p:cNvSpPr/>
          <p:nvPr/>
        </p:nvSpPr>
        <p:spPr>
          <a:xfrm>
            <a:off x="0" y="15240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2762250"/>
                </a:moveTo>
                <a:cubicBezTo>
                  <a:pt x="2095500" y="0"/>
                  <a:pt x="4000500" y="2762250"/>
                  <a:pt x="6667500" y="2238375"/>
                </a:cubicBezTo>
                <a:cubicBezTo>
                  <a:pt x="9334500" y="1714500"/>
                  <a:pt x="10287000" y="1143000"/>
                  <a:pt x="12192000" y="2286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9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可行研究方向与汇报结论</a:t>
              </a:r>
            </a:p>
          </p:txBody>
        </p:sp>
      </p:grpSp>
      <p:grpSp>
        <p:nvGrpSpPr>
          <p:cNvPr id="10" name="direction-1"/>
          <p:cNvGrpSpPr/>
          <p:nvPr/>
        </p:nvGrpSpPr>
        <p:grpSpPr>
          <a:xfrm>
            <a:off x="656082" y="1664018"/>
            <a:ext cx="2951988" cy="2020252"/>
            <a:chOff x="656082" y="1664018"/>
            <a:chExt cx="2951988" cy="2020252"/>
          </a:xfrm>
        </p:grpSpPr>
        <p:sp>
          <p:nvSpPr>
            <p:cNvPr id="6" name="TextBox 6"/>
            <p:cNvSpPr txBox="1"/>
            <p:nvPr/>
          </p:nvSpPr>
          <p:spPr>
            <a:xfrm>
              <a:off x="659892" y="16640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方向一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6082" y="20878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统一评测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66750" y="252412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9130" y="2838450"/>
              <a:ext cx="29489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在相同序列、环境和观测下比较 ST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ARLING、IDPFold 与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CALVADOS。</a:t>
              </a:r>
            </a:p>
          </p:txBody>
        </p:sp>
      </p:grpSp>
      <p:grpSp>
        <p:nvGrpSpPr>
          <p:cNvPr id="15" name="direction-2"/>
          <p:cNvGrpSpPr/>
          <p:nvPr/>
        </p:nvGrpSpPr>
        <p:grpSpPr>
          <a:xfrm>
            <a:off x="4419219" y="2092642"/>
            <a:ext cx="3429519" cy="1744028"/>
            <a:chOff x="4419219" y="2092642"/>
            <a:chExt cx="3429519" cy="1744028"/>
          </a:xfrm>
        </p:grpSpPr>
        <p:sp>
          <p:nvSpPr>
            <p:cNvPr id="11" name="TextBox 11"/>
            <p:cNvSpPr txBox="1"/>
            <p:nvPr/>
          </p:nvSpPr>
          <p:spPr>
            <a:xfrm>
              <a:off x="4422267" y="2092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方向二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19219" y="2532698"/>
              <a:ext cx="3429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ensemble 增强的 LLPS 预测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429125" y="29527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21505" y="3267075"/>
              <a:ext cx="3253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比较仅序列、序列加环境、序列加环境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 ensemble 三种模型。</a:t>
              </a:r>
            </a:p>
          </p:txBody>
        </p:sp>
      </p:grpSp>
      <p:grpSp>
        <p:nvGrpSpPr>
          <p:cNvPr id="20" name="direction-3"/>
          <p:cNvGrpSpPr/>
          <p:nvPr/>
        </p:nvGrpSpPr>
        <p:grpSpPr>
          <a:xfrm>
            <a:off x="8180832" y="2521268"/>
            <a:ext cx="3005962" cy="1744027"/>
            <a:chOff x="8180832" y="2521268"/>
            <a:chExt cx="3005962" cy="1744027"/>
          </a:xfrm>
        </p:grpSpPr>
        <p:sp>
          <p:nvSpPr>
            <p:cNvPr id="16" name="TextBox 16"/>
            <p:cNvSpPr txBox="1"/>
            <p:nvPr/>
          </p:nvSpPr>
          <p:spPr>
            <a:xfrm>
              <a:off x="8184642" y="2521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方向三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0832" y="2945130"/>
              <a:ext cx="30059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ensemble-aware 设计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191500" y="33813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83880" y="3695700"/>
              <a:ext cx="2872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ensemble、LLPS、聚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集风险和多样性组成多目标奖励。</a:t>
              </a:r>
            </a:p>
          </p:txBody>
        </p:sp>
      </p:grpSp>
      <p:grpSp>
        <p:nvGrpSpPr>
          <p:cNvPr id="23" name="final-judgment"/>
          <p:cNvGrpSpPr/>
          <p:nvPr/>
        </p:nvGrpSpPr>
        <p:grpSpPr>
          <a:xfrm>
            <a:off x="609600" y="5381625"/>
            <a:ext cx="10972800" cy="742950"/>
            <a:chOff x="609600" y="5381625"/>
            <a:chExt cx="10972800" cy="742950"/>
          </a:xfrm>
        </p:grpSpPr>
        <p:sp>
          <p:nvSpPr>
            <p:cNvPr id="21" name="Rectangle 21"/>
            <p:cNvSpPr/>
            <p:nvPr/>
          </p:nvSpPr>
          <p:spPr>
            <a:xfrm>
              <a:off x="609600" y="5381625"/>
              <a:ext cx="10972800" cy="74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8868" y="5651182"/>
              <a:ext cx="92336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总判断：AI 已覆盖 IDR 研究链条的多个节点，但下一步价值来自节点之间的连接和独立验证。</a:t>
              </a:r>
            </a:p>
          </p:txBody>
        </p:sp>
      </p:grpSp>
      <p:grpSp>
        <p:nvGrpSpPr>
          <p:cNvPr id="27" name="footer-1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grpSp>
        <p:nvGrpSpPr>
          <p:cNvPr id="5" name="end-title"/>
          <p:cNvGrpSpPr/>
          <p:nvPr/>
        </p:nvGrpSpPr>
        <p:grpSpPr>
          <a:xfrm>
            <a:off x="726948" y="850583"/>
            <a:ext cx="2892552" cy="616077"/>
            <a:chOff x="726948" y="850583"/>
            <a:chExt cx="2892552" cy="616077"/>
          </a:xfrm>
        </p:grpSpPr>
        <p:sp>
          <p:nvSpPr>
            <p:cNvPr id="3" name="TextBox 3"/>
            <p:cNvSpPr txBox="1"/>
            <p:nvPr/>
          </p:nvSpPr>
          <p:spPr>
            <a:xfrm>
              <a:off x="726948" y="850583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讨论与建议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742950" y="142875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7" name="motto"/>
          <p:cNvGrpSpPr/>
          <p:nvPr/>
        </p:nvGrpSpPr>
        <p:grpSpPr>
          <a:xfrm>
            <a:off x="1619250" y="2381250"/>
            <a:ext cx="8953500" cy="2743200"/>
            <a:chOff x="1619250" y="2381250"/>
            <a:chExt cx="8953500" cy="2743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250" y="2381250"/>
              <a:ext cx="8953500" cy="2743200"/>
            </a:xfrm>
            <a:prstGeom prst="rect">
              <a:avLst/>
            </a:prstGeom>
          </p:spPr>
        </p:pic>
      </p:grpSp>
      <p:grpSp>
        <p:nvGrpSpPr>
          <p:cNvPr id="12" name="thanks"/>
          <p:cNvGrpSpPr/>
          <p:nvPr/>
        </p:nvGrpSpPr>
        <p:grpSpPr>
          <a:xfrm>
            <a:off x="723900" y="5191125"/>
            <a:ext cx="11125200" cy="1514475"/>
            <a:chOff x="723900" y="5191125"/>
            <a:chExt cx="11125200" cy="1514475"/>
          </a:xfrm>
        </p:grpSpPr>
        <p:sp>
          <p:nvSpPr>
            <p:cNvPr id="8" name="TextBox 8"/>
            <p:cNvSpPr txBox="1"/>
            <p:nvPr/>
          </p:nvSpPr>
          <p:spPr>
            <a:xfrm>
              <a:off x="723900" y="5404485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谢谢！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34625" y="5191125"/>
              <a:ext cx="1047750" cy="1047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11525250" y="6381750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598534" y="64793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657269"/>
      </a:accent5>
      <a:accent6>
        <a:srgbClr val="C9D9CF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657269"/>
      </a:accent5>
      <a:accent6>
        <a:srgbClr val="C9D9CF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2026-09-24T08:46:09Z</dcterms:created>
  <dcterms:modified xsi:type="dcterms:W3CDTF">2026-09-24T08:46:09Z</dcterms:modified>
  <cp:category/>
  <cp:contentStatus/>
</cp:coreProperties>
</file>