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607a67fe564902" /><Relationship Type="http://schemas.openxmlformats.org/officeDocument/2006/relationships/extended-properties" Target="/docProps/app.xml" Id="R4b880bf72d484190" /><Relationship Type="http://schemas.openxmlformats.org/officeDocument/2006/relationships/officeDocument" Target="/ppt/presentation.xml" Id="R900de7c39ee948c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05c81d53c9446b5"/>
  </p:sldMasterIdLst>
  <p:notesMasterIdLst>
    <p:notesMasterId xmlns:r="http://schemas.openxmlformats.org/officeDocument/2006/relationships" r:id="Re37417a847d74d35"/>
  </p:notesMasterIdLst>
  <p:sldIdLst>
    <p:sldId xmlns:r="http://schemas.openxmlformats.org/officeDocument/2006/relationships" id="256" r:id="R0dd0c7e3dfbf4899"/>
    <p:sldId xmlns:r="http://schemas.openxmlformats.org/officeDocument/2006/relationships" id="257" r:id="Rd594c862b6d04659"/>
    <p:sldId xmlns:r="http://schemas.openxmlformats.org/officeDocument/2006/relationships" id="258" r:id="R6eac1497f0364207"/>
    <p:sldId xmlns:r="http://schemas.openxmlformats.org/officeDocument/2006/relationships" id="259" r:id="R5c1ca7bb81d14e45"/>
    <p:sldId xmlns:r="http://schemas.openxmlformats.org/officeDocument/2006/relationships" id="260" r:id="R93c35f99c3fc4a63"/>
    <p:sldId xmlns:r="http://schemas.openxmlformats.org/officeDocument/2006/relationships" id="261" r:id="R1a35156fd3334701"/>
    <p:sldId xmlns:r="http://schemas.openxmlformats.org/officeDocument/2006/relationships" id="262" r:id="R7b729d21c33c43b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1888f3e875b4a2b" /><Relationship Type="http://schemas.openxmlformats.org/officeDocument/2006/relationships/slideMaster" Target="/ppt/slideMasters/slideMaster1.xml" Id="Rf05c81d53c9446b5" /><Relationship Type="http://schemas.openxmlformats.org/officeDocument/2006/relationships/notesMaster" Target="/ppt/notesMasters/notesMaster1.xml" Id="Re37417a847d74d35" /><Relationship Type="http://schemas.openxmlformats.org/officeDocument/2006/relationships/presProps" Target="/ppt/presProps.xml" Id="R3aca2f473e3f4237" /><Relationship Type="http://schemas.openxmlformats.org/officeDocument/2006/relationships/tableStyles" Target="/ppt/tableStyles.xml" Id="Rebd5e5de295a400d" /><Relationship Type="http://schemas.openxmlformats.org/officeDocument/2006/relationships/slide" Target="/ppt/slides/slide1.xml" Id="R0dd0c7e3dfbf4899" /><Relationship Type="http://schemas.openxmlformats.org/officeDocument/2006/relationships/slide" Target="/ppt/slides/slide2.xml" Id="Rd594c862b6d04659" /><Relationship Type="http://schemas.openxmlformats.org/officeDocument/2006/relationships/slide" Target="/ppt/slides/slide3.xml" Id="R6eac1497f0364207" /><Relationship Type="http://schemas.openxmlformats.org/officeDocument/2006/relationships/slide" Target="/ppt/slides/slide4.xml" Id="R5c1ca7bb81d14e45" /><Relationship Type="http://schemas.openxmlformats.org/officeDocument/2006/relationships/slide" Target="/ppt/slides/slide5.xml" Id="R93c35f99c3fc4a63" /><Relationship Type="http://schemas.openxmlformats.org/officeDocument/2006/relationships/slide" Target="/ppt/slides/slide6.xml" Id="R1a35156fd3334701" /><Relationship Type="http://schemas.openxmlformats.org/officeDocument/2006/relationships/slide" Target="/ppt/slides/slide7.xml" Id="R7b729d21c33c43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6671c563da40a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3b0a7a0d6b43c2" /><Relationship Type="http://schemas.openxmlformats.org/officeDocument/2006/relationships/notesMaster" Target="/ppt/notesMasters/notesMaster1.xml" Id="Ra374574e30c84a2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c8ba7e43f94ecf" /><Relationship Type="http://schemas.openxmlformats.org/officeDocument/2006/relationships/notesMaster" Target="/ppt/notesMasters/notesMaster1.xml" Id="Rf525e12f4bac43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29b9c6e0f043fd" /><Relationship Type="http://schemas.openxmlformats.org/officeDocument/2006/relationships/notesMaster" Target="/ppt/notesMasters/notesMaster1.xml" Id="R70e6f0f1ffea4a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501236b7574be6" /><Relationship Type="http://schemas.openxmlformats.org/officeDocument/2006/relationships/notesMaster" Target="/ppt/notesMasters/notesMaster1.xml" Id="Ra46ac234dc71455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783c43171f4794" /><Relationship Type="http://schemas.openxmlformats.org/officeDocument/2006/relationships/notesMaster" Target="/ppt/notesMasters/notesMaster1.xml" Id="Rb33f601a35ee4e0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9ac71ccfa214cab" /><Relationship Type="http://schemas.openxmlformats.org/officeDocument/2006/relationships/notesMaster" Target="/ppt/notesMasters/notesMaster1.xml" Id="Rff90a1311ba24d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310cf8943424144" /><Relationship Type="http://schemas.openxmlformats.org/officeDocument/2006/relationships/notesMaster" Target="/ppt/notesMasters/notesMaster1.xml" Id="Ra27e43e2e64042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Yang et al., J. Phys. Chem. Lett. 2023, 14, 2020–2033. DOI: 10.1021/acs.jpclett.2c03906</a:t>
            </a:r>
          </a:p>
          <a:p xmlns:a="http://schemas.openxmlformats.org/drawingml/2006/main">
            <a:r>
              <a:t>视觉参考：华中农业大学信息学院定制模板 https://coi.hzau.edu.cn/xygk/wh/dzmb.htm 。色彩与标识：学校官方网站 https://www.hzau.edu.cn/info/1172/12644_2.htm ，华农绿 RGB(0,112,50)。校名校徽原图 https://www.hzau.edu.cn/images/LOGO.png 。本文件为重新设计的个人文献汇报，不是学校发布的官方模板原文件。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Motivation follows the paper's distinction between interaction-free and interaction-based methods, its discussion of data scarcity, and the need for structural and interaction inductive biases. 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Figure 3 reproduced from the paper. Source: Yang et al., J. Phys. Chem. Lett. 2023, 14, 2020–2033. DOI: 10.1021/acs.jpclett.2c03906. Local source image: E:\Obsidian\paper\论文\GIGN\Pasted image 20260911161022.png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Equation 9 states that U(cov) and U(ncov) are implemented as MLPs. The paper does not specify their internal layer-by-layer structure in the main text and does not report a 2/3/4-layer comparison. 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paper uses RBF distance expansion, a linear projection, and the Hadamard product as its message function. The comparison with concatenation is explanatory analysis rather than an ablation reported by the paper. Source: Yang et al., J. Phys. Chem. Lett. 2023, 14, 2020–2033. DOI: 10.1021/acs.jpclett.2c03906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Yang et al., J. Phys. Chem. Lett. 2023, 14, 2020–2033. DOI: 10.1021/acs.jpclett.2c03906</a:t>
            </a:r>
          </a:p>
          <a:p xmlns:a="http://schemas.openxmlformats.org/drawingml/2006/main">
            <a:r>
              <a:t>来源：Table 1 与 Data Set Preparation。表格选择6个代表基线，原表包含更多模型。主实验所有模型共用数据划分，报告三次运行均值。本页省略标准差以便比较，原文完整数值见Table 1。增量由GIGN均值减IGN均值计算，没有据此声称统计显著。复合物无重叠不等于蛋白质或配体无重叠。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Yang et al., J. Phys. Chem. Lett. 2023, 14, 2020–2033. DOI: 10.1021/acs.jpclett.2c03906</a:t>
            </a:r>
          </a:p>
          <a:p xmlns:a="http://schemas.openxmlformats.org/drawingml/2006/main">
            <a:r>
              <a:t>来源：Table 2, 3, 4 与 Redocked Structures 章节。冷启动从原11,904个训练样本重新按8:1:1划分，不与主基准直接混同。重对接取2016测试集中RMSD最低且小于2Å的构象。正文变体名VarTR/VarR与表格TRVar/RVar次序不同，本页采用Table 2名称。完整模型均值占优，不表示每项差异都经显著性检验。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039c48058447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130099c65f249b7" /><Relationship Type="http://schemas.openxmlformats.org/officeDocument/2006/relationships/slideLayout" Target="/ppt/slideLayouts/slideLayout1.xml" Id="R62904701b83c49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2904701b83c49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7d715377b54942" /><Relationship Type="http://schemas.openxmlformats.org/officeDocument/2006/relationships/image" Target="/ppt/media/image.png" Id="Re8400cca62934bd7" /><Relationship Type="http://schemas.openxmlformats.org/officeDocument/2006/relationships/notesSlide" Target="/ppt/notesSlides/notesSlide1.xml" Id="Reeab679b22ac44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edd5e656b944b3" /><Relationship Type="http://schemas.openxmlformats.org/officeDocument/2006/relationships/notesSlide" Target="/ppt/notesSlides/notesSlide2.xml" Id="Ra9c8c0cb03554c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4d8ed72f441da" /><Relationship Type="http://schemas.openxmlformats.org/officeDocument/2006/relationships/image" Target="/ppt/media/image2.png" Id="R34ab8c31560c4b67" /><Relationship Type="http://schemas.openxmlformats.org/officeDocument/2006/relationships/notesSlide" Target="/ppt/notesSlides/notesSlide3.xml" Id="Rb520bcdb587044c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99fb27f1e84cb5" /><Relationship Type="http://schemas.openxmlformats.org/officeDocument/2006/relationships/notesSlide" Target="/ppt/notesSlides/notesSlide4.xml" Id="R634b5983753e40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6b29dd64ca4e72" /><Relationship Type="http://schemas.openxmlformats.org/officeDocument/2006/relationships/notesSlide" Target="/ppt/notesSlides/notesSlide5.xml" Id="R0bc495c87f824d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2bb048c0e54227" /><Relationship Type="http://schemas.openxmlformats.org/officeDocument/2006/relationships/chart" Target="/ppt/slides/charts/chart1.xml" Id="R0d3d88d433644acd" /><Relationship Type="http://schemas.openxmlformats.org/officeDocument/2006/relationships/notesSlide" Target="/ppt/notesSlides/notesSlide6.xml" Id="R3ea3a676dc4546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bf5109e4f4728" /><Relationship Type="http://schemas.openxmlformats.org/officeDocument/2006/relationships/notesSlide" Target="/ppt/notesSlides/notesSlide7.xml" Id="Rc116cfe200cc4006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ΔRₚ</c:v>
          </c:tx>
          <c:spPr>
            <a:solidFill xmlns:a="http://schemas.openxmlformats.org/drawingml/2006/main">
              <a:srgbClr val="007032"/>
            </a:solidFill>
          </c:spPr>
          <c:cat>
            <c:numLit>
              <c:formatCode>General</c:formatCode>
              <c:ptCount val="3"/>
              <c:pt idx="0">
                <c:v>2013</c:v>
              </c:pt>
              <c:pt idx="1">
                <c:v>2016</c:v>
              </c:pt>
              <c:pt idx="2">
                <c:v>2019</c:v>
              </c:pt>
            </c:numLit>
          </c:cat>
          <c:val>
            <c:numLit>
              <c:formatCode>+0.000</c:formatCode>
              <c:ptCount val="3"/>
              <c:pt idx="0">
                <c:v>0.014</c:v>
              </c:pt>
              <c:pt idx="1">
                <c:v>0.019</c:v>
              </c:pt>
              <c:pt idx="2">
                <c:v>0.011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 b="1">
                  <a:solidFill>
                    <a:srgbClr val="007032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0.028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A3F881-FEB0-4293-9971-50948CD01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495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32"/>
          </a:solidFill>
          <a:ln xmlns:a="http://schemas.openxmlformats.org/drawingml/2006/main" w="0">
            <a:noFill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400cca62934bd7"/>
          <a:stretch xmlns:a="http://schemas.openxmlformats.org/drawingml/2006/main"/>
        </p:blipFill>
        <p:spPr>
          <a:xfrm xmlns:a="http://schemas.openxmlformats.org/drawingml/2006/main">
            <a:off x="648932" y="381000"/>
            <a:ext cx="3140787" cy="714375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7138DE-EF67-4EB2-87ED-5A4F8112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523875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文献汇报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B6511-3C13-4DD2-A4FC-1CCF3113D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943100"/>
            <a:ext cx="6667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GIGN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E01CF1-3531-4D6D-A2B5-3C28CE4C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409950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基于三维结构的蛋白质–配体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DE8AF-3361-44B9-AA22-EEBFBF6D0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952875"/>
            <a:ext cx="10382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结合亲和力预测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3A70E6-80CC-4AC4-AEAD-E84763F3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1038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Geometric Interaction Graph Neural Network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4EE9E6-09E1-47EF-ABB4-2ACD19AD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1047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Yang Z. et al.  /  The Journal of Physical Chemistry Letters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1F13EC-7359-4EA0-A0CE-697568D3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0275"/>
            <a:ext cx="1047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2023, 14(8): 2020–2033     DOI: 10.1021/acs.jpclett.2c03906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EC475C-3CAD-45DD-A4C2-F2F016C13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68655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32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98066630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6EC0954-9C29-4816-A5BF-41498EE2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华中农业大学 / 文献汇报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01F9B-B91F-4C3D-9EDB-2BB55B49C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研究背景与研究动机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742C90-11C0-4666-907E-68564EB4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610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AC21E-3FD6-419D-A1E5-B57C7E7FD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47793C-B9AE-4622-921C-E013C318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华中农业大学   ·   GIGN 文献汇报   ·  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D7704-2C7C-4802-A0D0-19FAAD7C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C55A0B-5D21-4F01-A5A9-E29266E04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1062037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目标：从蛋白质–配体复合物的三维结构，直接预测结合亲和力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0AABB1-A54E-428B-BD43-1F23E0CAA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71675"/>
            <a:ext cx="9906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输入：原子化学特征、三维坐标与化学键    |    输出：一个连续的亲和力预测值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D74DBE-F19E-49EF-94AA-348DC3AE3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476500"/>
            <a:ext cx="9525" cy="2733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A8AA16-C2AE-46CC-864F-166DF6A9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76500"/>
            <a:ext cx="9525" cy="2733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4C3D9-2112-4751-8006-18CD43BE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479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D86E6A-6DCF-469D-BB78-6AEC12CD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288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为什么要预测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AC18CA-97C4-4BD0-99C5-4ED64DA8A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952750"/>
            <a:ext cx="29051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6000"/>
              </a:lnSpc>
              <a:buNone/>
              <a:def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结合亲和力（PLA）用于候选化合物排序，也服务于虚拟筛选和先导化合物优化。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50F108-EC89-4E20-AC9C-87982E6A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00475"/>
            <a:ext cx="28860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B3250E-CE40-4721-80D6-564753E75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9719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实验测定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671E2C-5F97-44D6-BEB0-39733EFB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267200"/>
            <a:ext cx="2905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成本高、周期长，难以覆盖大规模候选分子。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85C549-917D-4940-A934-94D1F12B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4479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38B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B38B4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AD855B-C7CD-43D9-B9F6-69B243CD6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4288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亲和力由什么决定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90D8AF-1B58-4983-A7D7-1BC799369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952750"/>
            <a:ext cx="314325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C1940F-1347-4E3A-B280-B22A9ED2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038475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分子内部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DFA0CB-D52F-41D0-BBDA-9261624EB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86125"/>
            <a:ext cx="2838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共价拓扑决定原子的局部化学环境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384962-A0FF-412D-BEC2-8FDE34C73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705225"/>
            <a:ext cx="3143250" cy="647700"/>
          </a:xfrm>
          <a:prstGeom xmlns:a="http://schemas.openxmlformats.org/drawingml/2006/main" prst="roundRect">
            <a:avLst>
              <a:gd name="adj" fmla="val 14706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2843E0-CE14-49D1-A8B5-D98BACD4B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790950"/>
            <a:ext cx="876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分子之间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12F9C04-2035-44F8-8CAB-EAE6609F1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038600"/>
            <a:ext cx="28384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三维距离与空间接触反映结合相互作用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D651FD-F51A-4D99-9428-B57513899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55295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两类信息必须联合建模；同一种原子处在不同空间位置时，对结合的贡献也不同。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CAFEB8-EC68-4263-8789-BD0F52C5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479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8B9D9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1BC3D5-2E23-4E28-B1D6-6EF5F372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28875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现有方法的缺口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2ED5A3B-D8C4-4F31-96E0-E975D9099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622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无相互作用方法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D20E730-12C2-44DB-9AF0-4281BA21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38500"/>
            <a:ext cx="314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8911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序列、SMILES 或二维图不包含真实结合构象，难以显式描述蛋白质–配体接触。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A8DBD7-3F78-47C6-80A3-6C667B7B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24300"/>
            <a:ext cx="314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367F8D2-DDF6-44D4-A110-B60876D5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0862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三维相互作用方法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635CE4-C6D8-4851-B044-0274A49D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362450"/>
            <a:ext cx="3143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体素表示计算开销较大；已有图模型可能混合两类边，或分阶段处理分子内、分子间作用。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A461CF-EE8D-4DFE-8DA3-922A764B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610850" cy="695325"/>
          </a:xfrm>
          <a:prstGeom xmlns:a="http://schemas.openxmlformats.org/drawingml/2006/main" prst="roundRect">
            <a:avLst>
              <a:gd name="adj" fmla="val 17808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D1B1B06-956D-418D-8509-F23D6CAB4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007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论文的研究问题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4D6DCB8-7FC9-41CB-BCA8-AB25A09D9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57875"/>
            <a:ext cx="100774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能否在同一张原子图中联合学习分子内部结构与跨分子接触，同时区分两类关系并满足平移、旋转不变性？</a:t>
            </a:r>
          </a:p>
        </p:txBody>
      </p:sp>
    </p:spTree>
    <p:extLst>
      <p:ext uri="{BB962C8B-B14F-4D97-AF65-F5344CB8AC3E}">
        <p14:creationId xmlns:p14="http://schemas.microsoft.com/office/powerpoint/2010/main" val="10811824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80C23F-32D3-4D1D-BB94-D1CD322D2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华中农业大学 / 文献汇报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6E039-2D88-4D87-8366-25A55A58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方法：三维相互作用图 + 异质消息传递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2D62B6-5769-4269-8081-7F917187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610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E7ED48-F420-4662-B48E-0DE3D49F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792846-524C-424B-BB75-75346518E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华中农业大学   ·   GIGN 文献汇报   ·  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F32C57-8880-42CA-829B-7D5A2607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A9051-DA31-4A87-9D49-946098003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5829300" cy="4572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b8c31560c4b67"/>
          <a:stretch xmlns:a="http://schemas.openxmlformats.org/drawingml/2006/main"/>
        </p:blipFill>
        <p:spPr>
          <a:xfrm xmlns:a="http://schemas.openxmlformats.org/drawingml/2006/main">
            <a:off x="1170514" y="1666875"/>
            <a:ext cx="4707471" cy="4238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099790-73E7-4395-8839-98BEF388B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619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3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372D0D-7A11-42B5-AE96-AA611E20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6002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构图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5E8CCF-A060-4EC5-90A1-386F2BFA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2405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原子为节点；分子内部化学键为共价边；蛋白质–配体原子对距离 &lt; 5 Å 时建立候选非共价边。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A679F4-56C6-40D4-8CDE-45936D6A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971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03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EC755C-A511-45D9-B103-2CAE77F2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95275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三层异质交互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358AC2-BFD9-4036-BAB9-8E97ECD45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7660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共价与非共价消息分别聚合、分别更新，再相加融合；三层逐步扩大原子的多跳感受野。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850FC4-A8E4-4169-B051-B12CDE5F6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243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38B4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E0900A-BBF5-4399-BD2E-A203E98D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053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读出亲和力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4C2050-A8F8-485D-80BC-7A05C1939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629150"/>
            <a:ext cx="390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对全部原子表示做 global sum pooling，再由 MLP 输出一个结合亲和力预测值。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8EC9BC-652B-4E7A-BB91-0DDC0A5B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562600"/>
            <a:ext cx="447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距离先决定是否连边，再经 RBF → Linear 得到逐通道权重；三维坐标只通过原子间距离进入模型。</a:t>
            </a:r>
          </a:p>
        </p:txBody>
      </p:sp>
    </p:spTree>
    <p:extLst>
      <p:ext uri="{BB962C8B-B14F-4D97-AF65-F5344CB8AC3E}">
        <p14:creationId xmlns:p14="http://schemas.microsoft.com/office/powerpoint/2010/main" val="1992637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B64D493-2BAF-42CC-8C9E-18FA6EF01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华中农业大学 / 文献汇报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002FE6-D26E-4539-BDEA-17CF762A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创新一：异质交互层分别建模两类关系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DA61C5-E0B5-4EAA-B8DE-0EB59444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610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E0612-87D5-44D9-BF9C-13FC0DAA4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28AA07-7A84-45FB-A6B3-1AA4B2932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华中农业大学   ·   GIGN 文献汇报   ·  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A2AA25-898D-4A10-8154-D04356BD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CD07F2-0B54-49C3-88D1-4212F0586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81150"/>
            <a:ext cx="9525" cy="452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20AA07-7CA5-446F-AAC7-6BF1CA2D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00DC10-68D4-4F5E-B0EA-B96F978BC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504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关系分通道建模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F0BFB1-D095-4D58-8F9F-7A5596E0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050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弥补的不足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902B83-718D-47F9-A6F9-517FF600F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81250"/>
            <a:ext cx="4953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746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同质 GNN 把共价键与跨分子接触当成同一种关系，数量较多的非共价消息可能淹没分子内部结构。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1C5F16-9F90-4E49-BF7A-930702C0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05150"/>
            <a:ext cx="495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0AD5B8-859D-4DC1-A7E9-84E1F6AF8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57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核心机制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871101-A3BE-4B7F-B502-CB8CC92E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81400"/>
            <a:ext cx="4953000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9D9AE6-50AC-4FA7-9A35-290BC33C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48075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共价边  E⁽ᶜᵒᵛ⁾  →  求和聚合  mᵢ⁽ᶜᵒᵛ⁾  →  更新网络  U⁽ᶜᵒᵛ⁾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3608E2-96E2-4A87-935C-63B2F739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67175"/>
            <a:ext cx="4953000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2E6A30-7394-409D-A0BB-3D7F77A6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4648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非共价边  E⁽ⁿᶜᵒᵛ⁾  →  求和聚合  mᵢ⁽ⁿᶜᵒᵛ⁾  →  更新网络  U⁽ⁿᶜᵒᵛ⁾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0B4488-CE67-4ACC-8613-769CCFD0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91050"/>
            <a:ext cx="495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63D2C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163D2C"/>
                </a:solidFill>
                <a:latin typeface="Cambria Math"/>
                <a:ea typeface="Cambria Math"/>
                <a:cs typeface="Cambria Math"/>
              </a:rPr>
              <a:t>hᵢ⁽ᵗ⁺¹⁾ = U⁽ᶜᵒᵛ⁾(hᵢ⁽ᵗ⁾, mᵢ⁽ᶜᵒᵛ⁾) + U⁽ⁿᶜᵒᵛ⁾(hᵢ⁽ᵗ⁾, mᵢ⁽ⁿᶜᵒᵛ⁾)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71F654-7B61-475B-8E24-F996755F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958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EB9CC72-8371-4015-A086-1BCC0CFB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343525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保留化学骨架与跨分子接触的不同语义，减少两类消息过早混合。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C46F89-A0AB-4BEB-9BDB-A69C91D2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055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边界：两个分支内部仍采用相同的求和聚合。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F09A6B-AEEE-4057-9A6D-39DA648C9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152400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B38B4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B38B4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F4CB90-52F2-48AC-99D3-936188DC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1504950"/>
            <a:ext cx="409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层内分工与参数独立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E4D03E-F9FD-4410-8CE0-D2F2F632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050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关键区别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F073CB-06BD-49BD-9C93-7EEC9410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3812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4000"/>
              </a:lnSpc>
              <a:buNone/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两个分支的消息形式和求和聚合相同，但邻居集合不同；更新函数 U⁽ᶜᵒᵛ⁾ 与 U⁽ⁿᶜᵒᵛ⁾ 分别学习。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04E60D-769C-4AC3-AE1F-D88AE3E29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105150"/>
            <a:ext cx="476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47D14E-2D4A-49F6-81A4-32C01AB5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2575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更新函数 U 是什么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EB9692-3E4D-4451-8A96-D60246F0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581400"/>
            <a:ext cx="4762500" cy="409575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B30739-FD2F-41BD-8B76-C9208CB2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48075"/>
            <a:ext cx="445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9B5B18"/>
                </a:solidFill>
                <a:latin typeface="Cambria Math"/>
                <a:ea typeface="Cambria Math"/>
                <a:cs typeface="Cambria Math"/>
              </a:defRPr>
            </a:pPr>
            <a:r>
              <a:rPr sz="1200" b="1" i="0">
                <a:solidFill>
                  <a:srgbClr val="9B5B18"/>
                </a:solidFill>
                <a:latin typeface="Cambria Math"/>
                <a:ea typeface="Cambria Math"/>
                <a:cs typeface="Cambria Math"/>
              </a:rPr>
              <a:t>U⁽ᶜᵒᵛ⁾(hᵢ,mᵢ) 与 U⁽ⁿᶜᵒᵛ⁾(hᵢ,mᵢ)：两个独立 MLP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38E915-6E6A-4769-99DB-D7DDC6FF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143375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63D2C"/>
                </a:solidFill>
                <a:latin typeface="Cambria Math"/>
                <a:ea typeface="Cambria Math"/>
                <a:cs typeface="Cambria Math"/>
              </a:defRPr>
            </a:pPr>
            <a:r>
              <a:rPr sz="1350" b="1" i="0">
                <a:solidFill>
                  <a:srgbClr val="163D2C"/>
                </a:solidFill>
                <a:latin typeface="Cambria Math"/>
                <a:ea typeface="Cambria Math"/>
                <a:cs typeface="Cambria Math"/>
              </a:rPr>
              <a:t>消息函数 → 求和聚合 → MLP 更新 → 两分支相加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334C06-770F-4B37-8874-5467DFCC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91050"/>
            <a:ext cx="4762500" cy="428625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693D47-894F-4EBC-84F7-76E88C0B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657725"/>
            <a:ext cx="445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07032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 i="0">
                <a:solidFill>
                  <a:srgbClr val="007032"/>
                </a:solidFill>
                <a:latin typeface="Cambria Math"/>
                <a:ea typeface="Cambria Math"/>
                <a:cs typeface="Cambria Math"/>
              </a:rPr>
              <a:t>第1层 → 第2层 → 第3层：逐步扩大多跳感受野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A6E88D5-54C6-4E8E-B526-A61C395E5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095875"/>
            <a:ext cx="66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作用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3D32BB5-B5EC-4E01-A343-682A68D9D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43525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消息函数决定“从邻居取什么”；求和负责汇总；U 结合原状态与聚合消息完成更新。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9A1EA33-0D31-4ABC-BF4F-7FB6A084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905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原文仅说明 U 由 MLP 实现；未展开内部结构，也未比较 2 / 3 / 4 层。</a:t>
            </a:r>
          </a:p>
        </p:txBody>
      </p:sp>
    </p:spTree>
    <p:extLst>
      <p:ext uri="{BB962C8B-B14F-4D97-AF65-F5344CB8AC3E}">
        <p14:creationId xmlns:p14="http://schemas.microsoft.com/office/powerpoint/2010/main" val="19647860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4D5BA85-B4DE-4655-9BFE-9B052744E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华中农业大学 / 文献汇报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54C3D8-CED5-4271-B100-53666D54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创新二：RBF距离编码 + 哈达玛积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C26C1E-B8EB-46A8-A2DE-7648D71C4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610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3777D2-5161-48A9-B91F-5C90E871E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B1067A-3137-415C-942B-F313D29D6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华中农业大学   ·   GIGN 文献汇报   ·  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A67893-C859-4A44-BD50-A148652B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F89044-C2AD-4978-B668-29AFC6A6D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从三维坐标到距离调制消息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56E8E-CB61-4210-9A2A-84068720B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14525"/>
            <a:ext cx="1381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002B97-F890-4600-9C97-C642D099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12287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坐标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5B1D3E-9F57-41F5-A3B4-ECC0D75A9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14575"/>
            <a:ext cx="1228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rᵢ，rⱼ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24A080-7FEA-42A5-A500-8D9BF608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152650"/>
            <a:ext cx="295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1DCA0E-CC2F-4E9F-8EDB-C1990A20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914525"/>
            <a:ext cx="17145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00995E-7C3F-413B-AA72-6D2A6BED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9775"/>
            <a:ext cx="15621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距离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F344CA-0B9B-4B67-9C17-A7BBD0DF0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314575"/>
            <a:ext cx="15621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2A3A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 i="0">
                <a:solidFill>
                  <a:srgbClr val="172A3A"/>
                </a:solidFill>
                <a:latin typeface="Cambria Math"/>
                <a:ea typeface="Cambria Math"/>
                <a:cs typeface="Cambria Math"/>
              </a:rPr>
              <a:t>dⱼᵢ = ‖rⱼ−rᵢ‖₂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110493-68C7-4795-90FE-D07F1C4C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152650"/>
            <a:ext cx="295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4CD3AD-9CBC-4682-A54A-E8D6E6F6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14525"/>
            <a:ext cx="1381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C72970-92A9-451F-97E2-76B87757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09775"/>
            <a:ext cx="12287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RBF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824781-424A-4C74-AA18-3131D0C89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14575"/>
            <a:ext cx="1228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2A3A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 i="0">
                <a:solidFill>
                  <a:srgbClr val="172A3A"/>
                </a:solidFill>
                <a:latin typeface="Cambria Math"/>
                <a:ea typeface="Cambria Math"/>
                <a:cs typeface="Cambria Math"/>
              </a:rPr>
              <a:t>1维 → K维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8F6AB9-6F4E-4607-9FAD-2519D00D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152650"/>
            <a:ext cx="295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AEC927-947F-44BA-AF0E-92A5B6CD5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14525"/>
            <a:ext cx="138112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6BAD28-BF9E-49A9-9ABB-13DAE077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009775"/>
            <a:ext cx="12287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Linear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A3A55E-1C81-4A24-A5F1-BDCBAB39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4575" y="2314575"/>
            <a:ext cx="1228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2A3A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 i="0">
                <a:solidFill>
                  <a:srgbClr val="172A3A"/>
                </a:solidFill>
                <a:latin typeface="Cambria Math"/>
                <a:ea typeface="Cambria Math"/>
                <a:cs typeface="Cambria Math"/>
              </a:rPr>
              <a:t>K维 → m维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FF8807B-6200-4E56-AEED-BD27D931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152650"/>
            <a:ext cx="295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8A7A721-97B3-4E0E-A440-0E4B44B9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14525"/>
            <a:ext cx="1476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3FBDF3-C80F-4A7C-A682-0F9E7699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09775"/>
            <a:ext cx="13239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距离权重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AB5BCF-CCD9-42DF-8065-7B87F7969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14575"/>
            <a:ext cx="13239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2A3A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 i="0">
                <a:solidFill>
                  <a:srgbClr val="172A3A"/>
                </a:solidFill>
                <a:latin typeface="Cambria Math"/>
                <a:ea typeface="Cambria Math"/>
                <a:cs typeface="Cambria Math"/>
              </a:rPr>
              <a:t>λ(dⱼᵢ)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523F49-6BC4-40D7-BB8F-9E1453AF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152650"/>
            <a:ext cx="295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131F1F-F4B5-427F-BF78-2458D0C3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914525"/>
            <a:ext cx="16668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A4C48DA-BE08-4726-A5A7-3F02B3BE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009775"/>
            <a:ext cx="15144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i="0">
                <a:solidFill>
                  <a:srgbClr val="9B5B18"/>
                </a:solidFill>
                <a:latin typeface="Microsoft YaHei"/>
                <a:ea typeface="Microsoft YaHei"/>
                <a:cs typeface="Microsoft YaHei"/>
              </a:rPr>
              <a:t>消息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DF9317-8737-4209-AC08-92F8FFC3D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2314575"/>
            <a:ext cx="15144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72A3A"/>
                </a:solidFill>
                <a:latin typeface="Cambria Math"/>
                <a:ea typeface="Cambria Math"/>
                <a:cs typeface="Cambria Math"/>
              </a:defRPr>
            </a:pPr>
            <a:r>
              <a:rPr sz="1125" b="1" i="0">
                <a:solidFill>
                  <a:srgbClr val="172A3A"/>
                </a:solidFill>
                <a:latin typeface="Cambria Math"/>
                <a:ea typeface="Cambria Math"/>
                <a:cs typeface="Cambria Math"/>
              </a:rPr>
              <a:t>hⱼ⁽ᵗ⁾ ⊙ λ(dⱼᵢ)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472B8A2-2F69-40A1-A53E-9E53E4712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19400"/>
            <a:ext cx="10610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5 Å 阈值只决定是否连边；RBF进一步编码已连边原子对在不同距离下应传递多少信息。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90EE13-9EA8-4E0A-929F-E51D364F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3333750" cy="2181225"/>
          </a:xfrm>
          <a:prstGeom xmlns:a="http://schemas.openxmlformats.org/drawingml/2006/main" prst="roundRect">
            <a:avLst>
              <a:gd name="adj" fmla="val 61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87DDE97-4685-4D60-A759-BE29ACC52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为什么不只用绝对距离？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CABF11-D708-4018-8EEF-90BB174C5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原始距离当然可以直接输入模型，但它只有一个标量。简单线性变换难以表达“过近排斥—合适最强—过远减弱”等非单调距离效应。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067F4BA-AE84-4AE5-98EB-597D3C2E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295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2783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多个重叠高斯中心提供平滑的局部响应：相近距离得到相近编码，也更容易组合出复杂距离函数。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6D3C23-6EC6-4807-8F2D-40899278D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5275" y="3286125"/>
            <a:ext cx="3333750" cy="2181225"/>
          </a:xfrm>
          <a:prstGeom xmlns:a="http://schemas.openxmlformats.org/drawingml/2006/main" prst="roundRect">
            <a:avLst>
              <a:gd name="adj" fmla="val 6114"/>
            </a:avLst>
          </a:prstGeom>
          <a:solidFill xmlns:a="http://schemas.openxmlformats.org/drawingml/2006/main">
            <a:srgbClr val="EAF3EC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00FC85-4005-4B57-B59F-4FFC4218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4766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为什么使用哈达玛积？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AAA962-1E8D-49AC-BD84-2B3172686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905250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Linear 把 K 维 RBF 投影为与 hⱼ 相同的 m 维，λ(d) 因而可以逐通道调节邻居原子特征。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2078E8-369D-45E7-A857-8D5F09E0B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686300"/>
            <a:ext cx="295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它保留 m 维消息；不会像点积那样压成标量，也不会像直接乘距离标量那样统一缩放所有通道。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A9B5FD-968A-4E96-8C01-4E0074BE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86125"/>
            <a:ext cx="3619500" cy="2181225"/>
          </a:xfrm>
          <a:prstGeom xmlns:a="http://schemas.openxmlformats.org/drawingml/2006/main" prst="roundRect">
            <a:avLst>
              <a:gd name="adj" fmla="val 6114"/>
            </a:avLst>
          </a:prstGeom>
          <a:solidFill xmlns:a="http://schemas.openxmlformats.org/drawingml/2006/main">
            <a:srgbClr val="FFF0DE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F720957-C399-45ED-9263-9BC1C6F4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4766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与拼接有什么区别？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AE01F9-6328-4083-AFAF-6DD519B1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05250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只拼接后接线性层：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D1C8C1-9CAD-4F08-9B49-82844E7CF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17195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9B5B18"/>
                </a:solidFill>
                <a:latin typeface="Cambria Math"/>
                <a:ea typeface="Cambria Math"/>
                <a:cs typeface="Cambria Math"/>
              </a:defRPr>
            </a:pPr>
            <a:r>
              <a:rPr sz="1275" b="1" i="0">
                <a:solidFill>
                  <a:srgbClr val="9B5B18"/>
                </a:solidFill>
                <a:latin typeface="Cambria Math"/>
                <a:ea typeface="Cambria Math"/>
                <a:cs typeface="Cambria Math"/>
              </a:rPr>
              <a:t>W[hⱼ ∥ λ] = W_h hⱼ + W_d λ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758D14A-8A97-4498-89FC-762F57D8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591050"/>
            <a:ext cx="3238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942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它分别加权两部分再相加，没有显式的输入乘法项。MLP可以学习更复杂交互，但参数与过拟合风险也会增加。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1E3A23E-0F89-4778-B3F5-B8A26297F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610850" cy="4572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2588A63-9D07-4CA2-AB05-AFE8E17E4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62625"/>
            <a:ext cx="10267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论文选择：提前计算 hⱼ ⊙ λ(d)，用较少参数加入“距离调节特征”的结构先验；拼接或混合方案可能更灵活，但本文未验证。</a:t>
            </a:r>
          </a:p>
        </p:txBody>
      </p:sp>
    </p:spTree>
    <p:extLst>
      <p:ext uri="{BB962C8B-B14F-4D97-AF65-F5344CB8AC3E}">
        <p14:creationId xmlns:p14="http://schemas.microsoft.com/office/powerpoint/2010/main" val="4388912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C63E9B-C16E-433A-97CE-19C6FB60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华中农业大学 / 文献汇报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F5E86D-1014-45AA-B33C-667D931ED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研究结果：主基准性能与实验设置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295D10-4909-47FF-90D9-357D6736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610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DA2F88-6FC8-4A9A-A6BF-D3B90E628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9B887F-1869-459D-8F89-0F1394B4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华中农业大学   ·   GIGN 文献汇报   ·  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0565AA-D69F-4FBC-B043-A8060190A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AFA240-A02B-41A0-9EEE-CF3498BF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代表模型对比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AEA73C-A7C5-4B99-BA1B-65376AEF7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7524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每格为 RMSE / Rₚ，分别越低 / 越高越好</a:t>
            </a:r>
          </a:p>
        </p:txBody>
      </p:sp>
      <p:graphicFrame>
        <p:nvGraphicFramePr>
          <p:cNvPr id="29" name=""/>
          <p:cNvGraphicFramePr/>
          <p:nvPr/>
        </p:nvGraphicFramePr>
        <p:xfrm>
          <a:off xmlns:a="http://schemas.openxmlformats.org/drawingml/2006/main" x="609600" y="2133600"/>
          <a:ext xmlns:a="http://schemas.openxmlformats.org/drawingml/2006/main" cx="7239000" cy="2857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466850"/>
                <a:gridCol w="1924050"/>
                <a:gridCol w="1924050"/>
                <a:gridCol w="1924050"/>
              </a:tblGrid>
              <a:tr h="357188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2013 core</a:t>
                      </a:r>
                    </a:p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 = 107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2016 core</a:t>
                      </a:r>
                    </a:p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 = 285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2019 holdout</a:t>
                      </a:r>
                    </a:p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N = 4,366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</a:tr>
              <a:tr h="357188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DeepDTA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1.639 / 0.718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1.357 / 0.785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1.485 / 0.586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7188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Pafnucy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1.517 / 0.783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1.450 / 0.769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1.438 / 0.612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</a:tr>
              <a:tr h="357188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PotentialNet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1.607 / 0.773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1.503 / 0.772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1.514 / 0.564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7188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GNN-DTI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1.533 / 0.767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1.384 / 0.779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1.446 / 0.614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</a:tr>
              <a:tr h="357188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IGN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1.428 / 0.807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1.269 / 0.821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1.410 / 0.630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7188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EGNN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1.498 / 0.782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1.289 / 0.816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1.399 / 0.628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</a:tr>
              <a:tr h="357188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GIGN</a:t>
                      </a:r>
                    </a:p>
                  </a:txBody>
                  <a:tcPr marL="91440" marR="91440" marT="45720" marB="45720" anchor="ctr">
                    <a:solidFill>
                      <a:srgbClr val="EAF3E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1.380 / 0.821</a:t>
                      </a:r>
                    </a:p>
                  </a:txBody>
                  <a:tcPr marL="91440" marR="91440" marT="45720" marB="45720" anchor="ctr">
                    <a:solidFill>
                      <a:srgbClr val="EAF3E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1.190 / 0.840</a:t>
                      </a:r>
                    </a:p>
                  </a:txBody>
                  <a:tcPr marL="91440" marR="91440" marT="45720" marB="45720" anchor="ctr">
                    <a:solidFill>
                      <a:srgbClr val="EAF3E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1.393 / 0.641</a:t>
                      </a:r>
                    </a:p>
                  </a:txBody>
                  <a:tcPr marL="91440" marR="91440" marT="45720" marB="45720" anchor="ctr">
                    <a:solidFill>
                      <a:srgbClr val="EAF3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1D4690-DF75-4AD4-9AA5-9CCC820D5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428750"/>
            <a:ext cx="2981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实验如何比较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9E222C-78B3-46A2-93E0-6453C70F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91452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训练与验证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200315-6CD6-4033-9108-114391BD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257425"/>
            <a:ext cx="30003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PDBbind 2016</a:t>
            </a:r>
          </a:p>
          <a:p xmlns:a="http://schemas.openxmlformats.org/drawingml/2006/main"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训练 11,904，验证 1,000</a:t>
            </a:r>
          </a:p>
          <a:p xmlns:a="http://schemas.openxmlformats.org/drawingml/2006/main"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各模型使用相同的数据划分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353E3E-E1DA-465D-BA45-64E4130A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12420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评估方式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2BCA84-2700-4555-9C57-C6F7E196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467100"/>
            <a:ext cx="300037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3 个随机种子独立训练</a:t>
            </a:r>
          </a:p>
          <a:p xmlns:a="http://schemas.openxmlformats.org/drawingml/2006/main"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按验证集最低 RMSE 选模型</a:t>
            </a:r>
          </a:p>
          <a:p xmlns:a="http://schemas.openxmlformats.org/drawingml/2006/main"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表中展示 3 次运行的均值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45CCC0-D6B9-414A-897E-B343C1CE5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36245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2019 holdout 的意义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560CD-248C-4424-BDFF-CA60D314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705350"/>
            <a:ext cx="300037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使用较新、未重叠的复合物，</a:t>
            </a:r>
          </a:p>
          <a:p xmlns:a="http://schemas.openxmlformats.org/drawingml/2006/main"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近似时间外推，比 core 更难。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C1A497-AC5B-41FD-9197-CC8E72EB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Rₚ 相对最佳基线 IGN 的绝对提升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581025" y="5524500"/>
          <a:ext xmlns:a="http://schemas.openxmlformats.org/drawingml/2006/main" cx="4286250" cy="7715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d3d88d433644acd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4E410BD-54E5-49C8-BACE-D81E52FE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2863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主要结论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8827D0-E276-4C25-8C3D-D2751484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38800"/>
            <a:ext cx="59817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GIGN 在三个测试集的两项指标均最优。</a:t>
            </a:r>
          </a:p>
          <a:p xmlns:a="http://schemas.openxmlformats.org/drawingml/2006/main">
            <a:pPr algn="l">
              <a:defRPr sz="14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2019 Rₚ 仍仅 0.641，提升幅度较小，外推能力仍有限。</a:t>
            </a:r>
          </a:p>
        </p:txBody>
      </p:sp>
    </p:spTree>
    <p:extLst>
      <p:ext uri="{BB962C8B-B14F-4D97-AF65-F5344CB8AC3E}">
        <p14:creationId xmlns:p14="http://schemas.microsoft.com/office/powerpoint/2010/main" val="2829806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D46A5D-98AC-4F27-B961-604881741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华中农业大学 / 文献汇报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D2214-0C41-44DD-BC9B-3B2A05F32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 i="0">
                <a:solidFill>
                  <a:srgbClr val="163D2C"/>
                </a:solidFill>
                <a:latin typeface="Microsoft YaHei"/>
                <a:ea typeface="Microsoft YaHei"/>
                <a:cs typeface="Microsoft YaHei"/>
              </a:rPr>
              <a:t>研究结果：消融验证与泛化能力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6BD879-4BDF-4E8F-8A13-0044D693D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610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032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867C54-495A-4DFA-A182-1D3CE7079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610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B6013E-2C33-405B-9DF7-66D630D5E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华中农业大学   ·   GIGN 文献汇报   ·   JPCL 2023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0B7473-0E8E-4D98-B6DF-E05AC46EC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6486525"/>
            <a:ext cx="47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E6353-6E2C-4F64-8120-52F73F5E7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19225"/>
            <a:ext cx="704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消融实验：去掉什么，性能如何变化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B00226-AC58-4E88-9D5E-E3DA4160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71913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Pearson Rₚ（↑），均值 ± 标准差，3 次独立运行</a:t>
            </a:r>
          </a:p>
        </p:txBody>
      </p:sp>
      <p:graphicFrame>
        <p:nvGraphicFramePr>
          <p:cNvPr id="28" name=""/>
          <p:cNvGraphicFramePr/>
          <p:nvPr/>
        </p:nvGraphicFramePr>
        <p:xfrm>
          <a:off xmlns:a="http://schemas.openxmlformats.org/drawingml/2006/main" x="609600" y="2114550"/>
          <a:ext xmlns:a="http://schemas.openxmlformats.org/drawingml/2006/main" cx="7620000" cy="19335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076325"/>
                <a:gridCol w="2000250"/>
                <a:gridCol w="1514475"/>
                <a:gridCol w="1514475"/>
                <a:gridCol w="1514475"/>
              </a:tblGrid>
              <a:tr h="38671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模型变体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改动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2013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2016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2019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</a:tr>
              <a:tr h="38671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TMP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两类边同质传播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.791 ± .003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.822 ± .004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.634 ± .004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671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TRVar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加入绝对坐标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.763 ± .019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.760 ± .010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.550 ± .007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</a:tr>
              <a:tr h="38671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RVar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坐标减去配体质心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.765 ± .007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.788 ± .013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.608 ± .006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8671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275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GIGN</a:t>
                      </a:r>
                    </a:p>
                  </a:txBody>
                  <a:tcPr marL="91440" marR="91440" marT="45720" marB="45720" anchor="ctr">
                    <a:solidFill>
                      <a:srgbClr val="EAF3E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异质传播＋不变性</a:t>
                      </a:r>
                    </a:p>
                  </a:txBody>
                  <a:tcPr marL="91440" marR="91440" marT="45720" marB="45720" anchor="ctr">
                    <a:solidFill>
                      <a:srgbClr val="EAF3E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.821 ± .003</a:t>
                      </a:r>
                    </a:p>
                  </a:txBody>
                  <a:tcPr marL="91440" marR="91440" marT="45720" marB="45720" anchor="ctr">
                    <a:solidFill>
                      <a:srgbClr val="EAF3E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.840 ± .007</a:t>
                      </a:r>
                    </a:p>
                  </a:txBody>
                  <a:tcPr marL="91440" marR="91440" marT="45720" marB="45720" anchor="ctr">
                    <a:solidFill>
                      <a:srgbClr val="EAF3EC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1">
                          <a:solidFill>
                            <a:srgbClr val="007032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.641 ± .006</a:t>
                      </a:r>
                    </a:p>
                  </a:txBody>
                  <a:tcPr marL="91440" marR="91440" marT="45720" marB="45720" anchor="ctr">
                    <a:solidFill>
                      <a:srgbClr val="EAF3E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E8B3CF-CB88-437D-BFDD-02622CAB0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4478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两个设计得到支持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31F4DEE-1529-4DAD-AB0F-FC5F5BB6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1924050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关系分通道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B4E56E-F737-46E7-8B89-022F2358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2574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三组测试均优于同质传播，支持对两类消息分别建模。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5AAD76-A908-4A34-A76D-5FFD6E40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981325"/>
            <a:ext cx="26670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平移、旋转不变性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18A47F-A1F0-450A-B283-99FB97C9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324225"/>
            <a:ext cx="266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5E6D79"/>
                </a:solidFill>
                <a:latin typeface="Microsoft YaHei"/>
                <a:ea typeface="Microsoft YaHei"/>
                <a:cs typeface="Microsoft YaHei"/>
              </a:rPr>
              <a:t>绝对坐标使性能下降。质心归一化有所恢复，完整模型最佳。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12FC1E2-4C8E-4A58-B58B-B74C959F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957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进一步验证：模型能否推广到其他场景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609600" y="4600575"/>
          <a:ext xmlns:a="http://schemas.openxmlformats.org/drawingml/2006/main" cx="7620000" cy="16478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676400"/>
                <a:gridCol w="3467100"/>
                <a:gridCol w="1238250"/>
                <a:gridCol w="1238250"/>
              </a:tblGrid>
              <a:tr h="32956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测试场景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条件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RMSE ↓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Rₚ ↑</a:t>
                      </a:r>
                    </a:p>
                  </a:txBody>
                  <a:tcPr marL="91440" marR="91440" marT="45720" marB="45720" anchor="ctr">
                    <a:solidFill>
                      <a:srgbClr val="007032"/>
                    </a:solidFill>
                  </a:tcPr>
                </a:tc>
              </a:tr>
              <a:tr h="32956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跨数据集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CSAR-HiQ，N = 47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1.498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0.774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2956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重新对接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近天然构象，RMSD &lt; 2 Å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1.261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0.826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</a:tr>
              <a:tr h="32956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配体骨架冷启动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按骨架分组，8:1:1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1.353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0.685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29565"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l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蛋白质冷启动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30% 序列相似性分组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1.521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  <a:tc>
                  <a:txBody>
                    <a:bodyPr lIns="95250" tIns="47625" rIns="76200" bIns="47625">
                      <a:normAutofit/>
                    </a:bodyPr>
                    <a:lstStyle/>
                    <a:p>
                      <a:pPr algn="ctr"/>
                      <a:r>
                        <a:rPr sz="1275" b="0">
                          <a:solidFill>
                            <a:srgbClr val="172A3A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0.565</a:t>
                      </a:r>
                    </a:p>
                  </a:txBody>
                  <a:tcPr marL="91440" marR="91440" marT="45720" marB="45720" anchor="ctr">
                    <a:solidFill>
                      <a:srgbClr val="F7F9F7"/>
                    </a:solidFill>
                  </a:tcPr>
                </a:tc>
              </a:tr>
            </a:tbl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688430-9C0A-4AC4-8EBD-915BF25CC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219575"/>
            <a:ext cx="2809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i="0">
                <a:solidFill>
                  <a:srgbClr val="007032"/>
                </a:solidFill>
                <a:latin typeface="Microsoft YaHei"/>
                <a:ea typeface="Microsoft YaHei"/>
                <a:cs typeface="Microsoft YaHei"/>
              </a:rPr>
              <a:t>适用范围与限制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815798-F775-409B-A6AA-9FF692635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64820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蛋白质冷启动未保持领先：EGNN 的 Rₚ 为 0.579。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4A3C27-306C-4B27-B481-F73F2056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5419725"/>
            <a:ext cx="2667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19050" tIns="19050" rIns="1905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i="0">
                <a:solidFill>
                  <a:srgbClr val="172A3A"/>
                </a:solidFill>
                <a:latin typeface="Microsoft YaHei"/>
                <a:ea typeface="Microsoft YaHei"/>
                <a:cs typeface="Microsoft YaHei"/>
              </a:rPr>
              <a:t>对接验证仅覆盖 RMSD &lt; 2 Å 的近天然构象，不能代表任意错误位姿。</a:t>
            </a:r>
          </a:p>
        </p:txBody>
      </p:sp>
    </p:spTree>
    <p:extLst>
      <p:ext uri="{BB962C8B-B14F-4D97-AF65-F5344CB8AC3E}">
        <p14:creationId xmlns:p14="http://schemas.microsoft.com/office/powerpoint/2010/main" val="12306161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2026-09-14T10:12:09.9260000Z</dcterms:created>
  <dcterms:modified xsi:type="dcterms:W3CDTF">2026-09-14T10:12:09.9260000Z</dcterms:modified>
</coreProperties>
</file>