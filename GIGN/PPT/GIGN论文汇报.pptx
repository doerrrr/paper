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2e328218a9466c" /><Relationship Type="http://schemas.openxmlformats.org/officeDocument/2006/relationships/extended-properties" Target="/docProps/app.xml" Id="Ra5309781a91f4d57" /><Relationship Type="http://schemas.openxmlformats.org/officeDocument/2006/relationships/officeDocument" Target="/ppt/presentation.xml" Id="R1d894230320540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fbd0a1bd4c4e81"/>
  </p:sldMasterIdLst>
  <p:notesMasterIdLst>
    <p:notesMasterId xmlns:r="http://schemas.openxmlformats.org/officeDocument/2006/relationships" r:id="R07f77fcf0538457d"/>
  </p:notesMasterIdLst>
  <p:sldIdLst>
    <p:sldId xmlns:r="http://schemas.openxmlformats.org/officeDocument/2006/relationships" id="256" r:id="Re2f8e3450b584f26"/>
    <p:sldId xmlns:r="http://schemas.openxmlformats.org/officeDocument/2006/relationships" id="257" r:id="Reda206a436734420"/>
    <p:sldId xmlns:r="http://schemas.openxmlformats.org/officeDocument/2006/relationships" id="258" r:id="R716ae757dd38493e"/>
    <p:sldId xmlns:r="http://schemas.openxmlformats.org/officeDocument/2006/relationships" id="259" r:id="R7c503befcde443e6"/>
    <p:sldId xmlns:r="http://schemas.openxmlformats.org/officeDocument/2006/relationships" id="260" r:id="R4c6612656575405e"/>
    <p:sldId xmlns:r="http://schemas.openxmlformats.org/officeDocument/2006/relationships" id="261" r:id="R1c8193de5a7c4c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54c6a13444d2a" /><Relationship Type="http://schemas.openxmlformats.org/officeDocument/2006/relationships/slideMaster" Target="/ppt/slideMasters/slideMaster1.xml" Id="R4dfbd0a1bd4c4e81" /><Relationship Type="http://schemas.openxmlformats.org/officeDocument/2006/relationships/notesMaster" Target="/ppt/notesMasters/notesMaster1.xml" Id="R07f77fcf0538457d" /><Relationship Type="http://schemas.openxmlformats.org/officeDocument/2006/relationships/presProps" Target="/ppt/presProps.xml" Id="Ra969f092143a414b" /><Relationship Type="http://schemas.openxmlformats.org/officeDocument/2006/relationships/tableStyles" Target="/ppt/tableStyles.xml" Id="Rdce42f95d12246b4" /><Relationship Type="http://schemas.openxmlformats.org/officeDocument/2006/relationships/slide" Target="/ppt/slides/slide1.xml" Id="Re2f8e3450b584f26" /><Relationship Type="http://schemas.openxmlformats.org/officeDocument/2006/relationships/slide" Target="/ppt/slides/slide2.xml" Id="Reda206a436734420" /><Relationship Type="http://schemas.openxmlformats.org/officeDocument/2006/relationships/slide" Target="/ppt/slides/slide3.xml" Id="R716ae757dd38493e" /><Relationship Type="http://schemas.openxmlformats.org/officeDocument/2006/relationships/slide" Target="/ppt/slides/slide4.xml" Id="R7c503befcde443e6" /><Relationship Type="http://schemas.openxmlformats.org/officeDocument/2006/relationships/slide" Target="/ppt/slides/slide5.xml" Id="R4c6612656575405e" /><Relationship Type="http://schemas.openxmlformats.org/officeDocument/2006/relationships/slide" Target="/ppt/slides/slide6.xml" Id="R1c8193de5a7c4c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9daaec140344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147dedb654c07" /><Relationship Type="http://schemas.openxmlformats.org/officeDocument/2006/relationships/notesMaster" Target="/ppt/notesMasters/notesMaster1.xml" Id="Rf8ebec40f19045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1d1a2425b84565" /><Relationship Type="http://schemas.openxmlformats.org/officeDocument/2006/relationships/notesMaster" Target="/ppt/notesMasters/notesMaster1.xml" Id="R03085b2a520542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84ba3638ff4574" /><Relationship Type="http://schemas.openxmlformats.org/officeDocument/2006/relationships/notesMaster" Target="/ppt/notesMasters/notesMaster1.xml" Id="R104d614e5c7849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6568d6eefc49c6" /><Relationship Type="http://schemas.openxmlformats.org/officeDocument/2006/relationships/notesMaster" Target="/ppt/notesMasters/notesMaster1.xml" Id="R2ec6af6c376f43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42e869d61a40bd" /><Relationship Type="http://schemas.openxmlformats.org/officeDocument/2006/relationships/notesMaster" Target="/ppt/notesMasters/notesMaster1.xml" Id="R6fe16d8b370643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c2aa84f09348d0" /><Relationship Type="http://schemas.openxmlformats.org/officeDocument/2006/relationships/notesMaster" Target="/ppt/notesMasters/notesMaster1.xml" Id="Rd91d3a7a9a534b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 summarized from the introduction and overall comparison discussion.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 reproduced from the paper. Source: Yang et al., J. Phys. Chem. Lett. 2023, 14, 2020–2033. DOI: 10.1021/acs.jpclett.2c03906. Local source image: E:\Obsidian\paper\论文\GIGN\Pasted image 20260911161022.png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Gap-to-design mapping synthesized from the method, ablation, invariance proof, and complexity discussion.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chart rebuilt from Table 1. Values are means over three runs.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Ablation chart rebuilt from Table 2 (2019 holdout). External and cold-start results are summarized from the generalization experiments.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c013615de4d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584d9bec5445cd" /><Relationship Type="http://schemas.openxmlformats.org/officeDocument/2006/relationships/slideLayout" Target="/ppt/slideLayouts/slideLayout1.xml" Id="Rd73cdd8d0b414a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3cdd8d0b414a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d62a420514ab3" /><Relationship Type="http://schemas.openxmlformats.org/officeDocument/2006/relationships/notesSlide" Target="/ppt/notesSlides/notesSlide1.xml" Id="R3b3b4732f09f4f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e5b6e67524aaf" /><Relationship Type="http://schemas.openxmlformats.org/officeDocument/2006/relationships/notesSlide" Target="/ppt/notesSlides/notesSlide2.xml" Id="R9c9843c5827f48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aa1b91fc74685" /><Relationship Type="http://schemas.openxmlformats.org/officeDocument/2006/relationships/image" Target="/ppt/media/image.png" Id="R7d6065ec9aa34ef3" /><Relationship Type="http://schemas.openxmlformats.org/officeDocument/2006/relationships/notesSlide" Target="/ppt/notesSlides/notesSlide3.xml" Id="R2d5ab50661f143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d3a51ea914788" /><Relationship Type="http://schemas.openxmlformats.org/officeDocument/2006/relationships/notesSlide" Target="/ppt/notesSlides/notesSlide4.xml" Id="Re3e5c6d78f0147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a0b9dc39e4adb" /><Relationship Type="http://schemas.openxmlformats.org/officeDocument/2006/relationships/chart" Target="/ppt/slides/charts/chart1.xml" Id="R1438b8b232414ec3" /><Relationship Type="http://schemas.openxmlformats.org/officeDocument/2006/relationships/notesSlide" Target="/ppt/notesSlides/notesSlide5.xml" Id="R9bae1e493e2c4a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e3b71ca584e99" /><Relationship Type="http://schemas.openxmlformats.org/officeDocument/2006/relationships/chart" Target="/ppt/slides/charts/chart2.xml" Id="R44200c66eb2341c0" /><Relationship Type="http://schemas.openxmlformats.org/officeDocument/2006/relationships/notesSlide" Target="/ppt/notesSlides/notesSlide6.xml" Id="Raa1fdd29e1cd4f0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最佳基线 IGN</c:v>
          </c:tx>
          <c:spPr>
            <a:solidFill xmlns:a="http://schemas.openxmlformats.org/drawingml/2006/main">
              <a:srgbClr val="7890A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0.807</c:v>
              </c:pt>
              <c:pt idx="1">
                <c:v>0.821</c:v>
              </c:pt>
              <c:pt idx="2">
                <c:v>0.63</c:v>
              </c:pt>
            </c:numLit>
          </c:val>
        </c:ser>
        <c:ser>
          <c:idx val="1"/>
          <c:order val="1"/>
          <c:tx>
            <c:v>GIGN</c:v>
          </c:tx>
          <c:spPr>
            <a:solidFill xmlns:a="http://schemas.openxmlformats.org/drawingml/2006/main">
              <a:srgbClr val="0A9A9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0.821</c:v>
              </c:pt>
              <c:pt idx="1">
                <c:v>0.84</c:v>
              </c:pt>
              <c:pt idx="2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6"/>
          <c:min val="0.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7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legend>
      <c:legendPos val="b"/>
      <c:overlay val="0"/>
      <c:spPr>
        <a:ln xmlns:a="http://schemas.openxmlformats.org/drawingml/2006/main" w="0">
          <a:noFill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E6D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Rₚ</c:v>
          </c:tx>
          <c:spPr>
            <a:solidFill xmlns:a="http://schemas.openxmlformats.org/drawingml/2006/main">
              <a:srgbClr val="0A9A9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890A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5B5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39A4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A9A94"/>
              </a:solidFill>
            </c:spPr>
          </c:dPt>
          <c:cat>
            <c:strLit>
              <c:ptCount val="4"/>
              <c:pt idx="0">
                <c:v>同质传播
TMP</c:v>
              </c:pt>
              <c:pt idx="1">
                <c:v>绝对坐标
VarTR</c:v>
              </c:pt>
              <c:pt idx="2">
                <c:v>仅平移不变
VarR</c:v>
              </c:pt>
              <c:pt idx="3">
                <c:v>完整 GIGN</c:v>
              </c:pt>
            </c:strLit>
          </c:cat>
          <c:val>
            <c:numLit>
              <c:formatCode>0.000</c:formatCode>
              <c:ptCount val="4"/>
              <c:pt idx="0">
                <c:v>0.634</c:v>
              </c:pt>
              <c:pt idx="1">
                <c:v>0.55</c:v>
              </c:pt>
              <c:pt idx="2">
                <c:v>0.608</c:v>
              </c:pt>
              <c:pt idx="3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7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8CB61-B799-46DD-9EDA-5916F31E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E91CF-C32A-4363-B33E-2EBAFE4E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PAPER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11F9D-600E-429F-8675-87D6348F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03B00-759E-428D-863D-79BB7983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D2A7C-8CDF-40C0-BF93-65546F0A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947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基于三维结构预测蛋白质–配体结合亲和力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CC85D-6AEC-4EEA-93F7-56E9E368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rPr>
              <a:t>Geometric Interaction Graph Neural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27F23-193F-4E1B-A203-5EAA7460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核心：异质相互作用建模  +  几何不变性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C6FFE-7DD4-45F1-98DD-CEC50FC4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rPr>
              <a:t>Yang et al.  |  The Journal of Physical Chemistry Letters  |  2023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81174-AC23-4F08-BE66-A7179DAA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00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2108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08758-559A-43DB-8BF2-F05DAFB6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BACKGROUND &amp;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F1609-F3C1-4CF8-A3D5-89F24259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为什么需要 GIGN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7F3C5-8EA6-44FC-AD3F-F82FFE22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03FA-BD59-45C6-B6EE-6DEAABCA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3DCD6-0AC1-4032-8C66-ADF2F1FC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AF88F-5C06-437B-99CB-107DE6F2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170FB-DE97-471D-BD58-7ECC4132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171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结合亲和力预测的关键，不只是识别原子类型，还要理解它们如何在三维空间中相互作用。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07E9C-2410-4ACF-BA35-D230AC88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实验测定成本高、速度慢，因此需要从复合物结构直接得到可筛选的亲和力预测。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6842E-F3D5-45F9-9958-19B8128E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90525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54962-79DE-4845-A85B-F789CC5D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研究动机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695B7-A8FA-4A29-8677-EB652FE3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把化学关系和几何规律直接写进模型。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B9F27-0CAA-4345-A6EA-0E1B1C4E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66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62DB6-58F1-4D2F-A0DA-3F79FE94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二维或配体中心的表示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332F0-8F61-4714-B1DC-43F6A9AF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19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难以显式描述蛋白质–配体的三维接触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99EC3-4F2B-4AF3-B1C0-DB94634B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527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DC6F0-44A5-475A-8047-B33E01C2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19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19200-D207-4B80-AFFA-EF889A9E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71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同质消息传递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62A9E-4CBB-44BE-BDDE-169E64A9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共价键与跨分子接触容易过早混合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2696F-411A-4255-BD20-1AE95E66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052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09743-1F0A-4312-A584-4D63E5A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71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8E4C0-BA45-440D-AD8B-C6060692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直接使用绝对坐标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5EA76-5D1C-4276-A497-16B4BC11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244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同一复合物旋转或平移后表示会改变</a:t>
            </a:r>
          </a:p>
        </p:txBody>
      </p:sp>
    </p:spTree>
    <p:extLst>
      <p:ext uri="{BB962C8B-B14F-4D97-AF65-F5344CB8AC3E}">
        <p14:creationId xmlns:p14="http://schemas.microsoft.com/office/powerpoint/2010/main" val="2015330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38FCD-4C24-4E2F-AC89-439964CF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29CE0-EE07-4B49-B218-3F406AAD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方法：三维相互作用图 + 异质消息传递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36F5F-62FA-4404-8C99-DF2D15AE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45E02-C686-44A6-BDE1-5D0D3340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84102-D8EF-43CD-9E00-A0785B00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E7A9D-04C9-42E5-BDAF-E937A99A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C8EA3-A099-4ACB-9DFA-B0BBBDE3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8293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065ec9aa34ef3"/>
          <a:stretch xmlns:a="http://schemas.openxmlformats.org/drawingml/2006/main"/>
        </p:blipFill>
        <p:spPr>
          <a:xfrm xmlns:a="http://schemas.openxmlformats.org/drawingml/2006/main">
            <a:off x="1170514" y="1666875"/>
            <a:ext cx="4707471" cy="423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0E7FC-AAFF-4D58-8703-423A5C2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A634E-B731-477A-B811-B6F4592D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构图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776DF-2983-40C5-B0CF-822F594F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原子为节点；分子内部化学键为共价边；蛋白质–配体原子对距离 &lt; 5 Å 时建立候选非共价边。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63D07-CB9C-4DFC-9A50-0F59E4CD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8C3C3-2FF4-4E15-869B-254E0478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三层异质交互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D6D7E-4CBD-49E1-BF82-AF431E0C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共价与非共价消息分别聚合、分别更新，再相加融合；三层逐步扩大原子的多跳感受野。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63F16-0F3E-4020-95BA-8E25650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162DB-8AF2-4024-A832-2F183F76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读出亲和力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B9E7F-6B4D-4356-BFDF-BAB9B2F7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对全部原子表示做 global sum pooling，再由 MLP 输出一个结合亲和力预测值。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4F948-9EAB-499A-94C5-4687A1BC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8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距离 dᵢⱼ 经 RBF 编码后调节消息；模型只依赖原子间距离，因此保持整体平移和旋转不变。</a:t>
            </a:r>
          </a:p>
        </p:txBody>
      </p:sp>
    </p:spTree>
    <p:extLst>
      <p:ext uri="{BB962C8B-B14F-4D97-AF65-F5344CB8AC3E}">
        <p14:creationId xmlns:p14="http://schemas.microsoft.com/office/powerpoint/2010/main" val="84036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B33F56-07C7-4850-AA67-6611E3A3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A86C4-1FA5-4010-A7A2-11E5D5CA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GIGN 弥补了什么不足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E3784-62BB-438D-8176-FF9DE65B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384F7-BB0B-43DF-AAC1-0F998398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D13AA-EE17-4601-A33F-19AA56B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C995A-221A-45EC-80A8-1C11C4C4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A46BE-C764-47AF-9A2A-B70BDF5F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已有不足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AF7B1-76C2-404D-A0FE-D30FAF83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62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的设计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4B234-FBC4-4DE5-A461-A9CA438F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带来的作用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F597D-9F03-4F2E-A24B-01C032C4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74200-3350-4B23-8A40-97319DBE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两类边按同一种关系传播，非共价消息可能淹没分子内部结构。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8F192-41C5-4214-9D9B-583F1C91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90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AA3BF-4E48-4ECE-A6F6-96D94DA9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共价 / 非共价使用独立边集合、独立聚合与独立更新网络。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A3AE6-B025-4DCD-93B9-46982246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A1B1A-5223-4238-B385-68CEDF20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保留化学骨架与跨分子接触的不同语义。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67B68-253D-4B5A-A63E-C0827792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A551F-569F-4050-9CB0-633573F3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AF74F-58F9-4988-83F6-96BBA8A3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绝对坐标依赖参考系，同一结构改变姿态后输入会变化。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C0432-5442-4726-9CD3-30B9A251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718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BA60B-295D-4055-AB63-070FF3A2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坐标只用于计算 dᵢⱼ；距离经 RBF 和线性层得到消息权重。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3F97A-251C-4E89-9362-65C1C862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7187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D3B7C-61DB-4EDE-9A74-4C640F38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天然满足平移与旋转不变性。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22092-7982-4C66-86B1-64B9676E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B432A-C732-466A-80F2-C9A35DA6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B73D0-3D1F-4C22-9043-816D317F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14875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三维体素或复杂坐标更新的计算开销较大。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130F1-FC3C-4733-A4B8-CA66ABF6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530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66B8A-2D97-4457-9AEC-8842E994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14875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使用原子图、距离编码、求和聚合和 MLP。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79F8FF-B215-462A-A989-D78604F2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AAF40-8212-445D-A7CB-E88BC00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14875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在强基线中保持较低参数量和 FLOPs。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1A6189-048D-41D3-8BC0-6686B8FD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核心方法创新集中在前两项；第三项属于结构上的工程优势。</a:t>
            </a:r>
          </a:p>
        </p:txBody>
      </p:sp>
    </p:spTree>
    <p:extLst>
      <p:ext uri="{BB962C8B-B14F-4D97-AF65-F5344CB8AC3E}">
        <p14:creationId xmlns:p14="http://schemas.microsoft.com/office/powerpoint/2010/main" val="1778906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FBF813-30E2-4131-87D8-7F1B23C2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52204-63D0-4DFC-99AB-081D7285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总体结果：三个外部测试集均取得最高 Pearson Rₚ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B7B4F-1153-4A02-B186-4C1488C9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61844-9B7F-4D25-B660-9CBE5BB4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92835-7B97-48A5-ADB4-29111852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C7AF8-9FBB-4F0D-9123-63966C04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73342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38b8b232414ec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1F3FB-5D60-42F4-B6D0-AADAB73C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RMSE（越低越好）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1F220-0C25-4573-B174-6EB737A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7ECB9-E84E-4D26-BF80-9D04DE16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78AA7-C606-4A10-A85E-6164A837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−0.048 vs 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57A0F-354B-4C84-A6E9-9EDAE199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051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93786-7012-4582-BBDA-C8D40368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CDF83-5D88-4B3F-8F1C-FFF5A921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1.190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E88E0-E3CD-47A0-83A2-87EB7A4D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33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−0.079 vs 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FD67F-6398-4319-B52F-F5185057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F24AC-15C4-4A8D-A583-EC2AEAAD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32511-6F79-473C-BDA5-922352DD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E84D9-B670-46B4-8469-D6EB5F9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05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−0.017 vs 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584EB-71FD-4754-B21F-6CC42E30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9700"/>
            <a:ext cx="2857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19BCA-A185-49C5-BA85-E816302E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34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rPr>
              <a:t>2019 holdout 更难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278E1-D16A-49D0-9477-34CC9A2C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00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Rₚ 仅为 0.641，领先幅度也较小。</a:t>
            </a:r>
          </a:p>
        </p:txBody>
      </p:sp>
    </p:spTree>
    <p:extLst>
      <p:ext uri="{BB962C8B-B14F-4D97-AF65-F5344CB8AC3E}">
        <p14:creationId xmlns:p14="http://schemas.microsoft.com/office/powerpoint/2010/main" val="1191344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A7C54-D0FC-4D33-AB6F-1BB121BD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ABLATION &amp;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E2EF7-5930-4382-8ABA-544994B7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消融验证了两个核心设计，但陌生蛋白质仍是难点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7D486-9FD6-4878-9F6C-1D34E7F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AF73D-2471-473D-AF45-0986CCD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C7D2E-A3D7-4C65-82FD-18A3D92D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9353E-91CD-438F-A48C-38F9C163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50BB0-5E95-46EB-B7AF-DA43B6F1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2019 holdout：Pearson Rₚ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33400" y="184785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200c66eb2341c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BB82A-2870-4608-B970-2C2096CB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2F5B6-2B80-4769-9DDD-D677103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0927B-3A2B-4C6B-9EAE-9B441C04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9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区分两类边有效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737F2-55C5-4029-9173-FCBDAC10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24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完整模型 0.641，高于同质传播 0.634。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87578-CC82-44FC-A4DD-D16C6567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C9E5D-A1C2-42A3-9A10-4EE1CDA4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67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几何不变性更关键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A2609-ECCC-42F8-86C6-A06C8BB9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13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绝对坐标降至 0.550；仅去除平移影响可恢复到 0.608。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4D800-6AE1-44D3-BA0B-CB7BE1D7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71925"/>
            <a:ext cx="386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34357-2496-4381-A4A8-C07AF514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泛化补充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CF13A-D0F2-4887-956F-AF4AD321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CSAR-HiQ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F9978-4BB7-48B5-B50C-74061A8E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72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0.774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36EF0-B243-41A2-95BF-E6C893F1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9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重新对接构象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DE999-D2F6-4347-8B49-A9A8A965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9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0.826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E62C6-83D9-4C10-8288-CFDEB418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蛋白质序列冷启动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43450-C6F9-40FE-89F6-98790FC4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6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Rₚ 0.565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76BC5B-6408-4379-A2E8-0FE256F4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结论：方法改进稳定，但对未见蛋白质的泛化仍有限。</a:t>
            </a:r>
          </a:p>
        </p:txBody>
      </p:sp>
    </p:spTree>
    <p:extLst>
      <p:ext uri="{BB962C8B-B14F-4D97-AF65-F5344CB8AC3E}">
        <p14:creationId xmlns:p14="http://schemas.microsoft.com/office/powerpoint/2010/main" val="1729986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2026-09-14T06:47:55.4690000Z</dcterms:created>
  <dcterms:modified xsi:type="dcterms:W3CDTF">2026-09-14T06:47:55.4690000Z</dcterms:modified>
</coreProperties>
</file>