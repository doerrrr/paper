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95d320024347cf" /><Relationship Type="http://schemas.openxmlformats.org/officeDocument/2006/relationships/extended-properties" Target="/docProps/app.xml" Id="R6b01bd13be4649bf" /><Relationship Type="http://schemas.openxmlformats.org/officeDocument/2006/relationships/officeDocument" Target="/ppt/presentation.xml" Id="Re5f8ec37b18b4f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fc0b7afb884aab"/>
  </p:sldMasterIdLst>
  <p:notesMasterIdLst>
    <p:notesMasterId xmlns:r="http://schemas.openxmlformats.org/officeDocument/2006/relationships" r:id="R807cb7b652d64f5d"/>
  </p:notesMasterIdLst>
  <p:sldIdLst>
    <p:sldId xmlns:r="http://schemas.openxmlformats.org/officeDocument/2006/relationships" id="256" r:id="R94ae1b5c0f1b476e"/>
    <p:sldId xmlns:r="http://schemas.openxmlformats.org/officeDocument/2006/relationships" id="257" r:id="R09f8102568654c8f"/>
    <p:sldId xmlns:r="http://schemas.openxmlformats.org/officeDocument/2006/relationships" id="258" r:id="R75c7b2c3c19c46bb"/>
    <p:sldId xmlns:r="http://schemas.openxmlformats.org/officeDocument/2006/relationships" id="259" r:id="Rcb8f9844c43d4921"/>
    <p:sldId xmlns:r="http://schemas.openxmlformats.org/officeDocument/2006/relationships" id="260" r:id="R01a4ff8439504017"/>
    <p:sldId xmlns:r="http://schemas.openxmlformats.org/officeDocument/2006/relationships" id="261" r:id="R2a7442066c4e44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2c13b599d74913" /><Relationship Type="http://schemas.openxmlformats.org/officeDocument/2006/relationships/slideMaster" Target="/ppt/slideMasters/slideMaster1.xml" Id="R47fc0b7afb884aab" /><Relationship Type="http://schemas.openxmlformats.org/officeDocument/2006/relationships/notesMaster" Target="/ppt/notesMasters/notesMaster1.xml" Id="R807cb7b652d64f5d" /><Relationship Type="http://schemas.openxmlformats.org/officeDocument/2006/relationships/presProps" Target="/ppt/presProps.xml" Id="R75dacdcc1f384ebb" /><Relationship Type="http://schemas.openxmlformats.org/officeDocument/2006/relationships/tableStyles" Target="/ppt/tableStyles.xml" Id="R09053aace2274f5c" /><Relationship Type="http://schemas.openxmlformats.org/officeDocument/2006/relationships/slide" Target="/ppt/slides/slide1.xml" Id="R94ae1b5c0f1b476e" /><Relationship Type="http://schemas.openxmlformats.org/officeDocument/2006/relationships/slide" Target="/ppt/slides/slide2.xml" Id="R09f8102568654c8f" /><Relationship Type="http://schemas.openxmlformats.org/officeDocument/2006/relationships/slide" Target="/ppt/slides/slide3.xml" Id="R75c7b2c3c19c46bb" /><Relationship Type="http://schemas.openxmlformats.org/officeDocument/2006/relationships/slide" Target="/ppt/slides/slide4.xml" Id="Rcb8f9844c43d4921" /><Relationship Type="http://schemas.openxmlformats.org/officeDocument/2006/relationships/slide" Target="/ppt/slides/slide5.xml" Id="R01a4ff8439504017" /><Relationship Type="http://schemas.openxmlformats.org/officeDocument/2006/relationships/slide" Target="/ppt/slides/slide6.xml" Id="R2a7442066c4e44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ba9752022844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f788544653493f" /><Relationship Type="http://schemas.openxmlformats.org/officeDocument/2006/relationships/notesMaster" Target="/ppt/notesMasters/notesMaster1.xml" Id="R00848e14e32245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6a7e207fe743bd" /><Relationship Type="http://schemas.openxmlformats.org/officeDocument/2006/relationships/notesMaster" Target="/ppt/notesMasters/notesMaster1.xml" Id="R4c4c07817ff84e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8889ed253d4287" /><Relationship Type="http://schemas.openxmlformats.org/officeDocument/2006/relationships/notesMaster" Target="/ppt/notesMasters/notesMaster1.xml" Id="R11106cfc207e45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07f8ea9dff46fb" /><Relationship Type="http://schemas.openxmlformats.org/officeDocument/2006/relationships/notesMaster" Target="/ppt/notesMasters/notesMaster1.xml" Id="Rd9456093024f47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ce0bbe1e844374" /><Relationship Type="http://schemas.openxmlformats.org/officeDocument/2006/relationships/notesMaster" Target="/ppt/notesMasters/notesMaster1.xml" Id="Ref30ac4861ff46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e1be4532a14411" /><Relationship Type="http://schemas.openxmlformats.org/officeDocument/2006/relationships/notesMaster" Target="/ppt/notesMasters/notesMaster1.xml" Id="Rb08eb2e073764b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Background summarized from the introduction and overall comparison discussion.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 reproduced from the paper. Source: Yang et al., J. Phys. Chem. Lett. 2023, 14, 2020–2033. DOI: 10.1021/acs.jpclett.2c03906. Local source image: E:\Obsidian\paper\论文\GIGN\Pasted image 20260911161022.png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slide retains only the two core method innovations: relation-specific heterogeneous propagation and distance-based translation/rotation invariance.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chart rebuilt from Table 1. Values are means over three runs.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Ablation chart rebuilt from Table 2 (2019 holdout). External and cold-start results are summarized from the generalization experiments.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a64ae45cd47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22e17680a548c3" /><Relationship Type="http://schemas.openxmlformats.org/officeDocument/2006/relationships/slideLayout" Target="/ppt/slideLayouts/slideLayout1.xml" Id="R77896e6d553541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896e6d553541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a00c5b7944e12" /><Relationship Type="http://schemas.openxmlformats.org/officeDocument/2006/relationships/notesSlide" Target="/ppt/notesSlides/notesSlide1.xml" Id="R3a0dd5f6d14547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636f173714d6a" /><Relationship Type="http://schemas.openxmlformats.org/officeDocument/2006/relationships/notesSlide" Target="/ppt/notesSlides/notesSlide2.xml" Id="R6bc205179f344e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484d03490420e" /><Relationship Type="http://schemas.openxmlformats.org/officeDocument/2006/relationships/image" Target="/ppt/media/image.png" Id="R43184e7a5b8344ca" /><Relationship Type="http://schemas.openxmlformats.org/officeDocument/2006/relationships/notesSlide" Target="/ppt/notesSlides/notesSlide3.xml" Id="Rafc3320147154d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6c8199a944bba" /><Relationship Type="http://schemas.openxmlformats.org/officeDocument/2006/relationships/notesSlide" Target="/ppt/notesSlides/notesSlide4.xml" Id="R0705f668dbd241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f3f869d6f4724" /><Relationship Type="http://schemas.openxmlformats.org/officeDocument/2006/relationships/chart" Target="/ppt/slides/charts/chart1.xml" Id="R6ba899737c6f43e5" /><Relationship Type="http://schemas.openxmlformats.org/officeDocument/2006/relationships/notesSlide" Target="/ppt/notesSlides/notesSlide5.xml" Id="R32c4752a97084d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fa437f7f94ae4" /><Relationship Type="http://schemas.openxmlformats.org/officeDocument/2006/relationships/chart" Target="/ppt/slides/charts/chart2.xml" Id="Rd0e6f2b18a9a4a0e" /><Relationship Type="http://schemas.openxmlformats.org/officeDocument/2006/relationships/notesSlide" Target="/ppt/notesSlides/notesSlide6.xml" Id="R1538603c6b184f0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最佳基线 IGN</c:v>
          </c:tx>
          <c:spPr>
            <a:solidFill xmlns:a="http://schemas.openxmlformats.org/drawingml/2006/main">
              <a:srgbClr val="7890A4"/>
            </a:solidFill>
          </c:spPr>
          <c:cat>
            <c:strLit>
              <c:ptCount val="3"/>
              <c:pt idx="0">
                <c:v>2013 core</c:v>
              </c:pt>
              <c:pt idx="1">
                <c:v>2016 core</c:v>
              </c:pt>
              <c:pt idx="2">
                <c:v>2019 holdout</c:v>
              </c:pt>
            </c:strLit>
          </c:cat>
          <c:val>
            <c:numLit>
              <c:formatCode>0.000</c:formatCode>
              <c:ptCount val="3"/>
              <c:pt idx="0">
                <c:v>0.807</c:v>
              </c:pt>
              <c:pt idx="1">
                <c:v>0.821</c:v>
              </c:pt>
              <c:pt idx="2">
                <c:v>0.63</c:v>
              </c:pt>
            </c:numLit>
          </c:val>
        </c:ser>
        <c:ser>
          <c:idx val="1"/>
          <c:order val="1"/>
          <c:tx>
            <c:v>GIGN</c:v>
          </c:tx>
          <c:spPr>
            <a:solidFill xmlns:a="http://schemas.openxmlformats.org/drawingml/2006/main">
              <a:srgbClr val="0A9A94"/>
            </a:solidFill>
          </c:spPr>
          <c:cat>
            <c:strLit>
              <c:ptCount val="3"/>
              <c:pt idx="0">
                <c:v>2013 core</c:v>
              </c:pt>
              <c:pt idx="1">
                <c:v>2016 core</c:v>
              </c:pt>
              <c:pt idx="2">
                <c:v>2019 holdout</c:v>
              </c:pt>
            </c:strLit>
          </c:cat>
          <c:val>
            <c:numLit>
              <c:formatCode>0.000</c:formatCode>
              <c:ptCount val="3"/>
              <c:pt idx="0">
                <c:v>0.821</c:v>
              </c:pt>
              <c:pt idx="1">
                <c:v>0.84</c:v>
              </c:pt>
              <c:pt idx="2">
                <c:v>0.641</c:v>
              </c:pt>
            </c:numLit>
          </c:val>
        </c:ser>
        <c:dLbls>
          <c:spPr>
            <a:ln xmlns:a="http://schemas.openxmlformats.org/drawingml/2006/main" w="0">
              <a:noFill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28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86"/>
          <c:min val="0.5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7"/>
      </c:valAx>
      <c:spPr>
        <a:solidFill xmlns:a="http://schemas.openxmlformats.org/drawingml/2006/main">
          <a:srgbClr val="F7F9FB"/>
        </a:solidFill>
        <a:ln xmlns:a="http://schemas.openxmlformats.org/drawingml/2006/main" w="0">
          <a:noFill/>
        </a:ln>
      </c:spPr>
    </c:plotArea>
    <c:legend>
      <c:legendPos val="b"/>
      <c:overlay val="0"/>
      <c:spPr>
        <a:ln xmlns:a="http://schemas.openxmlformats.org/drawingml/2006/main" w="0">
          <a:noFill/>
        </a:ln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E6D7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7F9FB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Rₚ</c:v>
          </c:tx>
          <c:spPr>
            <a:solidFill xmlns:a="http://schemas.openxmlformats.org/drawingml/2006/main">
              <a:srgbClr val="0A9A94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890A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85B5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39A4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A9A94"/>
              </a:solidFill>
            </c:spPr>
          </c:dPt>
          <c:cat>
            <c:strLit>
              <c:ptCount val="4"/>
              <c:pt idx="0">
                <c:v>同质传播
TMP</c:v>
              </c:pt>
              <c:pt idx="1">
                <c:v>绝对坐标
VarTR</c:v>
              </c:pt>
              <c:pt idx="2">
                <c:v>仅平移不变
VarR</c:v>
              </c:pt>
              <c:pt idx="3">
                <c:v>完整 GIGN</c:v>
              </c:pt>
            </c:strLit>
          </c:cat>
          <c:val>
            <c:numLit>
              <c:formatCode>0.000</c:formatCode>
              <c:ptCount val="4"/>
              <c:pt idx="0">
                <c:v>0.634</c:v>
              </c:pt>
              <c:pt idx="1">
                <c:v>0.55</c:v>
              </c:pt>
              <c:pt idx="2">
                <c:v>0.608</c:v>
              </c:pt>
              <c:pt idx="3">
                <c:v>0.641</c:v>
              </c:pt>
            </c:numLit>
          </c:val>
        </c:ser>
        <c:dLbls>
          <c:spPr>
            <a:ln xmlns:a="http://schemas.openxmlformats.org/drawingml/2006/main" w="0">
              <a:noFill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28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67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7F9FB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9FB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E1102-49EE-42A8-B9D3-2B50AAB6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94FD0-F14E-4C90-B9AC-F5A7910C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PAPER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A6BA4-E58D-4D9D-B670-D6E02F22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17FA1-C5EB-4010-B9A7-05CC51C3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14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1CFA7-AB0A-4C1D-B37F-2F060E2B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947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基于三维结构预测蛋白质–配体结合亲和力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73996-FDFF-4D15-9E9C-6355F938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rPr>
              <a:t>Geometric Interaction Graph Neural 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95709-FBF9-4736-8D5D-9F68AE58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核心：异质相互作用建模  +  几何不变性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BBCC9-5C0D-4485-9F7D-F151DC54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AFC1D0"/>
                </a:solidFill>
                <a:latin typeface="Microsoft YaHei"/>
                <a:ea typeface="Microsoft YaHei"/>
                <a:cs typeface="Microsoft YaHei"/>
              </a:rPr>
              <a:t>Yang et al.  |  The Journal of Physical Chemistry Letters  |  2023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F8EA5-C673-4A6A-99E1-8852B810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00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24440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A621A1-821F-4FAA-A817-A856F1D4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BACKGROUND &amp;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D9382-99C6-40AD-9FE2-678E878E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为什么需要 GIGN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9524A-77FA-44B9-B984-1BD96F39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E5823-F2AF-4C2A-9C33-CAF94732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4EC77-D796-4164-85EF-4A41A172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B7FEB-CCC2-4745-8BAF-3E9FCAE2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C0AE4-C4B1-4E0C-9D9C-D4DC805B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171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结合亲和力预测的关键，不只是识别原子类型，还要理解它们如何在三维空间中相互作用。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3E626-53BC-4037-BACF-59B5F9D5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实验测定成本高、速度慢，因此需要从复合物结构直接得到可筛选的亲和力预测。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20251-1FD3-441C-B6C7-3DD3BA0B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90525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C1894-D1DE-4E53-81EF-8B1A7D7F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研究动机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C6E1A-22D2-4B1F-A00D-7984A29C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把化学关系和几何规律直接写进模型。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19909-3828-46EB-9DE6-38F28D96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66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35FEF-E8C3-4502-BAFE-48D6AB5D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19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二维或配体中心的表示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7644B-EEDD-4794-922B-9FBB5B70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193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难以显式描述蛋白质–配体的三维接触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272D1-7395-49C1-88FD-C92CE796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527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B34E7-95D9-4917-9EDD-75CE2CCE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19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40A44-54A8-4682-9876-60CDA050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718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同质消息传递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5FCD5-C6C2-43DB-8490-3E1513A1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718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共价键与跨分子接触容易过早混合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7BCE4-23B1-410C-AAF0-955E7AB9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052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5CADFA-0B5E-4DBB-8EBE-99CB302E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71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A303F-1B65-4C2A-81AA-6FCC542E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243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直接使用绝对坐标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AA5A7-CD89-4AB6-822E-EA194C9E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244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同一复合物旋转或平移后表示会改变</a:t>
            </a:r>
          </a:p>
        </p:txBody>
      </p:sp>
    </p:spTree>
    <p:extLst>
      <p:ext uri="{BB962C8B-B14F-4D97-AF65-F5344CB8AC3E}">
        <p14:creationId xmlns:p14="http://schemas.microsoft.com/office/powerpoint/2010/main" val="1026483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BDA15-1941-438F-BAD6-BF2C1655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620D5-2767-4B18-9AC2-9F9B1AE2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方法：三维相互作用图 + 异质消息传递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08565-10C8-4F62-AA7F-43626AF0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26ADF-4F09-4125-B990-BB03DF38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7F492-84D6-4E54-A788-429B10A8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2F275-FB24-47D4-834D-87B4AC2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A6DD9-7EC3-46D7-8A93-EE7207A9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8293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84e7a5b8344ca"/>
          <a:stretch xmlns:a="http://schemas.openxmlformats.org/drawingml/2006/main"/>
        </p:blipFill>
        <p:spPr>
          <a:xfrm xmlns:a="http://schemas.openxmlformats.org/drawingml/2006/main">
            <a:off x="1170514" y="1666875"/>
            <a:ext cx="4707471" cy="4238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59F85-0078-4C53-88B6-117C0C28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6412A-EF15-49A6-89EC-756648A2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构图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194D8-6EB3-4AA2-A3E6-0D02E31D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240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原子为节点；分子内部化学键为共价边；蛋白质–配体原子对距离 &lt; 5 Å 时建立候选非共价边。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24FA4-E74E-4058-A31A-3F331D15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6760F-71CC-4697-8281-CA1BE2FD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三层异质交互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97666-D456-4E0E-95F3-B217FF3E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766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共价与非共价消息分别聚合、分别更新，再相加融合；三层逐步扩大原子的多跳感受野。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24E12-82AC-4ABD-BE6B-77EF1914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B8656-E5F9-4202-83BE-2478478C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0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读出亲和力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82692-5932-454D-A367-314DAB22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对全部原子表示做 global sum pooling，再由 MLP 输出一个结合亲和力预测值。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59DBC-2AA2-4818-8E61-4A5CEEEC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626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38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距离 dᵢⱼ 经 RBF 编码后调节消息；模型只依赖原子间距离，因此保持整体平移和旋转不变。</a:t>
            </a:r>
          </a:p>
        </p:txBody>
      </p:sp>
    </p:spTree>
    <p:extLst>
      <p:ext uri="{BB962C8B-B14F-4D97-AF65-F5344CB8AC3E}">
        <p14:creationId xmlns:p14="http://schemas.microsoft.com/office/powerpoint/2010/main" val="948031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C02B70-1E65-4B84-9EA2-30441BF4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TWO CORE INNOVATIONS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92F14-85D9-48DF-9D04-93DD89EC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两个核心创新点：分别处理关系与几何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73E70-755C-4928-99E9-4556D6F3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631DD-A4A3-4C47-A8AF-CFE4C3C5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AC684-7920-4488-93F0-2D54B4DF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D8156-8E9B-4751-94D2-A9710B90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797B0-2F6F-45C8-9C1D-D5939605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9525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E119B-C696-4337-AB45-787B6931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D53D1-2479-4D7D-97AB-8326EDAE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04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关系分通道建模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54529-EC84-4BDB-9269-70B0DBE2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弥补的不足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B5259-8DC5-45FA-ADC4-62E78418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同质 GNN 把共价键与跨分子接触当成同一种关系，数量较多的非共价消息可能淹没分子内部结构。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CCA5F-A2E8-484E-B9F4-93871CEB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4BA62-9F90-4F51-907A-FB264855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B2914-DB72-41E1-AEFA-9C808191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49530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22CE4-B4B3-4130-B1D0-326D0A11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共价边 E_cov  →  求和聚合 m_cov  →  更新网络 U_cov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D5DE3-0939-4F5F-BBAD-91F5877C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49530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E1765-478A-4460-930A-46AA218B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非共价边 E_ncov  →  求和聚合 m_ncov  →  更新网络 U_ncov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2AA05-2B8F-4285-944B-5FA51899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h_i^(t+1) = U_cov(h_i, m_cov) + U_ncov(h_i, m_ncov)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0D0B3-A867-4639-9518-94F46FEA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7ACF0-55F3-404E-A121-7DBEB863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435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保留化学骨架与跨分子接触的不同语义，减少两类消息过早混合。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6DEC16-247E-4549-9A58-34DEF56B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边界：两个分支内部仍采用相同的求和聚合。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3E1DA-CBED-4219-9777-F4C0F769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D5B944-924D-450F-9DD4-5DD0AFF9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504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距离驱动的几何不变性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C9B4A0-3D41-41FB-9937-D435152E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05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弥补的不足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8AF88E-6753-4988-8B4D-4074A983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直接拼接绝对坐标会依赖参考系；同一个复合物整体平移或旋转后，输入表示随之改变。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90858B-2815-486B-907D-87F85297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78B176-7FBB-4AE1-A2EA-29D9B81A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7FDA5D-EBEE-4E46-91DE-CBFA4B9C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81400"/>
            <a:ext cx="47625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03D49F-212D-447F-8DC2-B97A4611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48075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坐标 r_i, r_j  →  d_ji = ||r_j − r_i||₂  →  RBF  →  Linear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07EB33-7924-4482-BE33-2CEE400A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433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m_ji = h_j ⊙ λ(d_ji)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F91DD0-7204-4CCC-AEFB-6719B1BE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4762500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6458B3-D6C7-47FC-8345-1A437120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57725"/>
            <a:ext cx="445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F(R, H) = F(QR + g, H)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6C8086-766A-44C9-8ED6-52AE5E9B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07A493-B9CD-4415-9422-D0EA230D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435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引入三维距离信息，同时保证同一复合物改变位置或朝向后预测不变。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1B0D66-E6C2-4875-ABEB-F50DD814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边界：距离没有显式编码氢键角度等方向信息。</a:t>
            </a:r>
          </a:p>
        </p:txBody>
      </p:sp>
    </p:spTree>
    <p:extLst>
      <p:ext uri="{BB962C8B-B14F-4D97-AF65-F5344CB8AC3E}">
        <p14:creationId xmlns:p14="http://schemas.microsoft.com/office/powerpoint/2010/main" val="4722340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DC218D-FA97-4D79-A24E-21A092F8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70C7C-6587-4C65-B1AA-37A09636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总体结果：三个外部测试集均取得最高 Pearson Rₚ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F6395-CF2E-4DBE-89D9-1493BDBA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4D725-38BD-4F0F-8BDF-60551698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889CA-DE0C-4687-9DF9-22474008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D90A8-9971-4B60-87FD-554A9646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73342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a899737c6f43e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C688B-C12A-4F14-9D1D-D56714D5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RMSE（越低越好）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259FF-16DE-4BAC-AF0A-80C671DD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FCF1B-8623-47A1-B072-9FEE2646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526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1.380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60872-D707-42C6-839A-2F3FA0EC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62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−0.048 vs 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13BD5-3662-4A42-9EC1-3FEAD340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051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FCC38-CA05-4551-977D-14CE318A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2A181-5895-42A1-87EF-7F50F3F2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1.190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40920-D10D-4973-85E6-068EB4AB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33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−0.079 vs 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7785D-FE0C-478D-B66E-51807A89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766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106F2-2B30-41AE-BD76-8A6DE85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707A34-D0C1-4E92-B3B7-B26A89E7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957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1.393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0C886-7FA0-4E84-BF1E-94610BDC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05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−0.017 vs 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2E2DB-93F6-4B10-B75A-A36AC741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9700"/>
            <a:ext cx="2857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16325-5A34-41EA-BE6E-44D68164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34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F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A35F16"/>
                </a:solidFill>
                <a:latin typeface="Microsoft YaHei"/>
                <a:ea typeface="Microsoft YaHei"/>
                <a:cs typeface="Microsoft YaHei"/>
              </a:rPr>
              <a:t>2019 holdout 更难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FF7BF9-893F-4A2E-8DBB-64ACF1C9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00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Rₚ 仅为 0.641，领先幅度也较小。</a:t>
            </a:r>
          </a:p>
        </p:txBody>
      </p:sp>
    </p:spTree>
    <p:extLst>
      <p:ext uri="{BB962C8B-B14F-4D97-AF65-F5344CB8AC3E}">
        <p14:creationId xmlns:p14="http://schemas.microsoft.com/office/powerpoint/2010/main" val="2045296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A2C954-F331-4A9A-BCA2-4BBA09D2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ABLATION &amp;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BDB0C-6016-4AF6-B1AC-D48E0FD1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消融验证了两个核心设计，但陌生蛋白质仍是难点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9B6CE-557A-490C-AFD1-3078CB4F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AB9DA-B552-4C27-A23C-739EE85E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53139-FF30-4DAA-A406-3050CF0D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E857D-B0E4-449C-A758-DCFE3BEB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E571B-E3CB-4828-A98B-ADF05F98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2019 holdout：Pearson Rₚ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533400" y="1847850"/>
          <a:ext xmlns:a="http://schemas.openxmlformats.org/drawingml/2006/main" cx="6191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e6f2b18a9a4a0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73D2B-DC2E-4244-9FF8-7C696348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消融结论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EF31C-BFA0-4266-A5A6-D9945343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28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B8A0C-9527-47D7-BA18-94DF97C0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97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区分两类边有效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6307C-14AF-4625-9C9F-608B8469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241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完整模型 0.641，高于同质传播 0.634。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563F1-BAA7-44FF-A907-32CF097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86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FCE2A-59A3-4240-BCD0-F69C8CFC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670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几何不变性更关键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F0004-1CD5-4AC7-B7C7-1A791A8E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13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绝对坐标降至 0.550；仅去除平移影响可恢复到 0.608。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BC814-4E2B-40F1-9A50-EAB36BE6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71925"/>
            <a:ext cx="386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54051-5EAA-4914-9A70-0EFEDFA9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泛化补充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0D54E-B711-4798-9EFA-3AA7F5A5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CSAR-HiQ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C90FD-78FF-4657-8B55-38DEE089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72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Rₚ 0.774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2AF792-CA59-4203-98D1-36DF99C9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9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重新对接构象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DF07D-4514-4E4E-B1B2-887BEDC2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19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Rₚ 0.826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1E7107-3149-4B56-84FD-96106EA6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6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蛋白质序列冷启动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BA4E63-E951-460C-BAE7-B03ECC57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67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rPr>
              <a:t>Rₚ 0.565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B72FBF-57A1-436A-A900-AD3A3186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rPr>
              <a:t>结论：方法改进稳定，但对未见蛋白质的泛化仍有限。</a:t>
            </a:r>
          </a:p>
        </p:txBody>
      </p:sp>
    </p:spTree>
    <p:extLst>
      <p:ext uri="{BB962C8B-B14F-4D97-AF65-F5344CB8AC3E}">
        <p14:creationId xmlns:p14="http://schemas.microsoft.com/office/powerpoint/2010/main" val="1770042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2026-09-14T06:55:17.4500000Z</dcterms:created>
  <dcterms:modified xsi:type="dcterms:W3CDTF">2026-09-14T06:55:17.4510000Z</dcterms:modified>
</coreProperties>
</file>