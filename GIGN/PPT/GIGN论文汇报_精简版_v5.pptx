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809073cd7e45f3" /><Relationship Type="http://schemas.openxmlformats.org/officeDocument/2006/relationships/extended-properties" Target="/docProps/app.xml" Id="R665794ad0aae44a2" /><Relationship Type="http://schemas.openxmlformats.org/officeDocument/2006/relationships/officeDocument" Target="/ppt/presentation.xml" Id="Rf84d98aede9140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3f78d36534bcd"/>
  </p:sldMasterIdLst>
  <p:notesMasterIdLst>
    <p:notesMasterId xmlns:r="http://schemas.openxmlformats.org/officeDocument/2006/relationships" r:id="Ra4912fb2db404782"/>
  </p:notesMasterIdLst>
  <p:sldIdLst>
    <p:sldId xmlns:r="http://schemas.openxmlformats.org/officeDocument/2006/relationships" id="256" r:id="Rb3eb40decdc14716"/>
    <p:sldId xmlns:r="http://schemas.openxmlformats.org/officeDocument/2006/relationships" id="257" r:id="R3a36cc7b6bf548cd"/>
    <p:sldId xmlns:r="http://schemas.openxmlformats.org/officeDocument/2006/relationships" id="258" r:id="Raa484a94e5184fd4"/>
    <p:sldId xmlns:r="http://schemas.openxmlformats.org/officeDocument/2006/relationships" id="259" r:id="R79800bf265fa4e09"/>
    <p:sldId xmlns:r="http://schemas.openxmlformats.org/officeDocument/2006/relationships" id="260" r:id="R71f34494ab264c53"/>
    <p:sldId xmlns:r="http://schemas.openxmlformats.org/officeDocument/2006/relationships" id="261" r:id="Red33ba69e3694c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6fd8639cf4238" /><Relationship Type="http://schemas.openxmlformats.org/officeDocument/2006/relationships/slideMaster" Target="/ppt/slideMasters/slideMaster1.xml" Id="Ra3d3f78d36534bcd" /><Relationship Type="http://schemas.openxmlformats.org/officeDocument/2006/relationships/notesMaster" Target="/ppt/notesMasters/notesMaster1.xml" Id="Ra4912fb2db404782" /><Relationship Type="http://schemas.openxmlformats.org/officeDocument/2006/relationships/presProps" Target="/ppt/presProps.xml" Id="R0df06c9681d543ec" /><Relationship Type="http://schemas.openxmlformats.org/officeDocument/2006/relationships/tableStyles" Target="/ppt/tableStyles.xml" Id="R972087ff6bb2489d" /><Relationship Type="http://schemas.openxmlformats.org/officeDocument/2006/relationships/slide" Target="/ppt/slides/slide1.xml" Id="Rb3eb40decdc14716" /><Relationship Type="http://schemas.openxmlformats.org/officeDocument/2006/relationships/slide" Target="/ppt/slides/slide2.xml" Id="R3a36cc7b6bf548cd" /><Relationship Type="http://schemas.openxmlformats.org/officeDocument/2006/relationships/slide" Target="/ppt/slides/slide3.xml" Id="Raa484a94e5184fd4" /><Relationship Type="http://schemas.openxmlformats.org/officeDocument/2006/relationships/slide" Target="/ppt/slides/slide4.xml" Id="R79800bf265fa4e09" /><Relationship Type="http://schemas.openxmlformats.org/officeDocument/2006/relationships/slide" Target="/ppt/slides/slide5.xml" Id="R71f34494ab264c53" /><Relationship Type="http://schemas.openxmlformats.org/officeDocument/2006/relationships/slide" Target="/ppt/slides/slide6.xml" Id="Red33ba69e3694c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a2bd8d1c444c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0f6929f6fb4238" /><Relationship Type="http://schemas.openxmlformats.org/officeDocument/2006/relationships/notesMaster" Target="/ppt/notesMasters/notesMaster1.xml" Id="R90caafd8e55849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19781a389243f2" /><Relationship Type="http://schemas.openxmlformats.org/officeDocument/2006/relationships/notesMaster" Target="/ppt/notesMasters/notesMaster1.xml" Id="R40143f7709d146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dfa73810254f01" /><Relationship Type="http://schemas.openxmlformats.org/officeDocument/2006/relationships/notesMaster" Target="/ppt/notesMasters/notesMaster1.xml" Id="R75e9c4e6b67244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5e241d6d3451b" /><Relationship Type="http://schemas.openxmlformats.org/officeDocument/2006/relationships/notesMaster" Target="/ppt/notesMasters/notesMaster1.xml" Id="R7f65272880924c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0309b2b8ab4cdf" /><Relationship Type="http://schemas.openxmlformats.org/officeDocument/2006/relationships/notesMaster" Target="/ppt/notesMasters/notesMaster1.xml" Id="Rdb26d6fcfbb845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fde8d15f4043ba" /><Relationship Type="http://schemas.openxmlformats.org/officeDocument/2006/relationships/notesMaster" Target="/ppt/notesMasters/notesMaster1.xml" Id="R5b14b0ce27ec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slide retains only the two core method innovations: relation-specific heterogeneous propagation and distance-based translation/rotation invariance.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Editable chart rebuilt from Table 1. Values are means over three runs.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Ablation chart rebuilt from Table 2 (2019 holdout). External and cold-start results are summarized from the generalization experiments.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f06e7673a44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d63a02439a44fd" /><Relationship Type="http://schemas.openxmlformats.org/officeDocument/2006/relationships/slideLayout" Target="/ppt/slideLayouts/slideLayout1.xml" Id="R69b6343ecdbf47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b6343ecdbf47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c5dfb17474864" /><Relationship Type="http://schemas.openxmlformats.org/officeDocument/2006/relationships/notesSlide" Target="/ppt/notesSlides/notesSlide1.xml" Id="Re05d15d8464a47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aaaf6d6fae492c" /><Relationship Type="http://schemas.openxmlformats.org/officeDocument/2006/relationships/notesSlide" Target="/ppt/notesSlides/notesSlide2.xml" Id="R3867eefbe90b42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58fab1fa24122" /><Relationship Type="http://schemas.openxmlformats.org/officeDocument/2006/relationships/image" Target="/ppt/media/image.png" Id="R557a06c4e2474ebd" /><Relationship Type="http://schemas.openxmlformats.org/officeDocument/2006/relationships/notesSlide" Target="/ppt/notesSlides/notesSlide3.xml" Id="R4b4bba9bc7e549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d939a133b4a92" /><Relationship Type="http://schemas.openxmlformats.org/officeDocument/2006/relationships/notesSlide" Target="/ppt/notesSlides/notesSlide4.xml" Id="Rd25f552c191d43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1b88cfe8a4232" /><Relationship Type="http://schemas.openxmlformats.org/officeDocument/2006/relationships/chart" Target="/ppt/slides/charts/chart1.xml" Id="Rb212fd4638b54c91" /><Relationship Type="http://schemas.openxmlformats.org/officeDocument/2006/relationships/notesSlide" Target="/ppt/notesSlides/notesSlide5.xml" Id="R2f245b62cf9844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0dac3ca8b46f4" /><Relationship Type="http://schemas.openxmlformats.org/officeDocument/2006/relationships/chart" Target="/ppt/slides/charts/chart2.xml" Id="R49506934958b4875" /><Relationship Type="http://schemas.openxmlformats.org/officeDocument/2006/relationships/notesSlide" Target="/ppt/notesSlides/notesSlide6.xml" Id="R2ea57524732f491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最佳基线 IGN</c:v>
          </c:tx>
          <c:spPr>
            <a:solidFill xmlns:a="http://schemas.openxmlformats.org/drawingml/2006/main">
              <a:srgbClr val="7890A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0.807</c:v>
              </c:pt>
              <c:pt idx="1">
                <c:v>0.821</c:v>
              </c:pt>
              <c:pt idx="2">
                <c:v>0.63</c:v>
              </c:pt>
            </c:numLit>
          </c:val>
        </c:ser>
        <c:ser>
          <c:idx val="1"/>
          <c:order val="1"/>
          <c:tx>
            <c:v>GIGN</c:v>
          </c:tx>
          <c:spPr>
            <a:solidFill xmlns:a="http://schemas.openxmlformats.org/drawingml/2006/main">
              <a:srgbClr val="0A9A94"/>
            </a:solidFill>
          </c:spPr>
          <c:cat>
            <c:strLit>
              <c:ptCount val="3"/>
              <c:pt idx="0">
                <c:v>2013 core</c:v>
              </c:pt>
              <c:pt idx="1">
                <c:v>2016 core</c:v>
              </c:pt>
              <c:pt idx="2">
                <c:v>2019 holdout</c:v>
              </c:pt>
            </c:strLit>
          </c:cat>
          <c:val>
            <c:numLit>
              <c:formatCode>0.000</c:formatCode>
              <c:ptCount val="3"/>
              <c:pt idx="0">
                <c:v>0.821</c:v>
              </c:pt>
              <c:pt idx="1">
                <c:v>0.84</c:v>
              </c:pt>
              <c:pt idx="2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86"/>
          <c:min val="0.5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7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legend>
      <c:legendPos val="b"/>
      <c:overlay val="0"/>
      <c:spPr>
        <a:ln xmlns:a="http://schemas.openxmlformats.org/drawingml/2006/main" w="0">
          <a:noFill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5E6D7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Rₚ</c:v>
          </c:tx>
          <c:spPr>
            <a:solidFill xmlns:a="http://schemas.openxmlformats.org/drawingml/2006/main">
              <a:srgbClr val="0A9A9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890A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85B57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39A4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0A9A94"/>
              </a:solidFill>
            </c:spPr>
          </c:dPt>
          <c:cat>
            <c:strLit>
              <c:ptCount val="4"/>
              <c:pt idx="0">
                <c:v>同质传播
TMP</c:v>
              </c:pt>
              <c:pt idx="1">
                <c:v>绝对坐标
VarTR</c:v>
              </c:pt>
              <c:pt idx="2">
                <c:v>仅平移不变
VarR</c:v>
              </c:pt>
              <c:pt idx="3">
                <c:v>完整 GIGN</c:v>
              </c:pt>
            </c:strLit>
          </c:cat>
          <c:val>
            <c:numLit>
              <c:formatCode>0.000</c:formatCode>
              <c:ptCount val="4"/>
              <c:pt idx="0">
                <c:v>0.634</c:v>
              </c:pt>
              <c:pt idx="1">
                <c:v>0.55</c:v>
              </c:pt>
              <c:pt idx="2">
                <c:v>0.608</c:v>
              </c:pt>
              <c:pt idx="3">
                <c:v>0.641</c:v>
              </c:pt>
            </c:numLit>
          </c:val>
        </c:ser>
        <c:dLbls>
          <c:spPr>
            <a:ln xmlns:a="http://schemas.openxmlformats.org/drawingml/2006/main" w="0">
              <a:noFill/>
            </a:ln>
          </c:spPr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1283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67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BF0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7F9FB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7F9FB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8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7A617-8EEF-42DD-A3C8-9E9A33F6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8CB6E-D820-44A5-AFCC-12A7DBF6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96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PAPER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44E53-0813-4C28-83C8-888A0B52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5F55F-83A0-405A-B501-C0E693DC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14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440C6-878E-4A68-839E-7BFC0B8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9477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基于三维结构预测蛋白质–配体结合亲和力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441A7-AE8C-468B-BBA3-02A55423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FD1DF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9F44E-A6B0-462F-A3A2-32634262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71975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核心：异质相互作用建模  +  几何不变性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A15CD0-0591-4567-8208-17DB0175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AFC1D0"/>
                </a:solidFill>
                <a:latin typeface="Microsoft YaHei"/>
                <a:ea typeface="Microsoft YaHei"/>
                <a:cs typeface="Microsoft YaHei"/>
              </a:rPr>
              <a:t>Yang et al.  |  The Journal of Physical Chemistry Letters  |  2023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D249E8-E5C7-406D-8DE6-9D897D1E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7ED9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0186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DF758-C99B-4550-8D46-C148AD11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BACKGROUND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1B0F1-EA62-47D9-BAC1-30FFD76B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FF5AA-CECE-4F4A-BBB5-A746C5E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94E7A-A551-4338-9C7B-F5A0BA9F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8BC87-BED1-47AE-97CB-BA6DBA2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DFF704-052F-4A5B-8C2E-B95ED098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7D25F-7302-41B6-9ADB-6AD9EB02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7DE33-70D9-4C8B-86A7-402A0A2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69BD6A-16D8-4B67-AC8B-CF60CBD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71919-55B6-4713-9FFD-62B5DBA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5EECF-6EAF-4F17-AC69-0280FA1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CAA99-DFDB-423B-893A-9E99C917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FFBA6-12D2-4B7B-B697-C5B0ACD8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337D6-9DBD-4036-8E02-62F384A4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17704E-9EA2-45DF-801E-5A83109E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72FC4-D3CE-4890-B631-4A00CDF2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118FE-4078-48DB-8034-3108F0FE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CCE7-C6A2-40E5-832F-BE375150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95F1E-9222-4BBF-8DD1-F0F1AAFC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04745F-80E1-4893-A22A-3D0F7AF7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2E074B-BB6F-44D5-97F3-FF6F7E7D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1FC6CE-D45B-447D-A474-73E41320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B4C6B-89BD-4388-8AA0-0A349BA8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0C3A6-7854-4D76-AD32-640093EB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1506D-C11B-4910-BA7E-C4A74111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15E230-6544-47AB-A9D7-40F5FCB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7890A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ADD0E-3459-4F96-B918-27F190AA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92884-EA58-46F0-BD12-1F76888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55260-6954-42AD-8205-FB9020B0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F84A2A-1987-4F01-A8E2-F23A2A03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07F21E-0AEA-4121-B664-78A54DAD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60ED1-E4DA-4A6D-BFA6-7D70A6EC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482AA0-C1E4-4C45-B14E-9593ED9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D5BC49-3D92-4451-8300-52EDED74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78E86F-ABEB-40C1-AC9F-3226525F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6312819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21B64-5FD1-423D-B883-DA55ADD5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A5B13-9CA4-4EB9-8FF9-E4B2F22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3B2D9-CE8D-4BE5-8048-6C9C953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B4983-5249-4A4A-9E18-D50B2D03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85B9A-2BC3-4E7D-8EBF-3F0F278E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B182B-A975-4511-99E1-D3D37B1A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280B5-BA2F-4CAD-AFD1-B462CAA1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a06c4e2474ebd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F1B0A-7C2B-42E4-8879-ACE4E9B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8C5F7-0160-45C2-8864-65F1CF9C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A464E-717E-44A6-8528-01B28CBC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1DF527-6C06-44E0-9649-E86D5E04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AC5C2-AED5-4126-A9FE-B5CADBBB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F2B03-2304-42C7-BD34-88195108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394FF-BC66-4D24-B545-12730B8E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9A705-E26F-4F7D-BD00-D341108D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B2E269-4BDC-4AE7-B144-2E682980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BC5EA7-B3F8-4C97-9082-4B9CC039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距离 dᵢⱼ 经 RBF 编码后调节消息；模型只依赖原子间距离，因此保持整体平移和旋转不变。</a:t>
            </a:r>
          </a:p>
        </p:txBody>
      </p:sp>
    </p:spTree>
    <p:extLst>
      <p:ext uri="{BB962C8B-B14F-4D97-AF65-F5344CB8AC3E}">
        <p14:creationId xmlns:p14="http://schemas.microsoft.com/office/powerpoint/2010/main" val="20437871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1BE7A1-52B6-45E8-9B9C-3209E0A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TWO CORE INNOVATIONS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EF18-7758-4EA0-9193-BC13E57F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两个核心创新点：分别处理关系与几何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DE31DF-B26D-43F1-94D1-9D269C95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F81B5-5C09-41CF-B86B-C8AB3B3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A0532-8FBA-4586-BE6F-05E44616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62EF0-17B3-4B4C-9D2D-725BF39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AA408-0F43-4176-B266-3EDFC28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CEF88-1A69-4A0B-ABAC-DC132430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A9A9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12686-06B2-41F2-B3FE-0332B7003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1B03E8-5282-438E-8B2F-DB31CBF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34195-8A7E-48F2-9498-94734574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80A11-6ACB-4BEC-8FA4-7A13558D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7B3B3-89CD-4C63-AFB3-8F8D5C7B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752F0-1CB0-4BB0-8A04-59284965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2EFA9-D746-4D00-832A-7F2052B9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5C6358-3ADB-4552-BD23-DF018DEB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DAB1E-7A82-45B0-9177-7DE79083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22C04-1E55-4B53-A274-20AD74E3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283F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1283F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D09272-E748-4CD3-8790-29F22602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5C654-7656-4566-BF35-9F95D7D0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AE1C6-7414-4539-A657-4D0C9442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9E641-A7AA-45A6-80DA-1FE804E7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39A4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29DCF0-AA70-4A42-A5E6-C519053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距离驱动的几何不变性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44D05-4BC2-4D1D-8D91-DB784EA7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1A5A8F-AF22-4D9A-BC47-8A088B7C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直接拼接绝对坐标会依赖参考系；同一个复合物整体平移或旋转后，输入表示随之改变。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7A4837-157B-4AE7-9B62-2CAD8AB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7C3C2-E151-44A4-ACF8-2098A7C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E6537-022D-4319-9445-82AC3B86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CDBB38-94E4-4EC1-91FC-48CF7BD6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rᵢ, rⱼ  →  dⱼᵢ = ‖rⱼ − rᵢ‖₂  →  RBF  →  Linear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64B60E-4C2B-4D34-8A76-E5F73135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283F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1283F"/>
                </a:solidFill>
                <a:latin typeface="Cambria Math"/>
                <a:ea typeface="Cambria Math"/>
                <a:cs typeface="Cambria Math"/>
              </a:rPr>
              <a:t>mⱼᵢ = hⱼ⁽ᵗ⁾ ⊙ λ(dⱼᵢ)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4C80A-455F-4084-9A1C-2C682072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F4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2EB314-C1E4-42B1-8423-A53781CD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8736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08736F"/>
                </a:solidFill>
                <a:latin typeface="Cambria Math"/>
                <a:ea typeface="Cambria Math"/>
                <a:cs typeface="Cambria Math"/>
              </a:rPr>
              <a:t>F(R, H⁽ᵗ⁾) = F(QR + g, H⁽ᵗ⁾)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57C8D9-5D83-4982-BE1D-C1B299BC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2810B4-2814-47AE-B7AD-7D8265F2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引入三维距离信息，同时保证同一复合物改变位置或朝向后预测不变。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2E77E7-16C4-4909-839A-E50CF58B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边界：距离没有显式编码氢键角度等方向信息。</a:t>
            </a:r>
          </a:p>
        </p:txBody>
      </p:sp>
    </p:spTree>
    <p:extLst>
      <p:ext uri="{BB962C8B-B14F-4D97-AF65-F5344CB8AC3E}">
        <p14:creationId xmlns:p14="http://schemas.microsoft.com/office/powerpoint/2010/main" val="886107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570200-CEF2-4976-B574-2AD19427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850A7-41DF-4642-9C71-5578A76D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总体结果：三个外部测试集均取得最高 Pearson Rₚ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2113A-6BB2-4E5B-86EF-94F35227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D005B-0AC3-49F2-802C-D52D49C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3EC8F-AFA1-4464-815F-25E076DD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CC04A-32F7-47E6-A431-8C221D99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571500" y="1657350"/>
          <a:ext xmlns:a="http://schemas.openxmlformats.org/drawingml/2006/main" cx="73342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12fd4638b54c9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AB9B44-16EE-4B8C-90A8-EC9B37566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5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RMSE（越低越好）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352E1-F932-46AF-90AD-FFAB0578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C9737-6E25-49BC-B129-9AD1BE32D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F084F-FF12-4850-9BB4-ABC18953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622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−0.048 vs 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C4D73-8A5E-42C0-B871-25815554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0512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8A8DA-CD1B-45D1-BEDB-CD1AD445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7340E5-E83D-4281-8646-3DAFF716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2420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1.190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C6AC0B-18D4-49C2-8157-E48E129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533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−0.079 vs IGN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7BDB4-C843-4E46-946F-8631BBB6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C10B13-75C2-4EED-A0B0-3EF785B4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338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2019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98330-C6D6-43B7-8D90-530E544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381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1.393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DC1A9-E444-49E6-A3D9-68F6291A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053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−0.017 vs IGN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F27BE-DD62-4DD3-B998-CA803AE0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19700"/>
            <a:ext cx="28575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D205C-472B-4D86-8FA7-5D628CC5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34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A35F16"/>
                </a:solidFill>
                <a:latin typeface="Microsoft YaHei"/>
                <a:ea typeface="Microsoft YaHei"/>
                <a:cs typeface="Microsoft YaHei"/>
              </a:rPr>
              <a:t>2019 holdout 更难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CEF160-CBA5-4621-A917-3DEE69C3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600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Rₚ 仅为 0.641，领先幅度也较小。</a:t>
            </a:r>
          </a:p>
        </p:txBody>
      </p:sp>
    </p:spTree>
    <p:extLst>
      <p:ext uri="{BB962C8B-B14F-4D97-AF65-F5344CB8AC3E}">
        <p14:creationId xmlns:p14="http://schemas.microsoft.com/office/powerpoint/2010/main" val="1610743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371F61-FF13-4B07-8DB8-86428FAD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ABLATION &amp;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EE846-D1D4-46F7-84E5-BF1769ED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消融验证了两个核心设计，但陌生蛋白质仍是难点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519F9-BDF3-4B91-8674-7923936B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6D785-CFD4-43B8-B390-F46B78B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912909-4D08-429F-8AB4-A6BF34CE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GIGN  |  Yang et al.,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F3CE9-B42C-425D-AC04-49DF959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93F8A-3917-4FE5-84BF-68EC27DF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2019 holdout：Pearson Rₚ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533400" y="1847850"/>
          <a:ext xmlns:a="http://schemas.openxmlformats.org/drawingml/2006/main" cx="619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506934958b487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CF088-81CB-471D-927E-77846074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811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消融结论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5A0A8F-C071-434A-9341-36729536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9A9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8E1142-3530-4A3D-ADE4-48601B4E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区分两类边有效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47D7F-5061-4764-8F33-0E7323A9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2410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完整模型 0.641，高于同质传播 0.634。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BF368-85E7-488A-8D25-90ECBA0C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86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A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BB688-BC92-45D1-8CC3-6EB71519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670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几何不变性更关键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4C0C4C-F9BA-407A-99B2-7B01E4BE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8135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绝对坐标降至 0.550；仅去除平移影响可恢复到 0.608。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26771-EBCC-443D-A75F-5D6064E0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71925"/>
            <a:ext cx="3867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9F847-BCCC-46F8-9BF1-A452CA9FD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71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1283F"/>
                </a:solidFill>
                <a:latin typeface="Microsoft YaHei"/>
                <a:ea typeface="Microsoft YaHei"/>
                <a:cs typeface="Microsoft YaHei"/>
              </a:rPr>
              <a:t>泛化补充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30116-7BDD-46AE-98AF-499F7BFB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CSAR-HiQ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5992D-A734-4D95-ABED-1A521AD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572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0.774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FD5E09-8B6A-48CF-84E9-BEA4E3E4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9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重新对接构象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3919E-A89A-439D-A8A3-F999387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0196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736F"/>
                </a:solidFill>
                <a:latin typeface="Microsoft YaHei"/>
                <a:ea typeface="Microsoft YaHei"/>
                <a:cs typeface="Microsoft YaHei"/>
              </a:rPr>
              <a:t>Rₚ 0.826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554FF-30D1-41E1-9D12-C989E26C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蛋白质序列冷启动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3967A-B378-45BC-9369-72F0F29E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467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Rₚ 0.565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832615-BEDA-4EC9-9A2A-EA768C6B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055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85B57"/>
                </a:solidFill>
                <a:latin typeface="Microsoft YaHei"/>
                <a:ea typeface="Microsoft YaHei"/>
                <a:cs typeface="Microsoft YaHei"/>
              </a:rPr>
              <a:t>结论：方法改进稳定，但对未见蛋白质的泛化仍有限。</a:t>
            </a:r>
          </a:p>
        </p:txBody>
      </p:sp>
    </p:spTree>
    <p:extLst>
      <p:ext uri="{BB962C8B-B14F-4D97-AF65-F5344CB8AC3E}">
        <p14:creationId xmlns:p14="http://schemas.microsoft.com/office/powerpoint/2010/main" val="11567280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2026-09-14T07:49:42.2260000Z</dcterms:created>
  <dcterms:modified xsi:type="dcterms:W3CDTF">2026-09-14T07:49:42.2260000Z</dcterms:modified>
</coreProperties>
</file>