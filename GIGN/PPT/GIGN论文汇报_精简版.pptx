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afcee004d414c" /><Relationship Type="http://schemas.openxmlformats.org/officeDocument/2006/relationships/extended-properties" Target="/docProps/app.xml" Id="R3cfe5afddc834bf1" /><Relationship Type="http://schemas.openxmlformats.org/officeDocument/2006/relationships/officeDocument" Target="/ppt/presentation.xml" Id="R92fa4e745ed04f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d31488c874547"/>
  </p:sldMasterIdLst>
  <p:notesMasterIdLst>
    <p:notesMasterId xmlns:r="http://schemas.openxmlformats.org/officeDocument/2006/relationships" r:id="R461ca4e9f8fa4def"/>
  </p:notesMasterIdLst>
  <p:sldIdLst>
    <p:sldId xmlns:r="http://schemas.openxmlformats.org/officeDocument/2006/relationships" id="256" r:id="Rcbd86c86d91d481e"/>
    <p:sldId xmlns:r="http://schemas.openxmlformats.org/officeDocument/2006/relationships" id="257" r:id="R4b5c3769b6ae44c2"/>
    <p:sldId xmlns:r="http://schemas.openxmlformats.org/officeDocument/2006/relationships" id="258" r:id="R60b860804d954df1"/>
    <p:sldId xmlns:r="http://schemas.openxmlformats.org/officeDocument/2006/relationships" id="259" r:id="R4cf0384e1f8c4f0e"/>
    <p:sldId xmlns:r="http://schemas.openxmlformats.org/officeDocument/2006/relationships" id="260" r:id="Rff1acd599c1b467f"/>
    <p:sldId xmlns:r="http://schemas.openxmlformats.org/officeDocument/2006/relationships" id="261" r:id="R5dbe390c351f45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68f931042b40a5" /><Relationship Type="http://schemas.openxmlformats.org/officeDocument/2006/relationships/slideMaster" Target="/ppt/slideMasters/slideMaster1.xml" Id="R57cd31488c874547" /><Relationship Type="http://schemas.openxmlformats.org/officeDocument/2006/relationships/notesMaster" Target="/ppt/notesMasters/notesMaster1.xml" Id="R461ca4e9f8fa4def" /><Relationship Type="http://schemas.openxmlformats.org/officeDocument/2006/relationships/presProps" Target="/ppt/presProps.xml" Id="R7dd87a59c0ad4cf3" /><Relationship Type="http://schemas.openxmlformats.org/officeDocument/2006/relationships/tableStyles" Target="/ppt/tableStyles.xml" Id="R2ce0f174e0bf4406" /><Relationship Type="http://schemas.openxmlformats.org/officeDocument/2006/relationships/slide" Target="/ppt/slides/slide1.xml" Id="Rcbd86c86d91d481e" /><Relationship Type="http://schemas.openxmlformats.org/officeDocument/2006/relationships/slide" Target="/ppt/slides/slide2.xml" Id="R4b5c3769b6ae44c2" /><Relationship Type="http://schemas.openxmlformats.org/officeDocument/2006/relationships/slide" Target="/ppt/slides/slide3.xml" Id="R60b860804d954df1" /><Relationship Type="http://schemas.openxmlformats.org/officeDocument/2006/relationships/slide" Target="/ppt/slides/slide4.xml" Id="R4cf0384e1f8c4f0e" /><Relationship Type="http://schemas.openxmlformats.org/officeDocument/2006/relationships/slide" Target="/ppt/slides/slide5.xml" Id="Rff1acd599c1b467f" /><Relationship Type="http://schemas.openxmlformats.org/officeDocument/2006/relationships/slide" Target="/ppt/slides/slide6.xml" Id="R5dbe390c351f45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f138d8cf8447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231d3f747441bd" /><Relationship Type="http://schemas.openxmlformats.org/officeDocument/2006/relationships/notesMaster" Target="/ppt/notesMasters/notesMaster1.xml" Id="Rcbd05f77112a4c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d90eb42fb42bf" /><Relationship Type="http://schemas.openxmlformats.org/officeDocument/2006/relationships/notesMaster" Target="/ppt/notesMasters/notesMaster1.xml" Id="R24173a4f1b39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f14336ad1d4ff9" /><Relationship Type="http://schemas.openxmlformats.org/officeDocument/2006/relationships/notesMaster" Target="/ppt/notesMasters/notesMaster1.xml" Id="R31f640999b7e4b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68d1a4121d4fa1" /><Relationship Type="http://schemas.openxmlformats.org/officeDocument/2006/relationships/notesMaster" Target="/ppt/notesMasters/notesMaster1.xml" Id="Rba04ed0f7a014a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17c2f729974caf" /><Relationship Type="http://schemas.openxmlformats.org/officeDocument/2006/relationships/notesMaster" Target="/ppt/notesMasters/notesMaster1.xml" Id="R11fef81e672b4e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cb74e5cb6449e9" /><Relationship Type="http://schemas.openxmlformats.org/officeDocument/2006/relationships/notesMaster" Target="/ppt/notesMasters/notesMaster1.xml" Id="R6fa60d60ae0949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 summarized from the introduction and overall comparison discussion.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Gap-to-design mapping synthesized from the method, ablation, invariance proof, and complexity discussion.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chart rebuilt from Table 1. Values are means over three runs.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chart rebuilt from Table 2 (2019 holdout). External and cold-start results are summarized from the generalization experiments.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692df062b42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07933e7bd64d44" /><Relationship Type="http://schemas.openxmlformats.org/officeDocument/2006/relationships/slideLayout" Target="/ppt/slideLayouts/slideLayout1.xml" Id="R19623f0ef8a340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23f0ef8a340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6b3d1f84743b8" /><Relationship Type="http://schemas.openxmlformats.org/officeDocument/2006/relationships/notesSlide" Target="/ppt/notesSlides/notesSlide1.xml" Id="Rdde017cc4d6d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a8a7ab9ba4e24" /><Relationship Type="http://schemas.openxmlformats.org/officeDocument/2006/relationships/notesSlide" Target="/ppt/notesSlides/notesSlide2.xml" Id="Rb8ccab1c84c84b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6428a9ae947a8" /><Relationship Type="http://schemas.openxmlformats.org/officeDocument/2006/relationships/image" Target="/ppt/media/image.png" Id="Rfc7a71883e09495a" /><Relationship Type="http://schemas.openxmlformats.org/officeDocument/2006/relationships/notesSlide" Target="/ppt/notesSlides/notesSlide3.xml" Id="R85ba71db733646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8030880f347f2" /><Relationship Type="http://schemas.openxmlformats.org/officeDocument/2006/relationships/notesSlide" Target="/ppt/notesSlides/notesSlide4.xml" Id="R093be23fba0f40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4e83881bb489a" /><Relationship Type="http://schemas.openxmlformats.org/officeDocument/2006/relationships/chart" Target="/ppt/slides/charts/chart1.xml" Id="R4dffd441fa9d406f" /><Relationship Type="http://schemas.openxmlformats.org/officeDocument/2006/relationships/notesSlide" Target="/ppt/notesSlides/notesSlide5.xml" Id="Rf133e3850fd042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90626ee8b403e" /><Relationship Type="http://schemas.openxmlformats.org/officeDocument/2006/relationships/chart" Target="/ppt/slides/charts/chart2.xml" Id="Ra780f833ab484cbf" /><Relationship Type="http://schemas.openxmlformats.org/officeDocument/2006/relationships/notesSlide" Target="/ppt/notesSlides/notesSlide6.xml" Id="R5126b41b286746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最佳基线 IGN</c:v>
          </c:tx>
          <c:spPr>
            <a:solidFill xmlns:a="http://schemas.openxmlformats.org/drawingml/2006/main">
              <a:srgbClr val="7890A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0.807</c:v>
              </c:pt>
              <c:pt idx="1">
                <c:v>0.821</c:v>
              </c:pt>
              <c:pt idx="2">
                <c:v>0.63</c:v>
              </c:pt>
            </c:numLit>
          </c:val>
        </c:ser>
        <c:ser>
          <c:idx val="1"/>
          <c:order val="1"/>
          <c:tx>
            <c:v>GIGN</c:v>
          </c:tx>
          <c:spPr>
            <a:solidFill xmlns:a="http://schemas.openxmlformats.org/drawingml/2006/main">
              <a:srgbClr val="0A9A9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0.821</c:v>
              </c:pt>
              <c:pt idx="1">
                <c:v>0.84</c:v>
              </c:pt>
              <c:pt idx="2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7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legend>
      <c:legendPos val="b"/>
      <c:overlay val="0"/>
      <c:spPr>
        <a:ln xmlns:a="http://schemas.openxmlformats.org/drawingml/2006/main" w="0">
          <a:noFill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D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Rₚ</c:v>
          </c:tx>
          <c:spPr>
            <a:solidFill xmlns:a="http://schemas.openxmlformats.org/drawingml/2006/main">
              <a:srgbClr val="0A9A9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890A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5B5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9A4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A9A94"/>
              </a:solidFill>
            </c:spPr>
          </c:dPt>
          <c:cat>
            <c:strLit>
              <c:ptCount val="4"/>
              <c:pt idx="0">
                <c:v>同质传播
TMP</c:v>
              </c:pt>
              <c:pt idx="1">
                <c:v>绝对坐标
VarTR</c:v>
              </c:pt>
              <c:pt idx="2">
                <c:v>仅平移不变
VarR</c:v>
              </c:pt>
              <c:pt idx="3">
                <c:v>完整 GIGN</c:v>
              </c:pt>
            </c:strLit>
          </c:cat>
          <c:val>
            <c:numLit>
              <c:formatCode>0.000</c:formatCode>
              <c:ptCount val="4"/>
              <c:pt idx="0">
                <c:v>0.634</c:v>
              </c:pt>
              <c:pt idx="1">
                <c:v>0.55</c:v>
              </c:pt>
              <c:pt idx="2">
                <c:v>0.608</c:v>
              </c:pt>
              <c:pt idx="3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7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0DC34-627D-499B-9F1B-99F75C51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C0278-3228-4E83-8C44-62B7D1D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PAPER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A748D-9063-4AF6-8CCD-728D3C61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A3BAF-983B-4F75-A82A-8E9455BA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20EA7-F370-46BC-A95C-DCD87FAB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947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基于三维结构预测蛋白质–配体结合亲和力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1D2ED-4C6B-479F-9D96-A5E86AE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23A17-B998-4995-8F7B-874D3779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核心：异质相互作用建模  +  几何不变性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FE846-6D74-43C8-94B6-C311B227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rPr>
              <a:t>Yang et al.  |  The Journal of Physical Chemistry Letters  |  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6BBC0-BB65-4D31-907A-27D251FE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00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0404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1F150-E571-4B5D-9E2F-F9EAB9F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BACKGROUND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22A27-FD27-455B-BDAB-964400F3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为什么需要 GIGN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A49CF-F795-4548-92F6-1BC3CD55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C89FD-D112-4E95-B97F-2B71FDE9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238D2-31F4-4F28-BD23-14FEAF19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EFCE6-A7E5-4232-8DBC-CCF583E8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AC64E-7FD9-419A-B2C8-9861B1AD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结合亲和力预测的关键，不只是识别原子类型，还要理解它们如何在三维空间中相互作用。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FF69B-1ECC-4250-9449-ED11B9E4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实验测定成本高、速度慢，因此需要从复合物结构直接得到可筛选的亲和力预测。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DE98D-8302-47A2-9C6A-BC820F70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90525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83840-C550-448E-944B-B61D57C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研究动机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2D468-5C61-4413-9444-6983F69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把化学关系和几何规律直接写进模型。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06883-F89F-49D5-A505-E58B4C73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66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AC331-DE25-4AD5-90E6-C11267AB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二维或配体中心的表示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32D5D-BDEE-4EA7-A8BF-FE139491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难以显式描述蛋白质–配体的三维接触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3FF46-A3E0-4AC7-A1F8-16EB62F3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527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E5660-91F1-4092-B4B6-042B2729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19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5E427-B5DB-417E-B6B8-B343E260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同质消息传递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58FDF-8B76-428D-AADE-DB3C75B7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共价键与跨分子接触容易过早混合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0303F-9016-4B79-8157-702F8218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052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35B61-623C-4020-969A-9B474616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505D8-BF5F-430A-9E3E-9BDBAFC0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直接使用绝对坐标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DBF87-A385-44C8-9A99-50DCCDF6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24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同一复合物旋转或平移后表示会改变</a:t>
            </a:r>
          </a:p>
        </p:txBody>
      </p:sp>
    </p:spTree>
    <p:extLst>
      <p:ext uri="{BB962C8B-B14F-4D97-AF65-F5344CB8AC3E}">
        <p14:creationId xmlns:p14="http://schemas.microsoft.com/office/powerpoint/2010/main" val="202591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E00F4-8C3B-423D-9423-A6C46C1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77392-9CDB-4465-BD50-3C317F98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42948-75D9-4808-955A-8A04B36F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A4B65-9D7D-40A2-8C47-45681F36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AF95D-E294-4805-BB36-B558B550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85003-0241-4A0B-8104-42ECDAEC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91EF1-00A3-4F5D-9C99-D52859C9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a71883e09495a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0C268-1CE4-40A4-835C-D33D325D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4D78A-35DC-4528-B616-9A0665DF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99497-732A-42CC-B65E-8463195E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864F9-8B25-4A9F-857D-70DBE62C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62E2B-67CF-494B-9BDC-53819389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ADB68-3373-4C3E-BFD2-8DFA89DE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9CC39-A3DE-4164-8FD5-36C2A951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AFEA2-5BB0-4F62-9ACC-CAA4149A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24A2C-754C-4A8D-8BEE-D34C60A9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D8631-5F18-4C49-B532-16994B9D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距离 dᵢⱼ 经 RBF 编码后调节消息；模型只依赖原子间距离，因此保持整体平移和旋转不变。</a:t>
            </a:r>
          </a:p>
        </p:txBody>
      </p:sp>
    </p:spTree>
    <p:extLst>
      <p:ext uri="{BB962C8B-B14F-4D97-AF65-F5344CB8AC3E}">
        <p14:creationId xmlns:p14="http://schemas.microsoft.com/office/powerpoint/2010/main" val="29213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154B82-D7C2-413F-9533-8A9B19C6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A8552-F53D-4D5E-B2D4-3B3BCC03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GIGN 弥补了什么不足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CE3E-CF6E-4C92-ABC5-BFB76FFD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15A3C-C107-4A4E-9BF2-84A107C7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E84C7-9A64-4F44-8BAD-9270B7B8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D4407-A3A7-4CA4-B506-77A0F39A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F805A-2529-4FB5-B35A-484253FA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已有不足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D78E0-DA00-43C2-A2D6-EEAB00A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的设计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1021F-89AE-43E7-90F9-A54E5CB8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带来的作用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7FEEB-375F-450C-9190-F8D17D21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970AD-CB64-4BC5-8A9A-90832801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两类边按同一种关系传播，非共价消息可能淹没分子内部结构。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DD4FF-A04A-49E5-B121-8106CC39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E4A55-239C-4211-870B-58176C4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共价 / 非共价使用独立边集合、独立聚合与独立更新网络。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67FC7-69E4-4B59-AB8E-0050CF9F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174A6-E73E-428C-84CF-F53BCAD4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保留化学骨架与跨分子接触的差异。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41B19-D901-49AC-B60C-A2F7335B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96070-FF63-4A96-BA6E-D461E1F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5B02D-8DD7-426D-A861-79A1EB5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绝对坐标依赖参考系，同一结构改变姿态后输入会变化。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B90C0-C553-400E-A9A1-E4828286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718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46967-12D1-4741-ABFB-D5B79CC3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坐标只用于计算 dᵢⱼ；距离经 RBF 和线性层得到消息权重。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73736-56E0-4EE6-90F9-5B95DD6C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18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1758A-BF26-4D7F-A06A-BF3BDFAA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天然满足平移与旋转不变性。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3F767-0CB9-4D6D-AE5B-BC9ADF92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A6E12-F346-4868-9C05-7A278465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5EEF9-B24F-4C52-B78B-1A678F9D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三维体素或复杂坐标更新的计算开销较大。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94F4E-EACB-4D9D-9E81-F341E0E4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530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728B6-9F9C-47DA-A628-BD5A0BE7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1487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使用原子图、距离编码、求和聚合和 MLP。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4DC8DE-70CB-4140-AA9E-BDB65050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33F91-21EF-4FD7-B2AA-F05A44A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在强基线中保持较低参数量和 FLOPs。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0F322E-42E8-4B66-BC27-52BBA2CC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核心方法创新集中在前两项；第三项属于结构上的工程优势。</a:t>
            </a:r>
          </a:p>
        </p:txBody>
      </p:sp>
    </p:spTree>
    <p:extLst>
      <p:ext uri="{BB962C8B-B14F-4D97-AF65-F5344CB8AC3E}">
        <p14:creationId xmlns:p14="http://schemas.microsoft.com/office/powerpoint/2010/main" val="1065082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E21C0-E552-4737-B62F-AF3B96CF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76F60-8D1C-4346-93F7-F5E9A187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总体结果：三个外部测试集均取得最高 Pearson Rₚ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E076C-9D74-4540-9527-03CCA05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3E25D-FC25-4D96-AEC1-AA3C44E2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8849B-C732-404D-8D4A-6CB3A99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9EA72-185A-41C0-AF95-25715A94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7334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ffd441fa9d406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7A538-CC01-4D14-9772-173B84FE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RMSE（越低越好）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F91AD-98E2-47C8-8BEA-FC5C0435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3DCA7-7185-4DA1-935D-C24E5774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358FC-7EBC-4CCE-AB94-8653FF50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−0.048 vs 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9B045-C3B3-4528-AA99-27944F05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6FB8E-6A6F-40CE-8BEF-9A9F9D69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5B7A4-B220-4355-BD45-2A3A052E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1.190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B1B38-9090-414D-BDDC-CF638AA5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33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−0.079 vs 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17036-0780-4E85-B81E-49956080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E1103-BC0D-41BB-8F0A-71947A1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4A729-3763-4C38-9BCE-398CD2CE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F6F7E-E07C-482F-A3A9-AEF4888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05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−0.017 vs 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90FD9-7810-4890-B2E2-3D32D7A6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2857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FF3D3-47C8-43C9-838F-CA298158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rPr>
              <a:t>2019 holdout 更难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762A8-1F3B-42E8-AA0F-CC85C5B8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Rₚ 仅为 0.641，领先幅度也较小。</a:t>
            </a:r>
          </a:p>
        </p:txBody>
      </p:sp>
    </p:spTree>
    <p:extLst>
      <p:ext uri="{BB962C8B-B14F-4D97-AF65-F5344CB8AC3E}">
        <p14:creationId xmlns:p14="http://schemas.microsoft.com/office/powerpoint/2010/main" val="945202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B616D-41BD-4CDD-8F59-D89573C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ABLATION &amp;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A94F2-5548-4820-958E-3D1C8A2C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消融验证了两个核心设计，但陌生蛋白质仍是难点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8FF23-FD72-4D0E-A179-5F2E15A2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72049-D500-4D4F-92BE-515667C6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F493C-FEA2-4FBD-8D42-70585D2D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6B86A-4ACC-4D3B-9793-E25CAE99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54054-D93F-450A-A0C8-8D916599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2019 holdout：Pearson Rₚ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33400" y="18478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80f833ab484cb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1BB91-F2F8-4A3D-83C3-679A3804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7B677-70F2-4D59-A87B-90AF6055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5AEBD-E7A9-444F-911F-D08AE3FF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区分两类边有效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56252-0A87-4526-ADF7-A59C9FFC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完整模型 0.641，高于同质传播 0.634。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AD883-3C0E-4A4F-B5A3-E5B689B0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D7565-2A12-41B8-968F-461DE3A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几何不变性更关键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ACB80-3323-4BEB-A6F0-8D68B14B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绝对坐标降至 0.550；仅去除平移影响可恢复到 0.608。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09B85-748D-4662-B73B-15F8D656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71925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422DC-9A8C-4642-9482-D2B568B2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泛化补充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02588-1134-4F32-A05A-AB623EA3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CSAR-HiQ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DB39D-309A-4419-8897-2E34A39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0.774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C0E16-0560-43B2-B0F3-D0F4A9A9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重新对接构象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375C6-2C6E-4DC8-98A2-2903712A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9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0.826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063E6-E4E9-4BF4-B3A6-9B11F58F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蛋白质序列冷启动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7CF4E-A82E-41BF-A46F-E3A8A672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Rₚ 0.565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375EB-5EAA-4F82-AF97-5AD29C58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结论：方法改进稳定，但对未见蛋白质的泛化仍有限。</a:t>
            </a:r>
          </a:p>
        </p:txBody>
      </p:sp>
    </p:spTree>
    <p:extLst>
      <p:ext uri="{BB962C8B-B14F-4D97-AF65-F5344CB8AC3E}">
        <p14:creationId xmlns:p14="http://schemas.microsoft.com/office/powerpoint/2010/main" val="1463853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2026-09-14T06:49:08.1850000Z</dcterms:created>
  <dcterms:modified xsi:type="dcterms:W3CDTF">2026-09-14T06:49:08.1850000Z</dcterms:modified>
</coreProperties>
</file>