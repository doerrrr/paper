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ΔRₚ</c:v>
          </c:tx>
          <c:spPr>
            <a:solidFill>
              <a:srgbClr val="007032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 b="1">
                    <a:solidFill>
                      <a:srgbClr val="007032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Lit>
              <c:formatCode>General</c:formatCode>
              <c:ptCount val="3"/>
              <c:pt idx="0">
                <c:v>2013</c:v>
              </c:pt>
              <c:pt idx="1">
                <c:v>2016</c:v>
              </c:pt>
              <c:pt idx="2">
                <c:v>2019</c:v>
              </c:pt>
            </c:numLit>
          </c:cat>
          <c:val>
            <c:numLit>
              <c:formatCode>\+0.000</c:formatCode>
              <c:ptCount val="3"/>
              <c:pt idx="0">
                <c:v>1.4E-2</c:v>
              </c:pt>
              <c:pt idx="1">
                <c:v>1.9E-2</c:v>
              </c:pt>
              <c:pt idx="2">
                <c:v>1.0999999999999999E-2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1BC-49BD-9DD1-D3E087F68F4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90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2.8000000000000001E-2"/>
          <c:min val="0"/>
        </c:scaling>
        <c:delete val="0"/>
        <c:axPos val="l"/>
        <c:numFmt formatCode="\+0.0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Yang et al., J. Phys. Chem. Lett. 2023, 14, 2020–2033. DOI: 10.1021/acs.jpclett.2c03906</a:t>
            </a:r>
          </a:p>
          <a:p>
            <a:r>
              <a:t>视觉参考：华中农业大学信息学院定制模板 https://coi.hzau.edu.cn/xygk/wh/dzmb.htm 。色彩与标识：学校官方网站 https://www.hzau.edu.cn/info/1172/12644_2.htm ，华农绿 RGB(0,112,50)。校名校徽原图 https://www.hzau.edu.cn/images/LOGO.png 。本文件为重新设计的个人文献汇报，不是学校发布的官方模板原文件。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Motivation follows the paper's distinction between interaction-free and interaction-based methods, its discussion of data scarcity, and the need for structural and interaction inductive biases. Source: Yang et al., J. Phys. Chem. Lett. 2023, 14, 2020–2033. DOI: 10.1021/acs.jpclett.2c03906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Figure 3 reproduced from the paper. Source: Yang et al., J. Phys. Chem. Lett. 2023, 14, 2020–2033. DOI: 10.1021/acs.jpclett.2c03906. Local source image: E:\Obsidian\paper\论文\GIGN\Pasted image 20260911161022.png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Equation 9 states that U(cov) and U(ncov) are implemented as MLPs. The paper does not specify their internal layer-by-layer structure in the main text and does not report a 2/3/4-layer comparison. Source: Yang et al., J. Phys. Chem. Lett. 2023, 14, 2020–2033. DOI: 10.1021/acs.jpclett.2c03906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paper uses RBF distance expansion, a linear projection, and the Hadamard product as its message function. The comparison with concatenation is explanatory analysis rather than an ablation reported by the paper. Source: Yang et al., J. Phys. Chem. Lett. 2023, 14, 2020–2033. DOI: 10.1021/acs.jpclett.2c03906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Yang et al., J. Phys. Chem. Lett. 2023, 14, 2020–2033. DOI: 10.1021/acs.jpclett.2c03906</a:t>
            </a:r>
          </a:p>
          <a:p>
            <a:r>
              <a:t>来源：Table 1 与 Data Set Preparation。表格选择6个代表基线，原表包含更多模型。主实验所有模型共用数据划分，报告三次运行均值。本页省略标准差以便比较，原文完整数值见Table 1。增量由GIGN均值减IGN均值计算，没有据此声称统计显著。复合物无重叠不等于蛋白质或配体无重叠。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Yang et al., J. Phys. Chem. Lett. 2023, 14, 2020–2033. DOI: 10.1021/acs.jpclett.2c03906</a:t>
            </a:r>
          </a:p>
          <a:p>
            <a:r>
              <a:t>来源：Table 2, 3, 4 与 Redocked Structures 章节。冷启动从原11,904个训练样本重新按8:1:1划分，不与主基准直接混同。重对接取2016测试集中RMSD最低且小于2Å的构象。正文变体名VarTR/VarR与表格TRVar/RVar次序不同，本页采用Table 2名称。完整模型均值占优，不表示每项差异都经显著性检验。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97A3F881-FEB0-4293-9971-50948CD014E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495425"/>
          </a:xfrm>
          <a:prstGeom prst="rect">
            <a:avLst/>
          </a:prstGeom>
          <a:solidFill>
            <a:srgbClr val="007032"/>
          </a:solidFill>
          <a:ln w="0">
            <a:noFill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48932" y="381000"/>
            <a:ext cx="3140787" cy="714375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777138DE-EF67-4EB2-87ED-5A4F81125B51}"/>
              </a:ext>
            </a:extLst>
          </p:cNvPr>
          <p:cNvSpPr>
            <a:spLocks noGrp="1"/>
          </p:cNvSpPr>
          <p:nvPr/>
        </p:nvSpPr>
        <p:spPr>
          <a:xfrm>
            <a:off x="9277350" y="523875"/>
            <a:ext cx="2190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defRPr sz="18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文献汇报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80B6511-3C13-4DD2-A4FC-1CCF3113D988}"/>
              </a:ext>
            </a:extLst>
          </p:cNvPr>
          <p:cNvSpPr>
            <a:spLocks noGrp="1"/>
          </p:cNvSpPr>
          <p:nvPr/>
        </p:nvSpPr>
        <p:spPr>
          <a:xfrm>
            <a:off x="657225" y="1943100"/>
            <a:ext cx="6667500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78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GIGN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DE01CF1-3531-4D6D-A2B5-3C28CE4CB7E1}"/>
              </a:ext>
            </a:extLst>
          </p:cNvPr>
          <p:cNvSpPr>
            <a:spLocks noGrp="1"/>
          </p:cNvSpPr>
          <p:nvPr/>
        </p:nvSpPr>
        <p:spPr>
          <a:xfrm>
            <a:off x="695325" y="3409950"/>
            <a:ext cx="103822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300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基于三维结构的蛋白质–配体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66DE8AF-3361-44B9-AA22-EEBFBF6D0BC5}"/>
              </a:ext>
            </a:extLst>
          </p:cNvPr>
          <p:cNvSpPr>
            <a:spLocks noGrp="1"/>
          </p:cNvSpPr>
          <p:nvPr/>
        </p:nvSpPr>
        <p:spPr>
          <a:xfrm>
            <a:off x="695325" y="3952875"/>
            <a:ext cx="103822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300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结合亲和力预测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83A70E6-80CC-4AC4-AEAD-E84763F3506B}"/>
              </a:ext>
            </a:extLst>
          </p:cNvPr>
          <p:cNvSpPr>
            <a:spLocks noGrp="1"/>
          </p:cNvSpPr>
          <p:nvPr/>
        </p:nvSpPr>
        <p:spPr>
          <a:xfrm>
            <a:off x="723900" y="4800600"/>
            <a:ext cx="10382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8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Geometric Interaction Graph Neural Network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34EE9E6-09E1-47EF-ABB4-2ACD19AD4234}"/>
              </a:ext>
            </a:extLst>
          </p:cNvPr>
          <p:cNvSpPr>
            <a:spLocks noGrp="1"/>
          </p:cNvSpPr>
          <p:nvPr/>
        </p:nvSpPr>
        <p:spPr>
          <a:xfrm>
            <a:off x="723900" y="56578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425" b="0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Yang Z. et al.  /  The Journal of Physical Chemistry Letters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41F13EC-7359-4EA0-A0CE-697568D38406}"/>
              </a:ext>
            </a:extLst>
          </p:cNvPr>
          <p:cNvSpPr>
            <a:spLocks noGrp="1"/>
          </p:cNvSpPr>
          <p:nvPr/>
        </p:nvSpPr>
        <p:spPr>
          <a:xfrm>
            <a:off x="723900" y="6010275"/>
            <a:ext cx="104775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2023, 14(8): 2020–2033     DOI: 10.1021/acs.jpclett.2c03906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CEC475C-3CAD-45DD-A4C2-F2F016C13664}"/>
              </a:ext>
            </a:extLst>
          </p:cNvPr>
          <p:cNvSpPr>
            <a:spLocks noGrp="1"/>
          </p:cNvSpPr>
          <p:nvPr/>
        </p:nvSpPr>
        <p:spPr>
          <a:xfrm>
            <a:off x="0" y="6686550"/>
            <a:ext cx="12192000" cy="171450"/>
          </a:xfrm>
          <a:prstGeom prst="rect">
            <a:avLst/>
          </a:prstGeom>
          <a:solidFill>
            <a:srgbClr val="007032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980666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>
            <a:extLst>
              <a:ext uri="{FF2B5EF4-FFF2-40B4-BE49-F238E27FC236}">
                <a16:creationId xmlns:a16="http://schemas.microsoft.com/office/drawing/2014/main" id="{56EC0954-9C29-4816-A5BF-41498EE24B45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华中农业大学 / 文献汇报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9901F9B-B91F-4C3D-9EDB-2BB55B49C2E1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10668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25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研究背景与研究动机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4742C90-11C0-4666-907E-68564EB450AD}"/>
              </a:ext>
            </a:extLst>
          </p:cNvPr>
          <p:cNvSpPr>
            <a:spLocks noGrp="1"/>
          </p:cNvSpPr>
          <p:nvPr/>
        </p:nvSpPr>
        <p:spPr>
          <a:xfrm>
            <a:off x="609600" y="1209675"/>
            <a:ext cx="10610850" cy="19050"/>
          </a:xfrm>
          <a:prstGeom prst="rect">
            <a:avLst/>
          </a:prstGeom>
          <a:solidFill>
            <a:srgbClr val="007032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C5AC21E-3FD6-419D-A1E5-B57C7E7FD7ED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10610850" cy="9525"/>
          </a:xfrm>
          <a:prstGeom prst="rect">
            <a:avLst/>
          </a:prstGeom>
          <a:solidFill>
            <a:srgbClr val="D7E0E7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E47793C-B9AE-4622-921C-E013C3187EB3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953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华中农业大学   ·   GIGN 文献汇报   ·   JPCL 2023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6FD7704-2C7C-4802-A0D0-19FAAD7C4B3B}"/>
              </a:ext>
            </a:extLst>
          </p:cNvPr>
          <p:cNvSpPr>
            <a:spLocks noGrp="1"/>
          </p:cNvSpPr>
          <p:nvPr/>
        </p:nvSpPr>
        <p:spPr>
          <a:xfrm>
            <a:off x="10744200" y="6486525"/>
            <a:ext cx="476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r">
              <a:def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0C55A0B-5D21-4F01-A5A9-E29266E04A24}"/>
              </a:ext>
            </a:extLst>
          </p:cNvPr>
          <p:cNvSpPr>
            <a:spLocks noGrp="1"/>
          </p:cNvSpPr>
          <p:nvPr/>
        </p:nvSpPr>
        <p:spPr>
          <a:xfrm>
            <a:off x="609600" y="1476375"/>
            <a:ext cx="10620375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1875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目标：从蛋白质–配体复合物的三维结构，直接预测结合亲和力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0AABB1-A54E-428B-BD43-1F23E0CAA625}"/>
              </a:ext>
            </a:extLst>
          </p:cNvPr>
          <p:cNvSpPr>
            <a:spLocks noGrp="1"/>
          </p:cNvSpPr>
          <p:nvPr/>
        </p:nvSpPr>
        <p:spPr>
          <a:xfrm>
            <a:off x="628650" y="1971675"/>
            <a:ext cx="99060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112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输入：原子化学特征、三维坐标与化学键    |    输出：一个连续的亲和力预测值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6D74DBE-F19E-49EF-94AA-348DC3AE3198}"/>
              </a:ext>
            </a:extLst>
          </p:cNvPr>
          <p:cNvSpPr>
            <a:spLocks noGrp="1"/>
          </p:cNvSpPr>
          <p:nvPr/>
        </p:nvSpPr>
        <p:spPr>
          <a:xfrm>
            <a:off x="3876675" y="2476500"/>
            <a:ext cx="9525" cy="2733675"/>
          </a:xfrm>
          <a:prstGeom prst="rect">
            <a:avLst/>
          </a:prstGeom>
          <a:solidFill>
            <a:srgbClr val="D7E0E7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DA8AA16-C2AE-46CC-864F-166DF6A91552}"/>
              </a:ext>
            </a:extLst>
          </p:cNvPr>
          <p:cNvSpPr>
            <a:spLocks noGrp="1"/>
          </p:cNvSpPr>
          <p:nvPr/>
        </p:nvSpPr>
        <p:spPr>
          <a:xfrm>
            <a:off x="7658100" y="2476500"/>
            <a:ext cx="9525" cy="2733675"/>
          </a:xfrm>
          <a:prstGeom prst="rect">
            <a:avLst/>
          </a:prstGeom>
          <a:solidFill>
            <a:srgbClr val="D7E0E7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FE4C3D9-2112-4751-8006-18CD43BEBAC0}"/>
              </a:ext>
            </a:extLst>
          </p:cNvPr>
          <p:cNvSpPr>
            <a:spLocks noGrp="1"/>
          </p:cNvSpPr>
          <p:nvPr/>
        </p:nvSpPr>
        <p:spPr>
          <a:xfrm>
            <a:off x="609600" y="2447925"/>
            <a:ext cx="4572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135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5D86E6A-6DCF-469D-BB78-6AEC12CD983B}"/>
              </a:ext>
            </a:extLst>
          </p:cNvPr>
          <p:cNvSpPr>
            <a:spLocks noGrp="1"/>
          </p:cNvSpPr>
          <p:nvPr/>
        </p:nvSpPr>
        <p:spPr>
          <a:xfrm>
            <a:off x="1104900" y="2428875"/>
            <a:ext cx="2381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16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为什么要预测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AAC18CA-97C4-4BD0-99C5-4ED64DA8AF56}"/>
              </a:ext>
            </a:extLst>
          </p:cNvPr>
          <p:cNvSpPr>
            <a:spLocks noGrp="1"/>
          </p:cNvSpPr>
          <p:nvPr/>
        </p:nvSpPr>
        <p:spPr>
          <a:xfrm>
            <a:off x="628650" y="2952750"/>
            <a:ext cx="2905125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7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结合亲和力（PLA）用于候选化合物排序，也服务于虚拟筛选和先导化合物优化。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C50F108-EC89-4E20-AC9C-87982E6A3292}"/>
              </a:ext>
            </a:extLst>
          </p:cNvPr>
          <p:cNvSpPr>
            <a:spLocks noGrp="1"/>
          </p:cNvSpPr>
          <p:nvPr/>
        </p:nvSpPr>
        <p:spPr>
          <a:xfrm>
            <a:off x="628650" y="3800475"/>
            <a:ext cx="2886075" cy="9525"/>
          </a:xfrm>
          <a:prstGeom prst="rect">
            <a:avLst/>
          </a:prstGeom>
          <a:solidFill>
            <a:srgbClr val="D7E0E7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BB3250E-CE40-4721-80D6-564753E75170}"/>
              </a:ext>
            </a:extLst>
          </p:cNvPr>
          <p:cNvSpPr>
            <a:spLocks noGrp="1"/>
          </p:cNvSpPr>
          <p:nvPr/>
        </p:nvSpPr>
        <p:spPr>
          <a:xfrm>
            <a:off x="628650" y="3971925"/>
            <a:ext cx="10001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实验测定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B671E2C-5F97-44D6-BEB0-39733EFB10AC}"/>
              </a:ext>
            </a:extLst>
          </p:cNvPr>
          <p:cNvSpPr>
            <a:spLocks noGrp="1"/>
          </p:cNvSpPr>
          <p:nvPr/>
        </p:nvSpPr>
        <p:spPr>
          <a:xfrm>
            <a:off x="628650" y="4267200"/>
            <a:ext cx="290512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275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成本高、周期长，难以覆盖大规模候选分子。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85C549-917D-4940-A934-94D1F12BDA62}"/>
              </a:ext>
            </a:extLst>
          </p:cNvPr>
          <p:cNvSpPr>
            <a:spLocks noGrp="1"/>
          </p:cNvSpPr>
          <p:nvPr/>
        </p:nvSpPr>
        <p:spPr>
          <a:xfrm>
            <a:off x="4152900" y="2447925"/>
            <a:ext cx="4572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1350" b="1" i="0">
                <a:solidFill>
                  <a:srgbClr val="B38B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B38B4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1AD855B-C7CD-43D9-B9F6-69B243CD67D4}"/>
              </a:ext>
            </a:extLst>
          </p:cNvPr>
          <p:cNvSpPr>
            <a:spLocks noGrp="1"/>
          </p:cNvSpPr>
          <p:nvPr/>
        </p:nvSpPr>
        <p:spPr>
          <a:xfrm>
            <a:off x="4648200" y="2428875"/>
            <a:ext cx="2667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16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亲和力由什么决定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1790D8AF-1B58-4983-A7D7-1BC799369281}"/>
              </a:ext>
            </a:extLst>
          </p:cNvPr>
          <p:cNvSpPr>
            <a:spLocks noGrp="1"/>
          </p:cNvSpPr>
          <p:nvPr/>
        </p:nvSpPr>
        <p:spPr>
          <a:xfrm>
            <a:off x="4152900" y="2952750"/>
            <a:ext cx="3143250" cy="647700"/>
          </a:xfrm>
          <a:prstGeom prst="roundRect">
            <a:avLst>
              <a:gd name="adj" fmla="val 14706"/>
            </a:avLst>
          </a:prstGeom>
          <a:solidFill>
            <a:srgbClr val="EAF3EC"/>
          </a:solidFill>
          <a:ln w="0">
            <a:noFill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BC1940F-1347-4E3A-B280-B22A9ED2CE8D}"/>
              </a:ext>
            </a:extLst>
          </p:cNvPr>
          <p:cNvSpPr>
            <a:spLocks noGrp="1"/>
          </p:cNvSpPr>
          <p:nvPr/>
        </p:nvSpPr>
        <p:spPr>
          <a:xfrm>
            <a:off x="4305300" y="3038475"/>
            <a:ext cx="8763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05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分子内部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5DFA0CB-D52F-41D0-BBDA-9261624EBA77}"/>
              </a:ext>
            </a:extLst>
          </p:cNvPr>
          <p:cNvSpPr>
            <a:spLocks noGrp="1"/>
          </p:cNvSpPr>
          <p:nvPr/>
        </p:nvSpPr>
        <p:spPr>
          <a:xfrm>
            <a:off x="4305300" y="3286125"/>
            <a:ext cx="28384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1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共价拓扑决定原子的局部化学环境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73384962-A0FF-412D-BEC2-8FDE34C739A4}"/>
              </a:ext>
            </a:extLst>
          </p:cNvPr>
          <p:cNvSpPr>
            <a:spLocks noGrp="1"/>
          </p:cNvSpPr>
          <p:nvPr/>
        </p:nvSpPr>
        <p:spPr>
          <a:xfrm>
            <a:off x="4152900" y="3705225"/>
            <a:ext cx="3143250" cy="647700"/>
          </a:xfrm>
          <a:prstGeom prst="roundRect">
            <a:avLst>
              <a:gd name="adj" fmla="val 14706"/>
            </a:avLst>
          </a:prstGeom>
          <a:solidFill>
            <a:srgbClr val="FFF0DE"/>
          </a:solidFill>
          <a:ln w="0">
            <a:noFill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22843E0-CE14-49D1-A8B5-D98BACD4B384}"/>
              </a:ext>
            </a:extLst>
          </p:cNvPr>
          <p:cNvSpPr>
            <a:spLocks noGrp="1"/>
          </p:cNvSpPr>
          <p:nvPr/>
        </p:nvSpPr>
        <p:spPr>
          <a:xfrm>
            <a:off x="4305300" y="3790950"/>
            <a:ext cx="8763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050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rPr>
              <a:t>分子之间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12F9C04-2035-44F8-8CAB-EAE6609F12F8}"/>
              </a:ext>
            </a:extLst>
          </p:cNvPr>
          <p:cNvSpPr>
            <a:spLocks noGrp="1"/>
          </p:cNvSpPr>
          <p:nvPr/>
        </p:nvSpPr>
        <p:spPr>
          <a:xfrm>
            <a:off x="4305300" y="4038600"/>
            <a:ext cx="28384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1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三维距离与空间接触反映结合相互作用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0D651FD-F51A-4D99-9428-B57513899D94}"/>
              </a:ext>
            </a:extLst>
          </p:cNvPr>
          <p:cNvSpPr>
            <a:spLocks noGrp="1"/>
          </p:cNvSpPr>
          <p:nvPr/>
        </p:nvSpPr>
        <p:spPr>
          <a:xfrm>
            <a:off x="4152900" y="4552950"/>
            <a:ext cx="31432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14000"/>
              </a:lnSpc>
              <a:buNone/>
              <a:defRPr sz="120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两类信息必须联合建模；同一种原子处在不同空间位置时，对结合的贡献也不同。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BCAFEB8-EC68-4263-8789-BD0F52C59D92}"/>
              </a:ext>
            </a:extLst>
          </p:cNvPr>
          <p:cNvSpPr>
            <a:spLocks noGrp="1"/>
          </p:cNvSpPr>
          <p:nvPr/>
        </p:nvSpPr>
        <p:spPr>
          <a:xfrm>
            <a:off x="7943850" y="2447925"/>
            <a:ext cx="4572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1350" b="1" i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61BC3D5-2E23-4E28-B1D6-6EF5F372906C}"/>
              </a:ext>
            </a:extLst>
          </p:cNvPr>
          <p:cNvSpPr>
            <a:spLocks noGrp="1"/>
          </p:cNvSpPr>
          <p:nvPr/>
        </p:nvSpPr>
        <p:spPr>
          <a:xfrm>
            <a:off x="8439150" y="2428875"/>
            <a:ext cx="2667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16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现有方法的缺口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2ED5A3B-D8C4-4F31-96E0-E975D9099756}"/>
              </a:ext>
            </a:extLst>
          </p:cNvPr>
          <p:cNvSpPr>
            <a:spLocks noGrp="1"/>
          </p:cNvSpPr>
          <p:nvPr/>
        </p:nvSpPr>
        <p:spPr>
          <a:xfrm>
            <a:off x="7943850" y="2962275"/>
            <a:ext cx="1428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05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无相互作用方法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D20E730-12C2-44DB-9AF0-4281BA21DCCF}"/>
              </a:ext>
            </a:extLst>
          </p:cNvPr>
          <p:cNvSpPr>
            <a:spLocks noGrp="1"/>
          </p:cNvSpPr>
          <p:nvPr/>
        </p:nvSpPr>
        <p:spPr>
          <a:xfrm>
            <a:off x="7943850" y="3238500"/>
            <a:ext cx="31432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 fontScale="96610"/>
          </a:bodyPr>
          <a:lstStyle/>
          <a:p>
            <a:pPr algn="l">
              <a:lnSpc>
                <a:spcPct val="113000"/>
              </a:lnSpc>
              <a:buNone/>
              <a:def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序列、SMILES 或二维图不包含真实结合构象，难以显式描述蛋白质–配体接触。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7A8DBD7-3F78-47C6-80A3-6C667B7B4D5E}"/>
              </a:ext>
            </a:extLst>
          </p:cNvPr>
          <p:cNvSpPr>
            <a:spLocks noGrp="1"/>
          </p:cNvSpPr>
          <p:nvPr/>
        </p:nvSpPr>
        <p:spPr>
          <a:xfrm>
            <a:off x="7943850" y="3924300"/>
            <a:ext cx="3143250" cy="9525"/>
          </a:xfrm>
          <a:prstGeom prst="rect">
            <a:avLst/>
          </a:prstGeom>
          <a:solidFill>
            <a:srgbClr val="D7E0E7"/>
          </a:solidFill>
          <a:ln w="0">
            <a:noFill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367F8D2-DDF6-44D4-A110-B60876D56FE6}"/>
              </a:ext>
            </a:extLst>
          </p:cNvPr>
          <p:cNvSpPr>
            <a:spLocks noGrp="1"/>
          </p:cNvSpPr>
          <p:nvPr/>
        </p:nvSpPr>
        <p:spPr>
          <a:xfrm>
            <a:off x="7943850" y="4086225"/>
            <a:ext cx="1524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050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rPr>
              <a:t>三维相互作用方法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B635CE4-C6D8-4851-B044-0274A49D4943}"/>
              </a:ext>
            </a:extLst>
          </p:cNvPr>
          <p:cNvSpPr>
            <a:spLocks noGrp="1"/>
          </p:cNvSpPr>
          <p:nvPr/>
        </p:nvSpPr>
        <p:spPr>
          <a:xfrm>
            <a:off x="7943850" y="4362450"/>
            <a:ext cx="314325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13000"/>
              </a:lnSpc>
              <a:buNone/>
              <a:def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体素表示计算开销较大；已有图模型可能混合两类边，或分阶段处理分子内、分子间作用。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64A461CF-EE8D-4DFE-8DA3-922A764B46C1}"/>
              </a:ext>
            </a:extLst>
          </p:cNvPr>
          <p:cNvSpPr>
            <a:spLocks noGrp="1"/>
          </p:cNvSpPr>
          <p:nvPr/>
        </p:nvSpPr>
        <p:spPr>
          <a:xfrm>
            <a:off x="609600" y="5467350"/>
            <a:ext cx="10610850" cy="695325"/>
          </a:xfrm>
          <a:prstGeom prst="roundRect">
            <a:avLst>
              <a:gd name="adj" fmla="val 17808"/>
            </a:avLst>
          </a:prstGeom>
          <a:solidFill>
            <a:srgbClr val="EAF3EC"/>
          </a:solidFill>
          <a:ln w="0">
            <a:noFill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D1B1B06-956D-418D-8509-F23D6CAB4231}"/>
              </a:ext>
            </a:extLst>
          </p:cNvPr>
          <p:cNvSpPr>
            <a:spLocks noGrp="1"/>
          </p:cNvSpPr>
          <p:nvPr/>
        </p:nvSpPr>
        <p:spPr>
          <a:xfrm>
            <a:off x="800100" y="5600700"/>
            <a:ext cx="1428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05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论文的研究问题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4D6DCB8-7FC9-41CB-BCA8-AB25A09D9287}"/>
              </a:ext>
            </a:extLst>
          </p:cNvPr>
          <p:cNvSpPr>
            <a:spLocks noGrp="1"/>
          </p:cNvSpPr>
          <p:nvPr/>
        </p:nvSpPr>
        <p:spPr>
          <a:xfrm>
            <a:off x="800100" y="5857875"/>
            <a:ext cx="100774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1275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能否在同一张原子图中联合学习分子内部结构与跨分子接触，同时区分两类关系并满足平移、旋转不变性？</a:t>
            </a:r>
          </a:p>
        </p:txBody>
      </p:sp>
    </p:spTree>
    <p:extLst>
      <p:ext uri="{BB962C8B-B14F-4D97-AF65-F5344CB8AC3E}">
        <p14:creationId xmlns:p14="http://schemas.microsoft.com/office/powerpoint/2010/main" val="1081182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7880C23F-32D3-4D1D-BB94-D1CD322D28AF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华中农业大学 / 文献汇报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706E039-2D88-4D87-8366-25A55A584210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10668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25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方法：三维相互作用图 + 异质消息传递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E2D62B6-5769-4269-8081-7F91718719E5}"/>
              </a:ext>
            </a:extLst>
          </p:cNvPr>
          <p:cNvSpPr>
            <a:spLocks noGrp="1"/>
          </p:cNvSpPr>
          <p:nvPr/>
        </p:nvSpPr>
        <p:spPr>
          <a:xfrm>
            <a:off x="609600" y="1209675"/>
            <a:ext cx="10610850" cy="19050"/>
          </a:xfrm>
          <a:prstGeom prst="rect">
            <a:avLst/>
          </a:prstGeom>
          <a:solidFill>
            <a:srgbClr val="007032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4E7ED48-F420-4662-B48E-0DE3D49FCF53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10610850" cy="9525"/>
          </a:xfrm>
          <a:prstGeom prst="rect">
            <a:avLst/>
          </a:prstGeom>
          <a:solidFill>
            <a:srgbClr val="D7E0E7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6792846-524C-424B-BB75-75346518EE08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953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华中农业大学   ·   GIGN 文献汇报   ·   JPCL 2023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2F32C57-8880-42CA-829B-7D5A26074A78}"/>
              </a:ext>
            </a:extLst>
          </p:cNvPr>
          <p:cNvSpPr>
            <a:spLocks noGrp="1"/>
          </p:cNvSpPr>
          <p:nvPr/>
        </p:nvSpPr>
        <p:spPr>
          <a:xfrm>
            <a:off x="10744200" y="6486525"/>
            <a:ext cx="476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r">
              <a:def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5FBA9051-DA31-4A87-9D49-946098003CF8}"/>
              </a:ext>
            </a:extLst>
          </p:cNvPr>
          <p:cNvSpPr>
            <a:spLocks noGrp="1"/>
          </p:cNvSpPr>
          <p:nvPr/>
        </p:nvSpPr>
        <p:spPr>
          <a:xfrm>
            <a:off x="609600" y="1514475"/>
            <a:ext cx="5829300" cy="45720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7E0E7"/>
            </a:solidFill>
            <a:prstDash val="solid"/>
          </a:ln>
        </p:spPr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70514" y="1666875"/>
            <a:ext cx="4707471" cy="4238625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36099790-73E7-4395-8839-98BEF388BB3E}"/>
              </a:ext>
            </a:extLst>
          </p:cNvPr>
          <p:cNvSpPr>
            <a:spLocks noGrp="1"/>
          </p:cNvSpPr>
          <p:nvPr/>
        </p:nvSpPr>
        <p:spPr>
          <a:xfrm>
            <a:off x="6858000" y="1619250"/>
            <a:ext cx="400050" cy="400050"/>
          </a:xfrm>
          <a:prstGeom prst="ellipse">
            <a:avLst/>
          </a:prstGeom>
          <a:solidFill>
            <a:srgbClr val="007032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C372D0D-7A11-42B5-AE96-AA611E20DA66}"/>
              </a:ext>
            </a:extLst>
          </p:cNvPr>
          <p:cNvSpPr>
            <a:spLocks noGrp="1"/>
          </p:cNvSpPr>
          <p:nvPr/>
        </p:nvSpPr>
        <p:spPr>
          <a:xfrm>
            <a:off x="7429500" y="1600200"/>
            <a:ext cx="3905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50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构图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25E8CCF-A060-4EC5-90A1-386F2BFA5D3A}"/>
              </a:ext>
            </a:extLst>
          </p:cNvPr>
          <p:cNvSpPr>
            <a:spLocks noGrp="1"/>
          </p:cNvSpPr>
          <p:nvPr/>
        </p:nvSpPr>
        <p:spPr>
          <a:xfrm>
            <a:off x="7429500" y="1924050"/>
            <a:ext cx="390525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13000"/>
              </a:lnSpc>
              <a:buNone/>
              <a:def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原子为节点；分子内部化学键为共价边；蛋白质–配体原子对距离 &lt; 5 Å 时建立候选非共价边。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12A679F4-56C6-40D4-8CDE-45936D6AAB2C}"/>
              </a:ext>
            </a:extLst>
          </p:cNvPr>
          <p:cNvSpPr>
            <a:spLocks noGrp="1"/>
          </p:cNvSpPr>
          <p:nvPr/>
        </p:nvSpPr>
        <p:spPr>
          <a:xfrm>
            <a:off x="6858000" y="2971800"/>
            <a:ext cx="400050" cy="400050"/>
          </a:xfrm>
          <a:prstGeom prst="ellipse">
            <a:avLst/>
          </a:prstGeom>
          <a:solidFill>
            <a:srgbClr val="007032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5EC755C-A511-45D9-B103-2CAE77F2A881}"/>
              </a:ext>
            </a:extLst>
          </p:cNvPr>
          <p:cNvSpPr>
            <a:spLocks noGrp="1"/>
          </p:cNvSpPr>
          <p:nvPr/>
        </p:nvSpPr>
        <p:spPr>
          <a:xfrm>
            <a:off x="7429500" y="2952750"/>
            <a:ext cx="3905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50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三层异质交互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A358AC2-BFD9-4036-BAB9-8E97ECD45CB3}"/>
              </a:ext>
            </a:extLst>
          </p:cNvPr>
          <p:cNvSpPr>
            <a:spLocks noGrp="1"/>
          </p:cNvSpPr>
          <p:nvPr/>
        </p:nvSpPr>
        <p:spPr>
          <a:xfrm>
            <a:off x="7429500" y="3276600"/>
            <a:ext cx="390525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13000"/>
              </a:lnSpc>
              <a:buNone/>
              <a:def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共价与非共价消息分别聚合、分别更新，再相加融合；三层逐步扩大原子的多跳感受野。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66850FC4-A8E4-4169-B051-B12CDE5F647A}"/>
              </a:ext>
            </a:extLst>
          </p:cNvPr>
          <p:cNvSpPr>
            <a:spLocks noGrp="1"/>
          </p:cNvSpPr>
          <p:nvPr/>
        </p:nvSpPr>
        <p:spPr>
          <a:xfrm>
            <a:off x="6858000" y="4324350"/>
            <a:ext cx="400050" cy="400050"/>
          </a:xfrm>
          <a:prstGeom prst="ellipse">
            <a:avLst/>
          </a:prstGeom>
          <a:solidFill>
            <a:srgbClr val="B38B48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CE0900A-BBF5-4399-BD2E-A203E98D9661}"/>
              </a:ext>
            </a:extLst>
          </p:cNvPr>
          <p:cNvSpPr>
            <a:spLocks noGrp="1"/>
          </p:cNvSpPr>
          <p:nvPr/>
        </p:nvSpPr>
        <p:spPr>
          <a:xfrm>
            <a:off x="7429500" y="4305300"/>
            <a:ext cx="3905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50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读出亲和力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84C2050-A8F8-485D-80BC-7A05C1939A14}"/>
              </a:ext>
            </a:extLst>
          </p:cNvPr>
          <p:cNvSpPr>
            <a:spLocks noGrp="1"/>
          </p:cNvSpPr>
          <p:nvPr/>
        </p:nvSpPr>
        <p:spPr>
          <a:xfrm>
            <a:off x="7429500" y="4629150"/>
            <a:ext cx="390525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13000"/>
              </a:lnSpc>
              <a:buNone/>
              <a:def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对全部原子表示做 global sum pooling，再由 MLP 输出一个结合亲和力预测值。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C8EC9BC-652B-4E7A-BB91-0DDC0A5BF8E6}"/>
              </a:ext>
            </a:extLst>
          </p:cNvPr>
          <p:cNvSpPr>
            <a:spLocks noGrp="1"/>
          </p:cNvSpPr>
          <p:nvPr/>
        </p:nvSpPr>
        <p:spPr>
          <a:xfrm>
            <a:off x="6858000" y="5562600"/>
            <a:ext cx="4476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12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距离先决定是否连边，再经 RBF → Linear 得到逐通道权重；三维坐标只通过原子间距离进入模型。</a:t>
            </a:r>
          </a:p>
        </p:txBody>
      </p:sp>
    </p:spTree>
    <p:extLst>
      <p:ext uri="{BB962C8B-B14F-4D97-AF65-F5344CB8AC3E}">
        <p14:creationId xmlns:p14="http://schemas.microsoft.com/office/powerpoint/2010/main" val="199263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>
            <a:extLst>
              <a:ext uri="{FF2B5EF4-FFF2-40B4-BE49-F238E27FC236}">
                <a16:creationId xmlns:a16="http://schemas.microsoft.com/office/drawing/2014/main" id="{FB64D493-2BAF-42CC-8C9E-18FA6EF01B6A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华中农业大学 / 文献汇报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E002FE6-D26E-4539-BDEA-17CF762A2CFC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10668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25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创新一：异质交互层分别建模两类关系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1DA61C5-E0B5-4EAA-B8DE-0EB59444E18B}"/>
              </a:ext>
            </a:extLst>
          </p:cNvPr>
          <p:cNvSpPr>
            <a:spLocks noGrp="1"/>
          </p:cNvSpPr>
          <p:nvPr/>
        </p:nvSpPr>
        <p:spPr>
          <a:xfrm>
            <a:off x="609600" y="1209675"/>
            <a:ext cx="10610850" cy="19050"/>
          </a:xfrm>
          <a:prstGeom prst="rect">
            <a:avLst/>
          </a:prstGeom>
          <a:solidFill>
            <a:srgbClr val="007032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A0E0612-87D5-44D9-BF9C-13FC0DAA408F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10610850" cy="9525"/>
          </a:xfrm>
          <a:prstGeom prst="rect">
            <a:avLst/>
          </a:prstGeom>
          <a:solidFill>
            <a:srgbClr val="D7E0E7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628AA07-7A84-45FB-A6B3-1AA4B2932B9D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953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华中农业大学   ·   GIGN 文献汇报   ·   JPCL 2023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1A2AA25-898D-4A10-8154-D04356BDE58E}"/>
              </a:ext>
            </a:extLst>
          </p:cNvPr>
          <p:cNvSpPr>
            <a:spLocks noGrp="1"/>
          </p:cNvSpPr>
          <p:nvPr/>
        </p:nvSpPr>
        <p:spPr>
          <a:xfrm>
            <a:off x="10744200" y="6486525"/>
            <a:ext cx="476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r">
              <a:def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0CD07F2-0B54-49C3-88D1-4212F0586D73}"/>
              </a:ext>
            </a:extLst>
          </p:cNvPr>
          <p:cNvSpPr>
            <a:spLocks noGrp="1"/>
          </p:cNvSpPr>
          <p:nvPr/>
        </p:nvSpPr>
        <p:spPr>
          <a:xfrm>
            <a:off x="6096000" y="1581150"/>
            <a:ext cx="9525" cy="4524375"/>
          </a:xfrm>
          <a:prstGeom prst="rect">
            <a:avLst/>
          </a:prstGeom>
          <a:solidFill>
            <a:srgbClr val="D7E0E7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D20AA07-7CA5-446F-AAC7-6BF1CA2D82BF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5524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157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800DC10-68D4-4F5E-B0EA-B96F978BC3E0}"/>
              </a:ext>
            </a:extLst>
          </p:cNvPr>
          <p:cNvSpPr>
            <a:spLocks noGrp="1"/>
          </p:cNvSpPr>
          <p:nvPr/>
        </p:nvSpPr>
        <p:spPr>
          <a:xfrm>
            <a:off x="1190625" y="1504950"/>
            <a:ext cx="4095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1875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关系分通道建模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AF0BFB1-D095-4D58-8F9F-7A5596E08541}"/>
              </a:ext>
            </a:extLst>
          </p:cNvPr>
          <p:cNvSpPr>
            <a:spLocks noGrp="1"/>
          </p:cNvSpPr>
          <p:nvPr/>
        </p:nvSpPr>
        <p:spPr>
          <a:xfrm>
            <a:off x="628650" y="2105025"/>
            <a:ext cx="1143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弥补的不足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3902B83-718D-47F9-A6F9-517FF600F03E}"/>
              </a:ext>
            </a:extLst>
          </p:cNvPr>
          <p:cNvSpPr>
            <a:spLocks noGrp="1"/>
          </p:cNvSpPr>
          <p:nvPr/>
        </p:nvSpPr>
        <p:spPr>
          <a:xfrm>
            <a:off x="628650" y="238125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 fontScale="97466"/>
          </a:bodyPr>
          <a:lstStyle/>
          <a:p>
            <a:pPr algn="l">
              <a:lnSpc>
                <a:spcPct val="114000"/>
              </a:lnSpc>
              <a:buNone/>
              <a:def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同质 GNN 把共价键与跨分子接触当成同一种关系，数量较多的非共价消息可能淹没分子内部结构。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31C5F16-9F90-4E49-BF7A-930702C081BB}"/>
              </a:ext>
            </a:extLst>
          </p:cNvPr>
          <p:cNvSpPr>
            <a:spLocks noGrp="1"/>
          </p:cNvSpPr>
          <p:nvPr/>
        </p:nvSpPr>
        <p:spPr>
          <a:xfrm>
            <a:off x="628650" y="3105150"/>
            <a:ext cx="4953000" cy="9525"/>
          </a:xfrm>
          <a:prstGeom prst="rect">
            <a:avLst/>
          </a:prstGeom>
          <a:solidFill>
            <a:srgbClr val="D7E0E7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D0AD5B8-859D-4DC1-A7E9-84E1F6AF8C1F}"/>
              </a:ext>
            </a:extLst>
          </p:cNvPr>
          <p:cNvSpPr>
            <a:spLocks noGrp="1"/>
          </p:cNvSpPr>
          <p:nvPr/>
        </p:nvSpPr>
        <p:spPr>
          <a:xfrm>
            <a:off x="628650" y="3257550"/>
            <a:ext cx="1143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核心机制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D871101-A3BE-4B7F-B502-CB8CC92E8FDD}"/>
              </a:ext>
            </a:extLst>
          </p:cNvPr>
          <p:cNvSpPr>
            <a:spLocks noGrp="1"/>
          </p:cNvSpPr>
          <p:nvPr/>
        </p:nvSpPr>
        <p:spPr>
          <a:xfrm>
            <a:off x="628650" y="3581400"/>
            <a:ext cx="4953000" cy="409575"/>
          </a:xfrm>
          <a:prstGeom prst="roundRect">
            <a:avLst>
              <a:gd name="adj" fmla="val 20930"/>
            </a:avLst>
          </a:prstGeom>
          <a:solidFill>
            <a:srgbClr val="EAF3EC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D9D9AE6-50AC-4FA7-9A35-290BC33C262C}"/>
              </a:ext>
            </a:extLst>
          </p:cNvPr>
          <p:cNvSpPr>
            <a:spLocks noGrp="1"/>
          </p:cNvSpPr>
          <p:nvPr/>
        </p:nvSpPr>
        <p:spPr>
          <a:xfrm>
            <a:off x="781050" y="3648075"/>
            <a:ext cx="4648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112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共价边  E⁽ᶜᵒᵛ⁾  →  求和聚合  mᵢ⁽ᶜᵒᵛ⁾  →  更新网络  U⁽ᶜᵒᵛ⁾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253608E2-96E2-4A87-935C-63B2F7396A9D}"/>
              </a:ext>
            </a:extLst>
          </p:cNvPr>
          <p:cNvSpPr>
            <a:spLocks noGrp="1"/>
          </p:cNvSpPr>
          <p:nvPr/>
        </p:nvSpPr>
        <p:spPr>
          <a:xfrm>
            <a:off x="628650" y="4067175"/>
            <a:ext cx="4953000" cy="409575"/>
          </a:xfrm>
          <a:prstGeom prst="roundRect">
            <a:avLst>
              <a:gd name="adj" fmla="val 20930"/>
            </a:avLst>
          </a:prstGeom>
          <a:solidFill>
            <a:srgbClr val="FFF0DE"/>
          </a:solidFill>
          <a:ln w="0">
            <a:noFill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52E6A30-7394-409D-A0BB-3D7F77A65B99}"/>
              </a:ext>
            </a:extLst>
          </p:cNvPr>
          <p:cNvSpPr>
            <a:spLocks noGrp="1"/>
          </p:cNvSpPr>
          <p:nvPr/>
        </p:nvSpPr>
        <p:spPr>
          <a:xfrm>
            <a:off x="781050" y="4133850"/>
            <a:ext cx="4648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1125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rPr>
              <a:t>非共价边  E⁽ⁿᶜᵒᵛ⁾  →  求和聚合  mᵢ⁽ⁿᶜᵒᵛ⁾  →  更新网络  U⁽ⁿᶜᵒᵛ⁾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30B4488-CE67-4ACC-8613-769CCFD08F59}"/>
              </a:ext>
            </a:extLst>
          </p:cNvPr>
          <p:cNvSpPr>
            <a:spLocks noGrp="1"/>
          </p:cNvSpPr>
          <p:nvPr/>
        </p:nvSpPr>
        <p:spPr>
          <a:xfrm>
            <a:off x="628650" y="4591050"/>
            <a:ext cx="4953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defRPr sz="1200" b="1" i="0">
                <a:solidFill>
                  <a:srgbClr val="163D2C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1" i="0">
                <a:solidFill>
                  <a:srgbClr val="163D2C"/>
                </a:solidFill>
                <a:latin typeface="Cambria Math"/>
                <a:ea typeface="Cambria Math"/>
                <a:cs typeface="Cambria Math"/>
              </a:rPr>
              <a:t>hᵢ⁽ᵗ⁺¹⁾ = U⁽ᶜᵒᵛ⁾(hᵢ⁽ᵗ⁾, mᵢ⁽ᶜᵒᵛ⁾) + U⁽ⁿᶜᵒᵛ⁾(hᵢ⁽ᵗ⁾, mᵢ⁽ⁿᶜᵒᵛ⁾)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A71F654-7B61-475B-8E24-F996755F65BF}"/>
              </a:ext>
            </a:extLst>
          </p:cNvPr>
          <p:cNvSpPr>
            <a:spLocks noGrp="1"/>
          </p:cNvSpPr>
          <p:nvPr/>
        </p:nvSpPr>
        <p:spPr>
          <a:xfrm>
            <a:off x="628650" y="5095875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作用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EB9CC72-8371-4015-A086-1BCC0CFBF7A0}"/>
              </a:ext>
            </a:extLst>
          </p:cNvPr>
          <p:cNvSpPr>
            <a:spLocks noGrp="1"/>
          </p:cNvSpPr>
          <p:nvPr/>
        </p:nvSpPr>
        <p:spPr>
          <a:xfrm>
            <a:off x="628650" y="5343525"/>
            <a:ext cx="49530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保留化学骨架与跨分子接触的不同语义，减少两类消息过早混合。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AC46F89-A0AB-4BEB-9BDB-A69C91D21565}"/>
              </a:ext>
            </a:extLst>
          </p:cNvPr>
          <p:cNvSpPr>
            <a:spLocks noGrp="1"/>
          </p:cNvSpPr>
          <p:nvPr/>
        </p:nvSpPr>
        <p:spPr>
          <a:xfrm>
            <a:off x="628650" y="5905500"/>
            <a:ext cx="4953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97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边界：两个分支内部仍采用相同的求和聚合。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7F09A6B-AEEE-4057-9A6D-39DA648C9544}"/>
              </a:ext>
            </a:extLst>
          </p:cNvPr>
          <p:cNvSpPr>
            <a:spLocks noGrp="1"/>
          </p:cNvSpPr>
          <p:nvPr/>
        </p:nvSpPr>
        <p:spPr>
          <a:xfrm>
            <a:off x="6496050" y="1524000"/>
            <a:ext cx="5524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1575" b="1" i="0">
                <a:solidFill>
                  <a:srgbClr val="B38B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B38B4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FF4CB90-52F2-48AC-99D3-936188DC5341}"/>
              </a:ext>
            </a:extLst>
          </p:cNvPr>
          <p:cNvSpPr>
            <a:spLocks noGrp="1"/>
          </p:cNvSpPr>
          <p:nvPr/>
        </p:nvSpPr>
        <p:spPr>
          <a:xfrm>
            <a:off x="7077075" y="1504950"/>
            <a:ext cx="4095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1875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层内分工与参数独立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EE4D03E-F9FD-4410-8CE0-D2F2F632B617}"/>
              </a:ext>
            </a:extLst>
          </p:cNvPr>
          <p:cNvSpPr>
            <a:spLocks noGrp="1"/>
          </p:cNvSpPr>
          <p:nvPr/>
        </p:nvSpPr>
        <p:spPr>
          <a:xfrm>
            <a:off x="6515100" y="2105025"/>
            <a:ext cx="1143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关键区别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0F073CB-06BD-49BD-9C93-7EEC94101E75}"/>
              </a:ext>
            </a:extLst>
          </p:cNvPr>
          <p:cNvSpPr>
            <a:spLocks noGrp="1"/>
          </p:cNvSpPr>
          <p:nvPr/>
        </p:nvSpPr>
        <p:spPr>
          <a:xfrm>
            <a:off x="6515100" y="2381250"/>
            <a:ext cx="4762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14000"/>
              </a:lnSpc>
              <a:buNone/>
              <a:def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两个分支的消息形式和求和聚合相同，但邻居集合不同；更新函数 U⁽ᶜᵒᵛ⁾ 与 U⁽ⁿᶜᵒᵛ⁾ 分别学习。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804E60D-769C-4AC3-AE1F-D88AE3E29B4E}"/>
              </a:ext>
            </a:extLst>
          </p:cNvPr>
          <p:cNvSpPr>
            <a:spLocks noGrp="1"/>
          </p:cNvSpPr>
          <p:nvPr/>
        </p:nvSpPr>
        <p:spPr>
          <a:xfrm>
            <a:off x="6515100" y="3105150"/>
            <a:ext cx="4762500" cy="9525"/>
          </a:xfrm>
          <a:prstGeom prst="rect">
            <a:avLst/>
          </a:prstGeom>
          <a:solidFill>
            <a:srgbClr val="D7E0E7"/>
          </a:solidFill>
          <a:ln w="0">
            <a:noFill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347D14E-2D4A-49F6-81A4-32C01AB54DF7}"/>
              </a:ext>
            </a:extLst>
          </p:cNvPr>
          <p:cNvSpPr>
            <a:spLocks noGrp="1"/>
          </p:cNvSpPr>
          <p:nvPr/>
        </p:nvSpPr>
        <p:spPr>
          <a:xfrm>
            <a:off x="6515100" y="3257550"/>
            <a:ext cx="1714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更新函数 U 是什么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81EB9692-3E4D-4451-8A96-D60246F0EC65}"/>
              </a:ext>
            </a:extLst>
          </p:cNvPr>
          <p:cNvSpPr>
            <a:spLocks noGrp="1"/>
          </p:cNvSpPr>
          <p:nvPr/>
        </p:nvSpPr>
        <p:spPr>
          <a:xfrm>
            <a:off x="6515100" y="3581400"/>
            <a:ext cx="4762500" cy="409575"/>
          </a:xfrm>
          <a:prstGeom prst="roundRect">
            <a:avLst>
              <a:gd name="adj" fmla="val 20930"/>
            </a:avLst>
          </a:prstGeom>
          <a:solidFill>
            <a:srgbClr val="FFF0DE"/>
          </a:solidFill>
          <a:ln w="0">
            <a:noFill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2B30739-FD2F-41BD-8B76-C9208CB2AED1}"/>
              </a:ext>
            </a:extLst>
          </p:cNvPr>
          <p:cNvSpPr>
            <a:spLocks noGrp="1"/>
          </p:cNvSpPr>
          <p:nvPr/>
        </p:nvSpPr>
        <p:spPr>
          <a:xfrm>
            <a:off x="6667500" y="3648075"/>
            <a:ext cx="4457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defRPr sz="1200" b="1" i="0">
                <a:solidFill>
                  <a:srgbClr val="9B5B18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1" i="0">
                <a:solidFill>
                  <a:srgbClr val="9B5B18"/>
                </a:solidFill>
                <a:latin typeface="Cambria Math"/>
                <a:ea typeface="Cambria Math"/>
                <a:cs typeface="Cambria Math"/>
              </a:rPr>
              <a:t>U⁽ᶜᵒᵛ⁾(hᵢ,mᵢ) 与 U⁽ⁿᶜᵒᵛ⁾(hᵢ,mᵢ)：两个独立 MLP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938E915-6E6A-4769-99DB-D7DDC6FF6911}"/>
              </a:ext>
            </a:extLst>
          </p:cNvPr>
          <p:cNvSpPr>
            <a:spLocks noGrp="1"/>
          </p:cNvSpPr>
          <p:nvPr/>
        </p:nvSpPr>
        <p:spPr>
          <a:xfrm>
            <a:off x="6515100" y="4143375"/>
            <a:ext cx="4762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defRPr sz="1350" b="1" i="0">
                <a:solidFill>
                  <a:srgbClr val="163D2C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 i="0">
                <a:solidFill>
                  <a:srgbClr val="163D2C"/>
                </a:solidFill>
                <a:latin typeface="Cambria Math"/>
                <a:ea typeface="Cambria Math"/>
                <a:cs typeface="Cambria Math"/>
              </a:rPr>
              <a:t>消息函数 → 求和聚合 → MLP 更新 → 两分支相加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ED334C06-770F-4B37-8874-5467DFCC8771}"/>
              </a:ext>
            </a:extLst>
          </p:cNvPr>
          <p:cNvSpPr>
            <a:spLocks noGrp="1"/>
          </p:cNvSpPr>
          <p:nvPr/>
        </p:nvSpPr>
        <p:spPr>
          <a:xfrm>
            <a:off x="6515100" y="4591050"/>
            <a:ext cx="4762500" cy="428625"/>
          </a:xfrm>
          <a:prstGeom prst="roundRect">
            <a:avLst>
              <a:gd name="adj" fmla="val 20000"/>
            </a:avLst>
          </a:prstGeom>
          <a:solidFill>
            <a:srgbClr val="EAF3EC"/>
          </a:solidFill>
          <a:ln w="0">
            <a:noFill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E693D47-894F-4EBC-84F7-76E88C0B5B4B}"/>
              </a:ext>
            </a:extLst>
          </p:cNvPr>
          <p:cNvSpPr>
            <a:spLocks noGrp="1"/>
          </p:cNvSpPr>
          <p:nvPr/>
        </p:nvSpPr>
        <p:spPr>
          <a:xfrm>
            <a:off x="6667500" y="4657725"/>
            <a:ext cx="44577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defRPr sz="1275" b="1" i="0">
                <a:solidFill>
                  <a:srgbClr val="007032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1" i="0">
                <a:solidFill>
                  <a:srgbClr val="007032"/>
                </a:solidFill>
                <a:latin typeface="Cambria Math"/>
                <a:ea typeface="Cambria Math"/>
                <a:cs typeface="Cambria Math"/>
              </a:rPr>
              <a:t>第1层 → 第2层 → 第3层：逐步扩大多跳感受野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A6E88D5-54C6-4E8E-B526-A61C395E5171}"/>
              </a:ext>
            </a:extLst>
          </p:cNvPr>
          <p:cNvSpPr>
            <a:spLocks noGrp="1"/>
          </p:cNvSpPr>
          <p:nvPr/>
        </p:nvSpPr>
        <p:spPr>
          <a:xfrm>
            <a:off x="6515100" y="5095875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作用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3D32BB5-B5EC-4E01-A343-682A68D9DC66}"/>
              </a:ext>
            </a:extLst>
          </p:cNvPr>
          <p:cNvSpPr>
            <a:spLocks noGrp="1"/>
          </p:cNvSpPr>
          <p:nvPr/>
        </p:nvSpPr>
        <p:spPr>
          <a:xfrm>
            <a:off x="6515100" y="5343525"/>
            <a:ext cx="4762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消息函数决定“从邻居取什么”；求和负责汇总；U 结合原状态与聚合消息完成更新。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9A1EA33-0D31-4ABC-BF4F-7FB6A0841F52}"/>
              </a:ext>
            </a:extLst>
          </p:cNvPr>
          <p:cNvSpPr>
            <a:spLocks noGrp="1"/>
          </p:cNvSpPr>
          <p:nvPr/>
        </p:nvSpPr>
        <p:spPr>
          <a:xfrm>
            <a:off x="6515100" y="5905500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975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rPr>
              <a:t>原文仅说明 U 由 MLP 实现；未展开内部结构，也未比较 2 / 3 / 4 层。</a:t>
            </a:r>
          </a:p>
        </p:txBody>
      </p:sp>
    </p:spTree>
    <p:extLst>
      <p:ext uri="{BB962C8B-B14F-4D97-AF65-F5344CB8AC3E}">
        <p14:creationId xmlns:p14="http://schemas.microsoft.com/office/powerpoint/2010/main" val="1964786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74D5BA85-B4DE-4655-9BFE-9B052744E9FF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华中农业大学 / 文献汇报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A54C3D8-CED5-4271-B100-53666D545C1B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10668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25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创新二：RBF距离编码 + 哈达玛积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1C26C1E-B8EB-46A8-A2DE-7648D71C4FC8}"/>
              </a:ext>
            </a:extLst>
          </p:cNvPr>
          <p:cNvSpPr>
            <a:spLocks noGrp="1"/>
          </p:cNvSpPr>
          <p:nvPr/>
        </p:nvSpPr>
        <p:spPr>
          <a:xfrm>
            <a:off x="609600" y="1209675"/>
            <a:ext cx="10610850" cy="19050"/>
          </a:xfrm>
          <a:prstGeom prst="rect">
            <a:avLst/>
          </a:prstGeom>
          <a:solidFill>
            <a:srgbClr val="007032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F3777D2-5161-48A9-B91F-5C90E871EC19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10610850" cy="9525"/>
          </a:xfrm>
          <a:prstGeom prst="rect">
            <a:avLst/>
          </a:prstGeom>
          <a:solidFill>
            <a:srgbClr val="D7E0E7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CB1067A-3137-415C-942B-F313D29D6353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953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华中农业大学   ·   GIGN 文献汇报   ·   JPCL 2023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5A67893-C859-4A44-BD50-A148652BA286}"/>
              </a:ext>
            </a:extLst>
          </p:cNvPr>
          <p:cNvSpPr>
            <a:spLocks noGrp="1"/>
          </p:cNvSpPr>
          <p:nvPr/>
        </p:nvSpPr>
        <p:spPr>
          <a:xfrm>
            <a:off x="10744200" y="6486525"/>
            <a:ext cx="476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r">
              <a:def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FF89044-C2AD-4978-B668-29AFC6A6DEDA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4476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6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从三维坐标到距离调制消息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96B56E8E-CB61-4210-9A2A-84068720BF4F}"/>
              </a:ext>
            </a:extLst>
          </p:cNvPr>
          <p:cNvSpPr>
            <a:spLocks noGrp="1"/>
          </p:cNvSpPr>
          <p:nvPr/>
        </p:nvSpPr>
        <p:spPr>
          <a:xfrm>
            <a:off x="609600" y="1914525"/>
            <a:ext cx="1381125" cy="78105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D7E0E7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9002B97-F890-4600-9C97-C642D0991B96}"/>
              </a:ext>
            </a:extLst>
          </p:cNvPr>
          <p:cNvSpPr>
            <a:spLocks noGrp="1"/>
          </p:cNvSpPr>
          <p:nvPr/>
        </p:nvSpPr>
        <p:spPr>
          <a:xfrm>
            <a:off x="685800" y="2009775"/>
            <a:ext cx="122872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defRPr sz="10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坐标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95B1D3E-9F57-41F5-A3B4-ECC0D75A9664}"/>
              </a:ext>
            </a:extLst>
          </p:cNvPr>
          <p:cNvSpPr>
            <a:spLocks noGrp="1"/>
          </p:cNvSpPr>
          <p:nvPr/>
        </p:nvSpPr>
        <p:spPr>
          <a:xfrm>
            <a:off x="685800" y="2314575"/>
            <a:ext cx="12287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defRPr sz="1125" b="1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rᵢ，rⱼ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724A080-7FEA-42A5-A500-8D9BF608823A}"/>
              </a:ext>
            </a:extLst>
          </p:cNvPr>
          <p:cNvSpPr>
            <a:spLocks noGrp="1"/>
          </p:cNvSpPr>
          <p:nvPr/>
        </p:nvSpPr>
        <p:spPr>
          <a:xfrm>
            <a:off x="2019300" y="2152650"/>
            <a:ext cx="2952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defRPr sz="1575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031DCA0E-CC2F-4E9F-8EDB-C1990A208614}"/>
              </a:ext>
            </a:extLst>
          </p:cNvPr>
          <p:cNvSpPr>
            <a:spLocks noGrp="1"/>
          </p:cNvSpPr>
          <p:nvPr/>
        </p:nvSpPr>
        <p:spPr>
          <a:xfrm>
            <a:off x="2305050" y="1914525"/>
            <a:ext cx="1714500" cy="781050"/>
          </a:xfrm>
          <a:prstGeom prst="roundRect">
            <a:avLst>
              <a:gd name="adj" fmla="val 14634"/>
            </a:avLst>
          </a:prstGeom>
          <a:solidFill>
            <a:srgbClr val="FFF0DE"/>
          </a:solidFill>
          <a:ln w="9525">
            <a:solidFill>
              <a:srgbClr val="D7E0E7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800995E-7C3F-413B-AA72-6D2A6BEDB3E1}"/>
              </a:ext>
            </a:extLst>
          </p:cNvPr>
          <p:cNvSpPr>
            <a:spLocks noGrp="1"/>
          </p:cNvSpPr>
          <p:nvPr/>
        </p:nvSpPr>
        <p:spPr>
          <a:xfrm>
            <a:off x="2381250" y="2009775"/>
            <a:ext cx="15621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defRPr sz="1050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rPr>
              <a:t>距离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EF344CA-0B9B-4B67-9C17-A7BBD0DF0F2F}"/>
              </a:ext>
            </a:extLst>
          </p:cNvPr>
          <p:cNvSpPr>
            <a:spLocks noGrp="1"/>
          </p:cNvSpPr>
          <p:nvPr/>
        </p:nvSpPr>
        <p:spPr>
          <a:xfrm>
            <a:off x="2381250" y="2314575"/>
            <a:ext cx="15621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defRPr sz="1125" b="1" i="0">
                <a:solidFill>
                  <a:srgbClr val="172A3A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1" i="0">
                <a:solidFill>
                  <a:srgbClr val="172A3A"/>
                </a:solidFill>
                <a:latin typeface="Cambria Math"/>
                <a:ea typeface="Cambria Math"/>
                <a:cs typeface="Cambria Math"/>
              </a:rPr>
              <a:t>dⱼᵢ = ‖rⱼ−rᵢ‖₂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8110493-68C7-4795-90FE-D07F1C4C527D}"/>
              </a:ext>
            </a:extLst>
          </p:cNvPr>
          <p:cNvSpPr>
            <a:spLocks noGrp="1"/>
          </p:cNvSpPr>
          <p:nvPr/>
        </p:nvSpPr>
        <p:spPr>
          <a:xfrm>
            <a:off x="4048125" y="2152650"/>
            <a:ext cx="2952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defRPr sz="1575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C34CD3AD-9CBC-4682-A54A-E8D6E6F611D9}"/>
              </a:ext>
            </a:extLst>
          </p:cNvPr>
          <p:cNvSpPr>
            <a:spLocks noGrp="1"/>
          </p:cNvSpPr>
          <p:nvPr/>
        </p:nvSpPr>
        <p:spPr>
          <a:xfrm>
            <a:off x="4343400" y="1914525"/>
            <a:ext cx="1381125" cy="781050"/>
          </a:xfrm>
          <a:prstGeom prst="roundRect">
            <a:avLst>
              <a:gd name="adj" fmla="val 14634"/>
            </a:avLst>
          </a:prstGeom>
          <a:solidFill>
            <a:srgbClr val="EAF3EC"/>
          </a:solidFill>
          <a:ln w="9525">
            <a:solidFill>
              <a:srgbClr val="D7E0E7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4C72970-92A9-451F-97E2-76B8775706AB}"/>
              </a:ext>
            </a:extLst>
          </p:cNvPr>
          <p:cNvSpPr>
            <a:spLocks noGrp="1"/>
          </p:cNvSpPr>
          <p:nvPr/>
        </p:nvSpPr>
        <p:spPr>
          <a:xfrm>
            <a:off x="4419600" y="2009775"/>
            <a:ext cx="122872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defRPr sz="105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RBF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3824781-424A-4C74-AA18-3131D0C89649}"/>
              </a:ext>
            </a:extLst>
          </p:cNvPr>
          <p:cNvSpPr>
            <a:spLocks noGrp="1"/>
          </p:cNvSpPr>
          <p:nvPr/>
        </p:nvSpPr>
        <p:spPr>
          <a:xfrm>
            <a:off x="4419600" y="2314575"/>
            <a:ext cx="12287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defRPr sz="1125" b="1" i="0">
                <a:solidFill>
                  <a:srgbClr val="172A3A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1" i="0">
                <a:solidFill>
                  <a:srgbClr val="172A3A"/>
                </a:solidFill>
                <a:latin typeface="Cambria Math"/>
                <a:ea typeface="Cambria Math"/>
                <a:cs typeface="Cambria Math"/>
              </a:rPr>
              <a:t>1维 → K维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98F6AB9-6F4E-4607-9FAD-2519D00D0DBC}"/>
              </a:ext>
            </a:extLst>
          </p:cNvPr>
          <p:cNvSpPr>
            <a:spLocks noGrp="1"/>
          </p:cNvSpPr>
          <p:nvPr/>
        </p:nvSpPr>
        <p:spPr>
          <a:xfrm>
            <a:off x="5753100" y="2152650"/>
            <a:ext cx="2952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defRPr sz="1575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D7AEC927-947F-44BA-AF0E-92A5B6CD54DD}"/>
              </a:ext>
            </a:extLst>
          </p:cNvPr>
          <p:cNvSpPr>
            <a:spLocks noGrp="1"/>
          </p:cNvSpPr>
          <p:nvPr/>
        </p:nvSpPr>
        <p:spPr>
          <a:xfrm>
            <a:off x="6048375" y="1914525"/>
            <a:ext cx="1381125" cy="78105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D7E0E7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36BAD28-BF9E-49A9-9ABB-13DAE077AF31}"/>
              </a:ext>
            </a:extLst>
          </p:cNvPr>
          <p:cNvSpPr>
            <a:spLocks noGrp="1"/>
          </p:cNvSpPr>
          <p:nvPr/>
        </p:nvSpPr>
        <p:spPr>
          <a:xfrm>
            <a:off x="6124575" y="2009775"/>
            <a:ext cx="122872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defRPr sz="10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Linear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1A3A55E-1C81-4A24-A5F1-BDCBAB39837C}"/>
              </a:ext>
            </a:extLst>
          </p:cNvPr>
          <p:cNvSpPr>
            <a:spLocks noGrp="1"/>
          </p:cNvSpPr>
          <p:nvPr/>
        </p:nvSpPr>
        <p:spPr>
          <a:xfrm>
            <a:off x="6124575" y="2314575"/>
            <a:ext cx="12287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defRPr sz="1125" b="1" i="0">
                <a:solidFill>
                  <a:srgbClr val="172A3A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1" i="0">
                <a:solidFill>
                  <a:srgbClr val="172A3A"/>
                </a:solidFill>
                <a:latin typeface="Cambria Math"/>
                <a:ea typeface="Cambria Math"/>
                <a:cs typeface="Cambria Math"/>
              </a:rPr>
              <a:t>K维 → m维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FF8807B-6200-4E56-AEED-BD27D931F50C}"/>
              </a:ext>
            </a:extLst>
          </p:cNvPr>
          <p:cNvSpPr>
            <a:spLocks noGrp="1"/>
          </p:cNvSpPr>
          <p:nvPr/>
        </p:nvSpPr>
        <p:spPr>
          <a:xfrm>
            <a:off x="7458075" y="2152650"/>
            <a:ext cx="2952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defRPr sz="1575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F8A7A721-97B3-4E0E-A440-0E4B44B957D6}"/>
              </a:ext>
            </a:extLst>
          </p:cNvPr>
          <p:cNvSpPr>
            <a:spLocks noGrp="1"/>
          </p:cNvSpPr>
          <p:nvPr/>
        </p:nvSpPr>
        <p:spPr>
          <a:xfrm>
            <a:off x="7753350" y="1914525"/>
            <a:ext cx="1476375" cy="781050"/>
          </a:xfrm>
          <a:prstGeom prst="roundRect">
            <a:avLst>
              <a:gd name="adj" fmla="val 14634"/>
            </a:avLst>
          </a:prstGeom>
          <a:solidFill>
            <a:srgbClr val="EAF3EC"/>
          </a:solidFill>
          <a:ln w="9525">
            <a:solidFill>
              <a:srgbClr val="D7E0E7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93FBDF3-C80F-4A7C-A682-0F9E7699E315}"/>
              </a:ext>
            </a:extLst>
          </p:cNvPr>
          <p:cNvSpPr>
            <a:spLocks noGrp="1"/>
          </p:cNvSpPr>
          <p:nvPr/>
        </p:nvSpPr>
        <p:spPr>
          <a:xfrm>
            <a:off x="7829550" y="2009775"/>
            <a:ext cx="13239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defRPr sz="105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距离权重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0AB5BCF-CCD9-42DF-8065-7B87F796970B}"/>
              </a:ext>
            </a:extLst>
          </p:cNvPr>
          <p:cNvSpPr>
            <a:spLocks noGrp="1"/>
          </p:cNvSpPr>
          <p:nvPr/>
        </p:nvSpPr>
        <p:spPr>
          <a:xfrm>
            <a:off x="7829550" y="2314575"/>
            <a:ext cx="13239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defRPr sz="1125" b="1" i="0">
                <a:solidFill>
                  <a:srgbClr val="172A3A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1" i="0">
                <a:solidFill>
                  <a:srgbClr val="172A3A"/>
                </a:solidFill>
                <a:latin typeface="Cambria Math"/>
                <a:ea typeface="Cambria Math"/>
                <a:cs typeface="Cambria Math"/>
              </a:rPr>
              <a:t>λ(dⱼᵢ)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6523F49-6BC4-40D7-BB8F-9E1453AF9C29}"/>
              </a:ext>
            </a:extLst>
          </p:cNvPr>
          <p:cNvSpPr>
            <a:spLocks noGrp="1"/>
          </p:cNvSpPr>
          <p:nvPr/>
        </p:nvSpPr>
        <p:spPr>
          <a:xfrm>
            <a:off x="9258300" y="2152650"/>
            <a:ext cx="2952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defRPr sz="1575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71131F1F-F4B5-427F-BF78-2458D0C3D505}"/>
              </a:ext>
            </a:extLst>
          </p:cNvPr>
          <p:cNvSpPr>
            <a:spLocks noGrp="1"/>
          </p:cNvSpPr>
          <p:nvPr/>
        </p:nvSpPr>
        <p:spPr>
          <a:xfrm>
            <a:off x="9553575" y="1914525"/>
            <a:ext cx="1666875" cy="781050"/>
          </a:xfrm>
          <a:prstGeom prst="roundRect">
            <a:avLst>
              <a:gd name="adj" fmla="val 14634"/>
            </a:avLst>
          </a:prstGeom>
          <a:solidFill>
            <a:srgbClr val="FFF0DE"/>
          </a:solidFill>
          <a:ln w="9525">
            <a:solidFill>
              <a:srgbClr val="D7E0E7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A4C48DA-BE08-4726-A5A7-3F02B3BEE41D}"/>
              </a:ext>
            </a:extLst>
          </p:cNvPr>
          <p:cNvSpPr>
            <a:spLocks noGrp="1"/>
          </p:cNvSpPr>
          <p:nvPr/>
        </p:nvSpPr>
        <p:spPr>
          <a:xfrm>
            <a:off x="9629775" y="2009775"/>
            <a:ext cx="15144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defRPr sz="1050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rPr>
              <a:t>消息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CDF9317-8737-4209-AC08-92F8FFC3D123}"/>
              </a:ext>
            </a:extLst>
          </p:cNvPr>
          <p:cNvSpPr>
            <a:spLocks noGrp="1"/>
          </p:cNvSpPr>
          <p:nvPr/>
        </p:nvSpPr>
        <p:spPr>
          <a:xfrm>
            <a:off x="9629775" y="2314575"/>
            <a:ext cx="15144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defRPr sz="1125" b="1" i="0">
                <a:solidFill>
                  <a:srgbClr val="172A3A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1" i="0">
                <a:solidFill>
                  <a:srgbClr val="172A3A"/>
                </a:solidFill>
                <a:latin typeface="Cambria Math"/>
                <a:ea typeface="Cambria Math"/>
                <a:cs typeface="Cambria Math"/>
              </a:rPr>
              <a:t>hⱼ⁽ᵗ⁾ ⊙ λ(dⱼᵢ)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472B8A2-2F69-40A1-A53E-9E53E4712751}"/>
              </a:ext>
            </a:extLst>
          </p:cNvPr>
          <p:cNvSpPr>
            <a:spLocks noGrp="1"/>
          </p:cNvSpPr>
          <p:nvPr/>
        </p:nvSpPr>
        <p:spPr>
          <a:xfrm>
            <a:off x="609600" y="2819400"/>
            <a:ext cx="106108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defRPr sz="112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5 Å 阈值只决定是否连边；RBF进一步编码已连边原子对在不同距离下应传递多少信息。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BD90EE13-9EA8-4E0A-929F-E51D364FB500}"/>
              </a:ext>
            </a:extLst>
          </p:cNvPr>
          <p:cNvSpPr>
            <a:spLocks noGrp="1"/>
          </p:cNvSpPr>
          <p:nvPr/>
        </p:nvSpPr>
        <p:spPr>
          <a:xfrm>
            <a:off x="609600" y="3286125"/>
            <a:ext cx="3333750" cy="2181225"/>
          </a:xfrm>
          <a:prstGeom prst="roundRect">
            <a:avLst>
              <a:gd name="adj" fmla="val 6114"/>
            </a:avLst>
          </a:prstGeom>
          <a:solidFill>
            <a:srgbClr val="FFFFFF"/>
          </a:solidFill>
          <a:ln w="9525">
            <a:solidFill>
              <a:srgbClr val="D7E0E7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87DDE97-4685-4D60-A759-BE29ACC52BB4}"/>
              </a:ext>
            </a:extLst>
          </p:cNvPr>
          <p:cNvSpPr>
            <a:spLocks noGrp="1"/>
          </p:cNvSpPr>
          <p:nvPr/>
        </p:nvSpPr>
        <p:spPr>
          <a:xfrm>
            <a:off x="800100" y="3476625"/>
            <a:ext cx="2952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3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为什么不只用绝对距离？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8CABF11-D708-4018-8EEF-90BB174C5E3D}"/>
              </a:ext>
            </a:extLst>
          </p:cNvPr>
          <p:cNvSpPr>
            <a:spLocks noGrp="1"/>
          </p:cNvSpPr>
          <p:nvPr/>
        </p:nvSpPr>
        <p:spPr>
          <a:xfrm>
            <a:off x="800100" y="3905250"/>
            <a:ext cx="295275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1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原始距离当然可以直接输入模型，但它只有一个标量。简单线性变换难以表达“过近排斥—合适最强—过远减弱”等非单调距离效应。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067F4BA-AE84-4AE5-98EB-597D3C2E6FC6}"/>
              </a:ext>
            </a:extLst>
          </p:cNvPr>
          <p:cNvSpPr>
            <a:spLocks noGrp="1"/>
          </p:cNvSpPr>
          <p:nvPr/>
        </p:nvSpPr>
        <p:spPr>
          <a:xfrm>
            <a:off x="800100" y="4762500"/>
            <a:ext cx="2952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 fontScale="92783"/>
          </a:bodyPr>
          <a:lstStyle/>
          <a:p>
            <a:pPr algn="l">
              <a:defRPr sz="112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多个重叠高斯中心提供平滑的局部响应：相近距离得到相近编码，也更容易组合出复杂距离函数。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1D6D3C23-6EC6-4807-8F2D-40899278D31E}"/>
              </a:ext>
            </a:extLst>
          </p:cNvPr>
          <p:cNvSpPr>
            <a:spLocks noGrp="1"/>
          </p:cNvSpPr>
          <p:nvPr/>
        </p:nvSpPr>
        <p:spPr>
          <a:xfrm>
            <a:off x="4105275" y="3286125"/>
            <a:ext cx="3333750" cy="2181225"/>
          </a:xfrm>
          <a:prstGeom prst="roundRect">
            <a:avLst>
              <a:gd name="adj" fmla="val 6114"/>
            </a:avLst>
          </a:prstGeom>
          <a:solidFill>
            <a:srgbClr val="EAF3EC"/>
          </a:solidFill>
          <a:ln w="0">
            <a:noFill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200FC85-4005-4B57-B59F-4FFC4218EF1C}"/>
              </a:ext>
            </a:extLst>
          </p:cNvPr>
          <p:cNvSpPr>
            <a:spLocks noGrp="1"/>
          </p:cNvSpPr>
          <p:nvPr/>
        </p:nvSpPr>
        <p:spPr>
          <a:xfrm>
            <a:off x="4295775" y="3476625"/>
            <a:ext cx="2952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3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为什么使用哈达玛积？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DAAA962-1E8D-49AC-BD84-2B3172686F6D}"/>
              </a:ext>
            </a:extLst>
          </p:cNvPr>
          <p:cNvSpPr>
            <a:spLocks noGrp="1"/>
          </p:cNvSpPr>
          <p:nvPr/>
        </p:nvSpPr>
        <p:spPr>
          <a:xfrm>
            <a:off x="4295775" y="3905250"/>
            <a:ext cx="29527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1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 dirty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Linear 把 K 维 RBF </a:t>
            </a:r>
            <a:r>
              <a:rPr sz="1125" b="0" i="0" dirty="0" err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投影为与</a:t>
            </a:r>
            <a:r>
              <a:rPr sz="1125" b="0" i="0" dirty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 hⱼ </a:t>
            </a:r>
            <a:r>
              <a:rPr sz="1125" b="0" i="0" dirty="0" err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相同的</a:t>
            </a:r>
            <a:r>
              <a:rPr sz="1125" b="0" i="0" dirty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 m </a:t>
            </a:r>
            <a:r>
              <a:rPr sz="1125" b="0" i="0" dirty="0" err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维，λ</a:t>
            </a:r>
            <a:r>
              <a:rPr sz="1125" b="0" i="0" dirty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(d) </a:t>
            </a:r>
            <a:r>
              <a:rPr sz="1125" b="0" i="0" dirty="0" err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因而可以逐通道调节邻居原子特征</a:t>
            </a:r>
            <a:r>
              <a:rPr sz="1125" b="0" i="0" dirty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32078E8-369D-45E7-A857-8D5F09E0B401}"/>
              </a:ext>
            </a:extLst>
          </p:cNvPr>
          <p:cNvSpPr>
            <a:spLocks noGrp="1"/>
          </p:cNvSpPr>
          <p:nvPr/>
        </p:nvSpPr>
        <p:spPr>
          <a:xfrm>
            <a:off x="4295775" y="4686300"/>
            <a:ext cx="29527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12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它保留 m 维消息；不会像点积那样压成标量，也不会像直接乘距离标量那样统一缩放所有通道。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44A9B5FD-968A-4E96-8C01-4E0074BEFC88}"/>
              </a:ext>
            </a:extLst>
          </p:cNvPr>
          <p:cNvSpPr>
            <a:spLocks noGrp="1"/>
          </p:cNvSpPr>
          <p:nvPr/>
        </p:nvSpPr>
        <p:spPr>
          <a:xfrm>
            <a:off x="7600950" y="3286125"/>
            <a:ext cx="3619500" cy="2181225"/>
          </a:xfrm>
          <a:prstGeom prst="roundRect">
            <a:avLst>
              <a:gd name="adj" fmla="val 6114"/>
            </a:avLst>
          </a:prstGeom>
          <a:solidFill>
            <a:srgbClr val="FFF0DE"/>
          </a:solidFill>
          <a:ln w="0">
            <a:noFill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F720957-C399-45ED-9263-9BC1C6F49FA9}"/>
              </a:ext>
            </a:extLst>
          </p:cNvPr>
          <p:cNvSpPr>
            <a:spLocks noGrp="1"/>
          </p:cNvSpPr>
          <p:nvPr/>
        </p:nvSpPr>
        <p:spPr>
          <a:xfrm>
            <a:off x="7791450" y="3476625"/>
            <a:ext cx="3238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3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与拼接有什么区别？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2AE01F9-6328-4083-AFAF-6DD519B13C88}"/>
              </a:ext>
            </a:extLst>
          </p:cNvPr>
          <p:cNvSpPr>
            <a:spLocks noGrp="1"/>
          </p:cNvSpPr>
          <p:nvPr/>
        </p:nvSpPr>
        <p:spPr>
          <a:xfrm>
            <a:off x="7791450" y="3905250"/>
            <a:ext cx="3238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0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只拼接后接线性层：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DD1C8C1-9CAD-4F08-9B49-82844E7CF82F}"/>
              </a:ext>
            </a:extLst>
          </p:cNvPr>
          <p:cNvSpPr>
            <a:spLocks noGrp="1"/>
          </p:cNvSpPr>
          <p:nvPr/>
        </p:nvSpPr>
        <p:spPr>
          <a:xfrm>
            <a:off x="7791450" y="4171950"/>
            <a:ext cx="3238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defRPr sz="1275" b="1" i="0">
                <a:solidFill>
                  <a:srgbClr val="9B5B18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1" i="0">
                <a:solidFill>
                  <a:srgbClr val="9B5B18"/>
                </a:solidFill>
                <a:latin typeface="Cambria Math"/>
                <a:ea typeface="Cambria Math"/>
                <a:cs typeface="Cambria Math"/>
              </a:rPr>
              <a:t>W[hⱼ ∥ λ] = W_h hⱼ + W_d λ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C758D14A-8A97-4498-89FC-762F57D8F88E}"/>
              </a:ext>
            </a:extLst>
          </p:cNvPr>
          <p:cNvSpPr>
            <a:spLocks noGrp="1"/>
          </p:cNvSpPr>
          <p:nvPr/>
        </p:nvSpPr>
        <p:spPr>
          <a:xfrm>
            <a:off x="7791450" y="4591050"/>
            <a:ext cx="323850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 fontScale="94246" lnSpcReduction="10000"/>
          </a:bodyPr>
          <a:lstStyle/>
          <a:p>
            <a:pPr algn="l">
              <a:lnSpc>
                <a:spcPct val="112000"/>
              </a:lnSpc>
              <a:buNone/>
              <a:defRPr sz="11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 dirty="0" err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它分别加权两部分再相加，没有显式的输入乘法项。MLP可以学习更复杂交互，但参数与过拟合风险也会增加</a:t>
            </a:r>
            <a:r>
              <a:rPr sz="1125" b="0" i="0" dirty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C1E3A23E-0F89-4778-B3F5-B8A26297F880}"/>
              </a:ext>
            </a:extLst>
          </p:cNvPr>
          <p:cNvSpPr>
            <a:spLocks noGrp="1"/>
          </p:cNvSpPr>
          <p:nvPr/>
        </p:nvSpPr>
        <p:spPr>
          <a:xfrm>
            <a:off x="609600" y="5657850"/>
            <a:ext cx="10610850" cy="457200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D7E0E7"/>
            </a:solidFill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2588A63-9D07-4CA2-AB05-AFE8E17E4179}"/>
              </a:ext>
            </a:extLst>
          </p:cNvPr>
          <p:cNvSpPr>
            <a:spLocks noGrp="1"/>
          </p:cNvSpPr>
          <p:nvPr/>
        </p:nvSpPr>
        <p:spPr>
          <a:xfrm>
            <a:off x="781050" y="5762625"/>
            <a:ext cx="102679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defRPr sz="1125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125" b="1" i="0" dirty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我的提议</a:t>
            </a:r>
            <a:r>
              <a:rPr sz="1125" b="1" i="0" dirty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：</a:t>
            </a:r>
            <a:r>
              <a:rPr sz="1125" b="1" i="0" dirty="0" err="1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提前计算</a:t>
            </a:r>
            <a:r>
              <a:rPr sz="1125" b="1" i="0" dirty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 hⱼ ⊙ λ(d)，</a:t>
            </a:r>
            <a:r>
              <a:rPr sz="1125" b="1" i="0" dirty="0" err="1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用较少参数加入“距离调节特征”的结构先验</a:t>
            </a:r>
            <a:r>
              <a:rPr sz="1125" b="1" i="0" dirty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；</a:t>
            </a:r>
          </a:p>
        </p:txBody>
      </p:sp>
    </p:spTree>
    <p:extLst>
      <p:ext uri="{BB962C8B-B14F-4D97-AF65-F5344CB8AC3E}">
        <p14:creationId xmlns:p14="http://schemas.microsoft.com/office/powerpoint/2010/main" val="438891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B9C63E9B-C16E-433A-97CE-19C6FB60A9E6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华中农业大学 / 文献汇报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8F5E86D-1014-45AA-B33C-667D931ED0E9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10668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25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研究结果：主基准性能与实验设置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7295D10-4909-47FF-90D9-357D6736FAED}"/>
              </a:ext>
            </a:extLst>
          </p:cNvPr>
          <p:cNvSpPr>
            <a:spLocks noGrp="1"/>
          </p:cNvSpPr>
          <p:nvPr/>
        </p:nvSpPr>
        <p:spPr>
          <a:xfrm>
            <a:off x="609600" y="1209675"/>
            <a:ext cx="10610850" cy="19050"/>
          </a:xfrm>
          <a:prstGeom prst="rect">
            <a:avLst/>
          </a:prstGeom>
          <a:solidFill>
            <a:srgbClr val="007032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6DA2F88-6FC8-4A9A-A6BF-D3B90E6282DA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10610850" cy="9525"/>
          </a:xfrm>
          <a:prstGeom prst="rect">
            <a:avLst/>
          </a:prstGeom>
          <a:solidFill>
            <a:srgbClr val="D7E0E7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49B887F-1869-459D-8F89-0F1394B47A53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953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华中农业大学   ·   GIGN 文献汇报   ·   JPCL 2023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50565AA-D69F-4FBC-B043-A8060190ACBD}"/>
              </a:ext>
            </a:extLst>
          </p:cNvPr>
          <p:cNvSpPr>
            <a:spLocks noGrp="1"/>
          </p:cNvSpPr>
          <p:nvPr/>
        </p:nvSpPr>
        <p:spPr>
          <a:xfrm>
            <a:off x="10744200" y="6486525"/>
            <a:ext cx="476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r">
              <a:def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0AFA240-A02B-41A0-9EEE-CF3498BFABCA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4381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725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代表模型对比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9AEA73C-A7C5-4B99-BA1B-65376AEF7EF6}"/>
              </a:ext>
            </a:extLst>
          </p:cNvPr>
          <p:cNvSpPr>
            <a:spLocks noGrp="1"/>
          </p:cNvSpPr>
          <p:nvPr/>
        </p:nvSpPr>
        <p:spPr>
          <a:xfrm>
            <a:off x="609600" y="1781175"/>
            <a:ext cx="75247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每格为 RMSE / Rₚ，分别越低 / 越高越好</a:t>
            </a:r>
          </a:p>
        </p:txBody>
      </p:sp>
      <p:graphicFrame>
        <p:nvGraphicFramePr>
          <p:cNvPr id="29" name="表格 28"/>
          <p:cNvGraphicFramePr/>
          <p:nvPr/>
        </p:nvGraphicFramePr>
        <p:xfrm>
          <a:off x="609600" y="2133600"/>
          <a:ext cx="7239000" cy="2980376"/>
        </p:xfrm>
        <a:graphic>
          <a:graphicData uri="http://schemas.openxmlformats.org/drawingml/2006/table">
            <a:tbl>
              <a:tblPr/>
              <a:tblGrid>
                <a:gridCol w="1466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4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4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7188">
                <a:tc>
                  <a:txBody>
                    <a:bodyPr/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</a:t>
                      </a:r>
                    </a:p>
                  </a:txBody>
                  <a:tcPr anchor="ctr">
                    <a:solidFill>
                      <a:srgbClr val="0070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2013 core</a:t>
                      </a:r>
                    </a:p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 = 107</a:t>
                      </a:r>
                    </a:p>
                  </a:txBody>
                  <a:tcPr anchor="ctr">
                    <a:solidFill>
                      <a:srgbClr val="0070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2016 core</a:t>
                      </a:r>
                    </a:p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 = 285</a:t>
                      </a:r>
                    </a:p>
                  </a:txBody>
                  <a:tcPr anchor="ctr">
                    <a:solidFill>
                      <a:srgbClr val="0070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2019 holdout</a:t>
                      </a:r>
                    </a:p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 = 4,366</a:t>
                      </a:r>
                    </a:p>
                  </a:txBody>
                  <a:tcPr anchor="ctr">
                    <a:solidFill>
                      <a:srgbClr val="007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188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DeepDTA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1.639 / 0.718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1.357 / 0.785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1.485 / 0.586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188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Pafnucy</a:t>
                      </a:r>
                    </a:p>
                  </a:txBody>
                  <a:tcPr anchor="ctr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1.517 / 0.783</a:t>
                      </a:r>
                    </a:p>
                  </a:txBody>
                  <a:tcPr anchor="ctr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1.450 / 0.769</a:t>
                      </a:r>
                    </a:p>
                  </a:txBody>
                  <a:tcPr anchor="ctr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1.438 / 0.612</a:t>
                      </a:r>
                    </a:p>
                  </a:txBody>
                  <a:tcPr anchor="ctr">
                    <a:solidFill>
                      <a:srgbClr val="F7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188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PotentialNet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1.607 / 0.773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1.503 / 0.772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1.514 / 0.564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7188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GNN-DTI</a:t>
                      </a:r>
                    </a:p>
                  </a:txBody>
                  <a:tcPr anchor="ctr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1.533 / 0.767</a:t>
                      </a:r>
                    </a:p>
                  </a:txBody>
                  <a:tcPr anchor="ctr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1.384 / 0.779</a:t>
                      </a:r>
                    </a:p>
                  </a:txBody>
                  <a:tcPr anchor="ctr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1.446 / 0.614</a:t>
                      </a:r>
                    </a:p>
                  </a:txBody>
                  <a:tcPr anchor="ctr">
                    <a:solidFill>
                      <a:srgbClr val="F7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7188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IGN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1.428 / 0.807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1.269 / 0.821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1.410 / 0.630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7188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EGNN</a:t>
                      </a:r>
                    </a:p>
                  </a:txBody>
                  <a:tcPr anchor="ctr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1.498 / 0.782</a:t>
                      </a:r>
                    </a:p>
                  </a:txBody>
                  <a:tcPr anchor="ctr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1.289 / 0.816</a:t>
                      </a:r>
                    </a:p>
                  </a:txBody>
                  <a:tcPr anchor="ctr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1.399 / 0.628</a:t>
                      </a:r>
                    </a:p>
                  </a:txBody>
                  <a:tcPr anchor="ctr">
                    <a:solidFill>
                      <a:srgbClr val="F7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7188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070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GIGN</a:t>
                      </a:r>
                    </a:p>
                  </a:txBody>
                  <a:tcPr anchor="ctr"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0070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1.380 / 0.821</a:t>
                      </a:r>
                    </a:p>
                  </a:txBody>
                  <a:tcPr anchor="ctr"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0070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1.190 / 0.840</a:t>
                      </a:r>
                    </a:p>
                  </a:txBody>
                  <a:tcPr anchor="ctr"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0070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1.393 / 0.641</a:t>
                      </a:r>
                    </a:p>
                  </a:txBody>
                  <a:tcPr anchor="ctr">
                    <a:solidFill>
                      <a:srgbClr val="EA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571D4690-DF75-4AD4-9AA5-9CCC820D5C26}"/>
              </a:ext>
            </a:extLst>
          </p:cNvPr>
          <p:cNvSpPr>
            <a:spLocks noGrp="1"/>
          </p:cNvSpPr>
          <p:nvPr/>
        </p:nvSpPr>
        <p:spPr>
          <a:xfrm>
            <a:off x="8239125" y="1428750"/>
            <a:ext cx="29813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72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实验如何比较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89E222C-78B3-46A2-93E0-6453C70F9540}"/>
              </a:ext>
            </a:extLst>
          </p:cNvPr>
          <p:cNvSpPr>
            <a:spLocks noGrp="1"/>
          </p:cNvSpPr>
          <p:nvPr/>
        </p:nvSpPr>
        <p:spPr>
          <a:xfrm>
            <a:off x="8239125" y="1914525"/>
            <a:ext cx="30003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350" b="1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训练与验证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6200315-6CD6-4033-9108-114391BDC68B}"/>
              </a:ext>
            </a:extLst>
          </p:cNvPr>
          <p:cNvSpPr>
            <a:spLocks noGrp="1"/>
          </p:cNvSpPr>
          <p:nvPr/>
        </p:nvSpPr>
        <p:spPr>
          <a:xfrm>
            <a:off x="8239125" y="2257425"/>
            <a:ext cx="3000375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PDBbind 2016</a:t>
            </a:r>
          </a:p>
          <a:p>
            <a:pPr algn="l">
              <a:def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训练 11,904，验证 1,000</a:t>
            </a:r>
          </a:p>
          <a:p>
            <a:pPr algn="l">
              <a:def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各模型使用相同的数据划分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B353E3E-E1DA-465D-BA45-64E4130A134E}"/>
              </a:ext>
            </a:extLst>
          </p:cNvPr>
          <p:cNvSpPr>
            <a:spLocks noGrp="1"/>
          </p:cNvSpPr>
          <p:nvPr/>
        </p:nvSpPr>
        <p:spPr>
          <a:xfrm>
            <a:off x="8239125" y="3124200"/>
            <a:ext cx="30003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350" b="1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评估方式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A2BCA84-2700-4555-9C57-C6F7E196D658}"/>
              </a:ext>
            </a:extLst>
          </p:cNvPr>
          <p:cNvSpPr>
            <a:spLocks noGrp="1"/>
          </p:cNvSpPr>
          <p:nvPr/>
        </p:nvSpPr>
        <p:spPr>
          <a:xfrm>
            <a:off x="8239125" y="3467100"/>
            <a:ext cx="3000375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3 个随机种子独立训练</a:t>
            </a:r>
          </a:p>
          <a:p>
            <a:pPr algn="l">
              <a:def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按验证集最低 RMSE 选模型</a:t>
            </a:r>
          </a:p>
          <a:p>
            <a:pPr algn="l">
              <a:def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表中展示 3 次运行的均值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645CCC0-D6B9-414A-897E-B343C1CE55FA}"/>
              </a:ext>
            </a:extLst>
          </p:cNvPr>
          <p:cNvSpPr>
            <a:spLocks noGrp="1"/>
          </p:cNvSpPr>
          <p:nvPr/>
        </p:nvSpPr>
        <p:spPr>
          <a:xfrm>
            <a:off x="8239125" y="4362450"/>
            <a:ext cx="30003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350" b="1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2019 holdout 的意义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B8560CD-248C-4424-BDFF-CA60D314AF3E}"/>
              </a:ext>
            </a:extLst>
          </p:cNvPr>
          <p:cNvSpPr>
            <a:spLocks noGrp="1"/>
          </p:cNvSpPr>
          <p:nvPr/>
        </p:nvSpPr>
        <p:spPr>
          <a:xfrm>
            <a:off x="8239125" y="4705350"/>
            <a:ext cx="3000375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使用较新、未重叠的复合物，</a:t>
            </a:r>
          </a:p>
          <a:p>
            <a:pPr algn="l">
              <a:def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近似时间外推，比 core 更难。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9C1A497-AC5B-41FD-9197-CC8E72EBBAC8}"/>
              </a:ext>
            </a:extLst>
          </p:cNvPr>
          <p:cNvSpPr>
            <a:spLocks noGrp="1"/>
          </p:cNvSpPr>
          <p:nvPr/>
        </p:nvSpPr>
        <p:spPr>
          <a:xfrm>
            <a:off x="609600" y="5257800"/>
            <a:ext cx="4000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2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Rₚ 相对最佳基线 IGN 的绝对提升</a:t>
            </a:r>
          </a:p>
        </p:txBody>
      </p:sp>
      <p:graphicFrame>
        <p:nvGraphicFramePr>
          <p:cNvPr id="38" name="Chart"/>
          <p:cNvGraphicFramePr/>
          <p:nvPr/>
        </p:nvGraphicFramePr>
        <p:xfrm>
          <a:off x="581025" y="5524500"/>
          <a:ext cx="4286250" cy="771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C4E410BD-54E5-49C8-BACE-D81E52FEC851}"/>
              </a:ext>
            </a:extLst>
          </p:cNvPr>
          <p:cNvSpPr>
            <a:spLocks noGrp="1"/>
          </p:cNvSpPr>
          <p:nvPr/>
        </p:nvSpPr>
        <p:spPr>
          <a:xfrm>
            <a:off x="5238750" y="5286375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42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主要结论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38827D0-E276-4C25-8C3D-D2751484FA46}"/>
              </a:ext>
            </a:extLst>
          </p:cNvPr>
          <p:cNvSpPr>
            <a:spLocks noGrp="1"/>
          </p:cNvSpPr>
          <p:nvPr/>
        </p:nvSpPr>
        <p:spPr>
          <a:xfrm>
            <a:off x="5238750" y="5638800"/>
            <a:ext cx="598170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4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GIGN 在三个测试集的两项指标均最优。</a:t>
            </a:r>
          </a:p>
          <a:p>
            <a:pPr algn="l">
              <a:defRPr sz="14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2019 Rₚ 仍仅 0.641，提升幅度较小，外推能力仍有限。</a:t>
            </a:r>
          </a:p>
        </p:txBody>
      </p:sp>
    </p:spTree>
    <p:extLst>
      <p:ext uri="{BB962C8B-B14F-4D97-AF65-F5344CB8AC3E}">
        <p14:creationId xmlns:p14="http://schemas.microsoft.com/office/powerpoint/2010/main" val="282980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3FD46A5D-98AC-4F27-B961-60488174107D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华中农业大学 / 文献汇报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B2D2214-0C41-44DD-BC9B-3B2A05F3240F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10668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25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研究结果：消融验证与泛化能力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E6BD879-4BDF-4E8F-8A13-0044D693D887}"/>
              </a:ext>
            </a:extLst>
          </p:cNvPr>
          <p:cNvSpPr>
            <a:spLocks noGrp="1"/>
          </p:cNvSpPr>
          <p:nvPr/>
        </p:nvSpPr>
        <p:spPr>
          <a:xfrm>
            <a:off x="609600" y="1209675"/>
            <a:ext cx="10610850" cy="19050"/>
          </a:xfrm>
          <a:prstGeom prst="rect">
            <a:avLst/>
          </a:prstGeom>
          <a:solidFill>
            <a:srgbClr val="007032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0867C54-495A-4DFA-A182-1D3CE707907D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10610850" cy="9525"/>
          </a:xfrm>
          <a:prstGeom prst="rect">
            <a:avLst/>
          </a:prstGeom>
          <a:solidFill>
            <a:srgbClr val="D7E0E7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AB6013E-2C33-405B-9DF7-66D630D5EC8D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953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华中农业大学   ·   GIGN 文献汇报   ·   JPCL 2023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60B7473-0E8E-4D98-B6DF-E05AC46EC902}"/>
              </a:ext>
            </a:extLst>
          </p:cNvPr>
          <p:cNvSpPr>
            <a:spLocks noGrp="1"/>
          </p:cNvSpPr>
          <p:nvPr/>
        </p:nvSpPr>
        <p:spPr>
          <a:xfrm>
            <a:off x="10744200" y="6486525"/>
            <a:ext cx="476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r">
              <a:def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67E6353-6E2C-4F64-8120-52F73F5E7A7F}"/>
              </a:ext>
            </a:extLst>
          </p:cNvPr>
          <p:cNvSpPr>
            <a:spLocks noGrp="1"/>
          </p:cNvSpPr>
          <p:nvPr/>
        </p:nvSpPr>
        <p:spPr>
          <a:xfrm>
            <a:off x="609600" y="1419225"/>
            <a:ext cx="70485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725" b="1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消融实验：去掉什么，性能如何变化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5B00226-AC58-4E88-9D5E-E3DA4160251C}"/>
              </a:ext>
            </a:extLst>
          </p:cNvPr>
          <p:cNvSpPr>
            <a:spLocks noGrp="1"/>
          </p:cNvSpPr>
          <p:nvPr/>
        </p:nvSpPr>
        <p:spPr>
          <a:xfrm>
            <a:off x="609600" y="1781175"/>
            <a:ext cx="71913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Pearson Rₚ（↑），均值 ± 标准差，3 次独立运行</a:t>
            </a:r>
          </a:p>
        </p:txBody>
      </p:sp>
      <p:graphicFrame>
        <p:nvGraphicFramePr>
          <p:cNvPr id="28" name="表格 27"/>
          <p:cNvGraphicFramePr/>
          <p:nvPr/>
        </p:nvGraphicFramePr>
        <p:xfrm>
          <a:off x="609600" y="2114550"/>
          <a:ext cx="7620000" cy="1933575"/>
        </p:xfrm>
        <a:graphic>
          <a:graphicData uri="http://schemas.openxmlformats.org/drawingml/2006/table">
            <a:tbl>
              <a:tblPr/>
              <a:tblGrid>
                <a:gridCol w="107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4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4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4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671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模型变体</a:t>
                      </a:r>
                    </a:p>
                  </a:txBody>
                  <a:tcPr anchor="ctr">
                    <a:solidFill>
                      <a:srgbClr val="0070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改动</a:t>
                      </a:r>
                    </a:p>
                  </a:txBody>
                  <a:tcPr anchor="ctr">
                    <a:solidFill>
                      <a:srgbClr val="0070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2013</a:t>
                      </a:r>
                    </a:p>
                  </a:txBody>
                  <a:tcPr anchor="ctr">
                    <a:solidFill>
                      <a:srgbClr val="0070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2016</a:t>
                      </a:r>
                    </a:p>
                  </a:txBody>
                  <a:tcPr anchor="ctr">
                    <a:solidFill>
                      <a:srgbClr val="0070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2019</a:t>
                      </a:r>
                    </a:p>
                  </a:txBody>
                  <a:tcPr anchor="ctr">
                    <a:solidFill>
                      <a:srgbClr val="007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715"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TMP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两类边同质传播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.791 ± .003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.822 ± .004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.634 ± .004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715"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TRVar</a:t>
                      </a:r>
                    </a:p>
                  </a:txBody>
                  <a:tcPr anchor="ctr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加入绝对坐标</a:t>
                      </a:r>
                    </a:p>
                  </a:txBody>
                  <a:tcPr anchor="ctr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.763 ± .019</a:t>
                      </a:r>
                    </a:p>
                  </a:txBody>
                  <a:tcPr anchor="ctr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.760 ± .010</a:t>
                      </a:r>
                    </a:p>
                  </a:txBody>
                  <a:tcPr anchor="ctr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.550 ± .007</a:t>
                      </a:r>
                    </a:p>
                  </a:txBody>
                  <a:tcPr anchor="ctr">
                    <a:solidFill>
                      <a:srgbClr val="F7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715"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RVar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坐标减去配体质心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.765 ± .007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.788 ± .013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.608 ± .006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715">
                <a:tc>
                  <a:txBody>
                    <a:bodyPr/>
                    <a:lstStyle/>
                    <a:p>
                      <a:pPr algn="l"/>
                      <a:r>
                        <a:rPr sz="1275" b="1">
                          <a:solidFill>
                            <a:srgbClr val="0070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GIGN</a:t>
                      </a:r>
                    </a:p>
                  </a:txBody>
                  <a:tcPr anchor="ctr"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0070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异质传播＋不变性</a:t>
                      </a:r>
                    </a:p>
                  </a:txBody>
                  <a:tcPr anchor="ctr"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0070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.821 ± .003</a:t>
                      </a:r>
                    </a:p>
                  </a:txBody>
                  <a:tcPr anchor="ctr"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0070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.840 ± .007</a:t>
                      </a:r>
                    </a:p>
                  </a:txBody>
                  <a:tcPr anchor="ctr"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0070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.641 ± .006</a:t>
                      </a:r>
                    </a:p>
                  </a:txBody>
                  <a:tcPr anchor="ctr">
                    <a:solidFill>
                      <a:srgbClr val="EA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AFE8B3CF-CB88-437D-BFDD-02622CAB020D}"/>
              </a:ext>
            </a:extLst>
          </p:cNvPr>
          <p:cNvSpPr>
            <a:spLocks noGrp="1"/>
          </p:cNvSpPr>
          <p:nvPr/>
        </p:nvSpPr>
        <p:spPr>
          <a:xfrm>
            <a:off x="8562975" y="1447800"/>
            <a:ext cx="2857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65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两个设计得到支持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31F4DEE-1529-4DAD-AB0F-FC5F5BB688C6}"/>
              </a:ext>
            </a:extLst>
          </p:cNvPr>
          <p:cNvSpPr>
            <a:spLocks noGrp="1"/>
          </p:cNvSpPr>
          <p:nvPr/>
        </p:nvSpPr>
        <p:spPr>
          <a:xfrm>
            <a:off x="8562975" y="1924050"/>
            <a:ext cx="26670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425" b="1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关系分通道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DB4E56E-F737-46E7-8B89-022F2358E339}"/>
              </a:ext>
            </a:extLst>
          </p:cNvPr>
          <p:cNvSpPr>
            <a:spLocks noGrp="1"/>
          </p:cNvSpPr>
          <p:nvPr/>
        </p:nvSpPr>
        <p:spPr>
          <a:xfrm>
            <a:off x="8562975" y="2257425"/>
            <a:ext cx="2667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三组测试均优于同质传播，支持对两类消息分别建模。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B5AAD76-A908-4A34-A76D-5FFD6E40638F}"/>
              </a:ext>
            </a:extLst>
          </p:cNvPr>
          <p:cNvSpPr>
            <a:spLocks noGrp="1"/>
          </p:cNvSpPr>
          <p:nvPr/>
        </p:nvSpPr>
        <p:spPr>
          <a:xfrm>
            <a:off x="8562975" y="2981325"/>
            <a:ext cx="26670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425" b="1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平移、旋转不变性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E18A47F-A1F0-450A-B283-99FB97C9EC32}"/>
              </a:ext>
            </a:extLst>
          </p:cNvPr>
          <p:cNvSpPr>
            <a:spLocks noGrp="1"/>
          </p:cNvSpPr>
          <p:nvPr/>
        </p:nvSpPr>
        <p:spPr>
          <a:xfrm>
            <a:off x="8562975" y="3324225"/>
            <a:ext cx="2667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绝对坐标使性能下降。质心归一化有所恢复，完整模型最佳。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12FC1E2-4C8E-4A58-B58B-B74C959FF368}"/>
              </a:ext>
            </a:extLst>
          </p:cNvPr>
          <p:cNvSpPr>
            <a:spLocks noGrp="1"/>
          </p:cNvSpPr>
          <p:nvPr/>
        </p:nvSpPr>
        <p:spPr>
          <a:xfrm>
            <a:off x="609600" y="4219575"/>
            <a:ext cx="7620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650" b="1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进一步验证：模型能否推广到其他场景</a:t>
            </a:r>
          </a:p>
        </p:txBody>
      </p:sp>
      <p:graphicFrame>
        <p:nvGraphicFramePr>
          <p:cNvPr id="35" name="表格 34"/>
          <p:cNvGraphicFramePr/>
          <p:nvPr/>
        </p:nvGraphicFramePr>
        <p:xfrm>
          <a:off x="609600" y="4600575"/>
          <a:ext cx="7620000" cy="1647825"/>
        </p:xfrm>
        <a:graphic>
          <a:graphicData uri="http://schemas.openxmlformats.org/drawingml/2006/table">
            <a:tbl>
              <a:tblPr/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56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测试场景</a:t>
                      </a:r>
                    </a:p>
                  </a:txBody>
                  <a:tcPr anchor="ctr">
                    <a:solidFill>
                      <a:srgbClr val="0070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条件</a:t>
                      </a:r>
                    </a:p>
                  </a:txBody>
                  <a:tcPr anchor="ctr">
                    <a:solidFill>
                      <a:srgbClr val="0070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RMSE ↓</a:t>
                      </a:r>
                    </a:p>
                  </a:txBody>
                  <a:tcPr anchor="ctr">
                    <a:solidFill>
                      <a:srgbClr val="0070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Rₚ ↑</a:t>
                      </a:r>
                    </a:p>
                  </a:txBody>
                  <a:tcPr anchor="ctr">
                    <a:solidFill>
                      <a:srgbClr val="007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565"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跨数据集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CSAR-HiQ，N = 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565"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重新对接</a:t>
                      </a:r>
                    </a:p>
                  </a:txBody>
                  <a:tcPr anchor="ctr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近天然构象，RMSD &lt; 2 Å</a:t>
                      </a:r>
                    </a:p>
                  </a:txBody>
                  <a:tcPr anchor="ctr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1.261</a:t>
                      </a:r>
                    </a:p>
                  </a:txBody>
                  <a:tcPr anchor="ctr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0.826</a:t>
                      </a:r>
                    </a:p>
                  </a:txBody>
                  <a:tcPr anchor="ctr">
                    <a:solidFill>
                      <a:srgbClr val="F7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565"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配体骨架冷启动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按骨架分组，8:1:1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1.353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565"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蛋白质冷启动</a:t>
                      </a:r>
                    </a:p>
                  </a:txBody>
                  <a:tcPr anchor="ctr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30% 序列相似性分组</a:t>
                      </a:r>
                    </a:p>
                  </a:txBody>
                  <a:tcPr anchor="ctr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1.521</a:t>
                      </a:r>
                    </a:p>
                  </a:txBody>
                  <a:tcPr anchor="ctr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0.565</a:t>
                      </a:r>
                    </a:p>
                  </a:txBody>
                  <a:tcPr anchor="ctr">
                    <a:solidFill>
                      <a:srgbClr val="F7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矩形 16">
            <a:extLst>
              <a:ext uri="{FF2B5EF4-FFF2-40B4-BE49-F238E27FC236}">
                <a16:creationId xmlns:a16="http://schemas.microsoft.com/office/drawing/2014/main" id="{4C688430-9C0A-4AC4-8EBD-915BF25CC6E1}"/>
              </a:ext>
            </a:extLst>
          </p:cNvPr>
          <p:cNvSpPr>
            <a:spLocks noGrp="1"/>
          </p:cNvSpPr>
          <p:nvPr/>
        </p:nvSpPr>
        <p:spPr>
          <a:xfrm>
            <a:off x="8562975" y="4219575"/>
            <a:ext cx="28098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65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适用范围与限制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0815798-F775-409B-A6AA-9FF692635320}"/>
              </a:ext>
            </a:extLst>
          </p:cNvPr>
          <p:cNvSpPr>
            <a:spLocks noGrp="1"/>
          </p:cNvSpPr>
          <p:nvPr/>
        </p:nvSpPr>
        <p:spPr>
          <a:xfrm>
            <a:off x="8562975" y="4648200"/>
            <a:ext cx="2667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35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蛋白质冷启动未保持领先：EGNN 的 Rₚ 为 0.579。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24A3C27-306C-4B27-B481-F73F2056D6BB}"/>
              </a:ext>
            </a:extLst>
          </p:cNvPr>
          <p:cNvSpPr>
            <a:spLocks noGrp="1"/>
          </p:cNvSpPr>
          <p:nvPr/>
        </p:nvSpPr>
        <p:spPr>
          <a:xfrm>
            <a:off x="8562975" y="5419725"/>
            <a:ext cx="26670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35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对接验证仅覆盖 RMSD &lt; 2 Å 的近天然构象，不能代表任意错误位姿。</a:t>
            </a:r>
          </a:p>
        </p:txBody>
      </p:sp>
    </p:spTree>
    <p:extLst>
      <p:ext uri="{BB962C8B-B14F-4D97-AF65-F5344CB8AC3E}">
        <p14:creationId xmlns:p14="http://schemas.microsoft.com/office/powerpoint/2010/main" val="123061619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1351</Words>
  <Application>Microsoft Office PowerPoint</Application>
  <DocSecurity>0</DocSecurity>
  <PresentationFormat>宽屏</PresentationFormat>
  <Paragraphs>234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Microsoft YaHei</vt:lpstr>
      <vt:lpstr>Calibri</vt:lpstr>
      <vt:lpstr>Cambria Math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文泽 武</cp:lastModifiedBy>
  <cp:revision>1</cp:revision>
  <dcterms:created xsi:type="dcterms:W3CDTF">2026-09-14T10:12:09Z</dcterms:created>
  <dcterms:modified xsi:type="dcterms:W3CDTF">2026-09-14T10:18:42Z</dcterms:modified>
</cp:coreProperties>
</file>