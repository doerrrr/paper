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ΔRₚ</c:v>
          </c:tx>
          <c:spPr>
            <a:solidFill>
              <a:srgbClr val="00703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007032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3"/>
              <c:pt idx="0">
                <c:v>2013</c:v>
              </c:pt>
              <c:pt idx="1">
                <c:v>2016</c:v>
              </c:pt>
              <c:pt idx="2">
                <c:v>2019</c:v>
              </c:pt>
            </c:numLit>
          </c:cat>
          <c:val>
            <c:numLit>
              <c:formatCode>\+0.000</c:formatCode>
              <c:ptCount val="3"/>
              <c:pt idx="0">
                <c:v>1.4E-2</c:v>
              </c:pt>
              <c:pt idx="1">
                <c:v>1.9E-2</c:v>
              </c:pt>
              <c:pt idx="2">
                <c:v>1.0999999999999999E-2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4B-4A00-BFBB-8325644769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8000000000000001E-2"/>
          <c:min val="0"/>
        </c:scaling>
        <c:delete val="0"/>
        <c:axPos val="l"/>
        <c:numFmt formatCode="\+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546FA6D-5646-4543-988B-615FA50EB2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8932" y="381000"/>
            <a:ext cx="3140787" cy="7143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267D540-1DF5-4288-A82F-419662B5AA70}"/>
              </a:ext>
            </a:extLst>
          </p:cNvPr>
          <p:cNvSpPr>
            <a:spLocks noGrp="1"/>
          </p:cNvSpPr>
          <p:nvPr/>
        </p:nvSpPr>
        <p:spPr>
          <a:xfrm>
            <a:off x="9277350" y="52387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59C15C-5CB1-4676-8306-CDFB034A1E9C}"/>
              </a:ext>
            </a:extLst>
          </p:cNvPr>
          <p:cNvSpPr>
            <a:spLocks noGrp="1"/>
          </p:cNvSpPr>
          <p:nvPr/>
        </p:nvSpPr>
        <p:spPr>
          <a:xfrm>
            <a:off x="657225" y="1943100"/>
            <a:ext cx="66675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C2A0C1-8F82-4061-B2E6-EE09E02035C6}"/>
              </a:ext>
            </a:extLst>
          </p:cNvPr>
          <p:cNvSpPr>
            <a:spLocks noGrp="1"/>
          </p:cNvSpPr>
          <p:nvPr/>
        </p:nvSpPr>
        <p:spPr>
          <a:xfrm>
            <a:off x="695325" y="3409950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基于三维结构的蛋白质–配体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BE0C45-F2BC-411D-B33B-C99EF3DDDE6A}"/>
              </a:ext>
            </a:extLst>
          </p:cNvPr>
          <p:cNvSpPr>
            <a:spLocks noGrp="1"/>
          </p:cNvSpPr>
          <p:nvPr/>
        </p:nvSpPr>
        <p:spPr>
          <a:xfrm>
            <a:off x="695325" y="395287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结合亲和力预测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69F1E-8922-46BD-888C-EBE4488BFBAB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918059-0B4B-481E-9A20-5087116CB156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Yang Z. et al.  /  The Journal of Physical Chemistry Letters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353894-C723-4006-A044-0C071F0FF485}"/>
              </a:ext>
            </a:extLst>
          </p:cNvPr>
          <p:cNvSpPr>
            <a:spLocks noGrp="1"/>
          </p:cNvSpPr>
          <p:nvPr/>
        </p:nvSpPr>
        <p:spPr>
          <a:xfrm>
            <a:off x="723900" y="6010275"/>
            <a:ext cx="1047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2023, 14(8): 2020–2033     DOI: 10.1021/acs.jpclett.2c03906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26D547-81D6-41F3-BB34-A17D9225E0F0}"/>
              </a:ext>
            </a:extLst>
          </p:cNvPr>
          <p:cNvSpPr>
            <a:spLocks noGrp="1"/>
          </p:cNvSpPr>
          <p:nvPr/>
        </p:nvSpPr>
        <p:spPr>
          <a:xfrm>
            <a:off x="0" y="6686550"/>
            <a:ext cx="12192000" cy="1714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78319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014115B6-4935-4C0F-9F33-EA6C84FE0827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9A30BA-C2C4-40A1-8593-0E029ADB87D4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65F1D7-3380-4A64-BC16-544872959265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4F4E2-2E5D-4215-ADD3-008E156359B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791F1D-1150-4274-9BF5-FC1F44BE00E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CB05B4-8647-41F0-B353-B7B90821C09F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72A4F-C832-45E2-B1EC-8EA2D2B83FE8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6203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EC49B2-1A55-4E2F-8B2E-CB6C42B9722A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9906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E6AC9B-0E63-4327-A1F4-95FF850BF205}"/>
              </a:ext>
            </a:extLst>
          </p:cNvPr>
          <p:cNvSpPr>
            <a:spLocks noGrp="1"/>
          </p:cNvSpPr>
          <p:nvPr/>
        </p:nvSpPr>
        <p:spPr>
          <a:xfrm>
            <a:off x="3876675" y="2476500"/>
            <a:ext cx="9525" cy="273367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4749C3-426E-4648-B4F8-35756A85FC6A}"/>
              </a:ext>
            </a:extLst>
          </p:cNvPr>
          <p:cNvSpPr>
            <a:spLocks noGrp="1"/>
          </p:cNvSpPr>
          <p:nvPr/>
        </p:nvSpPr>
        <p:spPr>
          <a:xfrm>
            <a:off x="7658100" y="2476500"/>
            <a:ext cx="9525" cy="273367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682324-DB3B-44CC-A798-1EF8082F9FF3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72D5F8-62AC-4CC9-8B5E-80FC177C3882}"/>
              </a:ext>
            </a:extLst>
          </p:cNvPr>
          <p:cNvSpPr>
            <a:spLocks noGrp="1"/>
          </p:cNvSpPr>
          <p:nvPr/>
        </p:nvSpPr>
        <p:spPr>
          <a:xfrm>
            <a:off x="1104900" y="24288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AA50E-94D2-470C-BB1E-846575033A12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2905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 err="1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</a:t>
            </a:r>
            <a:r>
              <a:rPr sz="1275" b="0" i="0" dirty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77FE8A-0DB7-4AC3-AEE7-DF359C0AECB0}"/>
              </a:ext>
            </a:extLst>
          </p:cNvPr>
          <p:cNvSpPr>
            <a:spLocks noGrp="1"/>
          </p:cNvSpPr>
          <p:nvPr/>
        </p:nvSpPr>
        <p:spPr>
          <a:xfrm>
            <a:off x="628650" y="3800475"/>
            <a:ext cx="2886075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8D1F68-A382-4A8D-9339-B69FD89F3E9C}"/>
              </a:ext>
            </a:extLst>
          </p:cNvPr>
          <p:cNvSpPr>
            <a:spLocks noGrp="1"/>
          </p:cNvSpPr>
          <p:nvPr/>
        </p:nvSpPr>
        <p:spPr>
          <a:xfrm>
            <a:off x="628650" y="3971925"/>
            <a:ext cx="1000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8E9F8A-1352-4B88-B8ED-F345ED8E9DB1}"/>
              </a:ext>
            </a:extLst>
          </p:cNvPr>
          <p:cNvSpPr>
            <a:spLocks noGrp="1"/>
          </p:cNvSpPr>
          <p:nvPr/>
        </p:nvSpPr>
        <p:spPr>
          <a:xfrm>
            <a:off x="628650" y="4267200"/>
            <a:ext cx="2905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304772-2E00-4D63-B382-65B840F61F66}"/>
              </a:ext>
            </a:extLst>
          </p:cNvPr>
          <p:cNvSpPr>
            <a:spLocks noGrp="1"/>
          </p:cNvSpPr>
          <p:nvPr/>
        </p:nvSpPr>
        <p:spPr>
          <a:xfrm>
            <a:off x="4152900" y="24479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C2A781-6788-4C5A-8E3F-2BD11254B032}"/>
              </a:ext>
            </a:extLst>
          </p:cNvPr>
          <p:cNvSpPr>
            <a:spLocks noGrp="1"/>
          </p:cNvSpPr>
          <p:nvPr/>
        </p:nvSpPr>
        <p:spPr>
          <a:xfrm>
            <a:off x="4648200" y="2428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1D5C1ED-0AF8-4C0E-B625-62C1BFEECBCF}"/>
              </a:ext>
            </a:extLst>
          </p:cNvPr>
          <p:cNvSpPr>
            <a:spLocks noGrp="1"/>
          </p:cNvSpPr>
          <p:nvPr/>
        </p:nvSpPr>
        <p:spPr>
          <a:xfrm>
            <a:off x="4152900" y="2952750"/>
            <a:ext cx="3143250" cy="647700"/>
          </a:xfrm>
          <a:prstGeom prst="roundRect">
            <a:avLst>
              <a:gd name="adj" fmla="val 14706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402610-E6F0-46E2-BFEA-B1BD580FE9A5}"/>
              </a:ext>
            </a:extLst>
          </p:cNvPr>
          <p:cNvSpPr>
            <a:spLocks noGrp="1"/>
          </p:cNvSpPr>
          <p:nvPr/>
        </p:nvSpPr>
        <p:spPr>
          <a:xfrm>
            <a:off x="4305300" y="3038475"/>
            <a:ext cx="876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A1F8B3-95F0-46BC-8337-85953A795DC5}"/>
              </a:ext>
            </a:extLst>
          </p:cNvPr>
          <p:cNvSpPr>
            <a:spLocks noGrp="1"/>
          </p:cNvSpPr>
          <p:nvPr/>
        </p:nvSpPr>
        <p:spPr>
          <a:xfrm>
            <a:off x="4305300" y="3286125"/>
            <a:ext cx="28384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30C24EC-A5E6-4D64-AC79-D68F690A9298}"/>
              </a:ext>
            </a:extLst>
          </p:cNvPr>
          <p:cNvSpPr>
            <a:spLocks noGrp="1"/>
          </p:cNvSpPr>
          <p:nvPr/>
        </p:nvSpPr>
        <p:spPr>
          <a:xfrm>
            <a:off x="4152900" y="3705225"/>
            <a:ext cx="3143250" cy="647700"/>
          </a:xfrm>
          <a:prstGeom prst="roundRect">
            <a:avLst>
              <a:gd name="adj" fmla="val 14706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5EA211-6BEC-40FB-9C62-70B9DDE4EA75}"/>
              </a:ext>
            </a:extLst>
          </p:cNvPr>
          <p:cNvSpPr>
            <a:spLocks noGrp="1"/>
          </p:cNvSpPr>
          <p:nvPr/>
        </p:nvSpPr>
        <p:spPr>
          <a:xfrm>
            <a:off x="4305300" y="3790950"/>
            <a:ext cx="876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D329D9-A72B-4842-9EA6-3FF6A18FCC71}"/>
              </a:ext>
            </a:extLst>
          </p:cNvPr>
          <p:cNvSpPr>
            <a:spLocks noGrp="1"/>
          </p:cNvSpPr>
          <p:nvPr/>
        </p:nvSpPr>
        <p:spPr>
          <a:xfrm>
            <a:off x="4305300" y="4038600"/>
            <a:ext cx="28384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F44EC7E-13B9-49F3-B77C-9D1A78CBEADB}"/>
              </a:ext>
            </a:extLst>
          </p:cNvPr>
          <p:cNvSpPr>
            <a:spLocks noGrp="1"/>
          </p:cNvSpPr>
          <p:nvPr/>
        </p:nvSpPr>
        <p:spPr>
          <a:xfrm>
            <a:off x="4152900" y="4552950"/>
            <a:ext cx="3143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D9FC158-29AE-448F-ACB9-FDE452923EDD}"/>
              </a:ext>
            </a:extLst>
          </p:cNvPr>
          <p:cNvSpPr>
            <a:spLocks noGrp="1"/>
          </p:cNvSpPr>
          <p:nvPr/>
        </p:nvSpPr>
        <p:spPr>
          <a:xfrm>
            <a:off x="7943850" y="244792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EC040C-2FF7-452C-AD6C-4F17B38FA8EA}"/>
              </a:ext>
            </a:extLst>
          </p:cNvPr>
          <p:cNvSpPr>
            <a:spLocks noGrp="1"/>
          </p:cNvSpPr>
          <p:nvPr/>
        </p:nvSpPr>
        <p:spPr>
          <a:xfrm>
            <a:off x="8439150" y="2428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AC3B2B-C121-456B-BD45-7C9CC909AE42}"/>
              </a:ext>
            </a:extLst>
          </p:cNvPr>
          <p:cNvSpPr>
            <a:spLocks noGrp="1"/>
          </p:cNvSpPr>
          <p:nvPr/>
        </p:nvSpPr>
        <p:spPr>
          <a:xfrm>
            <a:off x="7943850" y="2962275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8F4A0E-00ED-421C-8EEB-07C36F57395E}"/>
              </a:ext>
            </a:extLst>
          </p:cNvPr>
          <p:cNvSpPr>
            <a:spLocks noGrp="1"/>
          </p:cNvSpPr>
          <p:nvPr/>
        </p:nvSpPr>
        <p:spPr>
          <a:xfrm>
            <a:off x="7943850" y="3238500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89110"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37A66F-A477-4696-A0A7-94AC8A541737}"/>
              </a:ext>
            </a:extLst>
          </p:cNvPr>
          <p:cNvSpPr>
            <a:spLocks noGrp="1"/>
          </p:cNvSpPr>
          <p:nvPr/>
        </p:nvSpPr>
        <p:spPr>
          <a:xfrm>
            <a:off x="7943850" y="3924300"/>
            <a:ext cx="31432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9E415A-8E36-4751-84D1-152095452DD9}"/>
              </a:ext>
            </a:extLst>
          </p:cNvPr>
          <p:cNvSpPr>
            <a:spLocks noGrp="1"/>
          </p:cNvSpPr>
          <p:nvPr/>
        </p:nvSpPr>
        <p:spPr>
          <a:xfrm>
            <a:off x="7943850" y="408622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AE778B-535B-4DAD-AA75-B864F28172D0}"/>
              </a:ext>
            </a:extLst>
          </p:cNvPr>
          <p:cNvSpPr>
            <a:spLocks noGrp="1"/>
          </p:cNvSpPr>
          <p:nvPr/>
        </p:nvSpPr>
        <p:spPr>
          <a:xfrm>
            <a:off x="7943850" y="4362450"/>
            <a:ext cx="3143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BF1ABA3-DA5F-4989-AA48-F3D15D80D884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610850" cy="695325"/>
          </a:xfrm>
          <a:prstGeom prst="roundRect">
            <a:avLst>
              <a:gd name="adj" fmla="val 17808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9E913B-D479-4DBC-A7C6-F07F9D3EE107}"/>
              </a:ext>
            </a:extLst>
          </p:cNvPr>
          <p:cNvSpPr>
            <a:spLocks noGrp="1"/>
          </p:cNvSpPr>
          <p:nvPr/>
        </p:nvSpPr>
        <p:spPr>
          <a:xfrm>
            <a:off x="800100" y="560070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BC4A1CB-6C19-40FF-9906-8E8AA30AB2A5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1491998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52218D5-64D7-4D0E-A209-8FD3DEE1B60B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960F0E-F018-4F28-B826-E02B5C7CD39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67A7E1-AF31-4739-9862-38E0DCBA383F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F3EE1-5389-450D-8E91-544AF5D87652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ADA7C1-335C-477B-B1CB-6D1FBDFCA06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2C6C68-6E1C-4BC0-B52E-94CAE3ADBADC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BF5EA10-6212-4D98-8E99-9DBF38CD0538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58293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7E0E7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0514" y="1666875"/>
            <a:ext cx="4707471" cy="423862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B279AC76-5C80-4BDA-B0B8-832B9565856A}"/>
              </a:ext>
            </a:extLst>
          </p:cNvPr>
          <p:cNvSpPr>
            <a:spLocks noGrp="1"/>
          </p:cNvSpPr>
          <p:nvPr/>
        </p:nvSpPr>
        <p:spPr>
          <a:xfrm>
            <a:off x="6858000" y="1619250"/>
            <a:ext cx="400050" cy="400050"/>
          </a:xfrm>
          <a:prstGeom prst="ellipse">
            <a:avLst/>
          </a:prstGeom>
          <a:solidFill>
            <a:srgbClr val="007032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BD089E-3432-4AE1-813F-277BB9EC3AAF}"/>
              </a:ext>
            </a:extLst>
          </p:cNvPr>
          <p:cNvSpPr>
            <a:spLocks noGrp="1"/>
          </p:cNvSpPr>
          <p:nvPr/>
        </p:nvSpPr>
        <p:spPr>
          <a:xfrm>
            <a:off x="7429500" y="160020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BF3C48-B2D3-4E19-BD39-05B5E9154E91}"/>
              </a:ext>
            </a:extLst>
          </p:cNvPr>
          <p:cNvSpPr>
            <a:spLocks noGrp="1"/>
          </p:cNvSpPr>
          <p:nvPr/>
        </p:nvSpPr>
        <p:spPr>
          <a:xfrm>
            <a:off x="7429500" y="1924050"/>
            <a:ext cx="3905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86F37D4-D546-4BDC-B6A8-F1D7D339CCFE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400050" cy="400050"/>
          </a:xfrm>
          <a:prstGeom prst="ellipse">
            <a:avLst/>
          </a:prstGeom>
          <a:solidFill>
            <a:srgbClr val="007032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BAA542-9486-47AB-AC71-BC44A963408F}"/>
              </a:ext>
            </a:extLst>
          </p:cNvPr>
          <p:cNvSpPr>
            <a:spLocks noGrp="1"/>
          </p:cNvSpPr>
          <p:nvPr/>
        </p:nvSpPr>
        <p:spPr>
          <a:xfrm>
            <a:off x="7429500" y="295275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F26D05-3471-44EA-9BBD-2358B4D0F532}"/>
              </a:ext>
            </a:extLst>
          </p:cNvPr>
          <p:cNvSpPr>
            <a:spLocks noGrp="1"/>
          </p:cNvSpPr>
          <p:nvPr/>
        </p:nvSpPr>
        <p:spPr>
          <a:xfrm>
            <a:off x="7429500" y="3276600"/>
            <a:ext cx="3905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3D7074-CE44-4B3A-8F61-FACB28492E81}"/>
              </a:ext>
            </a:extLst>
          </p:cNvPr>
          <p:cNvSpPr>
            <a:spLocks noGrp="1"/>
          </p:cNvSpPr>
          <p:nvPr/>
        </p:nvSpPr>
        <p:spPr>
          <a:xfrm>
            <a:off x="6858000" y="4324350"/>
            <a:ext cx="400050" cy="400050"/>
          </a:xfrm>
          <a:prstGeom prst="ellipse">
            <a:avLst/>
          </a:prstGeom>
          <a:solidFill>
            <a:srgbClr val="B38B48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C4809C-6B07-4296-AAB8-9D15C65A8E5D}"/>
              </a:ext>
            </a:extLst>
          </p:cNvPr>
          <p:cNvSpPr>
            <a:spLocks noGrp="1"/>
          </p:cNvSpPr>
          <p:nvPr/>
        </p:nvSpPr>
        <p:spPr>
          <a:xfrm>
            <a:off x="7429500" y="4305300"/>
            <a:ext cx="390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00F76B-5D13-44A0-9719-07137D6AEA2D}"/>
              </a:ext>
            </a:extLst>
          </p:cNvPr>
          <p:cNvSpPr>
            <a:spLocks noGrp="1"/>
          </p:cNvSpPr>
          <p:nvPr/>
        </p:nvSpPr>
        <p:spPr>
          <a:xfrm>
            <a:off x="7429500" y="4629150"/>
            <a:ext cx="3905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1FBB94-BD8A-4D35-816C-6451100E4418}"/>
              </a:ext>
            </a:extLst>
          </p:cNvPr>
          <p:cNvSpPr>
            <a:spLocks noGrp="1"/>
          </p:cNvSpPr>
          <p:nvPr/>
        </p:nvSpPr>
        <p:spPr>
          <a:xfrm>
            <a:off x="6858000" y="5562600"/>
            <a:ext cx="4476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3883"/>
          </a:bodyPr>
          <a:lstStyle/>
          <a:p>
            <a:pPr algn="l">
              <a:lnSpc>
                <a:spcPct val="112000"/>
              </a:lnSpc>
              <a:buNone/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118916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03A1D539-9B46-4ABA-A0F4-194C72621D3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CCBEE2-7E59-4B3C-A0E3-BAD5626660A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两个核心创新点：分别处理关系与几何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4A915-7D3A-47D2-8841-596FF4929413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8EBDC3-2A39-4E1C-BCB0-B74E85D1A9E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81545-A8D4-4773-BB16-75D2F0417E3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B85014-031B-4B27-9823-1C6B63BFAEA5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D66AF4-F4CF-4B3C-801F-2C3E4936CB90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9525" cy="452437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ED8E90-13C0-4094-B2DE-DE68FFB635E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CD33BF-C9E6-4F3B-8F4D-FF9DA6461DA2}"/>
              </a:ext>
            </a:extLst>
          </p:cNvPr>
          <p:cNvSpPr>
            <a:spLocks noGrp="1"/>
          </p:cNvSpPr>
          <p:nvPr/>
        </p:nvSpPr>
        <p:spPr>
          <a:xfrm>
            <a:off x="1190625" y="1504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D66E03-ECB2-4D4C-B9A2-A672861B7DB7}"/>
              </a:ext>
            </a:extLst>
          </p:cNvPr>
          <p:cNvSpPr>
            <a:spLocks noGrp="1"/>
          </p:cNvSpPr>
          <p:nvPr/>
        </p:nvSpPr>
        <p:spPr>
          <a:xfrm>
            <a:off x="628650" y="2105025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1F0C06-6E4C-4FAA-BABF-E5F8D32F4A96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 fontScale="97466"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ECD9E7-EC10-4FF8-8F90-D2B3B60369FF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495300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0296E5-D581-4FE9-96E2-749852970BE4}"/>
              </a:ext>
            </a:extLst>
          </p:cNvPr>
          <p:cNvSpPr>
            <a:spLocks noGrp="1"/>
          </p:cNvSpPr>
          <p:nvPr/>
        </p:nvSpPr>
        <p:spPr>
          <a:xfrm>
            <a:off x="628650" y="32575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D9E8353-11CE-476D-9422-0E671FCEBA9E}"/>
              </a:ext>
            </a:extLst>
          </p:cNvPr>
          <p:cNvSpPr>
            <a:spLocks noGrp="1"/>
          </p:cNvSpPr>
          <p:nvPr/>
        </p:nvSpPr>
        <p:spPr>
          <a:xfrm>
            <a:off x="628650" y="3581400"/>
            <a:ext cx="4953000" cy="409575"/>
          </a:xfrm>
          <a:prstGeom prst="roundRect">
            <a:avLst>
              <a:gd name="adj" fmla="val 20930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DD7A0D-060F-4E4B-85F5-400011CF0389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4648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共价边  E⁽ᶜᵒᵛ⁾  →  求和聚合  mᵢ⁽ᶜᵒᵛ⁾  →  更新网络  U⁽ᶜᵒᵛ⁾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75E2465-0522-47AD-B04D-81AFE88C69BA}"/>
              </a:ext>
            </a:extLst>
          </p:cNvPr>
          <p:cNvSpPr>
            <a:spLocks noGrp="1"/>
          </p:cNvSpPr>
          <p:nvPr/>
        </p:nvSpPr>
        <p:spPr>
          <a:xfrm>
            <a:off x="628650" y="4067175"/>
            <a:ext cx="4953000" cy="409575"/>
          </a:xfrm>
          <a:prstGeom prst="roundRect">
            <a:avLst>
              <a:gd name="adj" fmla="val 20930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C57E43-FA61-4107-BAAD-87A782CBD481}"/>
              </a:ext>
            </a:extLst>
          </p:cNvPr>
          <p:cNvSpPr>
            <a:spLocks noGrp="1"/>
          </p:cNvSpPr>
          <p:nvPr/>
        </p:nvSpPr>
        <p:spPr>
          <a:xfrm>
            <a:off x="781050" y="4133850"/>
            <a:ext cx="4648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 E⁽ⁿᶜᵒᵛ⁾  →  求和聚合  mᵢ⁽ⁿᶜᵒᵛ⁾  →  更新网络  U⁽ⁿᶜᵒᵛ⁾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B3D746-07CA-4972-B304-E2829F2BCF56}"/>
              </a:ext>
            </a:extLst>
          </p:cNvPr>
          <p:cNvSpPr>
            <a:spLocks noGrp="1"/>
          </p:cNvSpPr>
          <p:nvPr/>
        </p:nvSpPr>
        <p:spPr>
          <a:xfrm>
            <a:off x="628650" y="45910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hᵢ⁽ᵗ⁺¹⁾ = U⁽ᶜᵒᵛ⁾(hᵢ⁽ᵗ⁾, mᵢ⁽ᶜᵒᵛ⁾) + U⁽ⁿᶜᵒᵛ⁾(hᵢ⁽ᵗ⁾, mᵢ⁽ⁿᶜᵒᵛ⁾)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2B70AB-1144-4FC2-B447-21BF592AF9BB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4171A5-40A7-4540-B177-83DAD3CBF218}"/>
              </a:ext>
            </a:extLst>
          </p:cNvPr>
          <p:cNvSpPr>
            <a:spLocks noGrp="1"/>
          </p:cNvSpPr>
          <p:nvPr/>
        </p:nvSpPr>
        <p:spPr>
          <a:xfrm>
            <a:off x="628650" y="5343525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0626AA-9E98-43AD-933A-FA95C98ACE09}"/>
              </a:ext>
            </a:extLst>
          </p:cNvPr>
          <p:cNvSpPr>
            <a:spLocks noGrp="1"/>
          </p:cNvSpPr>
          <p:nvPr/>
        </p:nvSpPr>
        <p:spPr>
          <a:xfrm>
            <a:off x="628650" y="59055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6A9434-D63C-40B1-AAF0-E88EA3C69A39}"/>
              </a:ext>
            </a:extLst>
          </p:cNvPr>
          <p:cNvSpPr>
            <a:spLocks noGrp="1"/>
          </p:cNvSpPr>
          <p:nvPr/>
        </p:nvSpPr>
        <p:spPr>
          <a:xfrm>
            <a:off x="6496050" y="1524000"/>
            <a:ext cx="552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993F7A-76C9-4AC3-BE42-A2F70DE0FCA3}"/>
              </a:ext>
            </a:extLst>
          </p:cNvPr>
          <p:cNvSpPr>
            <a:spLocks noGrp="1"/>
          </p:cNvSpPr>
          <p:nvPr/>
        </p:nvSpPr>
        <p:spPr>
          <a:xfrm>
            <a:off x="7077075" y="1504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距离驱动的几何不变性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4B8B9C4-C4F3-4812-ABB1-BE0E3677BB0B}"/>
              </a:ext>
            </a:extLst>
          </p:cNvPr>
          <p:cNvSpPr>
            <a:spLocks noGrp="1"/>
          </p:cNvSpPr>
          <p:nvPr/>
        </p:nvSpPr>
        <p:spPr>
          <a:xfrm>
            <a:off x="6515100" y="2105025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13ED4F-4287-4638-9C73-AFE307A7707B}"/>
              </a:ext>
            </a:extLst>
          </p:cNvPr>
          <p:cNvSpPr>
            <a:spLocks noGrp="1"/>
          </p:cNvSpPr>
          <p:nvPr/>
        </p:nvSpPr>
        <p:spPr>
          <a:xfrm>
            <a:off x="6515100" y="238125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直接拼接绝对坐标会依赖参考系；同一个复合物整体平移或旋转后，输入表示随之改变。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4BFB31-AE48-48E7-82FC-90A0B8D74C50}"/>
              </a:ext>
            </a:extLst>
          </p:cNvPr>
          <p:cNvSpPr>
            <a:spLocks noGrp="1"/>
          </p:cNvSpPr>
          <p:nvPr/>
        </p:nvSpPr>
        <p:spPr>
          <a:xfrm>
            <a:off x="6515100" y="3105150"/>
            <a:ext cx="476250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1226DF-447E-445D-969B-40D857B2A9C0}"/>
              </a:ext>
            </a:extLst>
          </p:cNvPr>
          <p:cNvSpPr>
            <a:spLocks noGrp="1"/>
          </p:cNvSpPr>
          <p:nvPr/>
        </p:nvSpPr>
        <p:spPr>
          <a:xfrm>
            <a:off x="6515100" y="32575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7744786-9289-41F5-BE3B-D41E6522FA1C}"/>
              </a:ext>
            </a:extLst>
          </p:cNvPr>
          <p:cNvSpPr>
            <a:spLocks noGrp="1"/>
          </p:cNvSpPr>
          <p:nvPr/>
        </p:nvSpPr>
        <p:spPr>
          <a:xfrm>
            <a:off x="6515100" y="3581400"/>
            <a:ext cx="4762500" cy="409575"/>
          </a:xfrm>
          <a:prstGeom prst="roundRect">
            <a:avLst>
              <a:gd name="adj" fmla="val 20930"/>
            </a:avLst>
          </a:prstGeom>
          <a:solidFill>
            <a:srgbClr val="FFF0DE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C100CB-56BB-44AC-BD2D-7E9C288B2B26}"/>
              </a:ext>
            </a:extLst>
          </p:cNvPr>
          <p:cNvSpPr>
            <a:spLocks noGrp="1"/>
          </p:cNvSpPr>
          <p:nvPr/>
        </p:nvSpPr>
        <p:spPr>
          <a:xfrm>
            <a:off x="6667500" y="364807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rᵢ, rⱼ  →  dⱼᵢ = ‖rⱼ − rᵢ‖₂  →  RBF  →  Linear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D851955-409C-4F67-A616-9CDCC7D02C60}"/>
              </a:ext>
            </a:extLst>
          </p:cNvPr>
          <p:cNvSpPr>
            <a:spLocks noGrp="1"/>
          </p:cNvSpPr>
          <p:nvPr/>
        </p:nvSpPr>
        <p:spPr>
          <a:xfrm>
            <a:off x="6515100" y="414337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5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mⱼᵢ = hⱼ⁽ᵗ⁾ ⊙ λ(dⱼᵢ)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8AF697F-C869-45A9-907F-73B4BDE2A59A}"/>
              </a:ext>
            </a:extLst>
          </p:cNvPr>
          <p:cNvSpPr>
            <a:spLocks noGrp="1"/>
          </p:cNvSpPr>
          <p:nvPr/>
        </p:nvSpPr>
        <p:spPr>
          <a:xfrm>
            <a:off x="6515100" y="4591050"/>
            <a:ext cx="4762500" cy="428625"/>
          </a:xfrm>
          <a:prstGeom prst="roundRect">
            <a:avLst>
              <a:gd name="adj" fmla="val 20000"/>
            </a:avLst>
          </a:prstGeom>
          <a:solidFill>
            <a:srgbClr val="EAF3EC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78B235-9D68-41C1-9F22-90F169A8E74B}"/>
              </a:ext>
            </a:extLst>
          </p:cNvPr>
          <p:cNvSpPr>
            <a:spLocks noGrp="1"/>
          </p:cNvSpPr>
          <p:nvPr/>
        </p:nvSpPr>
        <p:spPr>
          <a:xfrm>
            <a:off x="6667500" y="4657725"/>
            <a:ext cx="4457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1350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rPr>
              <a:t>F(R, H⁽ᵗ⁾) = F(QR + g, H⁽ᵗ⁾)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D12C41-82F4-4A7A-B460-DAB99D770C23}"/>
              </a:ext>
            </a:extLst>
          </p:cNvPr>
          <p:cNvSpPr>
            <a:spLocks noGrp="1"/>
          </p:cNvSpPr>
          <p:nvPr/>
        </p:nvSpPr>
        <p:spPr>
          <a:xfrm>
            <a:off x="6515100" y="509587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93A396-9925-4B4A-9538-A337290C09F3}"/>
              </a:ext>
            </a:extLst>
          </p:cNvPr>
          <p:cNvSpPr>
            <a:spLocks noGrp="1"/>
          </p:cNvSpPr>
          <p:nvPr/>
        </p:nvSpPr>
        <p:spPr>
          <a:xfrm>
            <a:off x="6515100" y="5343525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引入三维距离信息，同时保证同一复合物改变位置或朝向后预测不变。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7E6558-B27C-460B-AC01-F13FDBA4D5C3}"/>
              </a:ext>
            </a:extLst>
          </p:cNvPr>
          <p:cNvSpPr>
            <a:spLocks noGrp="1"/>
          </p:cNvSpPr>
          <p:nvPr/>
        </p:nvSpPr>
        <p:spPr>
          <a:xfrm>
            <a:off x="6515100" y="59055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边界：距离没有显式编码氢键角度等方向信息。</a:t>
            </a:r>
          </a:p>
        </p:txBody>
      </p:sp>
    </p:spTree>
    <p:extLst>
      <p:ext uri="{BB962C8B-B14F-4D97-AF65-F5344CB8AC3E}">
        <p14:creationId xmlns:p14="http://schemas.microsoft.com/office/powerpoint/2010/main" val="105506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12A1769-C251-453B-AC4B-CCFD9A7DDD9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623D86-69AB-4A2B-BA55-E0A138F9E5A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研究结果：主基准性能与实验设置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6EE924-F15E-4FDD-846E-5F9284AB369D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C66C4-702F-4B8C-9120-E40BD66F534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959140-3BE9-48ED-908B-7983A2C51E4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48CAE3-F827-4403-8BE8-2F01BF1C83C5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A9121B-FF8C-448A-AACD-7C46DDCDAA3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38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代表模型对比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9529D6-B8BD-4605-922D-551ADF82973B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7524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每格为 RMSE / Rₚ，分别越低 / 越高越好</a:t>
            </a:r>
          </a:p>
        </p:txBody>
      </p:sp>
      <p:graphicFrame>
        <p:nvGraphicFramePr>
          <p:cNvPr id="29" name="表格 28"/>
          <p:cNvGraphicFramePr/>
          <p:nvPr/>
        </p:nvGraphicFramePr>
        <p:xfrm>
          <a:off x="609600" y="2133600"/>
          <a:ext cx="7239000" cy="2980376"/>
        </p:xfrm>
        <a:graphic>
          <a:graphicData uri="http://schemas.openxmlformats.org/drawingml/2006/table">
            <a:tbl>
              <a:tblPr/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107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285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 holdout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4,366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DeepDTA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1.639 / 0.718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1.357 / 0.785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1.485 / 0.586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Pafnucy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1.517 / 0.783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1.450 / 0.769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1.438 / 0.612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1.607 / 0.773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1.503 / 0.772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1.514 / 0.564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GNN-DTI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1.533 / 0.767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1.384 / 0.779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1.446 / 0.614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1.428 / 0.807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1.269 / 0.821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1.410 / 0.630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EGNN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 / 0.782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1.289 / 0.816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1.399 / 0.628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1.380 / 0.821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1.190 / 0.840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1.393 / 0.641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5E653D7-52FA-48FA-AD4C-1B9B51A63222}"/>
              </a:ext>
            </a:extLst>
          </p:cNvPr>
          <p:cNvSpPr>
            <a:spLocks noGrp="1"/>
          </p:cNvSpPr>
          <p:nvPr/>
        </p:nvSpPr>
        <p:spPr>
          <a:xfrm>
            <a:off x="8239125" y="1428750"/>
            <a:ext cx="2981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实验如何比较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72917E-3267-4A3C-8359-774F5A51D150}"/>
              </a:ext>
            </a:extLst>
          </p:cNvPr>
          <p:cNvSpPr>
            <a:spLocks noGrp="1"/>
          </p:cNvSpPr>
          <p:nvPr/>
        </p:nvSpPr>
        <p:spPr>
          <a:xfrm>
            <a:off x="8239125" y="1914525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训练与验证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E24D62-C15C-4652-83B3-09701DD18EB1}"/>
              </a:ext>
            </a:extLst>
          </p:cNvPr>
          <p:cNvSpPr>
            <a:spLocks noGrp="1"/>
          </p:cNvSpPr>
          <p:nvPr/>
        </p:nvSpPr>
        <p:spPr>
          <a:xfrm>
            <a:off x="8239125" y="2257425"/>
            <a:ext cx="3000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PDBbind 2016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训练 11,904，验证 1,000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各模型使用相同的数据划分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A9A0AC-7CE0-4EF3-A993-27DCFDDB41D5}"/>
              </a:ext>
            </a:extLst>
          </p:cNvPr>
          <p:cNvSpPr>
            <a:spLocks noGrp="1"/>
          </p:cNvSpPr>
          <p:nvPr/>
        </p:nvSpPr>
        <p:spPr>
          <a:xfrm>
            <a:off x="8239125" y="3124200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评估方式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76EAC1-EA78-4C95-A5C2-E23C793B92C7}"/>
              </a:ext>
            </a:extLst>
          </p:cNvPr>
          <p:cNvSpPr>
            <a:spLocks noGrp="1"/>
          </p:cNvSpPr>
          <p:nvPr/>
        </p:nvSpPr>
        <p:spPr>
          <a:xfrm>
            <a:off x="8239125" y="3467100"/>
            <a:ext cx="3000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3 个随机种子独立训练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按验证集最低 RMSE 选模型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表中展示 3 次运行的均值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5627FA-05FD-49FA-8716-6A4D57239AB3}"/>
              </a:ext>
            </a:extLst>
          </p:cNvPr>
          <p:cNvSpPr>
            <a:spLocks noGrp="1"/>
          </p:cNvSpPr>
          <p:nvPr/>
        </p:nvSpPr>
        <p:spPr>
          <a:xfrm>
            <a:off x="8239125" y="4362450"/>
            <a:ext cx="3000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holdout 的意义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02F720-B420-4798-B10C-ECBD5F3F981E}"/>
              </a:ext>
            </a:extLst>
          </p:cNvPr>
          <p:cNvSpPr>
            <a:spLocks noGrp="1"/>
          </p:cNvSpPr>
          <p:nvPr/>
        </p:nvSpPr>
        <p:spPr>
          <a:xfrm>
            <a:off x="8239125" y="4705350"/>
            <a:ext cx="30003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使用较新、未重叠的复合物，</a:t>
            </a:r>
          </a:p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近似时间外推，比 core 更难。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A3CAA-CADF-4D4B-A91C-482CCD61D3CF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Rₚ 相对最佳基线 IGN 的绝对提升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581025" y="5524500"/>
          <a:ext cx="4286250" cy="77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54AC7B2-3358-4E71-A25E-DA5382412D5A}"/>
              </a:ext>
            </a:extLst>
          </p:cNvPr>
          <p:cNvSpPr>
            <a:spLocks noGrp="1"/>
          </p:cNvSpPr>
          <p:nvPr/>
        </p:nvSpPr>
        <p:spPr>
          <a:xfrm>
            <a:off x="5238750" y="5286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F01321-41AE-4A24-8DC7-793EAAA82C49}"/>
              </a:ext>
            </a:extLst>
          </p:cNvPr>
          <p:cNvSpPr>
            <a:spLocks noGrp="1"/>
          </p:cNvSpPr>
          <p:nvPr/>
        </p:nvSpPr>
        <p:spPr>
          <a:xfrm>
            <a:off x="5238750" y="5638800"/>
            <a:ext cx="59817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GIGN 在三个测试集的两项指标均最优。</a:t>
            </a:r>
          </a:p>
          <a:p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Rₚ 仍仅 0.641，提升幅度较小，外推能力仍有限。</a:t>
            </a:r>
          </a:p>
        </p:txBody>
      </p:sp>
    </p:spTree>
    <p:extLst>
      <p:ext uri="{BB962C8B-B14F-4D97-AF65-F5344CB8AC3E}">
        <p14:creationId xmlns:p14="http://schemas.microsoft.com/office/powerpoint/2010/main" val="11359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2382958-90FC-4B96-BEE9-BA01455B6ECC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44E6EA-2D07-421B-9EFD-FF52E1C3727F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研究结果：消融验证与泛化能力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C47054-2E79-4384-B86B-3E4A3C4C2DAA}"/>
              </a:ext>
            </a:extLst>
          </p:cNvPr>
          <p:cNvSpPr>
            <a:spLocks noGrp="1"/>
          </p:cNvSpPr>
          <p:nvPr/>
        </p:nvSpPr>
        <p:spPr>
          <a:xfrm>
            <a:off x="609600" y="1209675"/>
            <a:ext cx="10610850" cy="19050"/>
          </a:xfrm>
          <a:prstGeom prst="rect">
            <a:avLst/>
          </a:prstGeom>
          <a:solidFill>
            <a:srgbClr val="00703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46E1C6-2D96-487A-800A-D1DC8EEE46B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10610850" cy="9525"/>
          </a:xfrm>
          <a:prstGeom prst="rect">
            <a:avLst/>
          </a:prstGeom>
          <a:solidFill>
            <a:srgbClr val="D7E0E7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520B76-0D5C-4E7B-B439-345123C4C50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99CD5D-37EB-4C39-9356-61324A50A913}"/>
              </a:ext>
            </a:extLst>
          </p:cNvPr>
          <p:cNvSpPr>
            <a:spLocks noGrp="1"/>
          </p:cNvSpPr>
          <p:nvPr/>
        </p:nvSpPr>
        <p:spPr>
          <a:xfrm>
            <a:off x="10744200" y="6486525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D9823-894E-45FE-9D5B-78F128442099}"/>
              </a:ext>
            </a:extLst>
          </p:cNvPr>
          <p:cNvSpPr>
            <a:spLocks noGrp="1"/>
          </p:cNvSpPr>
          <p:nvPr/>
        </p:nvSpPr>
        <p:spPr>
          <a:xfrm>
            <a:off x="609600" y="1419225"/>
            <a:ext cx="7048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消融实验：去掉什么，性能如何变化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BD0C30-A450-4028-A065-1FFB6CDC836E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7191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Pearson Rₚ（↑），均值 ± 标准差，3 次独立运行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609600" y="2114550"/>
          <a:ext cx="7620000" cy="1933575"/>
        </p:xfrm>
        <a:graphic>
          <a:graphicData uri="http://schemas.openxmlformats.org/drawingml/2006/table">
            <a:tbl>
              <a:tblPr/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模型变体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两类边同质传播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.791 ± 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.822 ± 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.634 ± 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TRVar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加入绝对坐标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.763 ± .019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.760 ± .010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.550 ± .007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坐标减去配体质心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.765 ± 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.788 ± .013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.608 ± 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异质传播＋不变性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.821 ± .003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.840 ± .007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.641 ± .006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96EC6C5-39A4-4C03-90A4-89CB3F8EB4FB}"/>
              </a:ext>
            </a:extLst>
          </p:cNvPr>
          <p:cNvSpPr>
            <a:spLocks noGrp="1"/>
          </p:cNvSpPr>
          <p:nvPr/>
        </p:nvSpPr>
        <p:spPr>
          <a:xfrm>
            <a:off x="8562975" y="1447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两个设计得到支持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20D21E-2359-46BE-B0BF-495C1CC0F7BF}"/>
              </a:ext>
            </a:extLst>
          </p:cNvPr>
          <p:cNvSpPr>
            <a:spLocks noGrp="1"/>
          </p:cNvSpPr>
          <p:nvPr/>
        </p:nvSpPr>
        <p:spPr>
          <a:xfrm>
            <a:off x="8562975" y="1924050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关系分通道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D8D963-DB81-476F-99BE-021A54BD5261}"/>
              </a:ext>
            </a:extLst>
          </p:cNvPr>
          <p:cNvSpPr>
            <a:spLocks noGrp="1"/>
          </p:cNvSpPr>
          <p:nvPr/>
        </p:nvSpPr>
        <p:spPr>
          <a:xfrm>
            <a:off x="8562975" y="22574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三组测试均优于同质传播，支持对两类消息分别建模。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3E4AAB-38D5-432D-A3E0-D766003AD850}"/>
              </a:ext>
            </a:extLst>
          </p:cNvPr>
          <p:cNvSpPr>
            <a:spLocks noGrp="1"/>
          </p:cNvSpPr>
          <p:nvPr/>
        </p:nvSpPr>
        <p:spPr>
          <a:xfrm>
            <a:off x="8562975" y="2981325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平移、旋转不变性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791D37-6C5C-4047-8A97-8652AE5B5FE6}"/>
              </a:ext>
            </a:extLst>
          </p:cNvPr>
          <p:cNvSpPr>
            <a:spLocks noGrp="1"/>
          </p:cNvSpPr>
          <p:nvPr/>
        </p:nvSpPr>
        <p:spPr>
          <a:xfrm>
            <a:off x="8562975" y="33242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绝对坐标使性能下降。质心归一化有所恢复，完整模型最佳。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72C046-4452-4DD4-8456-EF9F9E1042EF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762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进一步验证：模型能否推广到其他场景</a:t>
            </a:r>
          </a:p>
        </p:txBody>
      </p:sp>
      <p:graphicFrame>
        <p:nvGraphicFramePr>
          <p:cNvPr id="35" name="表格 34"/>
          <p:cNvGraphicFramePr/>
          <p:nvPr/>
        </p:nvGraphicFramePr>
        <p:xfrm>
          <a:off x="609600" y="4600575"/>
          <a:ext cx="7620000" cy="1647825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 ↓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Rₚ ↑</a:t>
                      </a:r>
                    </a:p>
                  </a:txBody>
                  <a:tcPr anchor="ctr">
                    <a:solidFill>
                      <a:srgbClr val="007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跨数据集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CSAR-HiQ，N = 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重新对接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近天然构象，RMSD &lt; 2 Å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1.261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0.826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配体骨架冷启动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按骨架分组，8:1:1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蛋白质冷启动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 序列相似性分组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1.521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0.565</a:t>
                      </a:r>
                    </a:p>
                  </a:txBody>
                  <a:tcPr anchor="ctr">
                    <a:solidFill>
                      <a:srgbClr val="F7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476B6623-4513-4250-A5AD-5885A3B594CD}"/>
              </a:ext>
            </a:extLst>
          </p:cNvPr>
          <p:cNvSpPr>
            <a:spLocks noGrp="1"/>
          </p:cNvSpPr>
          <p:nvPr/>
        </p:nvSpPr>
        <p:spPr>
          <a:xfrm>
            <a:off x="8562975" y="4219575"/>
            <a:ext cx="2809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适用范围与限制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891CD2-C26D-4828-AF73-60875D5ECD30}"/>
              </a:ext>
            </a:extLst>
          </p:cNvPr>
          <p:cNvSpPr>
            <a:spLocks noGrp="1"/>
          </p:cNvSpPr>
          <p:nvPr/>
        </p:nvSpPr>
        <p:spPr>
          <a:xfrm>
            <a:off x="8562975" y="4648200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蛋白质冷启动未保持领先：EGNN 的 Rₚ 为 0.579。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7D5F30-6503-435A-951B-D2BCEA7ABFEB}"/>
              </a:ext>
            </a:extLst>
          </p:cNvPr>
          <p:cNvSpPr>
            <a:spLocks noGrp="1"/>
          </p:cNvSpPr>
          <p:nvPr/>
        </p:nvSpPr>
        <p:spPr>
          <a:xfrm>
            <a:off x="8562975" y="5419725"/>
            <a:ext cx="2667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对接验证仅覆盖 RMSD &lt; 2 Å 的近天然构象，不能代表任意错误位姿。</a:t>
            </a:r>
          </a:p>
        </p:txBody>
      </p:sp>
    </p:spTree>
    <p:extLst>
      <p:ext uri="{BB962C8B-B14F-4D97-AF65-F5344CB8AC3E}">
        <p14:creationId xmlns:p14="http://schemas.microsoft.com/office/powerpoint/2010/main" val="9255263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DocSecurity>0</DocSecurity>
  <PresentationFormat>宽屏</PresentationFormat>
  <Paragraphs>190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Calibri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文泽 武</cp:lastModifiedBy>
  <cp:revision>1</cp:revision>
  <dcterms:created xsi:type="dcterms:W3CDTF">2026-09-14T08:07:20Z</dcterms:created>
  <dcterms:modified xsi:type="dcterms:W3CDTF">2026-09-14T08:44:29Z</dcterms:modified>
</cp:coreProperties>
</file>