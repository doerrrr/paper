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62" r:id="rId8"/>
    <p:sldId id="263" r:id="rId9"/>
    <p:sldId id="276" r:id="rId10"/>
    <p:sldId id="275" r:id="rId11"/>
    <p:sldId id="267" r:id="rId12"/>
    <p:sldId id="271" r:id="rId13"/>
    <p:sldId id="279" r:id="rId14"/>
    <p:sldId id="280" r:id="rId15"/>
    <p:sldId id="269" r:id="rId16"/>
    <p:sldId id="278" r:id="rId17"/>
    <p:sldId id="277" r:id="rId18"/>
    <p:sldId id="272" r:id="rId19"/>
    <p:sldId id="268" r:id="rId20"/>
    <p:sldId id="273" r:id="rId21"/>
    <p:sldId id="274" r:id="rId22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001" autoAdjust="0"/>
  </p:normalViewPr>
  <p:slideViewPr>
    <p:cSldViewPr snapToGrid="0" snapToObjects="1" showGuides="1">
      <p:cViewPr varScale="1">
        <p:scale>
          <a:sx n="95" d="100"/>
          <a:sy n="95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这次汇报不是把六篇论文依次复述，而是围绕一条研究链回答三个问题：AI 能否可信地生成无序蛋白的构象系综；ensemble 是否真的能为功能预测提供额外信息；以及现有方法能否继续走向分子设计。前半部分先统一概念和评价标准，中间讲代表方法与 benchmark，最后给出可以纯计算起步的研究方向。整场预计四十分钟左右。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先区分 IDP 和 IDR。IDP 指整条蛋白在生理条件下缺少唯一稳定的有序结构；IDR 指蛋白内部的某一段无序区域，因此同一条蛋白可以同时包含折叠结构域和 IDR。二者共同点是不能只用一张固定结构图描述。这里的“无序”不是没有任何结构，而是构象快速互变、没有单一结构长期占据绝对主导。后文所说的序列到 ensemble，既可以针对完整 IDP，也可以针对某段 IDR。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zh-CN" dirty="0"/>
              <a:t>GOOSE 主要做性质约束下的序列生成；STARLING 和 IDPFold 做 sequence 到 ensemble；LLPSense 处理 sequence、environment 与 LLPS 行为；binder 和 interface peptide 工作进一步走向功能分子设计。这里不是说六篇论文已经组成完整系统，而是把它们放到</a:t>
            </a:r>
            <a:r>
              <a:rPr lang="zh-CN" altLang="en-US" dirty="0"/>
              <a:t>一条序列上讲一下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en-US" dirty="0"/>
              <a:t>第一个问题是“生成是否可信”。模型能够生成很多外观合理的蛋白结构，并不代表这些结构会在真实条件下以明显概率存在。我们需要分别检查单个构象的几何合理性、整个</a:t>
            </a:r>
            <a:r>
              <a:rPr lang="en-US" altLang="zh-CN" dirty="0"/>
              <a:t>ensemble</a:t>
            </a:r>
            <a:r>
              <a:rPr lang="zh-CN" altLang="en-US" dirty="0"/>
              <a:t>的分布和权重，以及它能否解释独立实验数据。因此，这一步解决的是模型是否近似了真实的构象概率分布，而不只是生成了几张合理的结构图。</a:t>
            </a:r>
            <a:endParaRPr lang="zh-CN" altLang="en-US" dirty="0"/>
          </a:p>
          <a:p>
            <a:r>
              <a:rPr lang="zh-CN" altLang="en-US" dirty="0"/>
              <a:t>第二个问题是“</a:t>
            </a:r>
            <a:r>
              <a:rPr lang="en-US" altLang="zh-CN" dirty="0"/>
              <a:t>ensemble</a:t>
            </a:r>
            <a:r>
              <a:rPr lang="zh-CN" altLang="en-US" dirty="0"/>
              <a:t>是否真的有用”。</a:t>
            </a:r>
            <a:r>
              <a:rPr lang="en-US" altLang="zh-CN" dirty="0"/>
              <a:t>ensemble</a:t>
            </a:r>
            <a:r>
              <a:rPr lang="zh-CN" altLang="en-US" dirty="0"/>
              <a:t>本身由</a:t>
            </a:r>
            <a:r>
              <a:rPr lang="en-US" altLang="zh-CN" dirty="0"/>
              <a:t>sequence</a:t>
            </a:r>
            <a:r>
              <a:rPr lang="zh-CN" altLang="en-US" dirty="0"/>
              <a:t>和</a:t>
            </a:r>
            <a:r>
              <a:rPr lang="en-US" altLang="zh-CN" dirty="0"/>
              <a:t>environment</a:t>
            </a:r>
            <a:r>
              <a:rPr lang="zh-CN" altLang="en-US" dirty="0"/>
              <a:t>决定，因此加入</a:t>
            </a:r>
            <a:r>
              <a:rPr lang="en-US" altLang="zh-CN" dirty="0"/>
              <a:t>ensemble</a:t>
            </a:r>
            <a:r>
              <a:rPr lang="zh-CN" altLang="en-US" dirty="0"/>
              <a:t>特征后预测性能提高，也可能只是重复利用了序列长度、电荷或疏水性等已有信息。需要比较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sequence</a:t>
            </a:r>
            <a:r>
              <a:rPr lang="zh-CN" altLang="en-US" dirty="0"/>
              <a:t>加</a:t>
            </a:r>
            <a:r>
              <a:rPr lang="en-US" altLang="zh-CN" dirty="0"/>
              <a:t>environment</a:t>
            </a:r>
            <a:r>
              <a:rPr lang="zh-CN" altLang="en-US" dirty="0"/>
              <a:t>，以及进一步加入</a:t>
            </a:r>
            <a:r>
              <a:rPr lang="en-US" altLang="zh-CN" dirty="0"/>
              <a:t>ensemble</a:t>
            </a:r>
            <a:r>
              <a:rPr lang="zh-CN" altLang="en-US" dirty="0"/>
              <a:t>的三组模型。只有加入</a:t>
            </a:r>
            <a:r>
              <a:rPr lang="en-US" altLang="zh-CN" dirty="0"/>
              <a:t>ensemble</a:t>
            </a:r>
            <a:r>
              <a:rPr lang="zh-CN" altLang="en-US" dirty="0"/>
              <a:t>后，在功能预测等等测试中仍带来稳定增益，才能说明它包含额外的功能信息。</a:t>
            </a:r>
            <a:endParaRPr lang="zh-CN" altLang="en-US" dirty="0"/>
          </a:p>
          <a:p>
            <a:r>
              <a:rPr lang="zh-CN" altLang="en-US" dirty="0"/>
              <a:t>第三个问题是“能否走向设计”。如果前两步已经建立了</a:t>
            </a:r>
            <a:r>
              <a:rPr lang="en-US" altLang="zh-CN" dirty="0"/>
              <a:t>sequence</a:t>
            </a:r>
            <a:r>
              <a:rPr lang="zh-CN" altLang="en-US" dirty="0"/>
              <a:t>、</a:t>
            </a:r>
            <a:r>
              <a:rPr lang="en-US" altLang="zh-CN" dirty="0"/>
              <a:t>ensemble</a:t>
            </a:r>
            <a:r>
              <a:rPr lang="zh-CN" altLang="en-US" dirty="0"/>
              <a:t>和</a:t>
            </a:r>
            <a:r>
              <a:rPr lang="en-US" altLang="zh-CN" dirty="0"/>
              <a:t>function</a:t>
            </a:r>
            <a:r>
              <a:rPr lang="zh-CN" altLang="en-US" dirty="0"/>
              <a:t>之间的可靠关系，就可以反过来设计满足目标的</a:t>
            </a:r>
            <a:r>
              <a:rPr lang="en-US" altLang="zh-CN" dirty="0"/>
              <a:t>IDR</a:t>
            </a:r>
            <a:r>
              <a:rPr lang="zh-CN" altLang="en-US" dirty="0"/>
              <a:t>序列、</a:t>
            </a:r>
            <a:r>
              <a:rPr lang="en-US" altLang="zh-CN" dirty="0"/>
              <a:t>binder</a:t>
            </a:r>
            <a:r>
              <a:rPr lang="zh-CN" altLang="en-US" dirty="0"/>
              <a:t>或凝聚体定位肽。但设计不能只优化一个预测分数，还要考虑多个构象、不同环境、脱靶结合和聚集风险。纯计算研究可以完成候选生成和筛选，但在没有实验验证时，结论应限定为</a:t>
            </a:r>
            <a:r>
              <a:rPr lang="en-US" altLang="zh-CN" dirty="0"/>
              <a:t>in design candidates</a:t>
            </a:r>
            <a:r>
              <a:rPr lang="zh-CN" altLang="en-US" dirty="0"/>
              <a:t>。</a:t>
            </a:r>
            <a:br>
              <a:rPr lang="en-US" altLang="zh-CN" dirty="0"/>
            </a:b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GOOSE 的输入是长度、电荷、疏水性或构象倾向等性质约束，输出是满足这些约束且保持多样性的 IDR 序列。它的重要性在于把“预测一个序列的性质”反过来变成“按性质设计序列”。但它不直接输出三维 ensemble，也不能保证序列在细胞中具有目标功能。因此在研究链中，GOOSE 是 sequence design 的入口，可与 STARLING 或 IDPFold 连接形成候选序列—构象评价闭环，但这仍需要单独验证。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STARLING 的目标是从氨基酸序列和条件快速生成大量构象。模型内部使用残基—残基距离表示，再恢复成三维构象；多个独立样本共同描述分布。汇报这篇时重点不是展开每一层网络，而是看三类证据：采样速度与规模、Rg 或端到端距离等全局分布、以及距离图或参考 ensemble 的一致性。它的优势是快速，但评价仍依赖模拟或参考数据，生成大量样本也不自动证明统计权重和真实实验一致。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前面介绍了</a:t>
            </a:r>
            <a:r>
              <a:rPr lang="en-US" altLang="zh-CN" dirty="0"/>
              <a:t>IDP</a:t>
            </a:r>
            <a:r>
              <a:rPr lang="zh-CN" altLang="en-US" dirty="0"/>
              <a:t>不是一个固定结构，而是在不同构象之间不断变化。因此，</a:t>
            </a:r>
            <a:r>
              <a:rPr lang="en-US" altLang="zh-CN" dirty="0" err="1"/>
              <a:t>IDPFold</a:t>
            </a:r>
            <a:r>
              <a:rPr lang="zh-CN" altLang="en-US" dirty="0"/>
              <a:t>的目标不是预测一个最可能结构，而是从同一条</a:t>
            </a:r>
            <a:r>
              <a:rPr lang="en-US" altLang="zh-CN" dirty="0"/>
              <a:t>IDR</a:t>
            </a:r>
            <a:r>
              <a:rPr lang="zh-CN" altLang="en-US" dirty="0"/>
              <a:t>序列中重复生成多个构象，用这些构象近似其构象</a:t>
            </a:r>
            <a:r>
              <a:rPr lang="en-US" altLang="zh-CN" dirty="0"/>
              <a:t>ensemble</a:t>
            </a:r>
            <a:r>
              <a:rPr lang="zh-CN" altLang="en-US" dirty="0"/>
              <a:t>。模型的输入主要是一条氨基酸序列。首先，</a:t>
            </a:r>
            <a:r>
              <a:rPr lang="en-US" altLang="zh-CN" dirty="0"/>
              <a:t>ESM2</a:t>
            </a:r>
            <a:r>
              <a:rPr lang="zh-CN" altLang="en-US" dirty="0"/>
              <a:t>把序列编码成每个残基的序列特征；随后，扩散模型从一组随机的残基刚体框架开始，逐步去除位置和方向上的噪声，最终生成一个完整构象。在每一步去噪过程中，模型同时维护三类信息：第一类是</a:t>
            </a:r>
            <a:r>
              <a:rPr lang="en-US" altLang="zh-CN" dirty="0"/>
              <a:t>single representation</a:t>
            </a:r>
            <a:r>
              <a:rPr lang="zh-CN" altLang="en-US" dirty="0"/>
              <a:t>，表示每个残基自身的特征；第二类是</a:t>
            </a:r>
            <a:r>
              <a:rPr lang="en-US" altLang="zh-CN" dirty="0"/>
              <a:t>pair representation</a:t>
            </a:r>
            <a:r>
              <a:rPr lang="zh-CN" altLang="en-US" dirty="0"/>
              <a:t>，描述残基对之间的关系；第三类是刚体框架 </a:t>
            </a:r>
            <a:r>
              <a:rPr lang="en-US" altLang="zh-CN" dirty="0"/>
              <a:t>Tl</a:t>
            </a:r>
            <a:r>
              <a:rPr lang="zh-CN" altLang="en-US" dirty="0"/>
              <a:t>，描述每个残基当前的位置和方向。</a:t>
            </a:r>
            <a:r>
              <a:rPr lang="en-US" altLang="zh-CN" dirty="0"/>
              <a:t>IPA</a:t>
            </a:r>
            <a:r>
              <a:rPr lang="zh-CN" altLang="en-US" dirty="0"/>
              <a:t>利用残基的特征、残基对关系和三维坐标，使序列信息与空间几何信息发生交互；随后网络更新</a:t>
            </a:r>
            <a:r>
              <a:rPr lang="en-US" altLang="zh-CN" dirty="0"/>
              <a:t>single</a:t>
            </a:r>
            <a:r>
              <a:rPr lang="zh-CN" altLang="en-US" dirty="0"/>
              <a:t>、</a:t>
            </a:r>
            <a:r>
              <a:rPr lang="en-US" altLang="zh-CN" dirty="0"/>
              <a:t>pair</a:t>
            </a:r>
            <a:r>
              <a:rPr lang="zh-CN" altLang="en-US" dirty="0"/>
              <a:t>和刚体框架，重复多个</a:t>
            </a:r>
            <a:r>
              <a:rPr lang="en-US" altLang="zh-CN" dirty="0"/>
              <a:t>denoising block</a:t>
            </a:r>
            <a:r>
              <a:rPr lang="zh-CN" altLang="en-US" dirty="0"/>
              <a:t>，逐渐得到无噪结构。</a:t>
            </a:r>
            <a:br>
              <a:rPr lang="en-US" altLang="zh-CN" dirty="0"/>
            </a:br>
            <a:r>
              <a:rPr lang="zh-CN" altLang="en-US" dirty="0"/>
              <a:t>这里最关键的一点是：一次扩散采样只生成一个构象。对同一条序列使用不同随机初始噪声，重复采样很多次，才得到一个</a:t>
            </a:r>
            <a:r>
              <a:rPr lang="en-US" altLang="zh-CN" dirty="0"/>
              <a:t>ensemble</a:t>
            </a:r>
            <a:r>
              <a:rPr lang="zh-CN" altLang="en-US" dirty="0"/>
              <a:t>。也就是说，</a:t>
            </a:r>
            <a:r>
              <a:rPr lang="en-US" altLang="zh-CN" dirty="0"/>
              <a:t>ensemble</a:t>
            </a:r>
            <a:r>
              <a:rPr lang="zh-CN" altLang="en-US" dirty="0"/>
              <a:t>不是一次性输入或一次性输出的，而是由多次独立生成的构象共同组成。论文结果表明，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ensemble</a:t>
            </a:r>
            <a:r>
              <a:rPr lang="zh-CN" altLang="en-US" dirty="0"/>
              <a:t>在回转半径、端到端距离、局部二级结构以及部分实验观测上能够接近参考数据。这说明刚体扩散可以用于</a:t>
            </a:r>
            <a:r>
              <a:rPr lang="en-US" altLang="zh-CN" dirty="0"/>
              <a:t>IDP</a:t>
            </a:r>
            <a:r>
              <a:rPr lang="zh-CN" altLang="en-US" dirty="0"/>
              <a:t>构象采样，而不仅是固定结构预测。</a:t>
            </a:r>
            <a:endParaRPr lang="zh-CN" altLang="en-US" dirty="0"/>
          </a:p>
          <a:p>
            <a:r>
              <a:rPr lang="zh-CN" altLang="en-US" dirty="0"/>
              <a:t>但需要注意，</a:t>
            </a:r>
            <a:r>
              <a:rPr lang="en-US" altLang="zh-CN" dirty="0" err="1"/>
              <a:t>IDPFold</a:t>
            </a:r>
            <a:r>
              <a:rPr lang="zh-CN" altLang="en-US" dirty="0"/>
              <a:t>学习到的是训练数据中构象分布的近似。单个生成构象几何合理，并不代表它一定在真实</a:t>
            </a:r>
            <a:r>
              <a:rPr lang="en-US" altLang="zh-CN" dirty="0"/>
              <a:t>ensemble</a:t>
            </a:r>
            <a:r>
              <a:rPr lang="zh-CN" altLang="en-US" dirty="0"/>
              <a:t>中具有较高概率；与模拟参考一致，也不能完全等同于与真实实验一致。因此，我们更关心的不是模型能否生成漂亮的结构，而是整个构象分布能否覆盖合理状态，并解释独立实验观测。”</a:t>
            </a:r>
            <a:endParaRPr lang="zh-CN" altLang="en-US" dirty="0"/>
          </a:p>
          <a:p>
            <a:r>
              <a:rPr lang="zh-CN" altLang="en-US" dirty="0"/>
              <a:t>这两个模型虽然在生成方式和结构分辨率上存在差异，但也面临四个共同局限。</a:t>
            </a:r>
            <a:endParaRPr lang="zh-CN" altLang="en-US" dirty="0"/>
          </a:p>
          <a:p>
            <a:r>
              <a:rPr lang="zh-CN" altLang="en-US" dirty="0"/>
              <a:t>第一，模型生成的</a:t>
            </a:r>
            <a:r>
              <a:rPr lang="en-US" altLang="zh-CN" dirty="0"/>
              <a:t>ensemble</a:t>
            </a:r>
            <a:r>
              <a:rPr lang="zh-CN" altLang="en-US" dirty="0"/>
              <a:t>本质上是对模拟数据分布的学习和近似，并不能直接等同于真实的生物构象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r>
              <a:rPr lang="en-US" altLang="zh-CN" dirty="0" err="1"/>
              <a:t>IDPFold</a:t>
            </a:r>
            <a:r>
              <a:rPr lang="zh-CN" altLang="en-US" dirty="0"/>
              <a:t>主要从</a:t>
            </a:r>
            <a:r>
              <a:rPr lang="en-US" altLang="zh-CN" dirty="0"/>
              <a:t>IDP</a:t>
            </a:r>
            <a:r>
              <a:rPr lang="zh-CN" altLang="en-US" dirty="0"/>
              <a:t>模拟轨迹中学习，</a:t>
            </a:r>
            <a:r>
              <a:rPr lang="en-US" altLang="zh-CN" dirty="0"/>
              <a:t>STARLING</a:t>
            </a:r>
            <a:r>
              <a:rPr lang="zh-CN" altLang="en-US" dirty="0"/>
              <a:t>主要学习</a:t>
            </a:r>
            <a:r>
              <a:rPr lang="en-US" altLang="zh-CN" dirty="0" err="1"/>
              <a:t>Mpipi</a:t>
            </a:r>
            <a:r>
              <a:rPr lang="en-US" altLang="zh-CN" dirty="0"/>
              <a:t>-GG</a:t>
            </a:r>
            <a:r>
              <a:rPr lang="zh-CN" altLang="en-US" dirty="0"/>
              <a:t>粗粒化模拟。因此，模型不仅会学习其中的物理规律，也可能继承模拟力场的偏差。模型与参考模拟结果一致，只能说明它较好地复现了教师模型，还需要通过独立实验数据进一步验证。</a:t>
            </a:r>
            <a:endParaRPr lang="zh-CN" altLang="en-US" dirty="0"/>
          </a:p>
          <a:p>
            <a:r>
              <a:rPr lang="zh-CN" altLang="en-US" dirty="0"/>
              <a:t>第二，它们生成的是平衡构象样本，而不是连续的动态轨迹。不同构象之间没有明确的时间顺序，所以我们可以利用这些样本分析回转半径、残基距离以及不同构象状态的分布，但不能直接判断一个构象如何转变为另一个构象，也不能得到转换速率、状态寿命或者具体的结合路径。也就是说，它们描述的是“体系可能处于哪些状态”，而不是“体系如何随时间运动”。</a:t>
            </a:r>
            <a:endParaRPr lang="zh-CN" altLang="en-US" dirty="0"/>
          </a:p>
          <a:p>
            <a:r>
              <a:rPr lang="zh-CN" altLang="en-US" dirty="0"/>
              <a:t>第三，两种方法都不是完整的全原子模型。</a:t>
            </a:r>
            <a:r>
              <a:rPr lang="en-US" altLang="zh-CN" dirty="0"/>
              <a:t>STARLING</a:t>
            </a:r>
            <a:r>
              <a:rPr lang="zh-CN" altLang="en-US" dirty="0"/>
              <a:t>采用每个残基一个珠子的粗粒化表示，</a:t>
            </a:r>
            <a:r>
              <a:rPr lang="en-US" altLang="zh-CN" dirty="0" err="1"/>
              <a:t>IDPFold</a:t>
            </a:r>
            <a:r>
              <a:rPr lang="zh-CN" altLang="en-US" dirty="0"/>
              <a:t>虽然分辨率更高，但主要生成主链骨架，仍然没有完整描述所有侧链原子、溶剂和离子。因此，它们适合研究整体尺寸、距离分布和主链结构倾向，但如果要分析精确氢键、侧链堆积、盐桥或配体结合，还需要进一步进行原子补全和结构优化。</a:t>
            </a:r>
            <a:endParaRPr lang="zh-CN" altLang="en-US" dirty="0"/>
          </a:p>
          <a:p>
            <a:r>
              <a:rPr lang="zh-CN" altLang="en-US" dirty="0"/>
              <a:t>第四，环境条件的描述仍然有限。真实</a:t>
            </a:r>
            <a:r>
              <a:rPr lang="en-US" altLang="zh-CN" dirty="0"/>
              <a:t>IDP</a:t>
            </a:r>
            <a:r>
              <a:rPr lang="zh-CN" altLang="en-US" dirty="0"/>
              <a:t>的</a:t>
            </a:r>
            <a:r>
              <a:rPr lang="en-US" altLang="zh-CN" dirty="0"/>
              <a:t>ensemble</a:t>
            </a:r>
            <a:r>
              <a:rPr lang="zh-CN" altLang="en-US" dirty="0"/>
              <a:t>会受到温度、</a:t>
            </a:r>
            <a:r>
              <a:rPr lang="en-US" altLang="zh-CN" dirty="0"/>
              <a:t>pH</a:t>
            </a:r>
            <a:r>
              <a:rPr lang="zh-CN" altLang="en-US" dirty="0"/>
              <a:t>、离子强度、翻译后修饰、分子拥挤以及结合伙伴等因素影响。</a:t>
            </a:r>
            <a:r>
              <a:rPr lang="en-US" altLang="zh-CN" dirty="0"/>
              <a:t>STARLING</a:t>
            </a:r>
            <a:r>
              <a:rPr lang="zh-CN" altLang="en-US" dirty="0"/>
              <a:t>能够输入有限范围的离子强度，而</a:t>
            </a:r>
            <a:r>
              <a:rPr lang="en-US" altLang="zh-CN" dirty="0" err="1"/>
              <a:t>IDPFold</a:t>
            </a:r>
            <a:r>
              <a:rPr lang="zh-CN" altLang="en-US" dirty="0"/>
              <a:t>主要以氨基酸序列作为条件，但两者都没有完整覆盖真实细胞环境。</a:t>
            </a:r>
            <a:endParaRPr lang="zh-CN" altLang="en-US" dirty="0"/>
          </a:p>
          <a:p>
            <a:r>
              <a:rPr lang="zh-CN" altLang="en-US" dirty="0"/>
              <a:t>并且这个只是生成的集合构象不能严格算</a:t>
            </a:r>
            <a:r>
              <a:rPr lang="en-US" altLang="zh-CN" dirty="0"/>
              <a:t>ensemble</a:t>
            </a:r>
            <a:r>
              <a:rPr lang="zh-CN" altLang="en-US" dirty="0"/>
              <a:t>，因为只有一对构象没有足够的概率，但是某种构象比另一种构象多又会隐含概率，所以算做了</a:t>
            </a:r>
            <a:r>
              <a:rPr lang="en-US" altLang="zh-CN" dirty="0"/>
              <a:t>ensemble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58</a:t>
            </a:r>
            <a:r>
              <a:rPr lang="zh-CN" altLang="en-US" dirty="0"/>
              <a:t>条</a:t>
            </a:r>
            <a:r>
              <a:rPr lang="en-US" altLang="zh-CN" dirty="0"/>
              <a:t>ensemble</a:t>
            </a:r>
            <a:r>
              <a:rPr lang="zh-CN" altLang="en-US" dirty="0"/>
              <a:t>与真实的对比，</a:t>
            </a:r>
            <a:r>
              <a:rPr lang="en-US" altLang="zh-CN" dirty="0" err="1"/>
              <a:t>DeltaRg</a:t>
            </a:r>
            <a:r>
              <a:rPr lang="en-US" altLang="zh-CN" dirty="0"/>
              <a:t>=</a:t>
            </a:r>
            <a:r>
              <a:rPr lang="zh-CN" altLang="en-US" dirty="0"/>
              <a:t>实验室</a:t>
            </a:r>
            <a:r>
              <a:rPr lang="en-US" altLang="zh-CN" dirty="0"/>
              <a:t>-</a:t>
            </a:r>
            <a:r>
              <a:rPr lang="zh-CN" altLang="en-US" dirty="0"/>
              <a:t>真实值，也就是和实验的对比，然后发现平均的是</a:t>
            </a:r>
            <a:r>
              <a:rPr lang="en-US" altLang="zh-CN" dirty="0"/>
              <a:t>-0.06</a:t>
            </a:r>
            <a:r>
              <a:rPr lang="zh-CN" altLang="en-US" dirty="0"/>
              <a:t>也就是会预测差距</a:t>
            </a:r>
            <a:r>
              <a:rPr lang="en-US" altLang="zh-CN" dirty="0"/>
              <a:t>0.06</a:t>
            </a:r>
            <a:r>
              <a:rPr lang="zh-CN" altLang="en-US" dirty="0"/>
              <a:t>但也还可以了。</a:t>
            </a:r>
            <a:endParaRPr lang="en-US" altLang="zh-CN" dirty="0"/>
          </a:p>
          <a:p>
            <a:r>
              <a:rPr lang="zh-CN" altLang="en-US" dirty="0"/>
              <a:t>之后里面有八个是彩色的柱子，之后把那八个生成的</a:t>
            </a:r>
            <a:r>
              <a:rPr lang="en-US" altLang="zh-CN" dirty="0"/>
              <a:t>ensemble</a:t>
            </a:r>
            <a:r>
              <a:rPr lang="zh-CN" altLang="en-US" dirty="0"/>
              <a:t>放入</a:t>
            </a:r>
            <a:r>
              <a:rPr lang="en-US" altLang="zh-CN" dirty="0"/>
              <a:t>B</a:t>
            </a:r>
            <a:r>
              <a:rPr lang="zh-CN" altLang="en-US" dirty="0"/>
              <a:t>中进行比较，其中柱子上的黑色横线是</a:t>
            </a:r>
            <a:r>
              <a:rPr lang="en-US" altLang="zh-CN" dirty="0" err="1"/>
              <a:t>Rg</a:t>
            </a:r>
            <a:r>
              <a:rPr lang="zh-CN" altLang="en-US" dirty="0"/>
              <a:t>的波动范围</a:t>
            </a:r>
            <a:endParaRPr lang="en-US" altLang="zh-CN" dirty="0"/>
          </a:p>
          <a:p>
            <a:r>
              <a:rPr lang="en-US" altLang="zh-CN" dirty="0"/>
              <a:t>Figure 2B</a:t>
            </a:r>
            <a:r>
              <a:rPr lang="zh-CN" altLang="en-US" dirty="0"/>
              <a:t>进一步考察</a:t>
            </a:r>
            <a:r>
              <a:rPr lang="en-US" altLang="zh-CN" dirty="0" err="1"/>
              <a:t>IDPFold</a:t>
            </a:r>
            <a:r>
              <a:rPr lang="zh-CN" altLang="en-US" dirty="0"/>
              <a:t>能否预测构象尺寸的分布，而不仅是平均回转半径。彩色曲线是</a:t>
            </a:r>
            <a:r>
              <a:rPr lang="en-US" altLang="zh-CN" dirty="0" err="1"/>
              <a:t>IDPFold</a:t>
            </a:r>
            <a:r>
              <a:rPr lang="zh-CN" altLang="en-US" dirty="0"/>
              <a:t>生成的</a:t>
            </a:r>
            <a:r>
              <a:rPr lang="en-US" altLang="zh-CN" dirty="0"/>
              <a:t>300</a:t>
            </a:r>
            <a:r>
              <a:rPr lang="zh-CN" altLang="en-US" dirty="0"/>
              <a:t>个构象的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分布，黑色虚线是</a:t>
            </a:r>
            <a:r>
              <a:rPr lang="en-US" altLang="zh-CN" dirty="0"/>
              <a:t>CALVADOS</a:t>
            </a:r>
            <a:r>
              <a:rPr lang="zh-CN" altLang="en-US" dirty="0"/>
              <a:t>粗粒化模拟，黑色实线是实验测得的平均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</a:t>
            </a:r>
            <a:r>
              <a:rPr lang="zh-CN" altLang="en-US" dirty="0"/>
              <a:t>。多数蛋白中，</a:t>
            </a:r>
            <a:r>
              <a:rPr lang="en-US" altLang="zh-CN" dirty="0" err="1"/>
              <a:t>IDPFold</a:t>
            </a:r>
            <a:r>
              <a:rPr lang="zh-CN" altLang="en-US" dirty="0"/>
              <a:t>能够产生从紧凑到伸展的不同构象，其分布范围与</a:t>
            </a:r>
            <a:r>
              <a:rPr lang="en-US" altLang="zh-CN" dirty="0"/>
              <a:t>CALVADOS</a:t>
            </a:r>
            <a:r>
              <a:rPr lang="zh-CN" altLang="en-US" dirty="0"/>
              <a:t>大致相似。但实验只提供一个平均值，因此这张图主要证明</a:t>
            </a:r>
            <a:r>
              <a:rPr lang="en-US" altLang="zh-CN" dirty="0" err="1"/>
              <a:t>IDPFold</a:t>
            </a:r>
            <a:r>
              <a:rPr lang="zh-CN" altLang="en-US" dirty="0"/>
              <a:t>复现了模拟中的全局尺寸异质性，还不能证明完整分布就是真实</a:t>
            </a:r>
            <a:r>
              <a:rPr lang="en-US" altLang="zh-CN" dirty="0"/>
              <a:t>ensemble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Figure 4A</a:t>
            </a:r>
            <a:r>
              <a:rPr lang="zh-CN" altLang="en-US" dirty="0"/>
              <a:t>包含三个柱状图，每组比较四种全原子</a:t>
            </a:r>
            <a:r>
              <a:rPr lang="en-US" altLang="zh-CN" dirty="0"/>
              <a:t>MD</a:t>
            </a:r>
            <a:r>
              <a:rPr lang="zh-CN" altLang="en-US" dirty="0"/>
              <a:t>力场与</a:t>
            </a:r>
            <a:r>
              <a:rPr lang="en-US" altLang="zh-CN" dirty="0" err="1"/>
              <a:t>IDPFold</a:t>
            </a:r>
            <a:r>
              <a:rPr lang="zh-CN" altLang="en-US" dirty="0"/>
              <a:t>。上面两图通过</a:t>
            </a:r>
            <a:r>
              <a:rPr lang="en-US" altLang="zh-CN" dirty="0"/>
              <a:t>Cα</a:t>
            </a:r>
            <a:r>
              <a:rPr lang="zh-CN" altLang="en-US" dirty="0"/>
              <a:t>和 </a:t>
            </a:r>
            <a:r>
              <a:rPr lang="en-US" altLang="zh-CN" dirty="0"/>
              <a:t>Cβ</a:t>
            </a:r>
            <a:r>
              <a:rPr lang="zh-CN" altLang="en-US" dirty="0"/>
              <a:t>化学位移误差评价局部结构，</a:t>
            </a:r>
            <a:r>
              <a:rPr lang="en-US" altLang="zh-CN" dirty="0" err="1"/>
              <a:t>IDPFold</a:t>
            </a:r>
            <a:r>
              <a:rPr lang="zh-CN" altLang="en-US" dirty="0"/>
              <a:t>与较好的全原子力场整体相当；最下面通过回转半径相对误差评价整体紧凑程度，</a:t>
            </a:r>
            <a:r>
              <a:rPr lang="en-US" altLang="zh-CN" dirty="0" err="1"/>
              <a:t>IDPFold</a:t>
            </a:r>
            <a:r>
              <a:rPr lang="zh-CN" altLang="en-US" dirty="0"/>
              <a:t>在这</a:t>
            </a:r>
            <a:r>
              <a:rPr lang="en-US" altLang="zh-CN" dirty="0"/>
              <a:t>7</a:t>
            </a:r>
            <a:r>
              <a:rPr lang="zh-CN" altLang="en-US" dirty="0"/>
              <a:t>种测试蛋白上的平均误差最低。因此它的主要优势体现在平均全局尺寸，而局部结构只是达到与先进力场相近的水平。</a:t>
            </a:r>
            <a:endParaRPr lang="en-US" altLang="zh-CN" dirty="0"/>
          </a:p>
          <a:p>
            <a:r>
              <a:rPr lang="en-US" altLang="zh-CN" dirty="0"/>
              <a:t>\(C_\alpha\) </a:t>
            </a:r>
            <a:r>
              <a:rPr lang="zh-CN" altLang="en-US" dirty="0"/>
              <a:t>是氨基酸主链上的中心碳，</a:t>
            </a:r>
            <a:r>
              <a:rPr lang="en-US" altLang="zh-CN" dirty="0"/>
              <a:t>\(C_\beta\) </a:t>
            </a:r>
            <a:r>
              <a:rPr lang="zh-CN" altLang="en-US" dirty="0"/>
              <a:t>是侧链上的第一个碳；化学位移会受到周围电子环境和局部构象影响。因此，通过 </a:t>
            </a:r>
            <a:r>
              <a:rPr lang="en-US" altLang="zh-CN" dirty="0"/>
              <a:t>\(C_\alpha\) </a:t>
            </a:r>
            <a:r>
              <a:rPr lang="zh-CN" altLang="en-US" dirty="0"/>
              <a:t>和 </a:t>
            </a:r>
            <a:r>
              <a:rPr lang="en-US" altLang="zh-CN" dirty="0"/>
              <a:t>\(C_\beta\) </a:t>
            </a:r>
            <a:r>
              <a:rPr lang="zh-CN" altLang="en-US" dirty="0"/>
              <a:t>的化学位移，可以判断某个残基有多少误差</a:t>
            </a:r>
            <a:endParaRPr lang="en-US" altLang="zh-CN" dirty="0"/>
          </a:p>
          <a:p>
            <a:r>
              <a:rPr lang="en-US" altLang="zh-CN" dirty="0"/>
              <a:t>Figure 4B</a:t>
            </a:r>
            <a:r>
              <a:rPr lang="zh-CN" altLang="en-US" dirty="0"/>
              <a:t>对比</a:t>
            </a:r>
            <a:r>
              <a:rPr lang="en-US" altLang="zh-CN" dirty="0"/>
              <a:t>70</a:t>
            </a:r>
            <a:r>
              <a:rPr lang="zh-CN" altLang="en-US" dirty="0"/>
              <a:t>微秒全原子</a:t>
            </a:r>
            <a:r>
              <a:rPr lang="en-US" altLang="zh-CN" dirty="0"/>
              <a:t>MD</a:t>
            </a:r>
            <a:r>
              <a:rPr lang="zh-CN" altLang="en-US" dirty="0"/>
              <a:t>和</a:t>
            </a:r>
            <a:r>
              <a:rPr lang="en-US" altLang="zh-CN" dirty="0" err="1"/>
              <a:t>IDPFold</a:t>
            </a:r>
            <a:r>
              <a:rPr lang="zh-CN" altLang="en-US" dirty="0"/>
              <a:t>生成的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\)-RMSD</a:t>
            </a:r>
            <a:r>
              <a:rPr lang="zh-CN" altLang="en-US" dirty="0"/>
              <a:t>联合分布。横坐标反映整体紧凑程度，纵坐标反映构象相对参考结构的变化程度。全原子</a:t>
            </a:r>
            <a:r>
              <a:rPr lang="en-US" altLang="zh-CN" dirty="0"/>
              <a:t>MD</a:t>
            </a:r>
            <a:r>
              <a:rPr lang="zh-CN" altLang="en-US" dirty="0"/>
              <a:t>覆盖了更广的构象空间和更多伸展状态，而</a:t>
            </a:r>
            <a:r>
              <a:rPr lang="en-US" altLang="zh-CN" dirty="0" err="1"/>
              <a:t>IDPFold</a:t>
            </a:r>
            <a:r>
              <a:rPr lang="zh-CN" altLang="en-US" dirty="0"/>
              <a:t>的分布更加集中。虽然</a:t>
            </a:r>
            <a:r>
              <a:rPr lang="en-US" altLang="zh-CN" dirty="0" err="1"/>
              <a:t>IDPFold</a:t>
            </a:r>
            <a:r>
              <a:rPr lang="zh-CN" altLang="en-US" dirty="0"/>
              <a:t>的平均 </a:t>
            </a:r>
            <a:r>
              <a:rPr lang="en-US" altLang="zh-CN" dirty="0"/>
              <a:t>\(</a:t>
            </a:r>
            <a:r>
              <a:rPr lang="en-US" altLang="zh-CN" dirty="0" err="1"/>
              <a:t>R_g</a:t>
            </a:r>
            <a:r>
              <a:rPr lang="en-US" altLang="zh-CN" dirty="0"/>
              <a:t>\) </a:t>
            </a:r>
            <a:r>
              <a:rPr lang="zh-CN" altLang="en-US" dirty="0"/>
              <a:t>更接近实验，但它对完整构象空间的覆盖仍然不足。这说明平均尺寸准确不等于整个</a:t>
            </a:r>
            <a:r>
              <a:rPr lang="en-US" altLang="zh-CN" dirty="0"/>
              <a:t>ensemble</a:t>
            </a:r>
            <a:r>
              <a:rPr lang="zh-CN" altLang="en-US" dirty="0"/>
              <a:t>分布准确。</a:t>
            </a:r>
            <a:endParaRPr lang="en-US" altLang="zh-CN" dirty="0"/>
          </a:p>
          <a:p>
            <a:r>
              <a:rPr lang="zh-CN" altLang="en-US" dirty="0"/>
              <a:t>图</a:t>
            </a:r>
            <a:r>
              <a:rPr lang="en-US" altLang="zh-CN" dirty="0"/>
              <a:t>C</a:t>
            </a:r>
            <a:r>
              <a:rPr lang="zh-CN" altLang="en-US" dirty="0"/>
              <a:t>就是两个生成模型的相对比，都是各有优势</a:t>
            </a:r>
            <a:endParaRPr lang="en-US" altLang="zh-CN" dirty="0"/>
          </a:p>
          <a:p>
            <a:r>
              <a:rPr lang="zh-CN" altLang="en-US" dirty="0"/>
              <a:t>剩下的四个图是</a:t>
            </a:r>
            <a:r>
              <a:rPr lang="en-US" altLang="zh-CN" dirty="0"/>
              <a:t>Cα</a:t>
            </a:r>
            <a:r>
              <a:rPr lang="zh-CN" altLang="en-US" dirty="0"/>
              <a:t>等等是作者做的部分实验。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dirty="0"/>
              <a:t>我们不需要亲自做实验，也可以进行外部验证——已有论文和数据库提供了 SAXS、NMR、PRE 和 FRET 数据。</a:t>
            </a:r>
            <a:r>
              <a:rPr lang="zh-CN" altLang="en-US" dirty="0"/>
              <a:t>这四个数据主要是去评判生成的构象的化学特性，</a:t>
            </a:r>
            <a:r>
              <a:rPr lang="en-US" altLang="zh-CN" dirty="0"/>
              <a:t>SAXS</a:t>
            </a:r>
            <a:r>
              <a:rPr lang="zh-CN" altLang="en-US" dirty="0"/>
              <a:t>：整条链的大小和整体形状全局尺寸、紧凑程度</a:t>
            </a:r>
            <a:r>
              <a:rPr lang="en-US" altLang="zh-CN" dirty="0"/>
              <a:t>NMR chemical shift</a:t>
            </a:r>
            <a:r>
              <a:rPr lang="zh-CN" altLang="en-US" dirty="0"/>
              <a:t>每个残基附近的化学环境局部二级结构倾向</a:t>
            </a:r>
            <a:r>
              <a:rPr lang="en-US" altLang="zh-CN" dirty="0"/>
              <a:t>PRE</a:t>
            </a:r>
            <a:r>
              <a:rPr lang="zh-CN" altLang="en-US" dirty="0"/>
              <a:t>相距较远残基是否曾经短暂靠近瞬时长程接触</a:t>
            </a:r>
            <a:r>
              <a:rPr lang="en-US" altLang="zh-CN" dirty="0"/>
              <a:t>FRET</a:t>
            </a:r>
            <a:r>
              <a:rPr lang="zh-CN" altLang="en-US" dirty="0"/>
              <a:t>两个标记位点之间的距离特定位点距离分布</a:t>
            </a:r>
            <a:endParaRPr lang="zh-CN" altLang="en-US" dirty="0"/>
          </a:p>
          <a:p>
            <a:r>
              <a:rPr dirty="0"/>
              <a:t>模型生成 ensemble 后，通过统一的 forward model 计算这些实验理论上会观测到什么，再与公开数据比较。</a:t>
            </a:r>
            <a:endParaRPr lang="en-US" dirty="0"/>
          </a:p>
          <a:p>
            <a:r>
              <a:rPr lang="zh-CN" altLang="en-US" dirty="0"/>
              <a:t>实验仪器测到的通常不是三维构象本身，而是一条曲线、一个效率值或一组残基级数值。因此，必须把模型生成的三维构象“翻译”成实验能够测到的信号。</a:t>
            </a:r>
            <a:endParaRPr lang="zh-CN" altLang="en-US" dirty="0"/>
          </a:p>
          <a:p>
            <a:r>
              <a:rPr lang="zh-CN" altLang="en-US" dirty="0"/>
              <a:t>这个“从结构计算实验信号”的程序，就是</a:t>
            </a:r>
            <a:r>
              <a:rPr lang="en-US" altLang="zh-CN" dirty="0"/>
              <a:t>forward model</a:t>
            </a:r>
            <a:r>
              <a:rPr lang="zh-CN" altLang="en-US" dirty="0"/>
              <a:t>。</a:t>
            </a:r>
            <a:endParaRPr dirty="0"/>
          </a:p>
          <a:p>
            <a:r>
              <a:rPr lang="zh-CN" altLang="en-US" dirty="0"/>
              <a:t>“</a:t>
            </a:r>
            <a:r>
              <a:rPr lang="en-US" altLang="zh-CN" dirty="0"/>
              <a:t>held-out</a:t>
            </a:r>
            <a:r>
              <a:rPr lang="zh-CN" altLang="en-US" dirty="0"/>
              <a:t>公开数据”不是一种特殊实验，而是指：</a:t>
            </a:r>
            <a:endParaRPr lang="zh-CN" altLang="en-US" dirty="0"/>
          </a:p>
          <a:p>
            <a:r>
              <a:rPr lang="zh-CN" altLang="en-US" dirty="0"/>
              <a:t>数据已经公开，但在模型训练、调参、筛选和重加权过程中完全没有使用，只在模型确定以后用于最终考试。</a:t>
            </a:r>
            <a:endParaRPr dirty="0"/>
          </a:p>
          <a:p>
            <a:r>
              <a:rPr dirty="0"/>
              <a:t>需要特别注意三点。第一，几何合理性、参考模拟一致性和实验一致性代表三个不同的证据等级：几何检查只能排除“不像蛋白”的结构，参考模拟只能说明与某种力场或生成器一致，只有 held-out 实验数据才能提供外部验证。第二，开发集可以用于选择参数和 forward model，测试集只能用于最终评分，不能根据测试结果反复调整 ensemble 权重，否则得到的只是拟合效果，而不是泛化能力。第三，不同 ensemble 可能产生相似的实验观测，单一实验不能唯一确定 ensemble，应尽量使用多种互补观测。</a:t>
            </a:r>
            <a:endParaRPr dirty="0"/>
          </a:p>
          <a:p>
            <a:endParaRPr dirty="0"/>
          </a:p>
          <a:p>
            <a:r>
              <a:rPr dirty="0"/>
              <a:t>因此本页结论只能限定为“与公开独立数据一致”，不能只根据结构图或参考模拟宣称 ensemble 真实准确。</a:t>
            </a: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LLPSense 说明 sequence 加 environment 对相分离相关预测有价值，例如把盐浓度、温度或其他环境条件纳入输入后，模型能够描述条件依赖的变化。但这篇工作没有显式输入或生成构象 ensemble，因此不能据此断言“ensemble 通过多价相互作用决定 LLPS”的机制已被证明。它真正留下的计算问题是：在同样的序列和环境信息上，再加入 ensemble 特征，能否获得稳定、可迁移且可解释的增益。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interface peptide 的目标层级与 binder 不同。它不是识别某条 IDR 的特定位点，而是设计能够定位并富集于凝聚体介观界面的短肽。输入包含凝聚体组分、界面环境和候选序列，输出是界面定位肽，关键证据来自显微定位和定量富集。它与 binder 都属于功能分子设计，但无需做冗长优劣对比：前者面向凝聚体空间界面，后者面向特定靶片段的分子识别，验证终点不同。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这项工作针对柔性 IDR 靶片段设计 binder。</a:t>
            </a:r>
            <a:br>
              <a:rPr lang="en-US" altLang="zh-CN" dirty="0"/>
            </a:br>
            <a:r>
              <a:rPr lang="zh-CN" altLang="en-US" dirty="0"/>
              <a:t>本文没有提出新的扩散理论，而是将</a:t>
            </a:r>
            <a:r>
              <a:rPr lang="en-US" altLang="zh-CN" dirty="0" err="1"/>
              <a:t>RFdiffusion</a:t>
            </a:r>
            <a:r>
              <a:rPr lang="zh-CN" altLang="en-US" dirty="0"/>
              <a:t>的蛋白质刚体扩散框架扩展到坐标未知的柔性</a:t>
            </a:r>
            <a:r>
              <a:rPr lang="en-US" altLang="zh-CN" dirty="0"/>
              <a:t>IDR</a:t>
            </a:r>
            <a:r>
              <a:rPr lang="zh-CN" altLang="en-US" dirty="0"/>
              <a:t>靶标，使靶标结合态构象与</a:t>
            </a:r>
            <a:r>
              <a:rPr lang="en-US" altLang="zh-CN" dirty="0"/>
              <a:t>binder</a:t>
            </a:r>
            <a:r>
              <a:rPr lang="zh-CN" altLang="en-US" dirty="0"/>
              <a:t>骨架能够联合生成。</a:t>
            </a:r>
            <a:br>
              <a:rPr lang="en-US" altLang="zh-CN" dirty="0"/>
            </a:br>
            <a:r>
              <a:rPr lang="zh-CN" altLang="en-US" dirty="0"/>
              <a:t>图</a:t>
            </a:r>
            <a:r>
              <a:rPr lang="en-US" altLang="zh-CN" dirty="0"/>
              <a:t>A</a:t>
            </a:r>
            <a:r>
              <a:rPr lang="zh-CN" altLang="en-US" dirty="0"/>
              <a:t>展示的是扩散模型生成蛋白质骨架的基本过程。</a:t>
            </a:r>
            <a:endParaRPr lang="zh-CN" altLang="en-US" dirty="0"/>
          </a:p>
          <a:p>
            <a:r>
              <a:rPr lang="zh-CN" altLang="en-US" dirty="0"/>
              <a:t>最左侧表示生成起点：模型从先验分布中随机采样一个高噪声结构。这里随机的是各个残基在三维空间中的位置和朝向，并不是给氨基酸序列加噪。</a:t>
            </a:r>
            <a:endParaRPr lang="zh-CN" altLang="en-US" dirty="0"/>
          </a:p>
          <a:p>
            <a:r>
              <a:rPr lang="zh-CN" altLang="en-US" dirty="0"/>
              <a:t>进入第 </a:t>
            </a:r>
            <a:r>
              <a:rPr lang="en-US" altLang="zh-CN" dirty="0"/>
              <a:t>t </a:t>
            </a:r>
            <a:r>
              <a:rPr lang="zh-CN" altLang="en-US" dirty="0"/>
              <a:t>步后，</a:t>
            </a:r>
            <a:r>
              <a:rPr lang="en-US" altLang="zh-CN" dirty="0" err="1"/>
              <a:t>RFdiffusion</a:t>
            </a:r>
            <a:r>
              <a:rPr lang="zh-CN" altLang="en-US" dirty="0"/>
              <a:t>接收当前带噪结构、时间步以及靶标条件，预测这个结构完全去噪后可能呈现的最终形态。这个预测结果只是模型在当前时刻对最终结构的估计，还不能直接作为输出。</a:t>
            </a:r>
            <a:endParaRPr lang="zh-CN" altLang="en-US" dirty="0"/>
          </a:p>
          <a:p>
            <a:r>
              <a:rPr lang="zh-CN" altLang="en-US" dirty="0"/>
              <a:t>随后，扩散更新过程综合当前带噪结构和预测的干净结构，只去除一部分噪声，得到下一步结构。新的结构再次输入网络，继续进行预测和更新。</a:t>
            </a:r>
            <a:endParaRPr lang="zh-CN" altLang="en-US" dirty="0"/>
          </a:p>
          <a:p>
            <a:r>
              <a:rPr lang="zh-CN" altLang="en-US" dirty="0"/>
              <a:t>随着这个过程反复进行，残基的位置和朝向逐渐从随机状态变得有序，最终形成</a:t>
            </a:r>
            <a:r>
              <a:rPr lang="en-US" altLang="zh-CN" dirty="0"/>
              <a:t>IDR</a:t>
            </a:r>
            <a:r>
              <a:rPr lang="zh-CN" altLang="en-US" dirty="0"/>
              <a:t>的结合态构象以及与它相互匹配的</a:t>
            </a:r>
            <a:r>
              <a:rPr lang="en-US" altLang="zh-CN" dirty="0"/>
              <a:t>binder</a:t>
            </a:r>
            <a:r>
              <a:rPr lang="zh-CN" altLang="en-US" dirty="0"/>
              <a:t>主链结构。</a:t>
            </a:r>
            <a:endParaRPr lang="zh-CN" altLang="en-US" dirty="0"/>
          </a:p>
          <a:p>
            <a:r>
              <a:rPr lang="zh-CN" altLang="en-US" dirty="0"/>
              <a:t>因此，图</a:t>
            </a:r>
            <a:r>
              <a:rPr lang="en-US" altLang="zh-CN" dirty="0"/>
              <a:t>A</a:t>
            </a:r>
            <a:r>
              <a:rPr lang="zh-CN" altLang="en-US" dirty="0"/>
              <a:t>的核心不是“一步预测蛋白质结构”，而是“每一步预测最终结构，再逐步向它靠近”，直到完成整个去噪过程。</a:t>
            </a:r>
            <a:br>
              <a:rPr lang="en-US" altLang="zh-CN" dirty="0"/>
            </a:br>
            <a:r>
              <a:rPr lang="zh-CN" dirty="0"/>
              <a:t>流程是先给出目标氨基酸片段，并可指定候选结合态的二级结构倾向；RFdiffusion 生成与该靶片段兼容的 binder 主链和复合物构象；ProteinMPNN 根据主链设计 binder 序列；AlphaFold 用于筛选单体是否稳定、复合物是否保持预期界面；</a:t>
            </a:r>
            <a:endParaRPr lang="en-US" altLang="zh-CN" dirty="0"/>
          </a:p>
          <a:p>
            <a:r>
              <a:rPr lang="zh-CN" altLang="en-US" dirty="0"/>
              <a:t>不足：</a:t>
            </a:r>
            <a:endParaRPr lang="en-US" altLang="zh-CN" dirty="0"/>
          </a:p>
          <a:p>
            <a:r>
              <a:rPr lang="zh-CN" altLang="en-US" dirty="0"/>
              <a:t>因此，它对高度不规则、富含</a:t>
            </a:r>
            <a:r>
              <a:rPr lang="en-US" altLang="zh-CN" dirty="0"/>
              <a:t>loop</a:t>
            </a:r>
            <a:r>
              <a:rPr lang="zh-CN" altLang="en-US" dirty="0"/>
              <a:t>、极度柔性或缺少二级结构倾向的</a:t>
            </a:r>
            <a:r>
              <a:rPr lang="en-US" altLang="zh-CN" dirty="0"/>
              <a:t>IDR</a:t>
            </a:r>
            <a:r>
              <a:rPr lang="zh-CN" altLang="en-US" dirty="0"/>
              <a:t>可能效果较弱。例如</a:t>
            </a:r>
            <a:r>
              <a:rPr lang="en-US" altLang="zh-CN" dirty="0"/>
              <a:t>FUS</a:t>
            </a:r>
            <a:r>
              <a:rPr lang="zh-CN" altLang="en-US" dirty="0"/>
              <a:t>目标中测试</a:t>
            </a:r>
            <a:r>
              <a:rPr lang="en-US" altLang="zh-CN" dirty="0"/>
              <a:t>94</a:t>
            </a:r>
            <a:r>
              <a:rPr lang="zh-CN" altLang="en-US" dirty="0"/>
              <a:t>个设计，只有</a:t>
            </a:r>
            <a:r>
              <a:rPr lang="en-US" altLang="zh-CN" dirty="0"/>
              <a:t>3</a:t>
            </a:r>
            <a:r>
              <a:rPr lang="zh-CN" altLang="en-US" dirty="0"/>
              <a:t>个表现出结合，最佳亲和力约</a:t>
            </a:r>
            <a:r>
              <a:rPr lang="en-US" altLang="zh-CN" dirty="0"/>
              <a:t>520 </a:t>
            </a:r>
            <a:r>
              <a:rPr lang="en-US" altLang="zh-CN" dirty="0" err="1"/>
              <a:t>nM</a:t>
            </a:r>
            <a:r>
              <a:rPr lang="zh-CN" altLang="en-US" dirty="0"/>
              <a:t>。</a:t>
            </a:r>
            <a:endParaRPr lang="zh-CN" altLang="en-US" dirty="0"/>
          </a:p>
          <a:p>
            <a:r>
              <a:rPr lang="en-US" altLang="zh-CN" b="1" dirty="0"/>
              <a:t>2. </a:t>
            </a:r>
            <a:r>
              <a:rPr lang="zh-CN" altLang="en-US" b="1" dirty="0"/>
              <a:t>需要生成和筛选大量候选</a:t>
            </a:r>
            <a:endParaRPr lang="zh-CN" altLang="en-US" b="1" dirty="0"/>
          </a:p>
          <a:p>
            <a:r>
              <a:rPr lang="zh-CN" altLang="en-US" dirty="0"/>
              <a:t>每个</a:t>
            </a:r>
            <a:r>
              <a:rPr lang="en-US" altLang="zh-CN" dirty="0"/>
              <a:t>target</a:t>
            </a:r>
            <a:r>
              <a:rPr lang="zh-CN" altLang="en-US" dirty="0"/>
              <a:t>通常需要生成约</a:t>
            </a:r>
            <a:r>
              <a:rPr lang="en-US" altLang="zh-CN" dirty="0"/>
              <a:t>10,000–50,000</a:t>
            </a:r>
            <a:r>
              <a:rPr lang="zh-CN" altLang="en-US" dirty="0"/>
              <a:t>个设计，再经过</a:t>
            </a:r>
            <a:r>
              <a:rPr lang="en-US" altLang="zh-CN" dirty="0" err="1"/>
              <a:t>ProteinMPNN</a:t>
            </a:r>
            <a:r>
              <a:rPr lang="zh-CN" altLang="en-US" dirty="0"/>
              <a:t>、</a:t>
            </a:r>
            <a:r>
              <a:rPr lang="en-US" altLang="zh-CN" dirty="0"/>
              <a:t>AF2</a:t>
            </a:r>
            <a:r>
              <a:rPr lang="zh-CN" altLang="en-US" dirty="0"/>
              <a:t>和</a:t>
            </a:r>
            <a:r>
              <a:rPr lang="en-US" altLang="zh-CN" dirty="0"/>
              <a:t>Rosetta</a:t>
            </a:r>
            <a:r>
              <a:rPr lang="zh-CN" altLang="en-US" dirty="0"/>
              <a:t>筛选，最后选择</a:t>
            </a:r>
            <a:r>
              <a:rPr lang="en-US" altLang="zh-CN" dirty="0"/>
              <a:t>48–96</a:t>
            </a:r>
            <a:r>
              <a:rPr lang="zh-CN" altLang="en-US" dirty="0"/>
              <a:t>个进行实验。</a:t>
            </a:r>
            <a:endParaRPr lang="zh-CN" altLang="en-US" dirty="0"/>
          </a:p>
          <a:p>
            <a:r>
              <a:rPr lang="zh-CN" altLang="en-US" dirty="0"/>
              <a:t>这说明：</a:t>
            </a:r>
            <a:endParaRPr lang="zh-CN" altLang="en-US" dirty="0"/>
          </a:p>
          <a:p>
            <a:r>
              <a:rPr lang="zh-CN" altLang="en-US" dirty="0"/>
              <a:t>现有计算评分还不能准确判断哪个设计一定会结合。</a:t>
            </a:r>
            <a:endParaRPr lang="zh-CN" altLang="en-US" dirty="0"/>
          </a:p>
          <a:p>
            <a:r>
              <a:rPr lang="zh-CN" altLang="en-US" dirty="0"/>
              <a:t>论文证明了“大规模生成加实验筛选”能够找到</a:t>
            </a:r>
            <a:r>
              <a:rPr lang="en-US" altLang="zh-CN" dirty="0"/>
              <a:t>binder</a:t>
            </a:r>
            <a:r>
              <a:rPr lang="zh-CN" altLang="en-US" dirty="0"/>
              <a:t>，但没有证明计算评分可以准确预测实验成功率。</a:t>
            </a:r>
            <a:endParaRPr lang="en-US" altLang="zh-CN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长蛋白不等于靶向整个长</a:t>
            </a:r>
            <a:r>
              <a:rPr lang="en-US" altLang="zh-CN" b="1" dirty="0"/>
              <a:t>IDR</a:t>
            </a:r>
            <a:endParaRPr lang="en-US" altLang="zh-CN" b="1" dirty="0"/>
          </a:p>
          <a:p>
            <a:r>
              <a:rPr lang="zh-CN" altLang="en-US" dirty="0"/>
              <a:t>例如</a:t>
            </a:r>
            <a:r>
              <a:rPr lang="en-US" altLang="zh-CN" dirty="0"/>
              <a:t>BRCA1_ARATH</a:t>
            </a:r>
            <a:r>
              <a:rPr lang="zh-CN" altLang="en-US" dirty="0"/>
              <a:t>有</a:t>
            </a:r>
            <a:r>
              <a:rPr lang="en-US" altLang="zh-CN" dirty="0"/>
              <a:t>941</a:t>
            </a:r>
            <a:r>
              <a:rPr lang="zh-CN" altLang="en-US" dirty="0"/>
              <a:t>个残基，但论文实际靶向的是其中</a:t>
            </a:r>
            <a:r>
              <a:rPr lang="en-US" altLang="zh-CN" dirty="0"/>
              <a:t>21</a:t>
            </a:r>
            <a:r>
              <a:rPr lang="zh-CN" altLang="en-US" dirty="0"/>
              <a:t>个残基的片段。</a:t>
            </a:r>
            <a:endParaRPr lang="zh-CN" altLang="en-US" dirty="0"/>
          </a:p>
          <a:p>
            <a:r>
              <a:rPr lang="zh-CN" altLang="en-US" dirty="0"/>
              <a:t>所以论文证明的是：</a:t>
            </a:r>
            <a:endParaRPr lang="zh-CN" altLang="en-US" dirty="0"/>
          </a:p>
          <a:p>
            <a:r>
              <a:rPr lang="zh-CN" altLang="en-US" dirty="0"/>
              <a:t>可以从长</a:t>
            </a:r>
            <a:r>
              <a:rPr lang="en-US" altLang="zh-CN" dirty="0"/>
              <a:t>IDP</a:t>
            </a:r>
            <a:r>
              <a:rPr lang="zh-CN" altLang="en-US" dirty="0"/>
              <a:t>中选择一段短区域进行</a:t>
            </a:r>
            <a:r>
              <a:rPr lang="en-US" altLang="zh-CN" dirty="0"/>
              <a:t>binder</a:t>
            </a:r>
            <a:r>
              <a:rPr lang="zh-CN" altLang="en-US" dirty="0"/>
              <a:t>设计。</a:t>
            </a:r>
            <a:endParaRPr lang="zh-CN" altLang="en-US" dirty="0"/>
          </a:p>
          <a:p>
            <a:r>
              <a:rPr lang="zh-CN" altLang="en-US" dirty="0"/>
              <a:t>没有证明一个</a:t>
            </a:r>
            <a:r>
              <a:rPr lang="en-US" altLang="zh-CN" dirty="0"/>
              <a:t>binder</a:t>
            </a:r>
            <a:r>
              <a:rPr lang="zh-CN" altLang="en-US" dirty="0"/>
              <a:t>能够识别整条长</a:t>
            </a:r>
            <a:r>
              <a:rPr lang="en-US" altLang="zh-CN" dirty="0"/>
              <a:t>IDP</a:t>
            </a:r>
            <a:r>
              <a:rPr lang="zh-CN" altLang="en-US" dirty="0"/>
              <a:t>的所有构象，也没有证明方法能够自动选择最适合靶向的片段。</a:t>
            </a:r>
            <a:endParaRPr lang="zh-CN" altLang="en-US" dirty="0"/>
          </a:p>
          <a:p>
            <a:endParaRPr lang="zh-CN" altLang="en-US" dirty="0"/>
          </a:p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/>
              <a:t>nM</a:t>
            </a:r>
            <a:r>
              <a:rPr lang="zh-CN" altLang="en-US" dirty="0"/>
              <a:t>读纳摩尔每升</a:t>
            </a:r>
            <a:endParaRPr lang="en-US" altLang="zh-CN" dirty="0"/>
          </a:p>
          <a:p>
            <a:r>
              <a:rPr lang="en-US" altLang="zh-CN" dirty="0"/>
              <a:t>Figure 2A</a:t>
            </a:r>
            <a:r>
              <a:rPr lang="zh-CN" altLang="en-US" dirty="0"/>
              <a:t>上方是模型生成的</a:t>
            </a:r>
            <a:r>
              <a:rPr lang="en-US" altLang="zh-CN" dirty="0"/>
              <a:t>amylin</a:t>
            </a:r>
            <a:r>
              <a:rPr lang="zh-CN" altLang="en-US" dirty="0"/>
              <a:t>与</a:t>
            </a:r>
            <a:r>
              <a:rPr lang="en-US" altLang="zh-CN" dirty="0"/>
              <a:t>binder</a:t>
            </a:r>
            <a:r>
              <a:rPr lang="zh-CN" altLang="en-US" dirty="0"/>
              <a:t>复合物。蓝色是</a:t>
            </a:r>
            <a:r>
              <a:rPr lang="en-US" altLang="zh-CN" dirty="0"/>
              <a:t>amylin</a:t>
            </a:r>
            <a:r>
              <a:rPr lang="zh-CN" altLang="en-US" dirty="0"/>
              <a:t>，粉色是设计</a:t>
            </a:r>
            <a:r>
              <a:rPr lang="en-US" altLang="zh-CN" dirty="0"/>
              <a:t>binder</a:t>
            </a:r>
            <a:r>
              <a:rPr lang="zh-CN" altLang="en-US" dirty="0"/>
              <a:t>，模型将柔性的</a:t>
            </a:r>
            <a:r>
              <a:rPr lang="en-US" altLang="zh-CN" dirty="0"/>
              <a:t>amylin</a:t>
            </a:r>
            <a:r>
              <a:rPr lang="zh-CN" altLang="en-US" dirty="0"/>
              <a:t>稳定在一个包含</a:t>
            </a:r>
            <a:r>
              <a:rPr lang="en-US" altLang="zh-CN" dirty="0"/>
              <a:t>α</a:t>
            </a:r>
            <a:r>
              <a:rPr lang="zh-CN" altLang="en-US" dirty="0"/>
              <a:t>和</a:t>
            </a:r>
            <a:r>
              <a:rPr lang="en-US" altLang="zh-CN" dirty="0"/>
              <a:t>β</a:t>
            </a:r>
            <a:r>
              <a:rPr lang="zh-CN" altLang="en-US" dirty="0"/>
              <a:t>局部结构的特定结合态，同时保留了关键二硫键。下方通过四种</a:t>
            </a:r>
            <a:r>
              <a:rPr lang="en-US" altLang="zh-CN" dirty="0"/>
              <a:t>binder</a:t>
            </a:r>
            <a:r>
              <a:rPr lang="zh-CN" altLang="en-US" dirty="0"/>
              <a:t>浓度的</a:t>
            </a:r>
            <a:r>
              <a:rPr lang="en-US" altLang="zh-CN" dirty="0"/>
              <a:t>BLI</a:t>
            </a:r>
            <a:r>
              <a:rPr lang="zh-CN" altLang="en-US" dirty="0"/>
              <a:t>实验验证结合，曲线上升表示结合、下降表示解离。</a:t>
            </a:r>
            <a:br>
              <a:rPr lang="en-US" altLang="zh-CN" dirty="0"/>
            </a:br>
            <a:r>
              <a:rPr lang="zh-CN" altLang="en-US" dirty="0"/>
              <a:t>作者做的实验是先把这些</a:t>
            </a:r>
            <a:r>
              <a:rPr lang="en-US" altLang="zh-CN" dirty="0"/>
              <a:t>Target</a:t>
            </a:r>
            <a:r>
              <a:rPr lang="zh-CN" altLang="en-US" dirty="0"/>
              <a:t>放入不同浓度的含有</a:t>
            </a:r>
            <a:r>
              <a:rPr lang="en-US" altLang="zh-CN" dirty="0"/>
              <a:t>binder</a:t>
            </a:r>
            <a:r>
              <a:rPr lang="zh-CN" altLang="en-US" dirty="0"/>
              <a:t>溶液中，后面下降越慢说明结合越紧密。</a:t>
            </a:r>
            <a:br>
              <a:rPr lang="en-US" altLang="zh-CN" dirty="0"/>
            </a:br>
            <a:r>
              <a:rPr lang="zh-CN" altLang="en-US" dirty="0"/>
              <a:t>多个浓度的全局拟合得到</a:t>
            </a:r>
            <a:r>
              <a:rPr lang="en-US" altLang="zh-CN" dirty="0"/>
              <a:t>3.8</a:t>
            </a:r>
            <a:r>
              <a:rPr lang="zh-CN" altLang="en-US" dirty="0"/>
              <a:t>纳摩尔的解离常数，证明该设计具有较强的实际亲和力。但这只能验证两者确实结合，不能单独证明计算预测的结合姿势以及自由态构象概率完全正确。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总结来看，这篇论文最大的贡献，是把基于结构的 binder 设计从固定靶标扩展到了柔性 IDR。模型只需要靶标序列，就能联合生成靶标结合态和 binder，并通过二级结构条件和双向部分扩散进一步优化。实验上，代表性设计获得了纳摩尔级亲和力、晶体结构以及细胞功能验证。</a:t>
            </a:r>
            <a:endParaRPr dirty="0"/>
          </a:p>
          <a:p>
            <a:endParaRPr dirty="0"/>
          </a:p>
          <a:p>
            <a:r>
              <a:rPr dirty="0"/>
              <a:t>但是，模型直接围绕一个生成的结合态进行设计，没有显式考虑靶标的自由态 ensemble，因此不知道该结合态原本是否容易出现、需要多大的构象重组代价。另外它主要针对单一结合态，能否结合多个构象、只选择特定功能状态、应对环境引起的构象变化，都还不清楚；每个靶标仍然需要生成大量候选，再经过 ProteinMPNN、AF2 和实验筛选，模型还无法预判哪些候选最终会成功。</a:t>
            </a:r>
            <a:endParaRPr dirty="0"/>
          </a:p>
          <a:p>
            <a:r>
              <a:rPr lang="zh-CN" altLang="en-US" dirty="0"/>
              <a:t>之后是对未来的展望，一共有三个方面</a:t>
            </a:r>
            <a:endParaRPr lang="en-US" altLang="zh-CN" dirty="0"/>
          </a:p>
          <a:p>
            <a:r>
              <a:rPr lang="zh-CN" altLang="en-US" dirty="0"/>
              <a:t>首先是。。。</a:t>
            </a:r>
            <a:endParaRPr lang="en-US" altLang="zh-CN" dirty="0"/>
          </a:p>
          <a:p>
            <a:r>
              <a:rPr lang="zh-CN" altLang="en-US" dirty="0"/>
              <a:t>其次是多构象与状态选择性设计，首先多构象就是某一个类型的构象共用一个</a:t>
            </a:r>
            <a:r>
              <a:rPr lang="en-US" altLang="zh-CN" dirty="0"/>
              <a:t>binder</a:t>
            </a:r>
            <a:r>
              <a:rPr lang="zh-CN" altLang="en-US" dirty="0"/>
              <a:t>，其次状态选择就是只结合某一个特定的构象其他的不结合</a:t>
            </a:r>
            <a:endParaRPr dirty="0"/>
          </a:p>
          <a:p>
            <a:r>
              <a:rPr lang="zh-CN" altLang="en-US" dirty="0"/>
              <a:t>我认为</a:t>
            </a:r>
            <a:r>
              <a:rPr dirty="0"/>
              <a:t>，最可行的下一步是把 IDPFold 或 STARLING 生成的自由态 ensemble 接入 binder 筛选，</a:t>
            </a:r>
            <a:r>
              <a:rPr lang="zh-CN" altLang="en-US" dirty="0"/>
              <a:t>之后评价结合态然后去排序</a:t>
            </a:r>
            <a:r>
              <a:rPr dirty="0"/>
              <a:t>。这样做不需要重新训练 RFdiffusion，也不依赖立即开展湿实验，可以先验证自由态 ensemble 是否为 binder 成功率提供额外的预测信息。</a:t>
            </a:r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序列到</a:t>
            </a:r>
            <a:r>
              <a:rPr lang="en-US" altLang="zh-CN" dirty="0"/>
              <a:t>ensemble</a:t>
            </a:r>
            <a:r>
              <a:rPr lang="zh-CN" altLang="en-US" dirty="0"/>
              <a:t>可做的任务不是一个新的研究，而是一个类似于综述的工作</a:t>
            </a:r>
            <a:endParaRPr lang="en-US" altLang="zh-CN" dirty="0"/>
          </a:p>
          <a:p>
            <a:r>
              <a:rPr lang="zh-CN" altLang="en-US" dirty="0"/>
              <a:t>构象是否可达：某个构象是否有一定的概率</a:t>
            </a:r>
            <a:endParaRPr lang="en-US" altLang="zh-CN" dirty="0"/>
          </a:p>
          <a:p>
            <a:r>
              <a:rPr lang="zh-CN" altLang="en-US" dirty="0"/>
              <a:t>泛化：同一个</a:t>
            </a:r>
            <a:r>
              <a:rPr lang="en-US" altLang="zh-CN" dirty="0"/>
              <a:t>binder</a:t>
            </a:r>
            <a:r>
              <a:rPr lang="zh-CN" altLang="en-US" dirty="0"/>
              <a:t>是否能结合其他相似的</a:t>
            </a:r>
            <a:r>
              <a:rPr lang="en-US" altLang="zh-CN" dirty="0"/>
              <a:t>IDR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这一页把上面的缺口转成可执行实验。M1 只输入序列，M2 输入序列和环境，M3 再加入由同一生成器得到的 ensemble 统计特征。三组必须使用相同数据、蛋白级划分和尽量接近的模型容量。除了普通测试，还要做跨环境测试、ensemble 特征消融以及跨生成器验证。只有 M3 在这些条件下仍稳定优于 M2，且提升不是由长度或数据泄漏造成，才能支持 ensemble 提供了额外功能信息。这是目前最适合纯计算切入的方向。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三个方向按风险递增。方向一是统一评测：复现 STARLING、IDPFold 和基线模拟，建立相同靶标、条件、forward model 和多指标报告，最容易形成可信基线。方向二是 ensemble 增强的 LLPS 预测：完成 M1/M2/M3 严格对照，科学问题清楚，也可纯计算完成，最推荐作为当前切入点。方向三是 ensemble-aware 设计，把构象覆盖、相分离或脱靶风险加入设计目标，潜力最大，但验证成本和生物合作要求最高。建议先一或二，再推进三。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最后讨论三个选择：第一，先做统一 benchmark，建立数据和评价能力；第二，先验证 ensemble 对 LLPS 或相互作用预测是否提供额外信息；第三，直接进入 binder 或凝聚体界面肽设计。我的建议是以方向一作为基础设施、方向二作为主研究问题，并把方向三保留为中长期延伸。若老师追问现有论文证据边界，可返回第十七页；若讨论具体课题工作量和产出，返回第十八页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idp_hzau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altLang="zh-CN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altLang="zh-CN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jpe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wash"/>
          <p:cNvSpPr/>
          <p:nvPr/>
        </p:nvSpPr>
        <p:spPr>
          <a:xfrm>
            <a:off x="-285750" y="1047750"/>
            <a:ext cx="12954000" cy="4381500"/>
          </a:xfrm>
          <a:custGeom>
            <a:avLst/>
            <a:gdLst/>
            <a:ahLst/>
            <a:cxnLst/>
            <a:rect l="l" t="t" r="r" b="b"/>
            <a:pathLst>
              <a:path w="12954000" h="4381500">
                <a:moveTo>
                  <a:pt x="0" y="3810000"/>
                </a:moveTo>
                <a:cubicBezTo>
                  <a:pt x="2762250" y="2286000"/>
                  <a:pt x="5429250" y="4381500"/>
                  <a:pt x="8382000" y="2381250"/>
                </a:cubicBezTo>
                <a:cubicBezTo>
                  <a:pt x="11334750" y="381000"/>
                  <a:pt x="11430000" y="1333500"/>
                  <a:pt x="12954000" y="0"/>
                </a:cubicBezTo>
              </a:path>
            </a:pathLst>
          </a:custGeom>
          <a:noFill/>
          <a:ln w="781050">
            <a:solidFill>
              <a:schemeClr val="accent1">
                <a:alpha val="12000"/>
              </a:schemeClr>
            </a:solidFill>
          </a:ln>
        </p:spPr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749808" y="768096"/>
            <a:ext cx="82296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IDP / IDR   ×   ARTIFICIAL INTELLIGENCE</a:t>
            </a:r>
            <a:endParaRPr sz="15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389888"/>
            <a:ext cx="10515600" cy="518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2000"/>
              </a:lnSpc>
            </a:pPr>
            <a:r>
              <a:rPr sz="40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无序蛋白人工智能研究进展</a:t>
            </a:r>
            <a:endParaRPr sz="40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8952" y="2194560"/>
            <a:ext cx="8686800" cy="3017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8000"/>
              </a:lnSpc>
            </a:pPr>
            <a:r>
              <a:rPr sz="2200" b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序列、构象系综、功能与设计</a:t>
            </a:r>
            <a:endParaRPr sz="2200" b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8952" y="3090672"/>
            <a:ext cx="9144000" cy="2482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三人小组文献调研与研究路线</a:t>
            </a:r>
            <a:endParaRPr sz="17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8096" y="3493008"/>
            <a:ext cx="9326880" cy="216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4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以六篇代表性工作为节点，梳理 AI–IDP 的任务链、验证边界与可行研究方向</a:t>
            </a:r>
            <a:endParaRPr sz="14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5394960"/>
            <a:ext cx="8686800" cy="20573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汇报人：A、B、C　　时间：2026.__.__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8096" y="5870448"/>
            <a:ext cx="8686800" cy="167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100" b="0">
                <a:solidFill>
                  <a:srgbClr val="7FA992"/>
                </a:solidFill>
                <a:latin typeface="Arial" panose="020B0604020202020204"/>
                <a:ea typeface="微软雅黑" panose="020B0503020204020204" charset="-122"/>
              </a:rPr>
              <a:t>H U A Z H O N G   A G R I C U L T U R A L   U N I V E R S I T Y</a:t>
            </a:r>
            <a:endParaRPr sz="1100" b="0">
              <a:solidFill>
                <a:srgbClr val="7FA992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5029200"/>
            <a:ext cx="1069848" cy="10698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1539728" y="6382512"/>
            <a:ext cx="320040" cy="32004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  <a:endParaRPr sz="110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footer-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2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概念准备：从 IDP / IDR 到统计 ensemble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61264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IDP 与 IDR</a:t>
            </a:r>
            <a:r>
              <a:rPr lang="zh-CN" altLang="en-US" sz="160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的区别：</a:t>
            </a:r>
            <a:endParaRPr sz="160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13816" y="1836928"/>
            <a:ext cx="4946903" cy="899668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1955800"/>
            <a:ext cx="4617719" cy="6619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IDP｜内在无序蛋白</a:t>
            </a:r>
            <a:endParaRPr sz="14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整条蛋白链在生理条件下不形成唯一、稳定的有序三维结构。</a:t>
            </a:r>
            <a:endParaRPr sz="13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研究对象：整条链的构象分布</a:t>
            </a:r>
            <a:endParaRPr sz="1200" b="0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13816" y="2882900"/>
            <a:ext cx="4946903" cy="1578989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3084704"/>
            <a:ext cx="4617719" cy="137718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4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IDR｜内在无序区</a:t>
            </a:r>
            <a:endParaRPr sz="14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8000"/>
              </a:lnSpc>
              <a:spcAft>
                <a:spcPts val="300"/>
              </a:spcAft>
            </a:pPr>
            <a:r>
              <a:rPr sz="13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蛋白中某个区域不形成稳定结构，同一蛋白可同时含折叠结构域与 IDR。</a:t>
            </a:r>
            <a:endParaRPr sz="13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5000"/>
              </a:lnSpc>
            </a:pPr>
            <a:r>
              <a:rPr sz="12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研究对象：该区域在蛋白内部的构象分布</a:t>
            </a:r>
            <a:endParaRPr sz="1200" b="0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236208" y="1152144"/>
            <a:ext cx="5349240" cy="3545840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1353312"/>
            <a:ext cx="494690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四个</a:t>
            </a:r>
            <a:r>
              <a:rPr lang="zh-CN" altLang="en-US" sz="160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专业术语</a:t>
            </a:r>
            <a:r>
              <a:rPr sz="160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：</a:t>
            </a:r>
            <a:endParaRPr sz="160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37376" y="1873504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1836928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①  构象 conformer</a:t>
            </a:r>
            <a:endParaRPr sz="13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蛋白链在某一瞬间的一个三维结构。</a:t>
            </a:r>
            <a:endParaRPr sz="125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437376" y="2430653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2394077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②  构象集合</a:t>
            </a:r>
            <a:endParaRPr sz="13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多个可能构象的集合，尚未给出各自概率。</a:t>
            </a:r>
            <a:endParaRPr sz="12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437376" y="2987802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2951226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③  统计 ensemble</a:t>
            </a:r>
            <a:endParaRPr sz="13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</a:pPr>
            <a:r>
              <a:rPr sz="125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构象集合 + 统计权重，描述“出现多少”的分布。</a:t>
            </a:r>
            <a:endParaRPr sz="12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437376" y="3544951"/>
            <a:ext cx="45720" cy="35598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3508375"/>
            <a:ext cx="4800599" cy="4108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④  构象状态</a:t>
            </a:r>
            <a:endParaRPr sz="13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</a:pPr>
            <a:r>
              <a:rPr sz="125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由统计 ensemble 描述的热力学状态。</a:t>
            </a:r>
            <a:endParaRPr sz="125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12648" y="4935728"/>
            <a:ext cx="10972800" cy="86410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86968" y="5118608"/>
            <a:ext cx="10424160" cy="6812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6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为什么还需要 forward model？</a:t>
            </a:r>
            <a:endParaRPr sz="16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8000"/>
              </a:lnSpc>
            </a:pPr>
            <a:r>
              <a:rPr sz="1300" b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逐构象计算实验可观测量，再按统计权重求平均。所以“模型生成很多结构”并不自动等于得到可信的统计 ensemble。</a:t>
            </a:r>
            <a:endParaRPr sz="1300" b="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" name="wash-2"/>
          <p:cNvSpPr/>
          <p:nvPr/>
        </p:nvSpPr>
        <p:spPr>
          <a:xfrm>
            <a:off x="0" y="2047875"/>
            <a:ext cx="12192000" cy="1381125"/>
          </a:xfrm>
          <a:custGeom>
            <a:avLst/>
            <a:gdLst/>
            <a:ahLst/>
            <a:cxnLst/>
            <a:rect l="l" t="t" r="r" b="b"/>
            <a:pathLst>
              <a:path w="12192000" h="1381125">
                <a:moveTo>
                  <a:pt x="0" y="1381125"/>
                </a:moveTo>
                <a:cubicBezTo>
                  <a:pt x="2381250" y="333375"/>
                  <a:pt x="4095750" y="1333500"/>
                  <a:pt x="6572250" y="666750"/>
                </a:cubicBezTo>
                <a:cubicBezTo>
                  <a:pt x="9048750" y="0"/>
                  <a:pt x="10287000" y="1381125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3"/>
          <p:cNvSpPr/>
          <p:nvPr/>
        </p:nvSpPr>
        <p:spPr>
          <a:xfrm>
            <a:off x="0" y="1143000"/>
            <a:ext cx="12192000" cy="2952750"/>
          </a:xfrm>
          <a:custGeom>
            <a:avLst/>
            <a:gdLst/>
            <a:ahLst/>
            <a:cxnLst/>
            <a:rect l="l" t="t" r="r" b="b"/>
            <a:pathLst>
              <a:path w="12192000" h="2952750">
                <a:moveTo>
                  <a:pt x="0" y="2952750"/>
                </a:moveTo>
                <a:cubicBezTo>
                  <a:pt x="2381250" y="0"/>
                  <a:pt x="4095750" y="2571750"/>
                  <a:pt x="6858000" y="2190750"/>
                </a:cubicBezTo>
                <a:cubicBezTo>
                  <a:pt x="9620250" y="1809750"/>
                  <a:pt x="10287000" y="476250"/>
                  <a:pt x="12192000" y="1714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p/>
        </p:txBody>
      </p:sp>
      <p:grpSp>
        <p:nvGrpSpPr>
          <p:cNvPr id="42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41" name="TextBox 41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3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AI–IDP 研究</a:t>
            </a:r>
            <a:r>
              <a:rPr lang="zh-CN" altLang="en-US"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路径以及一些标准化问题</a:t>
            </a:r>
            <a:endParaRPr sz="28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27048" y="1975104"/>
            <a:ext cx="9144000" cy="0"/>
          </a:xfrm>
          <a:prstGeom prst="line">
            <a:avLst/>
          </a:prstGeom>
          <a:ln w="1905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344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48" name="TextBox 47"/>
          <p:cNvSpPr txBox="1"/>
          <p:nvPr/>
        </p:nvSpPr>
        <p:spPr>
          <a:xfrm>
            <a:off x="566928" y="148132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GOOSE</a:t>
            </a:r>
            <a:endParaRPr sz="1100" b="0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31729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50" name="TextBox 49"/>
          <p:cNvSpPr txBox="1"/>
          <p:nvPr/>
        </p:nvSpPr>
        <p:spPr>
          <a:xfrm>
            <a:off x="658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en-US" sz="12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</a:t>
            </a:r>
            <a:r>
              <a:rPr lang="zh-CN" altLang="en-US" sz="12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序列</a:t>
            </a:r>
            <a:endParaRPr sz="12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50017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52" name="TextBox 51"/>
          <p:cNvSpPr txBox="1"/>
          <p:nvPr/>
        </p:nvSpPr>
        <p:spPr>
          <a:xfrm>
            <a:off x="24871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构象系综</a:t>
            </a:r>
            <a:endParaRPr sz="12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438400" y="1462279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STARLING / IDPFold</a:t>
            </a:r>
            <a:endParaRPr sz="1100" b="0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8305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61447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相互作用 / LLPS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053328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LLPSense</a:t>
            </a:r>
            <a:endParaRPr sz="1100" b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86593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58" name="TextBox 57"/>
          <p:cNvSpPr txBox="1"/>
          <p:nvPr/>
        </p:nvSpPr>
        <p:spPr>
          <a:xfrm>
            <a:off x="79735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生物学功能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882127" y="1389888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binder</a:t>
            </a:r>
            <a:endParaRPr sz="1100" b="0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10488168" y="1792224"/>
            <a:ext cx="365760" cy="36576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l">
              <a:lnSpc>
                <a:spcPct val="115000"/>
              </a:lnSpc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9802368" y="22860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工程设计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12648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Q1　生成是否可信？</a:t>
            </a:r>
            <a:endParaRPr sz="14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能否从一条序列生成覆盖合理、局部结构可信的 ensemble？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358640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59808" y="2990088"/>
            <a:ext cx="3078480" cy="128854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Q2　ensemble 是否真的有用？</a:t>
            </a:r>
            <a:endParaRPr sz="14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在 sequence + environment 之外，</a:t>
            </a: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加入</a:t>
            </a: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ensemble 能否稳定提升功能预测？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104632" y="2788920"/>
            <a:ext cx="3480816" cy="187451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05800" y="2990088"/>
            <a:ext cx="3078480" cy="13342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4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Q3　能否走向设计？</a:t>
            </a:r>
            <a:endParaRPr sz="14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Aft>
                <a:spcPts val="250"/>
              </a:spcAft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能否设计 IDR 序列、binder 或凝聚体界面定位肽？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12648" y="4956048"/>
            <a:ext cx="10972800" cy="580072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2648" y="4956048"/>
            <a:ext cx="54864" cy="58007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6968" y="5138928"/>
            <a:ext cx="10424160" cy="214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3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本汇报的路线：先用统一评价框架判断“生成得对不对”，再检验 ensemble 的功能增益，最后进入设计任务。</a:t>
            </a:r>
            <a:endParaRPr sz="13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TextBox 51"/>
          <p:cNvSpPr txBox="1"/>
          <p:nvPr/>
        </p:nvSpPr>
        <p:spPr>
          <a:xfrm>
            <a:off x="4309873" y="226771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2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评判标准</a:t>
            </a:r>
            <a:endParaRPr sz="12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5"/>
          <p:cNvSpPr/>
          <p:nvPr/>
        </p:nvSpPr>
        <p:spPr>
          <a:xfrm>
            <a:off x="0" y="95250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1238250"/>
                </a:moveTo>
                <a:cubicBezTo>
                  <a:pt x="2095500" y="1428750"/>
                  <a:pt x="4000500" y="857250"/>
                  <a:pt x="6667500" y="1095375"/>
                </a:cubicBezTo>
                <a:cubicBezTo>
                  <a:pt x="9334500" y="1333500"/>
                  <a:pt x="10287000" y="2762250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  <p:grpSp>
        <p:nvGrpSpPr>
          <p:cNvPr id="31" name="footer-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4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GOOSE：可控 IDR 序列设计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goose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1594994"/>
            <a:ext cx="5550407" cy="329310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Figure 1｜GOOSE 的序列设计流程与性质控制结果（源自原文）</a:t>
            </a:r>
            <a:endParaRPr sz="95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核心问题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怎样根据预设的序列或聚合物性质，反向生成 IDR 序列？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29400" y="2367280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输入与输出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输入：长度、电荷、疏水性、κ 等目标性质。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输出：满足约束的 IDR 序列。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29400" y="379412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关键证据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性质命中率、序列多样性，以及与天然 IDR 的比较。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29400" y="4972685"/>
            <a:ext cx="4956048" cy="6965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汇报边界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GOOSE 主要设计序列，不直接输出具有统计权重的三维 ensemble。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6"/>
          <p:cNvSpPr/>
          <p:nvPr/>
        </p:nvSpPr>
        <p:spPr>
          <a:xfrm>
            <a:off x="0" y="666750"/>
            <a:ext cx="12192000" cy="2714625"/>
          </a:xfrm>
          <a:custGeom>
            <a:avLst/>
            <a:gdLst/>
            <a:ahLst/>
            <a:cxnLst/>
            <a:rect l="l" t="t" r="r" b="b"/>
            <a:pathLst>
              <a:path w="12192000" h="2714625">
                <a:moveTo>
                  <a:pt x="0" y="2571750"/>
                </a:moveTo>
                <a:cubicBezTo>
                  <a:pt x="2095500" y="0"/>
                  <a:pt x="4000500" y="1762125"/>
                  <a:pt x="6667500" y="2238375"/>
                </a:cubicBezTo>
                <a:cubicBezTo>
                  <a:pt x="9334500" y="2714625"/>
                  <a:pt x="10287000" y="952500"/>
                  <a:pt x="12192000" y="1000125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  <p:grpSp>
        <p:nvGrpSpPr>
          <p:cNvPr id="31" name="footer-6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5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STARLING：快速构象系综生成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12648" y="1152144"/>
            <a:ext cx="5806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35" name="Picture 34" descr="starling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91" y="1280160"/>
            <a:ext cx="5243753" cy="392277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40664" y="5294376"/>
            <a:ext cx="5550407" cy="13874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</a:pPr>
            <a:r>
              <a:rPr sz="95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Figure 1｜STARLING 模型结构与生成结果（源自原文）</a:t>
            </a:r>
            <a:endParaRPr sz="95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29400" y="118872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核心问题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能否从序列和条件，快速生成大量相互一致的 IDR 构象？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29400" y="2441575"/>
            <a:ext cx="4956048" cy="721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输入与输出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输入：IDR 序列及论文支持的环境条件。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输出：残基距离表示与三维构象集合。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629400" y="3942715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关键证据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采样速度、全局尺寸分布，以及与参考 ensemble 的一致性。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29400" y="5195570"/>
            <a:ext cx="4956048" cy="4737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汇报边界</a:t>
            </a:r>
            <a:endParaRPr sz="125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sz="13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样本仍受训练 ensemble 与力场质量的限制。</a:t>
            </a:r>
            <a:endParaRPr sz="13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6</a:t>
              </a:r>
              <a:endParaRPr sz="11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IDPFold：残基刚体扩散生成 ensemble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29" name="Picture 28" descr="idpfold_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322" y="1275763"/>
            <a:ext cx="5077092" cy="4982162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629400" y="1308497"/>
            <a:ext cx="4956048" cy="970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主要创新点：</a:t>
            </a:r>
            <a:endParaRPr lang="en-US" alt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400" dirty="0"/>
              <a:t>以往很多方法只能预测 回转半径、端到端距离等统计性质，或者生成较粗粒度的构象。</a:t>
            </a:r>
            <a:r>
              <a:rPr lang="en-US" altLang="zh-CN" sz="1400" dirty="0" err="1"/>
              <a:t>IDPFold</a:t>
            </a:r>
            <a:r>
              <a:rPr lang="zh-CN" altLang="en-US" sz="1400" dirty="0"/>
              <a:t>直接从单条氨基酸序列出发，生成残基主链级三维构象</a:t>
            </a:r>
            <a:endParaRPr sz="13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29400" y="2683935"/>
            <a:ext cx="4956048" cy="111500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与 STARLING 的区别</a:t>
            </a:r>
            <a:endParaRPr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和</a:t>
            </a:r>
            <a:r>
              <a:rPr lang="en-US" altLang="zh-CN" sz="1400" dirty="0"/>
              <a:t>STARLING</a:t>
            </a:r>
            <a:r>
              <a:rPr lang="zh-CN" altLang="en-US" sz="1400" dirty="0"/>
              <a:t>都属于“</a:t>
            </a:r>
            <a:r>
              <a:rPr lang="en-US" altLang="zh-CN" sz="1400" dirty="0"/>
              <a:t>sequence → ensemble”</a:t>
            </a:r>
            <a:r>
              <a:rPr lang="zh-CN" altLang="en-US" sz="1400" dirty="0"/>
              <a:t>生成模型，但二者解决问题的侧重点不同：</a:t>
            </a:r>
            <a:endParaRPr lang="zh-CN" altLang="en-US" sz="1400" dirty="0"/>
          </a:p>
          <a:p>
            <a:r>
              <a:rPr lang="en-US" altLang="zh-CN" sz="1400" dirty="0" err="1"/>
              <a:t>IDPFold</a:t>
            </a:r>
            <a:r>
              <a:rPr lang="zh-CN" altLang="en-US" sz="1400" dirty="0"/>
              <a:t>强调主链级三维结构与局部几何；</a:t>
            </a:r>
            <a:r>
              <a:rPr lang="en-US" altLang="zh-CN" sz="1400" dirty="0"/>
              <a:t>STARLING</a:t>
            </a:r>
            <a:r>
              <a:rPr lang="zh-CN" altLang="en-US" sz="1400" dirty="0"/>
              <a:t>强调粗粒化</a:t>
            </a:r>
            <a:r>
              <a:rPr lang="en-US" altLang="zh-CN" sz="1400" dirty="0"/>
              <a:t>ensemble</a:t>
            </a:r>
            <a:r>
              <a:rPr lang="zh-CN" altLang="en-US" sz="1400" dirty="0"/>
              <a:t>的速度、分布覆盖和大规模应用。</a:t>
            </a:r>
            <a:endParaRPr lang="zh-CN" altLang="en-US" sz="1400" dirty="0"/>
          </a:p>
        </p:txBody>
      </p:sp>
      <p:sp>
        <p:nvSpPr>
          <p:cNvPr id="34" name="TextBox 33"/>
          <p:cNvSpPr txBox="1"/>
          <p:nvPr/>
        </p:nvSpPr>
        <p:spPr>
          <a:xfrm>
            <a:off x="6629400" y="4299795"/>
            <a:ext cx="4956048" cy="15432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共同局限</a:t>
            </a:r>
            <a:endParaRPr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1</a:t>
            </a:r>
            <a:r>
              <a:rPr lang="zh-CN" altLang="en-US" sz="13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）生成的都是模拟的</a:t>
            </a:r>
            <a:r>
              <a:rPr lang="en-US" altLang="zh-CN" sz="13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ensemble</a:t>
            </a:r>
            <a:r>
              <a:rPr lang="zh-CN" altLang="en-US" sz="13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不是真实的</a:t>
            </a:r>
            <a:endParaRPr lang="en-US" altLang="zh-CN" sz="13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3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2</a:t>
            </a:r>
            <a:r>
              <a:rPr lang="zh-CN" altLang="en-US" sz="13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）</a:t>
            </a:r>
            <a:r>
              <a:rPr lang="zh-CN" altLang="en-US" sz="1400" dirty="0"/>
              <a:t>生成的是平衡构象样本，不是动态轨迹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3</a:t>
            </a:r>
            <a:r>
              <a:rPr lang="zh-CN" altLang="en-US" sz="14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）</a:t>
            </a:r>
            <a:r>
              <a:rPr lang="zh-CN" altLang="en-US" sz="1400" dirty="0"/>
              <a:t>都不是完整的全原子模型</a:t>
            </a:r>
            <a:endParaRPr lang="en-US" altLang="zh-CN" sz="1400" dirty="0"/>
          </a:p>
          <a:p>
            <a:pPr>
              <a:lnSpc>
                <a:spcPct val="130000"/>
              </a:lnSpc>
              <a:spcAft>
                <a:spcPts val="200"/>
              </a:spcAft>
            </a:pPr>
            <a:r>
              <a:rPr lang="en-US" sz="14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4</a:t>
            </a:r>
            <a:r>
              <a:rPr lang="zh-CN" altLang="en-US" sz="14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）</a:t>
            </a:r>
            <a:r>
              <a:rPr lang="zh-CN" altLang="en-US" sz="1400" dirty="0"/>
              <a:t>环境条件描述仍然有限</a:t>
            </a:r>
            <a:endParaRPr sz="13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footer-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3" name="Rectangle 23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24" name="TextBox 24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7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IDPFold</a:t>
            </a:r>
            <a:r>
              <a:rPr lang="zh-CN" altLang="en-US"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验证</a:t>
            </a:r>
            <a:endParaRPr sz="28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632448" y="1094897"/>
            <a:ext cx="4956048" cy="19069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实验目的：</a:t>
            </a:r>
            <a:endParaRPr lang="en-US" alt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00" dirty="0"/>
              <a:t>验证</a:t>
            </a:r>
            <a:r>
              <a:rPr lang="en-US" altLang="zh-CN" sz="1200" dirty="0" err="1"/>
              <a:t>IDPFold</a:t>
            </a:r>
            <a:r>
              <a:rPr lang="zh-CN" altLang="en-US" sz="1200" dirty="0"/>
              <a:t>能否仅从氨基酸序列生成具有合理全局尺寸和局部结构的</a:t>
            </a:r>
            <a:r>
              <a:rPr lang="en-US" altLang="zh-CN" sz="1200" dirty="0"/>
              <a:t>IDP</a:t>
            </a:r>
            <a:r>
              <a:rPr lang="zh-CN" altLang="en-US" sz="1200" dirty="0"/>
              <a:t>构象</a:t>
            </a:r>
            <a:r>
              <a:rPr lang="en-US" altLang="zh-CN" sz="1200" dirty="0"/>
              <a:t>ensemble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实验结果：</a:t>
            </a:r>
            <a:endParaRPr lang="en-US" alt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IDPFold</a:t>
            </a:r>
            <a:r>
              <a:rPr lang="zh-CN" altLang="en-US" sz="1200" dirty="0"/>
              <a:t>优于</a:t>
            </a:r>
            <a:r>
              <a:rPr lang="en-US" altLang="zh-CN" sz="1200" dirty="0" err="1"/>
              <a:t>idpGAN</a:t>
            </a:r>
            <a:r>
              <a:rPr lang="zh-CN" altLang="en-US" sz="1200" dirty="0"/>
              <a:t>，但</a:t>
            </a:r>
            <a:r>
              <a:rPr lang="en-US" altLang="zh-CN" sz="1200" dirty="0"/>
              <a:t>CALVADOS</a:t>
            </a:r>
            <a:r>
              <a:rPr lang="zh-CN" altLang="en-US" sz="1200" dirty="0"/>
              <a:t>平均值仍更接近实验；</a:t>
            </a:r>
            <a:r>
              <a:rPr lang="en-US" altLang="zh-CN" sz="1200" dirty="0" err="1"/>
              <a:t>IDPFold</a:t>
            </a:r>
            <a:r>
              <a:rPr lang="zh-CN" altLang="en-US" sz="1200" dirty="0"/>
              <a:t>与</a:t>
            </a:r>
            <a:r>
              <a:rPr lang="en-US" altLang="zh-CN" sz="1200" dirty="0"/>
              <a:t>CALVADOS</a:t>
            </a:r>
            <a:r>
              <a:rPr lang="zh-CN" altLang="en-US" sz="1200" dirty="0"/>
              <a:t>之间的差异未达到显著水平。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实验结论：</a:t>
            </a:r>
            <a:endParaRPr lang="en-US" alt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IDPFold</a:t>
            </a:r>
            <a:r>
              <a:rPr lang="zh-CN" altLang="en-US" sz="1200" dirty="0"/>
              <a:t>能够生成整体尺寸基本合理、具有一定局部结构信息的主链级构象集合。</a:t>
            </a:r>
            <a:endParaRPr lang="en-US" altLang="zh-CN" sz="120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lang="en-US" altLang="zh-CN" sz="120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altLang="zh-CN" sz="1200" dirty="0" err="1"/>
              <a:t>aaa</a:t>
            </a:r>
            <a:endParaRPr lang="en-US" altLang="zh-CN" sz="1200" dirty="0"/>
          </a:p>
          <a:p>
            <a:pPr>
              <a:lnSpc>
                <a:spcPct val="110000"/>
              </a:lnSpc>
              <a:spcAft>
                <a:spcPts val="400"/>
              </a:spcAft>
            </a:pPr>
            <a:endParaRPr lang="en-US" alt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2648" y="1152144"/>
            <a:ext cx="5806440" cy="511530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dirty="0"/>
          </a:p>
        </p:txBody>
      </p:sp>
      <p:pic>
        <p:nvPicPr>
          <p:cNvPr id="4" name="图片 3"/>
          <p:cNvPicPr/>
          <p:nvPr/>
        </p:nvPicPr>
        <p:blipFill>
          <a:blip r:embed="rId2"/>
          <a:srcRect l="11630" t="1169" r="11404" b="6496"/>
          <a:stretch>
            <a:fillRect/>
          </a:stretch>
        </p:blipFill>
        <p:spPr>
          <a:xfrm>
            <a:off x="761565" y="1308496"/>
            <a:ext cx="5657523" cy="460857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157493"/>
            <a:ext cx="5242077" cy="3149248"/>
          </a:xfrm>
          <a:prstGeom prst="rect">
            <a:avLst/>
          </a:prstGeom>
        </p:spPr>
      </p:pic>
      <p:sp>
        <p:nvSpPr>
          <p:cNvPr id="2" name="wash-7"/>
          <p:cNvSpPr/>
          <p:nvPr/>
        </p:nvSpPr>
        <p:spPr>
          <a:xfrm>
            <a:off x="0" y="1619250"/>
            <a:ext cx="12192000" cy="3048000"/>
          </a:xfrm>
          <a:custGeom>
            <a:avLst/>
            <a:gdLst/>
            <a:ahLst/>
            <a:cxnLst/>
            <a:rect l="l" t="t" r="r" b="b"/>
            <a:pathLst>
              <a:path w="12192000" h="3048000">
                <a:moveTo>
                  <a:pt x="0" y="2762250"/>
                </a:moveTo>
                <a:cubicBezTo>
                  <a:pt x="2190750" y="0"/>
                  <a:pt x="4095750" y="1524000"/>
                  <a:pt x="6762750" y="2286000"/>
                </a:cubicBezTo>
                <a:cubicBezTo>
                  <a:pt x="9429750" y="3048000"/>
                  <a:pt x="10287000" y="952500"/>
                  <a:pt x="12192000" y="7620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9"/>
          <p:cNvSpPr/>
          <p:nvPr/>
        </p:nvSpPr>
        <p:spPr>
          <a:xfrm>
            <a:off x="0" y="95250"/>
            <a:ext cx="12192000" cy="4000500"/>
          </a:xfrm>
          <a:custGeom>
            <a:avLst/>
            <a:gdLst/>
            <a:ahLst/>
            <a:cxnLst/>
            <a:rect l="l" t="t" r="r" b="b"/>
            <a:pathLst>
              <a:path w="12192000" h="4000500">
                <a:moveTo>
                  <a:pt x="0" y="2381250"/>
                </a:moveTo>
                <a:cubicBezTo>
                  <a:pt x="2095500" y="714375"/>
                  <a:pt x="4095750" y="4000500"/>
                  <a:pt x="6667500" y="2000250"/>
                </a:cubicBezTo>
                <a:cubicBezTo>
                  <a:pt x="9239250" y="0"/>
                  <a:pt x="10001250" y="1714500"/>
                  <a:pt x="12192000" y="361950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p/>
        </p:txBody>
      </p:sp>
      <p:grpSp>
        <p:nvGrpSpPr>
          <p:cNvPr id="39" name="footer-9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7" name="Rectangle 3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8" name="TextBox 38"/>
            <p:cNvSpPr txBox="1"/>
            <p:nvPr/>
          </p:nvSpPr>
          <p:spPr>
            <a:xfrm>
              <a:off x="11297097" y="635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8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lang="zh-CN" altLang="en-US"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评判标准</a:t>
            </a:r>
            <a:endParaRPr sz="28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12648" y="1152144"/>
            <a:ext cx="1097280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30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核心问题｜</a:t>
            </a:r>
            <a:r>
              <a:rPr sz="13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不重做</a:t>
            </a:r>
            <a:r>
              <a:rPr lang="zh-CN" altLang="en-US" sz="13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湿</a:t>
            </a:r>
            <a:r>
              <a:rPr sz="13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实验，怎样判断模型生成的 ensemble 是否可信？</a:t>
            </a:r>
            <a:endParaRPr sz="13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2648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序列 + 条件</a:t>
            </a:r>
            <a:endParaRPr sz="11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243328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sz="13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481071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生成 ensemble</a:t>
            </a:r>
            <a:endParaRPr sz="11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11751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sz="13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4349495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forward model</a:t>
            </a:r>
            <a:endParaRPr sz="11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980175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sz="13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217919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预测实验观测</a:t>
            </a:r>
            <a:endParaRPr sz="11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48599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sz="13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086343" y="1536192"/>
            <a:ext cx="1630680" cy="53035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held-out 公开数据</a:t>
            </a:r>
            <a:endParaRPr sz="11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717023" y="1536192"/>
            <a:ext cx="237744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→</a:t>
            </a:r>
            <a:endParaRPr sz="13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954767" y="1536192"/>
            <a:ext cx="1630680" cy="53035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45720" bIns="18288" rtlCol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误差与置信区间</a:t>
            </a:r>
            <a:endParaRPr sz="11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12648" y="2304287"/>
            <a:ext cx="10972800" cy="473709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" y="2304287"/>
            <a:ext cx="54864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" y="2450591"/>
            <a:ext cx="10460736" cy="1811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公开数据来源｜</a:t>
            </a:r>
            <a:r>
              <a:rPr sz="11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SAXS / </a:t>
            </a:r>
            <a:r>
              <a:rPr lang="en-US" sz="11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NMR / </a:t>
            </a:r>
            <a:r>
              <a:rPr sz="11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PRE / FRET / Rg</a:t>
            </a:r>
            <a:endParaRPr sz="11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609600" y="361713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609600" y="3617139"/>
            <a:ext cx="10972800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09600" y="3251378"/>
            <a:ext cx="10972800" cy="473709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5904" y="361713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几何检查</a:t>
            </a:r>
            <a:endParaRPr sz="12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13334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构象在结构上基本合理</a:t>
            </a:r>
            <a:endParaRPr sz="12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431024" y="361713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不能证明分布正确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69" name="Connector 68"/>
          <p:cNvCxnSpPr/>
          <p:nvPr/>
        </p:nvCxnSpPr>
        <p:spPr>
          <a:xfrm flipV="1">
            <a:off x="609600" y="4095750"/>
            <a:ext cx="10975848" cy="73151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5904" y="4037897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参考模拟</a:t>
            </a:r>
            <a:endParaRPr sz="120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133344" y="4088763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与某种力场或生成器一致</a:t>
            </a:r>
            <a:endParaRPr sz="12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7431024" y="4079613"/>
            <a:ext cx="2969020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不能证明符合真实体系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09600" y="4440099"/>
            <a:ext cx="10972800" cy="551762"/>
          </a:xfrm>
          <a:prstGeom prst="rect">
            <a:avLst/>
          </a:prstGeom>
          <a:solidFill>
            <a:srgbClr val="F7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612648" y="4580381"/>
            <a:ext cx="10969752" cy="0"/>
          </a:xfrm>
          <a:prstGeom prst="line">
            <a:avLst/>
          </a:prstGeom>
          <a:ln w="9525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5904" y="4440099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公开实验数据</a:t>
            </a:r>
            <a:endParaRPr sz="12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133344" y="4440099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对真实观测具有解释能力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431024" y="4440099"/>
            <a:ext cx="2747956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26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仍不能唯一确定 ensemble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78" name="Connector 77"/>
          <p:cNvCxnSpPr/>
          <p:nvPr/>
        </p:nvCxnSpPr>
        <p:spPr>
          <a:xfrm flipV="1">
            <a:off x="664464" y="5114610"/>
            <a:ext cx="10863072" cy="1"/>
          </a:xfrm>
          <a:prstGeom prst="line">
            <a:avLst/>
          </a:prstGeom>
          <a:ln w="12700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612648" y="5546852"/>
            <a:ext cx="10972800" cy="51231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6968" y="5702300"/>
            <a:ext cx="10424160" cy="20142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00" b="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本页结论｜结论只能写成“与公开独立数据一致”，不能凭结构图或参考模拟宣称 ensemble 真实准确。</a:t>
            </a:r>
            <a:endParaRPr sz="1300" b="0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55904" y="3251378"/>
            <a:ext cx="208483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证据等级</a:t>
            </a:r>
            <a:endParaRPr sz="12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13334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能说明什么</a:t>
            </a:r>
            <a:endParaRPr sz="125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7431024" y="3251378"/>
            <a:ext cx="4005072" cy="55176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不能说明什么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8"/>
          <p:cNvSpPr/>
          <p:nvPr/>
        </p:nvSpPr>
        <p:spPr>
          <a:xfrm>
            <a:off x="0" y="1666875"/>
            <a:ext cx="12192000" cy="3381375"/>
          </a:xfrm>
          <a:custGeom>
            <a:avLst/>
            <a:gdLst/>
            <a:ahLst/>
            <a:cxnLst/>
            <a:rect l="l" t="t" r="r" b="b"/>
            <a:pathLst>
              <a:path w="12192000" h="3381375">
                <a:moveTo>
                  <a:pt x="0" y="2619375"/>
                </a:moveTo>
                <a:cubicBezTo>
                  <a:pt x="2095500" y="714375"/>
                  <a:pt x="4000500" y="809625"/>
                  <a:pt x="6667500" y="2095500"/>
                </a:cubicBezTo>
                <a:cubicBezTo>
                  <a:pt x="9334500" y="3381375"/>
                  <a:pt x="10287000" y="2047875"/>
                  <a:pt x="12192000" y="0"/>
                </a:cubicBezTo>
              </a:path>
            </a:pathLst>
          </a:custGeom>
          <a:noFill/>
          <a:ln w="323850">
            <a:solidFill>
              <a:schemeClr val="accent1">
                <a:alpha val="5000"/>
              </a:schemeClr>
            </a:solidFill>
          </a:ln>
        </p:spPr>
        <p:txBody>
          <a:bodyPr/>
          <a:p/>
        </p:txBody>
      </p:sp>
      <p:grpSp>
        <p:nvGrpSpPr>
          <p:cNvPr id="29" name="footer-12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9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LLPSense：从“序列预测”走向“条件依赖预测”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256264" y="6254496"/>
            <a:ext cx="384048" cy="320040"/>
          </a:xfrm>
          <a:prstGeom prst="rect">
            <a:avLst/>
          </a:prstGeom>
          <a:solidFill>
            <a:srgbClr val="007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9</a:t>
            </a:r>
          </a:p>
        </p:txBody>
      </p:sp>
      <p:pic>
        <p:nvPicPr>
          <p:cNvPr id="34" name="Picture 33" descr="llp_fig1_main.png"/>
          <p:cNvPicPr>
            <a:picLocks noChangeAspect="1"/>
          </p:cNvPicPr>
          <p:nvPr/>
        </p:nvPicPr>
        <p:blipFill>
          <a:blip r:embed="rId2"/>
          <a:srcRect t="4980" r="24422" b="28500"/>
          <a:stretch>
            <a:fillRect/>
          </a:stretch>
        </p:blipFill>
        <p:spPr>
          <a:xfrm>
            <a:off x="731520" y="1392555"/>
            <a:ext cx="5253990" cy="32708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31520" y="5108702"/>
            <a:ext cx="5486400" cy="161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666C68"/>
                </a:solidFill>
                <a:latin typeface="微软雅黑" panose="020B0503020204020204" charset="-122"/>
              </a:defRPr>
            </a:pPr>
            <a:r>
              <a:t>图 1｜序列信息与环境条件共同进入模型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1261872"/>
            <a:ext cx="4892040" cy="1078992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1371600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先看领域中的“旧问题”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93992" y="1700784"/>
            <a:ext cx="4562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8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过去的相分离预测常以序列为主要输入，但同一个蛋白在不同温度、盐浓度、酸碱度或蛋白浓度下，可能表现出不同的相分离行为。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9400" y="2487168"/>
            <a:ext cx="4892040" cy="1078992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3992" y="2596896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这篇论文的核心推进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3992" y="2926080"/>
            <a:ext cx="456285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8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把“蛋白质序列”与“外部环境”同时纳入预测：先用 ProtT5 表征序列，再结合环境变量，由 XGBoost 输出特定条件下的相分离倾向。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9400" y="3712463"/>
            <a:ext cx="1554480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93992" y="3822191"/>
            <a:ext cx="1225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序列表征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4073905"/>
            <a:ext cx="122529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ProtT5</a:t>
            </a:r>
            <a:br/>
            <a:r>
              <a:t>把序列转成高维表示</a:t>
            </a:r>
            <a:br/>
            <a:r>
              <a:t>→ 更丰富的序列信息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3608" y="3712463"/>
            <a:ext cx="1554480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200" y="3822191"/>
            <a:ext cx="122529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环境变量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4151375"/>
            <a:ext cx="1225295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温度、酸碱度、盐、浓度等</a:t>
            </a:r>
            <a:br/>
            <a:r>
              <a:t>→ 描述条件依赖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957816" y="3712463"/>
            <a:ext cx="1563624" cy="1225296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22408" y="3822191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评测设计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22408" y="4151375"/>
            <a:ext cx="1234440" cy="6949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按同源簇划分训练与测试</a:t>
            </a:r>
            <a:br/>
            <a:r>
              <a:t>→ 减少同源泄漏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29400" y="5138928"/>
            <a:ext cx="4892040" cy="658368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12280" y="5150485"/>
            <a:ext cx="4526280" cy="63436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研究</a:t>
            </a:r>
            <a:r>
              <a:t>方向：序列 → 功能 </a:t>
            </a:r>
          </a:p>
          <a:p>
            <a:pPr algn="ctr">
              <a:defRPr sz="14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进一步变成： 序列 + 环境 → 条件依赖行为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10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LLPSense：不仅预测相分离，还验证了“条件依赖”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56264" y="6254496"/>
            <a:ext cx="384048" cy="320040"/>
          </a:xfrm>
          <a:prstGeom prst="rect">
            <a:avLst/>
          </a:prstGeom>
          <a:solidFill>
            <a:srgbClr val="007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915660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666C68"/>
                </a:solidFill>
                <a:latin typeface="微软雅黑" panose="020B0503020204020204" charset="-122"/>
              </a:defRPr>
            </a:pPr>
            <a:r>
              <a:t>原文图 2｜模型筛选与 SGTA 条件依赖行为的实验验证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1225296"/>
            <a:ext cx="4892040" cy="102412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1335024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模型表现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1664208"/>
            <a:ext cx="4562855" cy="380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4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按同源簇进行五折交叉验证：</a:t>
            </a:r>
            <a:r>
              <a:rPr lang="en-US" altLang="zh-CN"/>
              <a:t>AUROC=</a:t>
            </a:r>
            <a:r>
              <a:t>0.77，</a:t>
            </a:r>
            <a:r>
              <a:rPr lang="en-US" altLang="zh-CN"/>
              <a:t>AUPRC=</a:t>
            </a:r>
            <a:r>
              <a:t> 0.74。说明模型在未见蛋白上仍有较好的区分能力。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9400" y="2395728"/>
            <a:ext cx="4892040" cy="118872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3992" y="2505456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关键验证：SGTA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2834640"/>
            <a:ext cx="4562855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模型预测 SGTA 存在随温度变化的非单调相分离行为；实验进一步用浊度和显微观察验证了温度、聚乙二醇浓度对相分离的影响。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3730752"/>
            <a:ext cx="4892040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3992" y="3840480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从“预测”走向“可调控”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4169664"/>
            <a:ext cx="4562855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论文还展示了突变对 α-突触核蛋白相分离行为的预测，以及通过突变改变 UBQLN4 温度响应类型的概念验证。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5010912"/>
            <a:ext cx="4892040" cy="896112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9712" y="5120640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论文边界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5404104"/>
            <a:ext cx="446227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它没有显式建模构象系综，因此还不能证明“构象分布 → 多价相互作用 → 相分离”的机制链。</a:t>
            </a:r>
          </a:p>
        </p:txBody>
      </p:sp>
      <p:pic>
        <p:nvPicPr>
          <p:cNvPr id="4" name="Picture 35" descr="LLPSense_Figure2_完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95" y="1225550"/>
            <a:ext cx="5756910" cy="4400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11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从“预测相分离”到“设计干预分子”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56264" y="6254496"/>
            <a:ext cx="384048" cy="320040"/>
          </a:xfrm>
          <a:prstGeom prst="rect">
            <a:avLst/>
          </a:prstGeom>
          <a:solidFill>
            <a:srgbClr val="007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895" y="1134110"/>
            <a:ext cx="3052445" cy="4038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7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下一步有两条自然路线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1664208"/>
            <a:ext cx="3246120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" y="1773936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方向一｜继续提高预测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1" y="2103120"/>
            <a:ext cx="291693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在序列 + 环境的基础上加入构象系综，回答：</a:t>
            </a:r>
            <a:br/>
            <a:r>
              <a:t>“系综是否提供额外信息？”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96512" y="1664208"/>
            <a:ext cx="3246120" cy="1115568"/>
          </a:xfrm>
          <a:prstGeom prst="roundRect">
            <a:avLst/>
          </a:prstGeom>
          <a:solidFill>
            <a:srgbClr val="EFF7F3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61104" y="1773936"/>
            <a:ext cx="291693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方向二｜直接进入工程设计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1104" y="2103120"/>
            <a:ext cx="2916936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不只预测“会不会相分离”，而是进一步设计一个分子，主动改变凝聚体的空间组织和行为。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52944" y="1664208"/>
            <a:ext cx="3968496" cy="111556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17536" y="177393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这篇论文选择方向二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17536" y="2103120"/>
            <a:ext cx="3639312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因为设计目标可以直接量化为“界面定位 + 自相互作用”，最终还能用显微实验直接验证。</a:t>
            </a:r>
          </a:p>
        </p:txBody>
      </p:sp>
      <p:pic>
        <p:nvPicPr>
          <p:cNvPr id="46" name="Picture 45" descr="int_fig1_nocap.png"/>
          <p:cNvPicPr>
            <a:picLocks noChangeAspect="1"/>
          </p:cNvPicPr>
          <p:nvPr/>
        </p:nvPicPr>
        <p:blipFill>
          <a:blip r:embed="rId2"/>
          <a:srcRect b="5054"/>
          <a:stretch>
            <a:fillRect/>
          </a:stretch>
        </p:blipFill>
        <p:spPr>
          <a:xfrm>
            <a:off x="520700" y="2832100"/>
            <a:ext cx="6821805" cy="3077845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7552944" y="2999232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17536" y="3108960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第一步：定义“好肽”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7536" y="3438144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2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不是让肽进入凝聚体内部，而是让它优先停留在凝聚体界面。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552944" y="4041648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17536" y="4151376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第二步：把目标变成两个指标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17536" y="4480560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9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界面定位能力：p*int 越高越好。</a:t>
            </a:r>
            <a:br/>
            <a:r>
              <a:t>相同多肽之间的相互作用：B₂* 越高，越偏向排斥。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52944" y="5084064"/>
            <a:ext cx="3968496" cy="91440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17536" y="5193792"/>
            <a:ext cx="36393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第三步：人工智能负责“学”，优化算法负责“找”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7536" y="5669025"/>
            <a:ext cx="363931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9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神经网络学习序列与性质的关系；混合整数线性规划在巨大序列空间中搜索候选序列。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wash-15"/>
          <p:cNvSpPr/>
          <p:nvPr/>
        </p:nvSpPr>
        <p:spPr>
          <a:xfrm>
            <a:off x="0" y="666750"/>
            <a:ext cx="12192000" cy="5048250"/>
          </a:xfrm>
          <a:custGeom>
            <a:avLst/>
            <a:gdLst/>
            <a:ahLst/>
            <a:cxnLst/>
            <a:rect l="l" t="t" r="r" b="b"/>
            <a:pathLst>
              <a:path w="12192000" h="5048250">
                <a:moveTo>
                  <a:pt x="0" y="3619500"/>
                </a:moveTo>
                <a:cubicBezTo>
                  <a:pt x="2095500" y="0"/>
                  <a:pt x="4000500" y="1143000"/>
                  <a:pt x="6667500" y="3095625"/>
                </a:cubicBezTo>
                <a:cubicBezTo>
                  <a:pt x="9334500" y="5048250"/>
                  <a:pt x="10287000" y="952500"/>
                  <a:pt x="12192000" y="28575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  <p:grpSp>
        <p:nvGrpSpPr>
          <p:cNvPr id="31" name="footer-15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12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4C38"/>
                </a:solidFill>
                <a:latin typeface="微软雅黑" panose="020B0503020204020204" charset="-122"/>
              </a:defRPr>
            </a:pPr>
            <a:r>
              <a:t>界面多肽：从计算设计到实验验证，形成完整闭环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" y="1005840"/>
            <a:ext cx="10972800" cy="13716"/>
          </a:xfrm>
          <a:prstGeom prst="rect">
            <a:avLst/>
          </a:prstGeom>
          <a:solidFill>
            <a:srgbClr val="5091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256264" y="6254496"/>
            <a:ext cx="384048" cy="320040"/>
          </a:xfrm>
          <a:prstGeom prst="rect">
            <a:avLst/>
          </a:prstGeom>
          <a:solidFill>
            <a:srgbClr val="007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 panose="020B0604020202020204"/>
              </a:defRPr>
            </a:pPr>
            <a:r>
              <a:t>12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280160"/>
            <a:ext cx="5989320" cy="37033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31520" y="5084064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050" b="0">
                <a:solidFill>
                  <a:srgbClr val="666C68"/>
                </a:solidFill>
                <a:latin typeface="微软雅黑" panose="020B0503020204020204" charset="-122"/>
              </a:defRPr>
            </a:pPr>
            <a:r>
              <a:t>原文图 4｜界面定位与凝聚体尺寸变化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1280160"/>
            <a:ext cx="4892040" cy="1024128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1389888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证据一：确实富集在界面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93992" y="1719072"/>
            <a:ext cx="4562855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6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设计肽 2 出现明显的荧光环；不同批次中约 91% 的凝聚体出现完整界面覆盖。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29400" y="2468880"/>
            <a:ext cx="4892040" cy="1170432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3992" y="2578608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证据二：定位之后还能改变凝聚体行为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2907792"/>
            <a:ext cx="456285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5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加入设计肽 2 后，hnRNPA1-LCD 凝聚体平均直径由 4.7 ± 1.8 微米降至 1.7 ± 0.8 微米；对照肽 4 影响较小。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3803904"/>
            <a:ext cx="4892040" cy="1005840"/>
          </a:xfrm>
          <a:prstGeom prst="roundRect">
            <a:avLst/>
          </a:prstGeom>
          <a:solidFill>
            <a:srgbClr val="F8FBF9"/>
          </a:solidFill>
          <a:ln w="12700"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93992" y="3913632"/>
            <a:ext cx="456285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证据三：不是只对一个凝聚体有效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93992" y="4242816"/>
            <a:ext cx="4562855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30" b="0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在 LAF-1-RGG 和 DDX4N 凝聚体中也观察到界面定位与凝聚体尺寸变化，支持这一设计框架具有跨体系应用潜力。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29400" y="5010912"/>
            <a:ext cx="4892040" cy="914400"/>
          </a:xfrm>
          <a:prstGeom prst="roundRect">
            <a:avLst/>
          </a:prstGeom>
          <a:solidFill>
            <a:srgbClr val="EFF7F3"/>
          </a:solidFill>
          <a:ln>
            <a:solidFill>
              <a:srgbClr val="CAE1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39712" y="5129784"/>
            <a:ext cx="44622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145B40"/>
                </a:solidFill>
                <a:latin typeface="微软雅黑" panose="020B0503020204020204" charset="-122"/>
              </a:defRPr>
            </a:pPr>
            <a:r>
              <a:t>论文最终形成的闭环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9712" y="5404104"/>
            <a:ext cx="446227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40" b="1">
                <a:solidFill>
                  <a:srgbClr val="3F4642"/>
                </a:solidFill>
                <a:latin typeface="微软雅黑" panose="020B0503020204020204" charset="-122"/>
              </a:defRPr>
            </a:pPr>
            <a:r>
              <a:t>物理目标定义 → 分子模拟定量 → 人工智能学习 → 数学优化设计 → 显微实验验证 → 提炼设计规律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215" y="845669"/>
            <a:ext cx="7639318" cy="5968217"/>
          </a:xfrm>
          <a:prstGeom prst="rect">
            <a:avLst/>
          </a:prstGeom>
        </p:spPr>
      </p:pic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13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网络结构图</a:t>
            </a:r>
            <a:endParaRPr sz="28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7" name="TextBox 36"/>
          <p:cNvSpPr/>
          <p:nvPr/>
        </p:nvSpPr>
        <p:spPr>
          <a:xfrm>
            <a:off x="8179357" y="1250728"/>
            <a:ext cx="3047590" cy="473678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860"/>
              </a:lnSpc>
            </a:pPr>
            <a:r>
              <a:rPr lang="zh-CN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核心思路</a:t>
            </a:r>
            <a:endParaRPr 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1860"/>
              </a:lnSpc>
            </a:pPr>
            <a:r>
              <a:rPr lang="zh-CN" sz="13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联合生成 target 结合构象与 binder 主链。</a:t>
            </a:r>
            <a:endParaRPr lang="zh-CN" sz="135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7"/>
          <p:cNvSpPr/>
          <p:nvPr/>
        </p:nvSpPr>
        <p:spPr>
          <a:xfrm>
            <a:off x="8179357" y="2354961"/>
            <a:ext cx="3047590" cy="721995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创新点 1｜Sequence-input RFdiffusion</a:t>
            </a:r>
            <a:endParaRPr 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l">
              <a:lnSpc>
                <a:spcPts val="1755"/>
              </a:lnSpc>
              <a:spcBef>
                <a:spcPts val="105"/>
              </a:spcBef>
            </a:pPr>
            <a:r>
              <a:rPr lang="zh-CN" sz="13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不提供 target 三维坐标，仅输入靶序列；</a:t>
            </a:r>
            <a:br>
              <a:rPr dirty="0"/>
            </a:br>
            <a:r>
              <a:rPr lang="zh-CN" sz="13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target 与 binder 在扩散过程中共同成形。</a:t>
            </a:r>
            <a:endParaRPr lang="zh-CN" sz="135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6" name="TextBox 38"/>
          <p:cNvGrpSpPr/>
          <p:nvPr/>
        </p:nvGrpSpPr>
        <p:grpSpPr>
          <a:xfrm>
            <a:off x="8179357" y="3707511"/>
            <a:ext cx="3047589" cy="712375"/>
            <a:chOff x="6622542" y="3645503"/>
            <a:chExt cx="4962906" cy="712375"/>
          </a:xfrm>
        </p:grpSpPr>
        <p:sp>
          <p:nvSpPr>
            <p:cNvPr id="13" name="Freeform 13"/>
            <p:cNvSpPr/>
            <p:nvPr/>
          </p:nvSpPr>
          <p:spPr>
            <a:xfrm>
              <a:off x="6629400" y="3645503"/>
              <a:ext cx="4956048" cy="696658"/>
            </a:xfrm>
            <a:custGeom>
              <a:avLst/>
              <a:gdLst/>
              <a:ahLst/>
              <a:cxnLst/>
              <a:rect l="l" t="t" r="r" b="b"/>
              <a:pathLst>
                <a:path w="4956048" h="696658">
                  <a:moveTo>
                    <a:pt x="0" y="0"/>
                  </a:moveTo>
                  <a:lnTo>
                    <a:pt x="4956048" y="0"/>
                  </a:lnTo>
                  <a:lnTo>
                    <a:pt x="4956048" y="696658"/>
                  </a:lnTo>
                  <a:lnTo>
                    <a:pt x="0" y="696658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6623049" y="3645508"/>
              <a:ext cx="183579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创新点 2｜二级结构条件</a:t>
              </a:r>
              <a:endParaRPr lang="zh-CN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3870960"/>
              <a:ext cx="260480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可指定 helix、β-strand 或 loop，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但不固定 target 的精确三维坐标。</a:t>
              </a:r>
              <a:endParaRPr lang="zh-CN" sz="13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0" name="TextBox 39"/>
          <p:cNvGrpSpPr/>
          <p:nvPr/>
        </p:nvGrpSpPr>
        <p:grpSpPr>
          <a:xfrm>
            <a:off x="8183568" y="5034634"/>
            <a:ext cx="3038736" cy="712370"/>
            <a:chOff x="6622542" y="4972626"/>
            <a:chExt cx="4962906" cy="712370"/>
          </a:xfrm>
        </p:grpSpPr>
        <p:sp>
          <p:nvSpPr>
            <p:cNvPr id="17" name="Freeform 17"/>
            <p:cNvSpPr/>
            <p:nvPr/>
          </p:nvSpPr>
          <p:spPr>
            <a:xfrm>
              <a:off x="6629400" y="4972717"/>
              <a:ext cx="4956048" cy="696563"/>
            </a:xfrm>
            <a:custGeom>
              <a:avLst/>
              <a:gdLst/>
              <a:ahLst/>
              <a:cxnLst/>
              <a:rect l="l" t="t" r="r" b="b"/>
              <a:pathLst>
                <a:path w="4956048" h="696563">
                  <a:moveTo>
                    <a:pt x="0" y="0"/>
                  </a:moveTo>
                  <a:lnTo>
                    <a:pt x="4956048" y="0"/>
                  </a:lnTo>
                  <a:lnTo>
                    <a:pt x="4956048" y="696563"/>
                  </a:lnTo>
                  <a:lnTo>
                    <a:pt x="0" y="696563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/>
          </p:nvSpPr>
          <p:spPr>
            <a:xfrm>
              <a:off x="6623049" y="4972626"/>
              <a:ext cx="2971954" cy="244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50" b="1" dirty="0">
                  <a:solidFill>
                    <a:srgbClr val="007A3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创新点 3｜Two-sided partial diffusion</a:t>
              </a:r>
              <a:endParaRPr lang="zh-CN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5198078"/>
              <a:ext cx="2756916" cy="486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55"/>
                </a:lnSpc>
              </a:pPr>
              <a:r>
                <a:rPr lang="zh-CN" sz="1350" dirty="0">
                  <a:solidFill>
                    <a:srgbClr val="153A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 target 与 binder 同时部分加噪，</a:t>
              </a:r>
              <a:br>
                <a:rPr dirty="0"/>
              </a:br>
              <a:r>
                <a:rPr lang="zh-CN" sz="1350" dirty="0">
                  <a:solidFill>
                    <a:srgbClr val="153A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在初始命中附近共同优化结合界面。</a:t>
              </a:r>
              <a:endParaRPr lang="zh-CN" sz="13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688" y="4033075"/>
            <a:ext cx="9312310" cy="2619088"/>
          </a:xfrm>
          <a:prstGeom prst="rect">
            <a:avLst/>
          </a:prstGeom>
        </p:spPr>
      </p:pic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14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柔性 IDR 靶标的 binder </a:t>
            </a:r>
            <a:r>
              <a:rPr lang="zh-CN" altLang="en-US"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实验结果</a:t>
            </a:r>
            <a:r>
              <a:rPr lang="en-US" altLang="zh-CN"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1</a:t>
            </a:r>
            <a:endParaRPr sz="28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TextBox 37"/>
          <p:cNvSpPr/>
          <p:nvPr/>
        </p:nvSpPr>
        <p:spPr>
          <a:xfrm>
            <a:off x="8134760" y="1318836"/>
            <a:ext cx="3047590" cy="2714239"/>
          </a:xfrm>
          <a:prstGeom prst="rect">
            <a:avLst/>
          </a:prstGeom>
          <a:noFill/>
          <a:ln>
            <a:noFill/>
          </a:ln>
        </p:spPr>
        <p:txBody>
          <a:bodyPr wrap="none" lIns="0" tIns="5" rIns="0" bIns="0" anchor="t" anchorCtr="0">
            <a:noAutofit/>
          </a:bodyPr>
          <a:lstStyle/>
          <a:p>
            <a:pPr algn="l"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实验目的：</a:t>
            </a:r>
            <a:endParaRPr lang="en-US" alt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从“结合能力”和“结构准确性”两个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层面验证计算设计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微软雅黑" panose="020B0503020204020204" charset="-122"/>
              </a:rPr>
              <a:t>实验结果：</a:t>
            </a:r>
            <a:endParaRPr lang="en-US" altLang="zh-CN" sz="1250" b="1" dirty="0">
              <a:solidFill>
                <a:srgbClr val="007A3D"/>
              </a:solidFill>
              <a:ea typeface="微软雅黑" panose="020B0503020204020204" charset="-122"/>
            </a:endParaRPr>
          </a:p>
          <a:p>
            <a:pPr>
              <a:lnSpc>
                <a:spcPts val="1755"/>
              </a:lnSpc>
            </a:pPr>
            <a:r>
              <a:rPr lang="zh-CN" altLang="en-US" sz="1350" dirty="0">
                <a:solidFill>
                  <a:srgbClr val="153A2A"/>
                </a:solidFill>
                <a:ea typeface="微软雅黑" panose="020B0503020204020204" charset="-122"/>
              </a:rPr>
              <a:t>均</a:t>
            </a:r>
            <a:r>
              <a:rPr lang="en-US" altLang="zh-CN" sz="1400" dirty="0"/>
              <a:t>Figure A–C</a:t>
            </a:r>
            <a:r>
              <a:rPr lang="zh-CN" altLang="en-US" sz="1400" dirty="0"/>
              <a:t>中的三种</a:t>
            </a:r>
            <a:r>
              <a:rPr lang="en-US" altLang="zh-CN" sz="1400" dirty="0"/>
              <a:t>amylin binder</a:t>
            </a:r>
            <a:r>
              <a:rPr lang="zh-CN" altLang="en-US" sz="1400" dirty="0"/>
              <a:t>均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获得纳摩尔级亲和力。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250" b="1" dirty="0">
                <a:solidFill>
                  <a:srgbClr val="007A3D"/>
                </a:solidFill>
                <a:ea typeface="微软雅黑" panose="020B0503020204020204" charset="-122"/>
              </a:rPr>
              <a:t>实验结论：</a:t>
            </a:r>
            <a:endParaRPr lang="en-US" altLang="zh-CN" sz="1250" b="1" dirty="0">
              <a:solidFill>
                <a:srgbClr val="007A3D"/>
              </a:solidFill>
              <a:ea typeface="微软雅黑" panose="020B0503020204020204" charset="-122"/>
            </a:endParaRPr>
          </a:p>
          <a:p>
            <a:pPr>
              <a:lnSpc>
                <a:spcPts val="1755"/>
              </a:lnSpc>
            </a:pPr>
            <a:r>
              <a:rPr lang="zh-CN" altLang="en-US" sz="1400" dirty="0"/>
              <a:t>模型设计的</a:t>
            </a:r>
            <a:r>
              <a:rPr lang="en-US" altLang="zh-CN" sz="1400" dirty="0"/>
              <a:t>binder</a:t>
            </a:r>
            <a:r>
              <a:rPr lang="zh-CN" altLang="en-US" sz="1400" dirty="0"/>
              <a:t>能够在实验中结合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en-US" altLang="zh-CN" sz="1400" dirty="0"/>
              <a:t>amylin</a:t>
            </a:r>
            <a:r>
              <a:rPr lang="zh-CN" altLang="en-US" sz="1400" dirty="0"/>
              <a:t>，部分设计的实际结合结构也与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预测模型基本一致。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不同设计结合态均能产生具有较强亲和</a:t>
            </a:r>
            <a:endParaRPr lang="en-US" altLang="zh-CN" sz="1400" dirty="0"/>
          </a:p>
          <a:p>
            <a:pPr>
              <a:lnSpc>
                <a:spcPts val="1755"/>
              </a:lnSpc>
            </a:pPr>
            <a:r>
              <a:rPr lang="zh-CN" altLang="en-US" sz="1400" dirty="0"/>
              <a:t>力的</a:t>
            </a:r>
            <a:r>
              <a:rPr lang="en-US" altLang="zh-CN" sz="1400" dirty="0"/>
              <a:t>binder</a:t>
            </a:r>
            <a:r>
              <a:rPr lang="zh-CN" altLang="en-US" sz="1400" dirty="0"/>
              <a:t>。</a:t>
            </a:r>
            <a:endParaRPr lang="en-US" altLang="zh-CN" sz="1400" dirty="0"/>
          </a:p>
        </p:txBody>
      </p:sp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45" y="1032795"/>
            <a:ext cx="7263575" cy="2900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9" name="Rectangle 29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0" name="TextBox 30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15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论文总结：核心贡献、局限与未来方向</a:t>
            </a:r>
            <a:endParaRPr sz="28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612648" y="952885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wash-13"/>
          <p:cNvSpPr/>
          <p:nvPr/>
        </p:nvSpPr>
        <p:spPr>
          <a:xfrm>
            <a:off x="0" y="428625"/>
            <a:ext cx="12192000" cy="3238500"/>
          </a:xfrm>
          <a:custGeom>
            <a:avLst/>
            <a:gdLst/>
            <a:ahLst/>
            <a:cxnLst/>
            <a:rect l="l" t="t" r="r" b="b"/>
            <a:pathLst>
              <a:path w="12192000" h="3238500">
                <a:moveTo>
                  <a:pt x="0" y="1762125"/>
                </a:moveTo>
                <a:cubicBezTo>
                  <a:pt x="2095500" y="1095375"/>
                  <a:pt x="4000500" y="3238500"/>
                  <a:pt x="6667500" y="1619250"/>
                </a:cubicBezTo>
                <a:cubicBezTo>
                  <a:pt x="9334500" y="0"/>
                  <a:pt x="10287000" y="2238375"/>
                  <a:pt x="12192000" y="2667000"/>
                </a:cubicBezTo>
              </a:path>
            </a:pathLst>
          </a:custGeom>
          <a:noFill/>
          <a:ln w="323850">
            <a:solidFill>
              <a:schemeClr val="accent1">
                <a:alpha val="5500"/>
              </a:schemeClr>
            </a:solidFill>
          </a:ln>
        </p:spPr>
        <p:txBody>
          <a:bodyPr/>
          <a:p/>
        </p:txBody>
      </p:sp>
      <p:sp>
        <p:nvSpPr>
          <p:cNvPr id="34" name="Rectangle 33"/>
          <p:cNvSpPr/>
          <p:nvPr/>
        </p:nvSpPr>
        <p:spPr>
          <a:xfrm>
            <a:off x="612648" y="1097280"/>
            <a:ext cx="10972800" cy="732790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2648" y="1097280"/>
            <a:ext cx="54864" cy="73279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1243583"/>
            <a:ext cx="10424160" cy="53511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4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 没有固定结构，并不意味着无法设计 binder</a:t>
            </a:r>
            <a:endParaRPr sz="14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</a:pPr>
            <a:r>
              <a:rPr sz="115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该工作证明“柔性 IDR 可以设计 binder”；下一步的问题是：怎样利用完整 ensemble 提高设计可靠性与功能可控性。</a:t>
            </a:r>
            <a:endParaRPr sz="11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12648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648" y="2049526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" y="2365024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核心贡献</a:t>
            </a:r>
            <a:endParaRPr sz="15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813816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813816" y="3027934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2982214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① 从固定靶标扩展到柔性 IDR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不需要 target 三维结构，仅凭序列联合生成 target 结合态与 binder 主链</a:t>
            </a:r>
            <a:endParaRPr sz="12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13816" y="3762311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8408" y="3716591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② 柔性靶标设计策略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target 二级结构条件、target–binder 联合扩散、two-sided partial diffusion</a:t>
            </a:r>
            <a:endParaRPr sz="12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13816" y="4496689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8408" y="4450969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③ 多层实验验证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纳摩尔级亲和力、与设计一致的晶体结构、细胞内 target engagement</a:t>
            </a:r>
            <a:endParaRPr sz="12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358640" y="209270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358640" y="2049526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82668" y="2347405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局限性</a:t>
            </a:r>
            <a:endParaRPr sz="15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4559808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559808" y="3027934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24400" y="2982214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① 未显式使用自由态 ensemble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直接生成一个结合态，未评估其出现概率、可达性与构象重组代价</a:t>
            </a:r>
            <a:endParaRPr sz="12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559808" y="3762311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24400" y="3716591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② 主要针对单一结合态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能否结合多构象、只选特定功能状态、应对环境构象变化，仍不清楚</a:t>
            </a:r>
            <a:endParaRPr sz="12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559808" y="4496689"/>
            <a:ext cx="45720" cy="486791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24400" y="4450969"/>
            <a:ext cx="2913888" cy="578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③ 仍依赖大量生成与筛选</a:t>
            </a:r>
            <a:endParaRPr sz="12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尚不能预判哪些候选会成功，计算评分与实验亲和力的关系也未建立</a:t>
            </a:r>
            <a:endParaRPr sz="12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098536" y="2049526"/>
            <a:ext cx="3480816" cy="316255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04632" y="2049526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05800" y="2344928"/>
            <a:ext cx="307848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未来展望</a:t>
            </a:r>
            <a:endParaRPr sz="15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8305800" y="2890774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8305800" y="3027934"/>
            <a:ext cx="45720" cy="471296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70392" y="2982214"/>
            <a:ext cx="2913888" cy="56273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190"/>
              </a:spcAft>
            </a:pPr>
            <a:r>
              <a:rPr sz="118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① Ensemble-aware 排序</a:t>
            </a:r>
            <a:endParaRPr sz="118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085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用 STARLING / IDPFold 生成自由态 ensemble，评价结合态可达性并加入候选重排序</a:t>
            </a:r>
            <a:endParaRPr sz="1085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311662" y="4123838"/>
            <a:ext cx="45720" cy="471296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08492" y="4049511"/>
            <a:ext cx="2913888" cy="61995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25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② 多构象与状态选择性设计</a:t>
            </a:r>
            <a:endParaRPr sz="125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15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设计跨构象稳定结合的 binder，或选择性稳定某个功能相关构象</a:t>
            </a:r>
            <a:endParaRPr sz="11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612648" y="5431536"/>
            <a:ext cx="10972800" cy="672210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86968" y="5577840"/>
            <a:ext cx="10424160" cy="37960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2000"/>
              </a:lnSpc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最可行的切入点｜</a:t>
            </a:r>
            <a:r>
              <a:rPr sz="135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用 IDPFold 或 STARLING 生成自由态 ensemble，对现有 binder 候选做可达性评分与重新排序。</a:t>
            </a:r>
            <a:endParaRPr sz="135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100" b="0">
                <a:solidFill>
                  <a:srgbClr val="D2E9DB"/>
                </a:solidFill>
                <a:latin typeface="Arial" panose="020B0604020202020204"/>
                <a:ea typeface="微软雅黑" panose="020B0503020204020204" charset="-122"/>
              </a:rPr>
              <a:t>无需重新训练 RFdiffusion，也不依赖立即开展湿实验；先验证自由态 ensemble 是否为 binder 成功率提供额外预测信息。</a:t>
            </a:r>
            <a:endParaRPr sz="1100" b="0">
              <a:solidFill>
                <a:srgbClr val="D2E9DB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7"/>
          <p:cNvSpPr/>
          <p:nvPr/>
        </p:nvSpPr>
        <p:spPr>
          <a:xfrm>
            <a:off x="0" y="1619250"/>
            <a:ext cx="12192000" cy="2095500"/>
          </a:xfrm>
          <a:custGeom>
            <a:avLst/>
            <a:gdLst/>
            <a:ahLst/>
            <a:cxnLst/>
            <a:rect l="l" t="t" r="r" b="b"/>
            <a:pathLst>
              <a:path w="12192000" h="2095500">
                <a:moveTo>
                  <a:pt x="0" y="1714500"/>
                </a:moveTo>
                <a:cubicBezTo>
                  <a:pt x="2476500" y="0"/>
                  <a:pt x="4095750" y="2095500"/>
                  <a:pt x="6858000" y="1428750"/>
                </a:cubicBezTo>
                <a:cubicBezTo>
                  <a:pt x="9620250" y="762000"/>
                  <a:pt x="10287000" y="19050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000"/>
              </a:schemeClr>
            </a:solidFill>
          </a:ln>
        </p:spPr>
        <p:txBody>
          <a:bodyPr/>
          <a:p/>
        </p:txBody>
      </p:sp>
      <p:grpSp>
        <p:nvGrpSpPr>
          <p:cNvPr id="57" name="footer-17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55" name="Rectangle 55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56" name="TextBox 56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16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从六篇论文得到的证据、缺口与可做任务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59" name="Connector 58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612648" y="1152144"/>
            <a:ext cx="10972800" cy="38404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0664" y="1216152"/>
            <a:ext cx="151790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研究环节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441448" y="1216152"/>
            <a:ext cx="149961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代表工作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123944" y="1216152"/>
            <a:ext cx="2340863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已经证明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647688" y="1216152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仍未证明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043416" y="1216152"/>
            <a:ext cx="248716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可做任务</a:t>
            </a:r>
            <a:endParaRPr sz="1250" b="1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12648" y="1536192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0664" y="1655064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性质 → 序列</a:t>
            </a:r>
            <a:endParaRPr sz="12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441448" y="1655064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GOOSE</a:t>
            </a:r>
            <a:endParaRPr sz="11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123944" y="1655064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可按长度、电荷、疏水性等性质生成多样 IDR 序列</a:t>
            </a:r>
            <a:endParaRPr sz="12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647688" y="1655064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目标性质是否转化为真实功能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043416" y="1655064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加入 ensemble 或功能奖励</a:t>
            </a:r>
            <a:endParaRPr sz="1200" b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12648" y="2322576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40664" y="2441448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序列 → ensemble</a:t>
            </a:r>
            <a:endParaRPr sz="12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441448" y="2441448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STARLING / IDPFold</a:t>
            </a:r>
            <a:endParaRPr sz="11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123944" y="2441448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可快速生成大量构象，覆盖全局与局部统计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647688" y="2441448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真实平衡权重、动力学及跨条件迁移</a:t>
            </a:r>
            <a:endParaRPr sz="12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043416" y="2441448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统一数据与实验约束下的模型评测</a:t>
            </a:r>
            <a:endParaRPr sz="1200" b="0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612648" y="3108960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40664" y="3227832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环境 → LLPS</a:t>
            </a:r>
            <a:endParaRPr sz="12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441448" y="3227832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LLPSense</a:t>
            </a:r>
            <a:endParaRPr sz="11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123944" y="3227832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环境信息有助于预测相分离相关行为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647688" y="3227832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ensemble 是否提供额外且可迁移的信息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043416" y="3227832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M1 / M2 / M3 严格对照与跨环境测试</a:t>
            </a:r>
            <a:endParaRPr sz="1200" b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12648" y="3895344"/>
            <a:ext cx="1097280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0664" y="4014215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IDR → binder</a:t>
            </a:r>
            <a:endParaRPr sz="12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441448" y="4014215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Diffusing protein binders</a:t>
            </a:r>
            <a:endParaRPr sz="11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4123944" y="4014215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可生成稳定 binder 并识别兼容结合构象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647688" y="4014215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构象是否可达</a:t>
            </a:r>
            <a:endParaRPr lang="en-US" altLang="zh-CN" sz="12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</a:pPr>
            <a:r>
              <a:rPr lang="zh-CN" altLang="en-US" sz="120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能否泛化</a:t>
            </a:r>
            <a:endParaRPr lang="en-US" altLang="zh-CN" sz="12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</a:pPr>
            <a:endParaRPr sz="120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043416" y="4014215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lang="zh-CN" altLang="en-US" sz="12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加入自由态</a:t>
            </a:r>
            <a:r>
              <a:rPr lang="en-US" altLang="zh-CN" sz="12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ensemble</a:t>
            </a:r>
            <a:r>
              <a:rPr lang="zh-CN" altLang="en-US" sz="12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信息是否可以更准确的识别</a:t>
            </a:r>
            <a:r>
              <a:rPr lang="en-US" altLang="zh-CN" sz="1200" b="0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binder</a:t>
            </a:r>
            <a:endParaRPr sz="1200" b="0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612648" y="4681728"/>
            <a:ext cx="10972800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0664" y="4800600"/>
            <a:ext cx="1481328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凝聚体 → 定位肽</a:t>
            </a:r>
            <a:endParaRPr sz="12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441448" y="4800600"/>
            <a:ext cx="14630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15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interface peptide design</a:t>
            </a:r>
            <a:endParaRPr sz="115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4123944" y="4800600"/>
            <a:ext cx="2304287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可设计界面富集的短肽分子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647688" y="4800600"/>
            <a:ext cx="217627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跨凝聚体泛化与机制可解释性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043416" y="4800600"/>
            <a:ext cx="2450591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4000"/>
              </a:lnSpc>
            </a:pPr>
            <a:r>
              <a:rPr sz="1200" b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环境依赖的功能设计与多目标设计</a:t>
            </a:r>
            <a:endParaRPr sz="1200" b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12648" y="5632704"/>
            <a:ext cx="10972800" cy="551434"/>
          </a:xfrm>
          <a:prstGeom prst="rect">
            <a:avLst/>
          </a:prstGeom>
          <a:solidFill>
            <a:srgbClr val="EA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12648" y="5632704"/>
            <a:ext cx="54864" cy="551434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86968" y="5797296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综合判断：论文已解决局部任务，但 “ensemble → function” 的可迁移连接仍是最清楚的研究缺口。</a:t>
            </a:r>
            <a:endParaRPr sz="14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2"/>
          <p:cNvSpPr/>
          <p:nvPr/>
        </p:nvSpPr>
        <p:spPr>
          <a:xfrm>
            <a:off x="0" y="1428750"/>
            <a:ext cx="12192000" cy="2286000"/>
          </a:xfrm>
          <a:custGeom>
            <a:avLst/>
            <a:gdLst/>
            <a:ahLst/>
            <a:cxnLst/>
            <a:rect l="l" t="t" r="r" b="b"/>
            <a:pathLst>
              <a:path w="12192000" h="2286000">
                <a:moveTo>
                  <a:pt x="0" y="2286000"/>
                </a:moveTo>
                <a:cubicBezTo>
                  <a:pt x="2381250" y="0"/>
                  <a:pt x="4095750" y="2190750"/>
                  <a:pt x="6858000" y="1714500"/>
                </a:cubicBezTo>
                <a:cubicBezTo>
                  <a:pt x="9620250" y="1238250"/>
                  <a:pt x="10287000" y="285750"/>
                  <a:pt x="12192000" y="152400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  <p:txBody>
          <a:bodyPr/>
          <a:p/>
        </p:txBody>
      </p:sp>
      <p:grpSp>
        <p:nvGrpSpPr>
          <p:cNvPr id="36" name="footer-13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33" name="Image 3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34" name="Rectangle 34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17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如何验证 ensemble 是否提供额外信息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2648" y="1188720"/>
            <a:ext cx="5623560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一、固定数据与划分，只改变模型输入</a:t>
            </a:r>
            <a:endParaRPr sz="15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2648" y="1572768"/>
            <a:ext cx="5623560" cy="65163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" y="1572768"/>
            <a:ext cx="50292" cy="65163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" y="1691640"/>
            <a:ext cx="5349240" cy="41389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M1　仅序列　　sequence → LLPS</a:t>
            </a:r>
            <a:endParaRPr sz="13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回答：序列本身能做到什么程度？</a:t>
            </a:r>
            <a:endParaRPr sz="12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06552" y="2493266"/>
            <a:ext cx="5623560" cy="77482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6552" y="2493266"/>
            <a:ext cx="54864" cy="77482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" y="2612137"/>
            <a:ext cx="5349240" cy="6516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M2　序列 + 环境　　sequence + condition → LLPS</a:t>
            </a:r>
            <a:endParaRPr sz="13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回答：盐、温度、浓度等条件是否带来增益？</a:t>
            </a:r>
            <a:endParaRPr sz="120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12648" y="3521011"/>
            <a:ext cx="5623560" cy="839469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648" y="3521012"/>
            <a:ext cx="100584" cy="83946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" y="3639884"/>
            <a:ext cx="5349240" cy="5327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300"/>
              </a:spcAft>
            </a:pPr>
            <a:r>
              <a:rPr sz="13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M3　序列 + 环境 + ensemble　　加入构象统计特征</a:t>
            </a:r>
            <a:endParaRPr sz="13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0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回答：在公平对照下，ensemble 是否仍提供额外信息？</a:t>
            </a:r>
            <a:endParaRPr sz="120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29400" y="1188720"/>
            <a:ext cx="4956048" cy="2204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5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二</a:t>
            </a:r>
            <a:r>
              <a:rPr lang="zh-CN" altLang="en-US" sz="15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、</a:t>
            </a:r>
            <a:r>
              <a:rPr lang="en-US" altLang="zh-CN" sz="15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 </a:t>
            </a:r>
            <a:r>
              <a:rPr lang="zh-CN" altLang="en-US" sz="15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结果解释</a:t>
            </a:r>
            <a:endParaRPr lang="zh-CN" altLang="en-US" sz="15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629400" y="189427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75704" y="1907585"/>
            <a:ext cx="3934734" cy="11419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M2</a:t>
            </a: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M1</a:t>
            </a:r>
            <a:endParaRPr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altLang="en-US" sz="125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说明加入环境条件可以带来增益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629400" y="241243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75704" y="2475262"/>
            <a:ext cx="3934734" cy="6238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M3</a:t>
            </a: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优于</a:t>
            </a:r>
            <a:r>
              <a:rPr lang="en-US" altLang="zh-CN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M2</a:t>
            </a:r>
            <a:endParaRPr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说明</a:t>
            </a:r>
            <a:r>
              <a:rPr lang="en-US" altLang="zh-CN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ensemble</a:t>
            </a: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有着自己的信息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6629400" y="2930592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75704" y="2994060"/>
            <a:ext cx="4608576" cy="51830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泛化</a:t>
            </a:r>
            <a:endParaRPr lang="en-US" altLang="zh-CN"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10000"/>
              </a:lnSpc>
              <a:spcAft>
                <a:spcPts val="100"/>
              </a:spcAft>
            </a:pP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在新的蛋白以及新的环境中</a:t>
            </a:r>
            <a:r>
              <a:rPr lang="en-US" altLang="zh-CN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依旧优于</a:t>
            </a:r>
            <a:r>
              <a:rPr lang="en-US" altLang="zh-CN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M2</a:t>
            </a: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证明有不错的泛化能力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629400" y="3448751"/>
            <a:ext cx="45720" cy="707924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75704" y="3570246"/>
            <a:ext cx="3934734" cy="65689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100"/>
              </a:spcAft>
            </a:pPr>
            <a:r>
              <a:rPr sz="1250" b="1" dirty="0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跨生成器</a:t>
            </a:r>
            <a:endParaRPr sz="1250" b="1" dirty="0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更换 STARLING / IDPFold / CALVADOS</a:t>
            </a: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生成的结构依然可以证明</a:t>
            </a:r>
            <a:r>
              <a:rPr lang="en-US" altLang="zh-CN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M3</a:t>
            </a:r>
            <a:r>
              <a:rPr lang="zh-CN" alt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优于</a:t>
            </a:r>
            <a:r>
              <a:rPr lang="en-US" altLang="zh-CN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M2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12648" y="5047488"/>
            <a:ext cx="10972800" cy="984758"/>
          </a:xfrm>
          <a:prstGeom prst="rect">
            <a:avLst/>
          </a:prstGeom>
          <a:solidFill>
            <a:srgbClr val="F7FAF8"/>
          </a:solidFill>
          <a:ln w="12700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648" y="5047488"/>
            <a:ext cx="54864" cy="9847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0392" y="5116664"/>
            <a:ext cx="10497312" cy="83845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5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判定标准</a:t>
            </a:r>
            <a:endParaRPr sz="15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dirty="0"/>
              <a:t>支持：只有当</a:t>
            </a:r>
            <a:r>
              <a:rPr lang="en-US" altLang="zh-CN" sz="1400" dirty="0"/>
              <a:t>M3</a:t>
            </a:r>
            <a:r>
              <a:rPr lang="zh-CN" altLang="en-US" sz="1400" dirty="0"/>
              <a:t>在未见蛋白、新环境和不同生成器下仍稳定优于</a:t>
            </a:r>
            <a:r>
              <a:rPr lang="en-US" altLang="zh-CN" sz="1400" dirty="0"/>
              <a:t>M2</a:t>
            </a:r>
            <a:r>
              <a:rPr lang="zh-CN" altLang="en-US" sz="1400" dirty="0"/>
              <a:t>，才能说明</a:t>
            </a:r>
            <a:r>
              <a:rPr lang="en-US" altLang="zh-CN" sz="1400" dirty="0"/>
              <a:t>ensemble</a:t>
            </a:r>
            <a:r>
              <a:rPr lang="zh-CN" altLang="en-US" sz="1400" dirty="0"/>
              <a:t>提供了额外信息。</a:t>
            </a:r>
            <a:endParaRPr lang="en-US" altLang="zh-CN" sz="1400" dirty="0"/>
          </a:p>
          <a:p>
            <a:pPr>
              <a:lnSpc>
                <a:spcPct val="124000"/>
              </a:lnSpc>
              <a:spcAft>
                <a:spcPts val="300"/>
              </a:spcAft>
            </a:pPr>
            <a:r>
              <a:rPr lang="zh-CN" altLang="en-US" sz="140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不支持：只有训练数据有提升或者只有某个生成器生成的有提升。</a:t>
            </a:r>
            <a:endParaRPr sz="12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ash-15"/>
          <p:cNvSpPr/>
          <p:nvPr/>
        </p:nvSpPr>
        <p:spPr>
          <a:xfrm>
            <a:off x="0" y="1524000"/>
            <a:ext cx="12192000" cy="2857500"/>
          </a:xfrm>
          <a:custGeom>
            <a:avLst/>
            <a:gdLst/>
            <a:ahLst/>
            <a:cxnLst/>
            <a:rect l="l" t="t" r="r" b="b"/>
            <a:pathLst>
              <a:path w="12192000" h="2857500">
                <a:moveTo>
                  <a:pt x="0" y="2857500"/>
                </a:moveTo>
                <a:cubicBezTo>
                  <a:pt x="2190750" y="0"/>
                  <a:pt x="4095750" y="2762250"/>
                  <a:pt x="6858000" y="2190750"/>
                </a:cubicBezTo>
                <a:cubicBezTo>
                  <a:pt x="9620250" y="1619250"/>
                  <a:pt x="10287000" y="1143000"/>
                  <a:pt x="12192000" y="2381250"/>
                </a:cubicBezTo>
              </a:path>
            </a:pathLst>
          </a:custGeom>
          <a:noFill/>
          <a:ln w="323850">
            <a:solidFill>
              <a:schemeClr val="accent1">
                <a:alpha val="4500"/>
              </a:schemeClr>
            </a:solidFill>
          </a:ln>
        </p:spPr>
        <p:txBody>
          <a:bodyPr/>
          <a:p/>
        </p:txBody>
      </p:sp>
      <p:grpSp>
        <p:nvGrpSpPr>
          <p:cNvPr id="29" name="footer-18"/>
          <p:cNvGrpSpPr/>
          <p:nvPr/>
        </p:nvGrpSpPr>
        <p:grpSpPr>
          <a:xfrm>
            <a:off x="609600" y="6257925"/>
            <a:ext cx="10896600" cy="323850"/>
            <a:chOff x="609600" y="6257925"/>
            <a:chExt cx="10896600" cy="323850"/>
          </a:xfrm>
        </p:grpSpPr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" y="6267450"/>
              <a:ext cx="266700" cy="266700"/>
            </a:xfrm>
            <a:prstGeom prst="rect">
              <a:avLst/>
            </a:prstGeom>
          </p:spPr>
        </p:pic>
        <p:sp>
          <p:nvSpPr>
            <p:cNvPr id="27" name="Rectangle 27"/>
            <p:cNvSpPr/>
            <p:nvPr/>
          </p:nvSpPr>
          <p:spPr>
            <a:xfrm>
              <a:off x="11182350" y="6257925"/>
              <a:ext cx="32385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11255634" y="6355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defRPr sz="1100" b="1">
                  <a:solidFill>
                    <a:srgbClr val="FFFFFF"/>
                  </a:solidFill>
                  <a:latin typeface="Arial" panose="020B0604020202020204"/>
                </a:defRPr>
              </a:pPr>
              <a:r>
                <a:t>18</a:t>
              </a:r>
              <a:endParaRPr sz="1100" b="1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三个可落地的计算研究方向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12648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648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低风险 / 先建立基线</a:t>
            </a:r>
            <a:endParaRPr sz="1150" b="1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13816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方向一　统一评测</a:t>
            </a:r>
            <a:endParaRPr sz="15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813816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3816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数据：相同序列、条件与观测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3816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基线：STARLING / IDPFold / CALVADOS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13816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指标：Rg、接触、局部结构、覆盖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3816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产出：benchmark、误差分析、工具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3816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风险：创新性取决于数据与评价设计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358640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58640" y="1152144"/>
            <a:ext cx="3480816" cy="50292"/>
          </a:xfrm>
          <a:prstGeom prst="rect">
            <a:avLst/>
          </a:prstGeom>
          <a:solidFill>
            <a:srgbClr val="C79A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59808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8A6423"/>
                </a:solidFill>
                <a:latin typeface="Arial" panose="020B0604020202020204"/>
                <a:ea typeface="微软雅黑" panose="020B0503020204020204" charset="-122"/>
              </a:rPr>
              <a:t>中风险 / 最推荐切入</a:t>
            </a:r>
            <a:endParaRPr sz="1150" b="1">
              <a:solidFill>
                <a:srgbClr val="8A642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559808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方向二　ensemble 增强 LLPS</a:t>
            </a:r>
            <a:endParaRPr sz="15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4559808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559808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数据：序列、环境、LLPS 标签 / 读数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59808" y="282244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基线：M1 序列；M2 序列 + 环境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559808" y="352348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方法：M3 加入 ensemble 统计特征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559808" y="422452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指标：性能、校准、跨环境泛化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59808" y="492556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风险：必须控制数据泄漏与生成器偏差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8104632" y="1152144"/>
            <a:ext cx="3480816" cy="4151376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04632" y="1152144"/>
            <a:ext cx="3480816" cy="50292"/>
          </a:xfrm>
          <a:prstGeom prst="rect">
            <a:avLst/>
          </a:prstGeom>
          <a:solidFill>
            <a:srgbClr val="7FA9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5800" y="1335024"/>
            <a:ext cx="3078480" cy="23145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150" b="1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高风险 / 后续拓展</a:t>
            </a:r>
            <a:endParaRPr sz="1150" b="1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05800" y="1627632"/>
            <a:ext cx="3078480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5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方向三　ensemble-aware 设计</a:t>
            </a:r>
            <a:endParaRPr sz="155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8305800" y="2011680"/>
            <a:ext cx="3078480" cy="0"/>
          </a:xfrm>
          <a:prstGeom prst="line">
            <a:avLst/>
          </a:prstGeom>
          <a:ln w="12700">
            <a:solidFill>
              <a:srgbClr val="C9D9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305800" y="2121408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对象：IDR 序列、binder 或定位肽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305800" y="2773680"/>
            <a:ext cx="3078480" cy="3901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奖励：ensemble、LLPS、聚集风险与序列多样性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305800" y="3621024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基线：单状态或单目标设计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305800" y="4273296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指标：鲁棒性、特异性、跨状态表现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305800" y="4925567"/>
            <a:ext cx="3078480" cy="1950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00" b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 风险：验证成本最高，需外部合作</a:t>
            </a:r>
            <a:endParaRPr sz="1200" b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612648" y="5541264"/>
            <a:ext cx="10972800" cy="533146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6968" y="5696712"/>
            <a:ext cx="1042416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</a:rPr>
              <a:t>建议顺序：统一评测建立可信基线 → 验证 ensemble 的功能增益 → 再进入多目标设计。</a:t>
            </a:r>
            <a:endParaRPr sz="1400" b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-wash"/>
          <p:cNvSpPr/>
          <p:nvPr/>
        </p:nvSpPr>
        <p:spPr>
          <a:xfrm>
            <a:off x="0" y="2286000"/>
            <a:ext cx="12382500" cy="3333750"/>
          </a:xfrm>
          <a:custGeom>
            <a:avLst/>
            <a:gdLst/>
            <a:ahLst/>
            <a:cxnLst/>
            <a:rect l="l" t="t" r="r" b="b"/>
            <a:pathLst>
              <a:path w="12382500" h="3333750">
                <a:moveTo>
                  <a:pt x="0" y="2667000"/>
                </a:moveTo>
                <a:cubicBezTo>
                  <a:pt x="2476500" y="1428750"/>
                  <a:pt x="5334000" y="3333750"/>
                  <a:pt x="8096250" y="1809750"/>
                </a:cubicBezTo>
                <a:cubicBezTo>
                  <a:pt x="10858500" y="285750"/>
                  <a:pt x="10763250" y="1047750"/>
                  <a:pt x="12382500" y="0"/>
                </a:cubicBezTo>
              </a:path>
            </a:pathLst>
          </a:custGeom>
          <a:noFill/>
          <a:ln w="723900">
            <a:solidFill>
              <a:schemeClr val="accent1">
                <a:alpha val="10000"/>
              </a:schemeClr>
            </a:solidFill>
          </a:ln>
        </p:spPr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612648" y="347472"/>
            <a:ext cx="10972800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6000"/>
              </a:lnSpc>
            </a:pPr>
            <a:r>
              <a:rPr sz="2800" b="1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结论与讨论</a:t>
            </a:r>
            <a:endParaRPr sz="2800" b="1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612648" y="1014984"/>
            <a:ext cx="10972800" cy="0"/>
          </a:xfrm>
          <a:prstGeom prst="line">
            <a:avLst/>
          </a:prstGeom>
          <a:ln w="15875">
            <a:solidFill>
              <a:srgbClr val="7FA9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12648" y="1170432"/>
            <a:ext cx="553212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335024"/>
            <a:ext cx="5129783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三条结论</a:t>
            </a:r>
            <a:endParaRPr sz="16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3816" y="1792224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55647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1. 概念层面</a:t>
            </a:r>
            <a:endParaRPr sz="13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8000"/>
              </a:lnSpc>
            </a:pPr>
            <a:r>
              <a:rPr sz="125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IDP / IDR 的“无序”指没有单一主导结构；描述它们必须用带统计权重的 ensemble，而不是一条结构。</a:t>
            </a:r>
            <a:endParaRPr sz="12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3816" y="2606802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570224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2. 方法层面</a:t>
            </a:r>
            <a:endParaRPr sz="13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8000"/>
              </a:lnSpc>
            </a:pPr>
            <a:r>
              <a:rPr sz="125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GOOSE、STARLING、IDPFold 已能生成序列与构象；但“生成得像”不等于权重与动力学正确。</a:t>
            </a:r>
            <a:endParaRPr sz="12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3816" y="3421379"/>
            <a:ext cx="45720" cy="540258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4802"/>
            <a:ext cx="5129783" cy="74447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0000"/>
              </a:lnSpc>
              <a:spcAft>
                <a:spcPts val="200"/>
              </a:spcAft>
            </a:pPr>
            <a:r>
              <a:rPr sz="1300" b="1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3. 评价层面</a:t>
            </a:r>
            <a:endParaRPr sz="1300" b="1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  <a:p>
            <a:pPr>
              <a:lnSpc>
                <a:spcPct val="128000"/>
              </a:lnSpc>
            </a:pPr>
            <a:r>
              <a:rPr lang="zh-CN" altLang="en-US" sz="1250" b="0" dirty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目前还没有形成统一的评价标准</a:t>
            </a:r>
            <a:endParaRPr sz="1250" b="0" dirty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73368" y="1170432"/>
            <a:ext cx="5212080" cy="3712463"/>
          </a:xfrm>
          <a:prstGeom prst="rect">
            <a:avLst/>
          </a:prstGeom>
          <a:solidFill>
            <a:srgbClr val="F7FAF8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1335024"/>
            <a:ext cx="4809744" cy="2275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12000"/>
              </a:lnSpc>
            </a:pPr>
            <a:r>
              <a:rPr sz="1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建议与下一步</a:t>
            </a:r>
            <a:endParaRPr sz="16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592824" y="181051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67144" y="175564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·切入点</a:t>
            </a:r>
            <a:r>
              <a:rPr lang="en-US"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1</a:t>
            </a: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是“ensemble 是否提供额外信息”的严格对照实验（M1 / M2 / M3）。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592824" y="239979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234492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·优先统一数据与评价口径：按蛋白划分、跨环境测试、跨生成器消融。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6592824" y="298907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2934208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·设计类任务（binder、界面肽）验证成本最高，建议先建立评测基线再进入。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6592824" y="3578352"/>
            <a:ext cx="182880" cy="182880"/>
          </a:xfrm>
          <a:prstGeom prst="ellipse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67144" y="3523487"/>
            <a:ext cx="4517136" cy="40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8000"/>
              </a:lnSpc>
            </a:pPr>
            <a:r>
              <a:rPr sz="1250" b="0" dirty="0">
                <a:solidFill>
                  <a:srgbClr val="153A2A"/>
                </a:solidFill>
                <a:latin typeface="Arial" panose="020B0604020202020204"/>
                <a:ea typeface="微软雅黑" panose="020B0503020204020204" charset="-122"/>
              </a:rPr>
              <a:t>·需要外部实验合作，才能把“分布正确”从计算结论推进到可检验结论。</a:t>
            </a:r>
            <a:endParaRPr sz="1250" b="0" dirty="0">
              <a:solidFill>
                <a:srgbClr val="153A2A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12648" y="5065776"/>
            <a:ext cx="10972800" cy="896112"/>
          </a:xfrm>
          <a:prstGeom prst="rect">
            <a:avLst/>
          </a:prstGeom>
          <a:solidFill>
            <a:srgbClr val="EAF4EE"/>
          </a:solidFill>
          <a:ln w="9525">
            <a:solidFill>
              <a:srgbClr val="C9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" y="5065776"/>
            <a:ext cx="54864" cy="896112"/>
          </a:xfrm>
          <a:prstGeom prst="rect">
            <a:avLst/>
          </a:prstGeom>
          <a:solidFill>
            <a:srgbClr val="00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5212080"/>
            <a:ext cx="4572000" cy="3721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05000"/>
              </a:lnSpc>
              <a:spcAft>
                <a:spcPts val="200"/>
              </a:spcAft>
            </a:pPr>
            <a:r>
              <a:rPr sz="2600" b="1">
                <a:solidFill>
                  <a:srgbClr val="007A3D"/>
                </a:solidFill>
                <a:latin typeface="Arial" panose="020B0604020202020204"/>
                <a:ea typeface="微软雅黑" panose="020B0503020204020204" charset="-122"/>
              </a:rPr>
              <a:t>谢谢！</a:t>
            </a:r>
            <a:endParaRPr sz="2600" b="1">
              <a:solidFill>
                <a:srgbClr val="007A3D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86968" y="5614416"/>
            <a:ext cx="5943600" cy="198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C6E63"/>
                </a:solidFill>
                <a:latin typeface="Arial" panose="020B0604020202020204"/>
                <a:ea typeface="微软雅黑" panose="020B0503020204020204" charset="-122"/>
              </a:rPr>
              <a:t>欢迎老师与同学批评指正。</a:t>
            </a:r>
            <a:endParaRPr sz="1300" b="0">
              <a:solidFill>
                <a:srgbClr val="5C6E63"/>
              </a:solidFill>
              <a:latin typeface="Arial" panose="020B0604020202020204"/>
              <a:ea typeface="微软雅黑" panose="020B0503020204020204" charset="-122"/>
            </a:endParaRP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0035" y="5157216"/>
            <a:ext cx="2328008" cy="713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i_idp_hzau_beautify">
  <a:themeElements>
    <a:clrScheme name="ai_idp_hzau_beautify">
      <a:dk1>
        <a:srgbClr val="202420"/>
      </a:dk1>
      <a:lt1>
        <a:srgbClr val="FFFFFF"/>
      </a:lt1>
      <a:dk2>
        <a:srgbClr val="1F497D"/>
      </a:dk2>
      <a:lt2>
        <a:srgbClr val="EAF4EE"/>
      </a:lt2>
      <a:accent1>
        <a:srgbClr val="007A3D"/>
      </a:accent1>
      <a:accent2>
        <a:srgbClr val="C79A36"/>
      </a:accent2>
      <a:accent3>
        <a:srgbClr val="2E6FA3"/>
      </a:accent3>
      <a:accent4>
        <a:srgbClr val="007A3D"/>
      </a:accent4>
      <a:accent5>
        <a:srgbClr val="C93C3C"/>
      </a:accent5>
      <a:accent6>
        <a:srgbClr val="657269"/>
      </a:accent6>
      <a:hlink>
        <a:srgbClr val="C79A36"/>
      </a:hlink>
      <a:folHlink>
        <a:srgbClr val="2E6FA3"/>
      </a:folHlink>
    </a:clrScheme>
    <a:fontScheme name="ai_idp_hzau_beautify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idp_hzau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6107</Words>
  <Application>WPS 演示</Application>
  <PresentationFormat>宽屏</PresentationFormat>
  <Paragraphs>569</Paragraphs>
  <Slides>19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Arial</vt:lpstr>
      <vt:lpstr>宋体</vt:lpstr>
      <vt:lpstr>Wingdings</vt:lpstr>
      <vt:lpstr>Arial</vt:lpstr>
      <vt:lpstr>微软雅黑</vt:lpstr>
      <vt:lpstr>Arial Unicode MS</vt:lpstr>
      <vt:lpstr>ai_idp_hzau_beautify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王莉芬</cp:lastModifiedBy>
  <cp:revision>72</cp:revision>
  <dcterms:created xsi:type="dcterms:W3CDTF">2026-09-25T08:55:00Z</dcterms:created>
  <dcterms:modified xsi:type="dcterms:W3CDTF">2026-09-28T12:36:44Z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2052-12.1.0.28488</vt:lpwstr>
  </property>
  <property fmtid="{D5CDD505-2E9C-101B-9397-08002B2CF9AE}" pid="3" name="ICV">
    <vt:lpwstr>4FE0A822351B4E69A244D9A70E35A88D_13</vt:lpwstr>
  </property>
</Properties>
</file>