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86" r:id="rId5"/>
    <p:sldId id="258" r:id="rId6"/>
    <p:sldId id="264" r:id="rId7"/>
    <p:sldId id="283" r:id="rId8"/>
    <p:sldId id="284" r:id="rId9"/>
    <p:sldId id="285" r:id="rId10"/>
    <p:sldId id="263" r:id="rId11"/>
    <p:sldId id="276" r:id="rId12"/>
    <p:sldId id="275" r:id="rId13"/>
    <p:sldId id="279" r:id="rId14"/>
    <p:sldId id="280" r:id="rId15"/>
    <p:sldId id="281" r:id="rId16"/>
    <p:sldId id="282" r:id="rId17"/>
    <p:sldId id="269" r:id="rId18"/>
    <p:sldId id="278" r:id="rId19"/>
    <p:sldId id="277" r:id="rId20"/>
    <p:sldId id="272" r:id="rId21"/>
    <p:sldId id="268" r:id="rId22"/>
    <p:sldId id="288" r:id="rId23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01" autoAdjust="0"/>
  </p:normalViewPr>
  <p:slideViewPr>
    <p:cSldViewPr snapToGrid="0" snapToObjects="1">
      <p:cViewPr>
        <p:scale>
          <a:sx n="100" d="100"/>
          <a:sy n="100" d="100"/>
        </p:scale>
        <p:origin x="756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</a:t>
            </a:r>
            <a:r>
              <a:rPr lang="zh-CN" altLang="zh-CN"/>
              <a:t>binder 工作</a:t>
            </a:r>
            <a:r>
              <a:rPr lang="zh-CN" altLang="zh-CN" dirty="0"/>
              <a:t>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最后我把这两篇工作放在一起看。</a:t>
            </a:r>
            <a:r>
              <a:rPr lang="en-US" altLang="zh-CN" dirty="0"/>
              <a:t>STARLING </a:t>
            </a:r>
            <a:r>
              <a:rPr lang="zh-CN" altLang="en-US" dirty="0"/>
              <a:t>解决的是正向问题，也就是从序列生成构象集合；</a:t>
            </a:r>
            <a:r>
              <a:rPr lang="en-US" altLang="zh-CN" dirty="0"/>
              <a:t>GOOSE </a:t>
            </a:r>
            <a:r>
              <a:rPr lang="zh-CN" altLang="en-US" dirty="0"/>
              <a:t>解决的是反向问题，也就是给定目标性质，再寻找满足条件的序列。</a:t>
            </a:r>
          </a:p>
          <a:p>
            <a:r>
              <a:rPr lang="zh-CN" altLang="en-US" dirty="0"/>
              <a:t>实际上，这两篇工作已经开始产生连接。</a:t>
            </a:r>
            <a:r>
              <a:rPr lang="en-US" altLang="zh-CN" dirty="0"/>
              <a:t>STARLING </a:t>
            </a:r>
            <a:r>
              <a:rPr lang="zh-CN" altLang="en-US" dirty="0"/>
              <a:t>可以得到 </a:t>
            </a:r>
            <a:r>
              <a:rPr lang="en-US" altLang="zh-CN" dirty="0"/>
              <a:t>ensemble representation，</a:t>
            </a:r>
            <a:r>
              <a:rPr lang="zh-CN" altLang="en-US" dirty="0"/>
              <a:t>而 </a:t>
            </a:r>
            <a:r>
              <a:rPr lang="en-US" altLang="zh-CN" dirty="0"/>
              <a:t>GOOSE </a:t>
            </a:r>
            <a:r>
              <a:rPr lang="zh-CN" altLang="en-US" dirty="0"/>
              <a:t>的 </a:t>
            </a:r>
            <a:r>
              <a:rPr lang="en-US" altLang="zh-CN" dirty="0"/>
              <a:t>SequenceOptimizer </a:t>
            </a:r>
            <a:r>
              <a:rPr lang="zh-CN" altLang="en-US" dirty="0"/>
              <a:t>可以利用这样的可计算目标进行反向序列设计。</a:t>
            </a:r>
          </a:p>
          <a:p>
            <a:r>
              <a:rPr lang="zh-CN" altLang="en-US" dirty="0"/>
              <a:t>但是目前这个闭环还不完整。</a:t>
            </a:r>
            <a:r>
              <a:rPr lang="en-US" altLang="zh-CN" dirty="0"/>
              <a:t>STARLING </a:t>
            </a:r>
            <a:r>
              <a:rPr lang="zh-CN" altLang="en-US" dirty="0"/>
              <a:t>在真实环境条件、精细结构信息和实验 </a:t>
            </a:r>
            <a:r>
              <a:rPr lang="en-US" altLang="zh-CN" dirty="0"/>
              <a:t>benchmark </a:t>
            </a:r>
            <a:r>
              <a:rPr lang="zh-CN" altLang="en-US" dirty="0"/>
              <a:t>方面仍有限；</a:t>
            </a:r>
            <a:r>
              <a:rPr lang="en-US" altLang="zh-CN" dirty="0"/>
              <a:t>GOOSE </a:t>
            </a:r>
            <a:r>
              <a:rPr lang="zh-CN" altLang="en-US" dirty="0"/>
              <a:t>虽然已经可以设计序列性质、构象和相互作用，但“性质可设计”还不等于“功能可以直接设计”，而且功能具有明显的序列背景依赖。</a:t>
            </a:r>
          </a:p>
          <a:p>
            <a:r>
              <a:rPr lang="zh-CN" altLang="en-US" dirty="0"/>
              <a:t>所以我认为，目前已经可以形成一个“预测—设计—再预测”的计算闭环，但下一步真正值得研究的是，如何把实验结果也反馈回来，进一步更新预测模型和优化目标，形成“设计—预测—实验—学习—再设计”的闭环系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我们这次调研的方向主要是 </a:t>
            </a:r>
            <a:r>
              <a:rPr lang="en-US" altLang="zh-CN" dirty="0"/>
              <a:t>IDR，</a:t>
            </a:r>
            <a:r>
              <a:rPr lang="zh-CN" altLang="en-US" dirty="0"/>
              <a:t>也就是内在无序蛋白区域的计算研究。和传统折叠蛋白不同，</a:t>
            </a:r>
            <a:r>
              <a:rPr lang="en-US" altLang="zh-CN" dirty="0"/>
              <a:t>IDR </a:t>
            </a:r>
            <a:r>
              <a:rPr lang="zh-CN" altLang="en-US" dirty="0"/>
              <a:t>没有唯一稳定的三维结构，而是以大量动态变化的构象组成一个 </a:t>
            </a:r>
            <a:r>
              <a:rPr lang="en-US" altLang="zh-CN" dirty="0"/>
              <a:t>ensemble，</a:t>
            </a:r>
            <a:r>
              <a:rPr lang="zh-CN" altLang="en-US" dirty="0"/>
              <a:t>所以它的研究逻辑更接近“序列、构象集合、相互作用，再到功能”这样一条链条。目前这个方向已经有一些计算方法。比如分子动力学模拟可以得到比较完整的构象集合，但计算成本比较高；一些深度学习方法虽然已经能够快速预测 \(</a:t>
            </a:r>
            <a:r>
              <a:rPr lang="en-US" altLang="zh-CN" dirty="0"/>
              <a:t>R_g\)、\(R_e\) </a:t>
            </a:r>
            <a:r>
              <a:rPr lang="zh-CN" altLang="en-US" dirty="0"/>
              <a:t>等性质，但很多时候预测的还是平均量，而不是完整构象集合。另外，如果我们反过来想根据目标性质设计大量 </a:t>
            </a:r>
            <a:r>
              <a:rPr lang="en-US" altLang="zh-CN" dirty="0"/>
              <a:t>IDR </a:t>
            </a:r>
            <a:r>
              <a:rPr lang="zh-CN" altLang="en-US" dirty="0"/>
              <a:t>序列，大规模可控设计本身又是一个问题。所以从计算角度看，我觉得现在主要有两条路线：一条是正向预测，也就是从序列预测构象集合；另一条是反向设计，也就是给定目标性质，再去设计序列。我们调研的两篇 </a:t>
            </a:r>
            <a:r>
              <a:rPr lang="en-US" altLang="zh-CN" dirty="0"/>
              <a:t>Nature </a:t>
            </a:r>
            <a:r>
              <a:rPr lang="zh-CN" altLang="en-US" dirty="0"/>
              <a:t>工作正好分别对应这两条路线：</a:t>
            </a:r>
            <a:r>
              <a:rPr lang="en-US" altLang="zh-CN" dirty="0"/>
              <a:t>STARLING </a:t>
            </a:r>
            <a:r>
              <a:rPr lang="zh-CN" altLang="en-US" dirty="0"/>
              <a:t>代表正向的构象生成，</a:t>
            </a:r>
            <a:r>
              <a:rPr lang="en-US" altLang="zh-CN" dirty="0"/>
              <a:t>GOOSE </a:t>
            </a:r>
            <a:r>
              <a:rPr lang="zh-CN" altLang="en-US" dirty="0"/>
              <a:t>代表反向的序列设计。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第一条路线是正向预测，也就是从序列预测构象集合。传统上，如果想得到 </a:t>
            </a:r>
            <a:r>
              <a:rPr lang="en-US" altLang="zh-CN" dirty="0"/>
              <a:t>IDR </a:t>
            </a:r>
            <a:r>
              <a:rPr lang="zh-CN" altLang="en-US" dirty="0"/>
              <a:t>的完整构象集合，可以做分子动力学模拟，但即使是粗粒化模拟，计算成本仍然比较高。另外，已有一些深度学习方法虽然可以快速预测 \(</a:t>
            </a:r>
            <a:r>
              <a:rPr lang="en-US" altLang="zh-CN" dirty="0"/>
              <a:t>R_g\)、\(R_e\) </a:t>
            </a:r>
            <a:r>
              <a:rPr lang="zh-CN" altLang="en-US" dirty="0"/>
              <a:t>等指标，但这些通常只是 </a:t>
            </a:r>
            <a:r>
              <a:rPr lang="en-US" altLang="zh-CN" dirty="0"/>
              <a:t>ensemble </a:t>
            </a:r>
            <a:r>
              <a:rPr lang="zh-CN" altLang="en-US" dirty="0"/>
              <a:t>的平均性质，并不能告诉我们完整的构象分布。所以 </a:t>
            </a:r>
            <a:r>
              <a:rPr lang="en-US" altLang="zh-CN" dirty="0"/>
              <a:t>STARLING </a:t>
            </a:r>
            <a:r>
              <a:rPr lang="zh-CN" altLang="en-US" dirty="0"/>
              <a:t>的核心问题是：能不能直接根据一条氨基酸序列，快速生成很多彼此不同、但都符合这条序列物理特征的构象。作者把这个问题类比成 </a:t>
            </a:r>
            <a:r>
              <a:rPr lang="en-US" altLang="zh-CN" dirty="0"/>
              <a:t>text-to-image：</a:t>
            </a:r>
            <a:r>
              <a:rPr lang="zh-CN" altLang="en-US" dirty="0"/>
              <a:t>同一句 </a:t>
            </a:r>
            <a:r>
              <a:rPr lang="en-US" altLang="zh-CN" dirty="0"/>
              <a:t>prompt </a:t>
            </a:r>
            <a:r>
              <a:rPr lang="zh-CN" altLang="en-US" dirty="0"/>
              <a:t>可以生成很多不同图像；类似地，同一条蛋白质序列也应该对应很多不同但合理的构象。因此，</a:t>
            </a:r>
            <a:r>
              <a:rPr lang="en-US" altLang="zh-CN" dirty="0"/>
              <a:t>STARLING </a:t>
            </a:r>
            <a:r>
              <a:rPr lang="zh-CN" altLang="en-US" dirty="0"/>
              <a:t>的核心创新不是“预测一个结构”，而是把 </a:t>
            </a:r>
            <a:r>
              <a:rPr lang="en-US" altLang="zh-CN" dirty="0"/>
              <a:t>IDR </a:t>
            </a:r>
            <a:r>
              <a:rPr lang="zh-CN" altLang="en-US" dirty="0"/>
              <a:t>预测转化成一个条件生成问题，直接生成完整的构象集合。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这一页主要看 </a:t>
            </a:r>
            <a:r>
              <a:rPr lang="en-US" altLang="zh-CN" dirty="0"/>
              <a:t>STARLING </a:t>
            </a:r>
            <a:r>
              <a:rPr lang="zh-CN" altLang="en-US" dirty="0"/>
              <a:t>的计算框架。首先，作者把 </a:t>
            </a:r>
            <a:r>
              <a:rPr lang="en-US" altLang="zh-CN" dirty="0"/>
              <a:t>IDR </a:t>
            </a:r>
            <a:r>
              <a:rPr lang="zh-CN" altLang="en-US" dirty="0"/>
              <a:t>序列通过粗粒化分子动力学模拟生成大量构象，再把三维构象转成 </a:t>
            </a:r>
            <a:r>
              <a:rPr lang="en-US" altLang="zh-CN" dirty="0"/>
              <a:t>residue–residue distance map，</a:t>
            </a:r>
            <a:r>
              <a:rPr lang="zh-CN" altLang="en-US" dirty="0"/>
              <a:t>相当于把构象问题转成图像生成问题。第二步，作者用 </a:t>
            </a:r>
            <a:r>
              <a:rPr lang="en-US" altLang="zh-CN" dirty="0"/>
              <a:t>VAE </a:t>
            </a:r>
            <a:r>
              <a:rPr lang="zh-CN" altLang="en-US" dirty="0"/>
              <a:t>把高维 </a:t>
            </a:r>
            <a:r>
              <a:rPr lang="en-US" altLang="zh-CN" dirty="0"/>
              <a:t>distance map </a:t>
            </a:r>
            <a:r>
              <a:rPr lang="zh-CN" altLang="en-US" dirty="0"/>
              <a:t>压缩到低维 </a:t>
            </a:r>
            <a:r>
              <a:rPr lang="en-US" altLang="zh-CN" dirty="0"/>
              <a:t>latent space，</a:t>
            </a:r>
            <a:r>
              <a:rPr lang="zh-CN" altLang="en-US" dirty="0"/>
              <a:t>降低扩散模型的计算成本。第三步，在 </a:t>
            </a:r>
            <a:r>
              <a:rPr lang="en-US" altLang="zh-CN" dirty="0"/>
              <a:t>latent space </a:t>
            </a:r>
            <a:r>
              <a:rPr lang="zh-CN" altLang="en-US" dirty="0"/>
              <a:t>中用 </a:t>
            </a:r>
            <a:r>
              <a:rPr lang="en-US" altLang="zh-CN" dirty="0"/>
              <a:t>DDPM </a:t>
            </a:r>
            <a:r>
              <a:rPr lang="zh-CN" altLang="en-US" dirty="0"/>
              <a:t>从高斯噪声逐步去噪，核心网络是 </a:t>
            </a:r>
            <a:r>
              <a:rPr lang="en-US" altLang="zh-CN" dirty="0"/>
              <a:t>Vision Transformer，</a:t>
            </a:r>
            <a:r>
              <a:rPr lang="zh-CN" altLang="en-US" dirty="0"/>
              <a:t>同时输入 </a:t>
            </a:r>
            <a:r>
              <a:rPr lang="en-US" altLang="zh-CN" dirty="0"/>
              <a:t>protein sequence </a:t>
            </a:r>
            <a:r>
              <a:rPr lang="zh-CN" altLang="en-US" dirty="0"/>
              <a:t>和 </a:t>
            </a:r>
            <a:r>
              <a:rPr lang="en-US" altLang="zh-CN" dirty="0"/>
              <a:t>ionic strength </a:t>
            </a:r>
            <a:r>
              <a:rPr lang="zh-CN" altLang="en-US" dirty="0"/>
              <a:t>作为条件。最后，</a:t>
            </a:r>
            <a:r>
              <a:rPr lang="en-US" altLang="zh-CN" dirty="0"/>
              <a:t>latent representation </a:t>
            </a:r>
            <a:r>
              <a:rPr lang="zh-CN" altLang="en-US" dirty="0"/>
              <a:t>经过 </a:t>
            </a:r>
            <a:r>
              <a:rPr lang="en-US" altLang="zh-CN" dirty="0"/>
              <a:t>decoder </a:t>
            </a:r>
            <a:r>
              <a:rPr lang="zh-CN" altLang="en-US" dirty="0"/>
              <a:t>还原成 </a:t>
            </a:r>
            <a:r>
              <a:rPr lang="en-US" altLang="zh-CN" dirty="0"/>
              <a:t>distance map，</a:t>
            </a:r>
            <a:r>
              <a:rPr lang="zh-CN" altLang="en-US" dirty="0"/>
              <a:t>再重建出多个构象。所以 </a:t>
            </a:r>
            <a:r>
              <a:rPr lang="en-US" altLang="zh-CN" dirty="0"/>
              <a:t>STARLING </a:t>
            </a:r>
            <a:r>
              <a:rPr lang="zh-CN" altLang="en-US" dirty="0"/>
              <a:t>本质上是一个 </a:t>
            </a:r>
            <a:r>
              <a:rPr lang="en-US" altLang="zh-CN" dirty="0"/>
              <a:t>sequence-conditioned latent diffusion model，</a:t>
            </a:r>
            <a:r>
              <a:rPr lang="zh-CN" altLang="en-US" dirty="0"/>
              <a:t>输出不是单一结构，而是一组构象集合。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前面的 </a:t>
            </a:r>
            <a:r>
              <a:rPr lang="en-US" altLang="zh-CN" dirty="0"/>
              <a:t>STARLING </a:t>
            </a:r>
            <a:r>
              <a:rPr lang="zh-CN" altLang="en-US" dirty="0"/>
              <a:t>解决的是一个正向问题，也就是给定一条序列，预测它可能形成什么样的构象。那接下来就可以反过来问：如果我已经知道想要什么性质，能不能直接设计一条满足这个目标的 </a:t>
            </a:r>
            <a:r>
              <a:rPr lang="en-US" altLang="zh-CN" dirty="0"/>
              <a:t>IDR </a:t>
            </a:r>
            <a:r>
              <a:rPr lang="zh-CN" altLang="en-US" dirty="0"/>
              <a:t>序列？这个问题其实并不简单。天然 </a:t>
            </a:r>
            <a:r>
              <a:rPr lang="en-US" altLang="zh-CN" dirty="0"/>
              <a:t>IDR </a:t>
            </a:r>
            <a:r>
              <a:rPr lang="zh-CN" altLang="en-US" dirty="0"/>
              <a:t>中很多性质往往是同时变化的，所以如果我们想研究某一个因素的作用，最好能够固定其他变量，只改变目标变量。另一方面，蛋白序列的理论搜索空间大约是 \(20^</a:t>
            </a:r>
            <a:r>
              <a:rPr lang="en-US" altLang="zh-CN" dirty="0"/>
              <a:t>L\)，</a:t>
            </a:r>
            <a:r>
              <a:rPr lang="zh-CN" altLang="en-US" dirty="0"/>
              <a:t>对于稍微长一点的序列几乎不可能直接穷举。</a:t>
            </a:r>
            <a:r>
              <a:rPr lang="en-US" altLang="zh-CN" dirty="0"/>
              <a:t>GOOSE </a:t>
            </a:r>
            <a:r>
              <a:rPr lang="zh-CN" altLang="en-US" dirty="0"/>
              <a:t>的思路就是把这个问题转化成一个可优化的搜索问题。研究者可以指定序列性质，比如疏水性、电荷；也可以直接指定构象尺寸，比如 \(</a:t>
            </a:r>
            <a:r>
              <a:rPr lang="en-US" altLang="zh-CN" dirty="0"/>
              <a:t>R_g\) </a:t>
            </a:r>
            <a:r>
              <a:rPr lang="zh-CN" altLang="en-US" dirty="0"/>
              <a:t>和 \(</a:t>
            </a:r>
            <a:r>
              <a:rPr lang="en-US" altLang="zh-CN" dirty="0"/>
              <a:t>R_e\)；</a:t>
            </a:r>
            <a:r>
              <a:rPr lang="zh-CN" altLang="en-US" dirty="0"/>
              <a:t>还可以指定分子间相互作用，甚至自定义一个数值目标函数。所以我认为 </a:t>
            </a:r>
            <a:r>
              <a:rPr lang="en-US" altLang="zh-CN" dirty="0"/>
              <a:t>GOOSE </a:t>
            </a:r>
            <a:r>
              <a:rPr lang="zh-CN" altLang="en-US" dirty="0"/>
              <a:t>最核心的创新，不只是“生成新序列”，而是把 </a:t>
            </a:r>
            <a:r>
              <a:rPr lang="en-US" altLang="zh-CN" dirty="0"/>
              <a:t>IDR </a:t>
            </a:r>
            <a:r>
              <a:rPr lang="zh-CN" altLang="en-US" dirty="0"/>
              <a:t>设计变成了一个可解释、可控制、可迭代优化的计算问题。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这一页主要从计算角度看 </a:t>
            </a:r>
            <a:r>
              <a:rPr lang="en-US" altLang="zh-CN" dirty="0"/>
              <a:t>GOOSE </a:t>
            </a:r>
            <a:r>
              <a:rPr lang="zh-CN" altLang="en-US" dirty="0"/>
              <a:t>是怎么完成序列设计的。首先，蛋白质序列的搜索空间大约是 \(20^</a:t>
            </a:r>
            <a:r>
              <a:rPr lang="en-US" altLang="zh-CN" dirty="0"/>
              <a:t>L\)，</a:t>
            </a:r>
            <a:r>
              <a:rPr lang="zh-CN" altLang="en-US" dirty="0"/>
              <a:t>所以不可能直接穷举。</a:t>
            </a:r>
            <a:r>
              <a:rPr lang="en-US" altLang="zh-CN" dirty="0"/>
              <a:t>GOOSE </a:t>
            </a:r>
            <a:r>
              <a:rPr lang="zh-CN" altLang="en-US" dirty="0"/>
              <a:t>的做法是先把用户希望达到的性质，比如 \(</a:t>
            </a:r>
            <a:r>
              <a:rPr lang="en-US" altLang="zh-CN" dirty="0"/>
              <a:t>R_g\)、\(R_e\)、</a:t>
            </a:r>
            <a:r>
              <a:rPr lang="zh-CN" altLang="en-US" dirty="0"/>
              <a:t>相互作用强度或者其他自定义目标，转化成一个可以计算的目标函数。然后它有两种主要方式生成候选序列。一种是预定义的 </a:t>
            </a:r>
            <a:r>
              <a:rPr lang="en-US" altLang="zh-CN" dirty="0"/>
              <a:t>generation </a:t>
            </a:r>
            <a:r>
              <a:rPr lang="zh-CN" altLang="en-US" dirty="0"/>
              <a:t>和 </a:t>
            </a:r>
            <a:r>
              <a:rPr lang="en-US" altLang="zh-CN" dirty="0"/>
              <a:t>variation，</a:t>
            </a:r>
            <a:r>
              <a:rPr lang="zh-CN" altLang="en-US" dirty="0"/>
              <a:t>根据规则直接生成或者修改序列；另一种是 </a:t>
            </a:r>
            <a:r>
              <a:rPr lang="en-US" altLang="zh-CN" dirty="0"/>
              <a:t>SequenceOptimizer，</a:t>
            </a:r>
            <a:r>
              <a:rPr lang="zh-CN" altLang="en-US" dirty="0"/>
              <a:t>只要用户提供一个能够返回数值的 </a:t>
            </a:r>
            <a:r>
              <a:rPr lang="en-US" altLang="zh-CN" dirty="0"/>
              <a:t>Python </a:t>
            </a:r>
            <a:r>
              <a:rPr lang="zh-CN" altLang="en-US" dirty="0"/>
              <a:t>函数，就可以作为优化目标。生成候选序列之后，需要判断它是否满足目标。这里会调用不同预测器，例如 </a:t>
            </a:r>
            <a:r>
              <a:rPr lang="en-US" altLang="zh-CN" dirty="0"/>
              <a:t>ALBATROSS </a:t>
            </a:r>
            <a:r>
              <a:rPr lang="zh-CN" altLang="en-US" dirty="0"/>
              <a:t>预测构象尺寸，</a:t>
            </a:r>
            <a:r>
              <a:rPr lang="en-US" altLang="zh-CN" dirty="0"/>
              <a:t>FINCHES </a:t>
            </a:r>
            <a:r>
              <a:rPr lang="zh-CN" altLang="en-US" dirty="0"/>
              <a:t>评估分子间相互作用，</a:t>
            </a:r>
            <a:r>
              <a:rPr lang="en-US" altLang="zh-CN" dirty="0"/>
              <a:t>metapredict </a:t>
            </a:r>
            <a:r>
              <a:rPr lang="zh-CN" altLang="en-US" dirty="0"/>
              <a:t>检查序列是否仍然保持无序特征。</a:t>
            </a:r>
          </a:p>
          <a:p>
            <a:r>
              <a:rPr lang="zh-CN" altLang="en-US" dirty="0"/>
              <a:t>如果结果没有达到目标，</a:t>
            </a:r>
            <a:r>
              <a:rPr lang="en-US" altLang="zh-CN" dirty="0"/>
              <a:t>GOOSE </a:t>
            </a:r>
            <a:r>
              <a:rPr lang="zh-CN" altLang="en-US" dirty="0"/>
              <a:t>就继续随机修改序列，再重新评估，不断迭代，直到找到满足约束的序列。论文中把这一过程描述为 </a:t>
            </a:r>
            <a:r>
              <a:rPr lang="en-US" altLang="zh-CN" dirty="0"/>
              <a:t>stochastic design，</a:t>
            </a:r>
            <a:r>
              <a:rPr lang="zh-CN" altLang="en-US" dirty="0"/>
              <a:t>也就是从一个接近目标的初始序列开始，再逐步 </a:t>
            </a:r>
            <a:r>
              <a:rPr lang="en-US" altLang="zh-CN" dirty="0"/>
              <a:t>fine-tune。</a:t>
            </a:r>
            <a:r>
              <a:rPr lang="zh-CN" altLang="en-US" dirty="0"/>
              <a:t>所以从计算机角度看，我认为 </a:t>
            </a:r>
            <a:r>
              <a:rPr lang="en-US" altLang="zh-CN" dirty="0"/>
              <a:t>GOOSE </a:t>
            </a:r>
            <a:r>
              <a:rPr lang="zh-CN" altLang="en-US" dirty="0"/>
              <a:t>可以概括成：搜索算法、目标函数和生物物理预测器三部分组成的可扩展优化框架。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9CD-9643-8F34-E9A2-064A2A12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DDF-5987-DF51-9958-9A85EEFCE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18AE21-D81C-F79C-B547-5A162C143EF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是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</a:t>
                </a:r>
                <a:r>
                  <a:rPr lang="en-US" altLang="zh-CN" dirty="0"/>
                  <a:t>58</a:t>
                </a:r>
                <a:r>
                  <a:rPr lang="zh-CN" altLang="en-US" dirty="0"/>
                  <a:t>条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与真实的对比，</a:t>
                </a:r>
                <a:r>
                  <a:rPr lang="en-US" altLang="zh-CN" dirty="0" err="1"/>
                  <a:t>DeltaRg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实验室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真实值，也就是和实验的对比，然后发现平均的是</a:t>
                </a:r>
                <a:r>
                  <a:rPr lang="en-US" altLang="zh-CN" dirty="0"/>
                  <a:t>-0.06</a:t>
                </a:r>
                <a:r>
                  <a:rPr lang="zh-CN" altLang="en-US" dirty="0"/>
                  <a:t>也就是会预测差距</a:t>
                </a:r>
                <a:r>
                  <a:rPr lang="en-US" altLang="zh-CN" dirty="0"/>
                  <a:t>0.06</a:t>
                </a:r>
                <a:r>
                  <a:rPr lang="zh-CN" altLang="en-US" dirty="0"/>
                  <a:t>但也还可以了。</a:t>
                </a:r>
                <a:endParaRPr lang="en-US" altLang="zh-CN" dirty="0"/>
              </a:p>
              <a:p>
                <a:r>
                  <a:rPr lang="zh-CN" altLang="en-US" dirty="0"/>
                  <a:t>之后里面有八个是彩色的柱子，之后把那八个生成的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放入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中进行比较，其中柱子上的黑色横线是</a:t>
                </a:r>
                <a:r>
                  <a:rPr lang="en-US" altLang="zh-CN" dirty="0" err="1"/>
                  <a:t>Rg</a:t>
                </a:r>
                <a:r>
                  <a:rPr lang="zh-CN" altLang="en-US" dirty="0"/>
                  <a:t>的波动范围</a:t>
                </a:r>
                <a:endParaRPr lang="en-US" altLang="zh-CN" dirty="0"/>
              </a:p>
              <a:p>
                <a:r>
                  <a:rPr lang="en-US" altLang="zh-CN" dirty="0"/>
                  <a:t>Figure 2B</a:t>
                </a:r>
                <a:r>
                  <a:rPr lang="zh-CN" altLang="en-US" dirty="0"/>
                  <a:t>进一步考察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能否预测构象尺寸的分布，而不仅是平均回转半径。彩色曲线是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</a:t>
                </a:r>
                <a:r>
                  <a:rPr lang="en-US" altLang="zh-CN" dirty="0"/>
                  <a:t>300</a:t>
                </a:r>
                <a:r>
                  <a:rPr lang="zh-CN" altLang="en-US" dirty="0"/>
                  <a:t>个构象的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分布，黑色虚线是</a:t>
                </a:r>
                <a:r>
                  <a:rPr lang="en-US" altLang="zh-CN" dirty="0"/>
                  <a:t>CALVADOS</a:t>
                </a:r>
                <a:r>
                  <a:rPr lang="zh-CN" altLang="en-US" dirty="0"/>
                  <a:t>粗粒化模拟，黑色实线是实验测得的平均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</a:t>
                </a:r>
                <a:r>
                  <a:rPr lang="zh-CN" altLang="en-US" dirty="0"/>
                  <a:t>。多数蛋白中，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能够产生从紧凑到伸展的不同构象，其分布范围与</a:t>
                </a:r>
                <a:r>
                  <a:rPr lang="en-US" altLang="zh-CN" dirty="0"/>
                  <a:t>CALVADOS</a:t>
                </a:r>
                <a:r>
                  <a:rPr lang="zh-CN" altLang="en-US" dirty="0"/>
                  <a:t>大致相似。但实验只提供一个平均值，因此这张图主要证明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复现了模拟中的全局尺寸异质性，还不能证明完整分布就是真实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Figure 4A</a:t>
                </a:r>
                <a:r>
                  <a:rPr lang="zh-CN" altLang="en-US" dirty="0"/>
                  <a:t>包含三个柱状图，每组比较四种全原子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力场与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。上面两图通过</a:t>
                </a:r>
                <a:r>
                  <a:rPr lang="en-US" altLang="zh-CN" dirty="0"/>
                  <a:t>Cα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Cβ</a:t>
                </a:r>
                <a:r>
                  <a:rPr lang="zh-CN" altLang="en-US" dirty="0"/>
                  <a:t>化学位移误差评价局部结构，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与较好的全原子力场整体相当；最下面通过回转半径相对误差评价整体紧凑程度，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在这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种测试蛋白上的平均误差最低。因此它的主要优势体现在平均全局尺寸，而局部结构只是达到与先进力场相近的水平。</a:t>
                </a:r>
                <a:endParaRPr lang="en-US" altLang="zh-CN" dirty="0"/>
              </a:p>
              <a:p>
                <a:r>
                  <a:rPr lang="en-US" altLang="zh-CN" dirty="0"/>
                  <a:t>\(C_\alpha\) </a:t>
                </a:r>
                <a:r>
                  <a:rPr lang="zh-CN" altLang="en-US" dirty="0"/>
                  <a:t>是氨基酸主链上的中心碳，</a:t>
                </a:r>
                <a:r>
                  <a:rPr lang="en-US" altLang="zh-CN" dirty="0"/>
                  <a:t>\(C_\beta\) </a:t>
                </a:r>
                <a:r>
                  <a:rPr lang="zh-CN" altLang="en-US" dirty="0"/>
                  <a:t>是侧链上的第一个碳；化学位移会受到周围电子环境和局部构象影响。因此，通过 </a:t>
                </a:r>
                <a:r>
                  <a:rPr lang="en-US" altLang="zh-CN" dirty="0"/>
                  <a:t>\(C_\alpha\)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\(C_\beta\) </a:t>
                </a:r>
                <a:r>
                  <a:rPr lang="zh-CN" altLang="en-US" dirty="0"/>
                  <a:t>的化学位移，可以判断某个残基有多少误差</a:t>
                </a:r>
                <a:endParaRPr lang="en-US" altLang="zh-CN" dirty="0"/>
              </a:p>
              <a:p>
                <a:r>
                  <a:rPr lang="en-US" altLang="zh-CN" dirty="0"/>
                  <a:t>Figure 4B</a:t>
                </a:r>
                <a:r>
                  <a:rPr lang="zh-CN" altLang="en-US" dirty="0"/>
                  <a:t>对比</a:t>
                </a:r>
                <a:r>
                  <a:rPr lang="en-US" altLang="zh-CN" dirty="0"/>
                  <a:t>70</a:t>
                </a:r>
                <a:r>
                  <a:rPr lang="zh-CN" altLang="en-US" dirty="0"/>
                  <a:t>微秒全原子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\)-RMSD</a:t>
                </a:r>
                <a:r>
                  <a:rPr lang="zh-CN" altLang="en-US" dirty="0"/>
                  <a:t>联合分布。横坐标反映整体紧凑程度，纵坐标反映构象相对参考结构的变化程度。全原子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覆盖了更广的构象空间和更多伸展状态，而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的分布更加集中。虽然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的平均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 </a:t>
                </a:r>
                <a:r>
                  <a:rPr lang="zh-CN" altLang="en-US" dirty="0"/>
                  <a:t>更接近实验，但它对完整构象空间的覆盖仍然不足。这说明平均尺寸准确不等于整个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分布准确。</a:t>
                </a:r>
                <a:endParaRPr lang="en-US" altLang="zh-CN" dirty="0"/>
              </a:p>
              <a:p>
                <a:r>
                  <a:rPr lang="zh-CN" altLang="en-US" dirty="0"/>
                  <a:t>图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就是两个生成模型的相对比，都是各有优势</a:t>
                </a:r>
                <a:endParaRPr lang="en-US" altLang="zh-CN" dirty="0"/>
              </a:p>
              <a:p>
                <a:r>
                  <a:rPr lang="zh-CN" altLang="en-US" dirty="0"/>
                  <a:t>剩下的四个图是</a:t>
                </a:r>
                <a:r>
                  <a:rPr lang="en-US" altLang="zh-CN" dirty="0"/>
                  <a:t>Cα</a:t>
                </a:r>
                <a:r>
                  <a:rPr lang="zh-CN" altLang="en-US" dirty="0"/>
                  <a:t>等等是作者做的部分实验。</a:t>
                </a: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18AE21-D81C-F79C-B547-5A162C143EF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是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</a:t>
                </a:r>
                <a:r>
                  <a:rPr lang="en-US" altLang="zh-CN" dirty="0"/>
                  <a:t>58</a:t>
                </a:r>
                <a:r>
                  <a:rPr lang="zh-CN" altLang="en-US" dirty="0"/>
                  <a:t>条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与真实的对比，</a:t>
                </a:r>
                <a:r>
                  <a:rPr lang="en-US" altLang="zh-CN" dirty="0" err="1"/>
                  <a:t>DeltaRg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实验室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真实值，也就是和实验的对比，然后发现平均的是</a:t>
                </a:r>
                <a:r>
                  <a:rPr lang="en-US" altLang="zh-CN" dirty="0"/>
                  <a:t>-0.06</a:t>
                </a:r>
                <a:r>
                  <a:rPr lang="zh-CN" altLang="en-US" dirty="0"/>
                  <a:t>也就是会预测差距</a:t>
                </a:r>
                <a:r>
                  <a:rPr lang="en-US" altLang="zh-CN" dirty="0"/>
                  <a:t>0.06</a:t>
                </a:r>
                <a:r>
                  <a:rPr lang="zh-CN" altLang="en-US" dirty="0"/>
                  <a:t>但也还可以了。</a:t>
                </a:r>
                <a:endParaRPr lang="en-US" altLang="zh-CN" dirty="0"/>
              </a:p>
              <a:p>
                <a:r>
                  <a:rPr lang="zh-CN" altLang="en-US" dirty="0"/>
                  <a:t>之后里面有八个是彩色的柱子，之后把那八个生成的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放入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中进行比较，其中柱子上的黑色横线是</a:t>
                </a:r>
                <a:r>
                  <a:rPr lang="en-US" altLang="zh-CN" dirty="0" err="1"/>
                  <a:t>Rg</a:t>
                </a:r>
                <a:r>
                  <a:rPr lang="zh-CN" altLang="en-US" dirty="0"/>
                  <a:t>的波动范围</a:t>
                </a:r>
                <a:endParaRPr lang="en-US" altLang="zh-CN" dirty="0"/>
              </a:p>
              <a:p>
                <a:r>
                  <a:rPr lang="en-US" altLang="zh-CN" dirty="0"/>
                  <a:t>Figure 2B</a:t>
                </a:r>
                <a:r>
                  <a:rPr lang="zh-CN" altLang="en-US" dirty="0"/>
                  <a:t>进一步考察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能否预测构象尺寸的分布，而不仅是平均回转半径。彩色曲线是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</a:t>
                </a:r>
                <a:r>
                  <a:rPr lang="en-US" altLang="zh-CN" dirty="0"/>
                  <a:t>300</a:t>
                </a:r>
                <a:r>
                  <a:rPr lang="zh-CN" altLang="en-US" dirty="0"/>
                  <a:t>个构象的 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𝑅_𝑔</a:t>
                </a:r>
                <a:r>
                  <a:rPr lang="zh-CN" altLang="en-US" dirty="0"/>
                  <a:t>分布，黑色虚线是</a:t>
                </a:r>
                <a:r>
                  <a:rPr lang="en-US" altLang="zh-CN" dirty="0"/>
                  <a:t>CALVADOS</a:t>
                </a:r>
                <a:r>
                  <a:rPr lang="zh-CN" altLang="en-US" dirty="0"/>
                  <a:t>粗粒化模拟，黑色实线是实验测得的平均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</a:t>
                </a:r>
                <a:r>
                  <a:rPr lang="zh-CN" altLang="en-US" dirty="0"/>
                  <a:t>。多数蛋白中，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能够产生从紧凑到伸展的不同构象，其分布范围与</a:t>
                </a:r>
                <a:r>
                  <a:rPr lang="en-US" altLang="zh-CN" dirty="0"/>
                  <a:t>CALVADOS</a:t>
                </a:r>
                <a:r>
                  <a:rPr lang="zh-CN" altLang="en-US" dirty="0"/>
                  <a:t>大致相似。但实验只提供一个平均值，因此这张图主要证明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复现了模拟中的全局尺寸异质性，还不能证明完整分布就是真实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Figure 4A</a:t>
                </a:r>
                <a:r>
                  <a:rPr lang="zh-CN" altLang="en-US" dirty="0"/>
                  <a:t>包含三个柱状图，每组比较四种全原子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力场与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。上面两图通过</a:t>
                </a:r>
                <a:r>
                  <a:rPr lang="en-US" altLang="zh-CN" dirty="0"/>
                  <a:t>Cα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Cβ</a:t>
                </a:r>
                <a:r>
                  <a:rPr lang="zh-CN" altLang="en-US" dirty="0"/>
                  <a:t>化学位移误差评价局部结构，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与较好的全原子力场整体相当；最下面通过回转半径相对误差评价整体紧凑程度，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在这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种测试蛋白上的平均误差最低。因此它的主要优势体现在平均全局尺寸，而局部结构只是达到与先进力场相近的水平。</a:t>
                </a:r>
                <a:endParaRPr lang="en-US" altLang="zh-CN" dirty="0"/>
              </a:p>
              <a:p>
                <a:r>
                  <a:rPr lang="en-US" altLang="zh-CN" dirty="0"/>
                  <a:t>\(C_\alpha\) </a:t>
                </a:r>
                <a:r>
                  <a:rPr lang="zh-CN" altLang="en-US" dirty="0"/>
                  <a:t>是氨基酸主链上的中心碳，</a:t>
                </a:r>
                <a:r>
                  <a:rPr lang="en-US" altLang="zh-CN" dirty="0"/>
                  <a:t>\(C_\beta\) </a:t>
                </a:r>
                <a:r>
                  <a:rPr lang="zh-CN" altLang="en-US" dirty="0"/>
                  <a:t>是侧链上的第一个碳；化学位移会受到周围电子环境和局部构象影响。因此，通过 </a:t>
                </a:r>
                <a:r>
                  <a:rPr lang="en-US" altLang="zh-CN" dirty="0"/>
                  <a:t>\(C_\alpha\)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\(C_\beta\) </a:t>
                </a:r>
                <a:r>
                  <a:rPr lang="zh-CN" altLang="en-US" dirty="0"/>
                  <a:t>的化学位移，可以判断某个残基有多少误差</a:t>
                </a:r>
                <a:endParaRPr lang="en-US" altLang="zh-CN" dirty="0"/>
              </a:p>
              <a:p>
                <a:r>
                  <a:rPr lang="en-US" altLang="zh-CN" dirty="0"/>
                  <a:t>Figure 4B</a:t>
                </a:r>
                <a:r>
                  <a:rPr lang="zh-CN" altLang="en-US" dirty="0"/>
                  <a:t>对比</a:t>
                </a:r>
                <a:r>
                  <a:rPr lang="en-US" altLang="zh-CN" dirty="0"/>
                  <a:t>70</a:t>
                </a:r>
                <a:r>
                  <a:rPr lang="zh-CN" altLang="en-US" dirty="0"/>
                  <a:t>微秒全原子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生成的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\)-RMSD</a:t>
                </a:r>
                <a:r>
                  <a:rPr lang="zh-CN" altLang="en-US" dirty="0"/>
                  <a:t>联合分布。横坐标反映整体紧凑程度，纵坐标反映构象相对参考结构的变化程度。全原子</a:t>
                </a:r>
                <a:r>
                  <a:rPr lang="en-US" altLang="zh-CN" dirty="0"/>
                  <a:t>MD</a:t>
                </a:r>
                <a:r>
                  <a:rPr lang="zh-CN" altLang="en-US" dirty="0"/>
                  <a:t>覆盖了更广的构象空间和更多伸展状态，而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的分布更加集中。虽然</a:t>
                </a:r>
                <a:r>
                  <a:rPr lang="en-US" altLang="zh-CN" dirty="0" err="1"/>
                  <a:t>IDPFold</a:t>
                </a:r>
                <a:r>
                  <a:rPr lang="zh-CN" altLang="en-US" dirty="0"/>
                  <a:t>的平均 </a:t>
                </a:r>
                <a:r>
                  <a:rPr lang="en-US" altLang="zh-CN" dirty="0"/>
                  <a:t>\(</a:t>
                </a:r>
                <a:r>
                  <a:rPr lang="en-US" altLang="zh-CN" dirty="0" err="1"/>
                  <a:t>R_g</a:t>
                </a:r>
                <a:r>
                  <a:rPr lang="en-US" altLang="zh-CN" dirty="0"/>
                  <a:t>\) </a:t>
                </a:r>
                <a:r>
                  <a:rPr lang="zh-CN" altLang="en-US" dirty="0"/>
                  <a:t>更接近实验，但它对完整构象空间的覆盖仍然不足。这说明平均尺寸准确不等于整个</a:t>
                </a:r>
                <a:r>
                  <a:rPr lang="en-US" altLang="zh-CN" dirty="0"/>
                  <a:t>ensemble</a:t>
                </a:r>
                <a:r>
                  <a:rPr lang="zh-CN" altLang="en-US" dirty="0"/>
                  <a:t>分布准确。</a:t>
                </a:r>
                <a:endParaRPr lang="en-US" altLang="zh-CN" dirty="0"/>
              </a:p>
              <a:p>
                <a:r>
                  <a:rPr lang="zh-CN" altLang="en-US" dirty="0"/>
                  <a:t>图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就是两个生成模型的相对比，都是各有优势</a:t>
                </a:r>
                <a:endParaRPr lang="en-US" altLang="zh-CN" dirty="0"/>
              </a:p>
              <a:p>
                <a:r>
                  <a:rPr lang="zh-CN" altLang="en-US" dirty="0"/>
                  <a:t>剩下的四个图是</a:t>
                </a:r>
                <a:r>
                  <a:rPr lang="en-US" altLang="zh-CN" dirty="0"/>
                  <a:t>Cα</a:t>
                </a:r>
                <a:r>
                  <a:rPr lang="zh-CN" altLang="en-US" dirty="0"/>
                  <a:t>等等是作者做的部分实验。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04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页 </a:t>
            </a:r>
            <a:r>
              <a:rPr lang="en-US" altLang="zh-CN" dirty="0" err="1"/>
              <a:t>LLPSense</a:t>
            </a:r>
            <a:r>
              <a:rPr lang="zh-CN" altLang="en-US" dirty="0"/>
              <a:t>：不仅预测相分离，还验证了“条件依赖”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前面我们了解了如何用</a:t>
            </a:r>
            <a:r>
              <a:rPr lang="en-US" altLang="zh-CN" dirty="0"/>
              <a:t>AI</a:t>
            </a:r>
            <a:r>
              <a:rPr lang="zh-CN" altLang="en-US" dirty="0"/>
              <a:t>生成</a:t>
            </a:r>
            <a:r>
              <a:rPr lang="en-US" altLang="zh-CN" dirty="0"/>
              <a:t>IDR</a:t>
            </a:r>
            <a:r>
              <a:rPr lang="zh-CN" altLang="en-US" dirty="0"/>
              <a:t>蛋白的构象系综。接下来我们看相分离预测模型</a:t>
            </a:r>
            <a:r>
              <a:rPr lang="en-US" altLang="zh-CN" dirty="0" err="1"/>
              <a:t>LLPSense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传统的相分离预测大多只依靠蛋白氨基酸序列做判断。但液液相分离高度依赖外界环境，同一个蛋白，温度、盐浓度、</a:t>
            </a:r>
            <a:r>
              <a:rPr lang="en-US" altLang="zh-CN" dirty="0"/>
              <a:t>pH</a:t>
            </a:r>
            <a:r>
              <a:rPr lang="zh-CN" altLang="en-US" dirty="0"/>
              <a:t>、拥挤条件改变，相分离行为就会完全不一样，仅仅依靠序列无法解释这种条件依赖现象。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 err="1"/>
              <a:t>LLPSense</a:t>
            </a:r>
            <a:r>
              <a:rPr lang="zh-CN" altLang="en-US" dirty="0"/>
              <a:t>的创新，就是将蛋白序列和环境条件共同作为模型输入。它使用</a:t>
            </a:r>
            <a:r>
              <a:rPr lang="en-US" altLang="zh-CN" dirty="0"/>
              <a:t>ProtT5</a:t>
            </a:r>
            <a:r>
              <a:rPr lang="zh-CN" altLang="en-US" dirty="0"/>
              <a:t>提取蛋白序列特征，同时把温度、盐浓度、</a:t>
            </a:r>
            <a:r>
              <a:rPr lang="en-US" altLang="zh-CN" dirty="0"/>
              <a:t>pH</a:t>
            </a:r>
            <a:r>
              <a:rPr lang="zh-CN" altLang="en-US" dirty="0"/>
              <a:t>等环境变量纳入，利用</a:t>
            </a:r>
            <a:r>
              <a:rPr lang="en-US" altLang="zh-CN" dirty="0" err="1"/>
              <a:t>XGBoost</a:t>
            </a:r>
            <a:r>
              <a:rPr lang="zh-CN" altLang="en-US" dirty="0"/>
              <a:t>输出特定条件下蛋白发生</a:t>
            </a:r>
            <a:r>
              <a:rPr lang="en-US" altLang="zh-CN" dirty="0"/>
              <a:t>LLPS</a:t>
            </a:r>
            <a:r>
              <a:rPr lang="zh-CN" altLang="en-US" dirty="0"/>
              <a:t>的概率；评测时按照同源簇划分数据集，避免同源信息泄露，保证模型对未知蛋白的泛化能力。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通过</a:t>
            </a:r>
            <a:r>
              <a:rPr lang="en-US" altLang="zh-CN" dirty="0" err="1"/>
              <a:t>LLPSense</a:t>
            </a:r>
            <a:r>
              <a:rPr lang="zh-CN" altLang="en-US" dirty="0"/>
              <a:t>做温度扫描筛选，一个有意思的结果出现：原来数据集里一部分被判定为非相分离的负样本蛋白，其中</a:t>
            </a:r>
            <a:r>
              <a:rPr lang="en-US" altLang="zh-CN" dirty="0"/>
              <a:t>16.4%</a:t>
            </a:r>
            <a:r>
              <a:rPr lang="zh-CN" altLang="en-US" dirty="0"/>
              <a:t>实际是温度依赖型相分离蛋白，只是在原有实验条件下没有表现出相分离。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SGTA</a:t>
            </a:r>
            <a:r>
              <a:rPr lang="zh-CN" altLang="en-US" dirty="0"/>
              <a:t>就是代表性蛋白。像</a:t>
            </a:r>
            <a:r>
              <a:rPr lang="en-US" altLang="zh-CN" dirty="0"/>
              <a:t>SS18</a:t>
            </a:r>
            <a:r>
              <a:rPr lang="zh-CN" altLang="en-US" dirty="0"/>
              <a:t>、</a:t>
            </a:r>
            <a:r>
              <a:rPr lang="en-US" altLang="zh-CN" dirty="0"/>
              <a:t>FOXP2</a:t>
            </a:r>
            <a:r>
              <a:rPr lang="zh-CN" altLang="en-US" dirty="0"/>
              <a:t>这类普通相分离蛋白，温度升高，相分离概率单调下降；但</a:t>
            </a:r>
            <a:r>
              <a:rPr lang="en-US" altLang="zh-CN" dirty="0"/>
              <a:t>SGTA</a:t>
            </a:r>
            <a:r>
              <a:rPr lang="zh-CN" altLang="en-US" dirty="0"/>
              <a:t>呈现非单调温度响应，相分离概率先降低，高温条件下又重新上升。后续的浊度测定和显微成像实验，也在体外复现了</a:t>
            </a:r>
            <a:r>
              <a:rPr lang="en-US" altLang="zh-CN" dirty="0"/>
              <a:t>SGTA</a:t>
            </a:r>
            <a:r>
              <a:rPr lang="zh-CN" altLang="en-US" dirty="0"/>
              <a:t>这种特殊的温度</a:t>
            </a:r>
            <a:r>
              <a:rPr lang="en-US" altLang="zh-CN" dirty="0"/>
              <a:t>‑</a:t>
            </a:r>
            <a:r>
              <a:rPr lang="zh-CN" altLang="en-US" dirty="0"/>
              <a:t>浓度依赖相分离行为。论文还证明，可以通过突变改造蛋白的温度响应特性。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当然模型也存在局限：</a:t>
            </a:r>
            <a:r>
              <a:rPr lang="en-US" altLang="zh-CN" dirty="0" err="1"/>
              <a:t>LLPSense</a:t>
            </a:r>
            <a:r>
              <a:rPr lang="zh-CN" altLang="en-US" dirty="0"/>
              <a:t>并没有显式建模构象系综，因此无法完整解释“构象系综</a:t>
            </a:r>
            <a:r>
              <a:rPr lang="en-US" altLang="zh-CN" dirty="0"/>
              <a:t>‑</a:t>
            </a:r>
            <a:r>
              <a:rPr lang="zh-CN" altLang="en-US" dirty="0"/>
              <a:t>分子相互作用</a:t>
            </a:r>
            <a:r>
              <a:rPr lang="en-US" altLang="zh-CN" dirty="0"/>
              <a:t>‑</a:t>
            </a:r>
            <a:r>
              <a:rPr lang="zh-CN" altLang="en-US" dirty="0"/>
              <a:t>相分离”这一套底层机制链条。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14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当我们可以实现条件依赖的相分离预测之后，研究就不再局限于预测，我们可以向前走一步，做分子工程设计，主动干预凝聚体。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页 从“预测相分离”到“设计干预分子”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页 从“预测相分离”到“设计干预分子”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在相分离这个方向有两条研究路线：第一条是继续优化预测模型，引入构象系综来完善机制解释；第二条就是直接走向工程设计。本篇工作选择了后者。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目标不再是判断蛋白会不会发生相分离，而是从头设计多肽分子，人为调控凝聚体的空间组织。</a:t>
            </a:r>
          </a:p>
          <a:p>
            <a:r>
              <a:rPr lang="zh-CN" altLang="en-US" dirty="0"/>
              <a:t>具体的设计目标：希望多肽不进入凝聚体液滴内部，而是优先富集在凝聚体与水溶液的交界面。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研究把这个物理目标转化成两个可定量计算的指标：</a:t>
            </a:r>
          </a:p>
          <a:p>
            <a:r>
              <a:rPr lang="zh-CN" altLang="en-US" dirty="0"/>
              <a:t>一个是</a:t>
            </a:r>
            <a:r>
              <a:rPr lang="en-US" altLang="zh-CN" dirty="0"/>
              <a:t>P_{int}</a:t>
            </a:r>
            <a:r>
              <a:rPr lang="zh-CN" altLang="en-US" dirty="0"/>
              <a:t>，代表界面定位能力，数值越高代表多肽越倾向停留在界面；</a:t>
            </a:r>
          </a:p>
          <a:p>
            <a:r>
              <a:rPr lang="zh-CN" altLang="en-US" dirty="0"/>
              <a:t>另一个是</a:t>
            </a:r>
            <a:r>
              <a:rPr lang="en-US" altLang="zh-CN" dirty="0"/>
              <a:t>B_2</a:t>
            </a:r>
            <a:r>
              <a:rPr lang="zh-CN" altLang="en-US" dirty="0"/>
              <a:t>，代表多肽自身的同型相互作用。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整套计算流水线是这样：首先确定目标凝聚体体系，生成大量随机多肽，过滤掉容易发生聚集沉淀的序列；依靠高通量分子模拟得到大量样本的</a:t>
            </a:r>
            <a:r>
              <a:rPr lang="en-US" altLang="zh-CN" dirty="0"/>
              <a:t>P_{int}</a:t>
            </a:r>
            <a:r>
              <a:rPr lang="zh-CN" altLang="en-US" dirty="0"/>
              <a:t>与</a:t>
            </a:r>
            <a:r>
              <a:rPr lang="en-US" altLang="zh-CN" dirty="0"/>
              <a:t>B_2</a:t>
            </a:r>
            <a:r>
              <a:rPr lang="zh-CN" altLang="en-US" dirty="0"/>
              <a:t>；用这些数据训练多输出神经网络，学习氨基酸序列和这两个性质之间的映射；再利用混合整数线性规划</a:t>
            </a:r>
            <a:r>
              <a:rPr lang="en-US" altLang="zh-CN" dirty="0"/>
              <a:t>MILP</a:t>
            </a:r>
            <a:r>
              <a:rPr lang="zh-CN" altLang="en-US" dirty="0"/>
              <a:t>，在巨大的序列空间中搜索帕累托最优候选多肽，最后选出候选序列开展湿实验验证。</a:t>
            </a:r>
          </a:p>
          <a:p>
            <a:r>
              <a:rPr lang="zh-CN" altLang="en-US" dirty="0"/>
              <a:t>简单来说，分子模拟提供数据，神经网络学习规律，数学优化完成序列搜索。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15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经过计算筛选得到多肽</a:t>
            </a:r>
            <a:r>
              <a:rPr lang="en-US" altLang="zh-CN" dirty="0"/>
              <a:t>2</a:t>
            </a:r>
            <a:r>
              <a:rPr lang="zh-CN" altLang="en-US" dirty="0"/>
              <a:t>、多肽</a:t>
            </a:r>
            <a:r>
              <a:rPr lang="en-US" altLang="zh-CN" dirty="0"/>
              <a:t>4</a:t>
            </a:r>
            <a:r>
              <a:rPr lang="zh-CN" altLang="en-US" dirty="0"/>
              <a:t>等候选，接下来通过体外实验检验设计效果。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页 界面多肽：从计算设计到实验验证，形成完整闭环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翻页）</a:t>
            </a:r>
          </a:p>
          <a:p>
            <a:r>
              <a:rPr lang="zh-CN" altLang="en-US" dirty="0"/>
              <a:t>这一页就是候选多肽的体外共聚焦、统计与荧光寿命实验结果。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是荧光成像与线扫描结果。多肽</a:t>
            </a:r>
            <a:r>
              <a:rPr lang="en-US" altLang="zh-CN" dirty="0"/>
              <a:t>2</a:t>
            </a:r>
            <a:r>
              <a:rPr lang="zh-CN" altLang="en-US" dirty="0"/>
              <a:t>可以看到液滴外围一圈明显的红色荧光环，线扫描曲线呈现两边高、中间低的双峰，直接证明多肽</a:t>
            </a:r>
            <a:r>
              <a:rPr lang="en-US" altLang="zh-CN" dirty="0"/>
              <a:t>2</a:t>
            </a:r>
            <a:r>
              <a:rPr lang="zh-CN" altLang="en-US" dirty="0"/>
              <a:t>富集在凝聚体界面。作为对照的多肽</a:t>
            </a:r>
            <a:r>
              <a:rPr lang="en-US" altLang="zh-CN" dirty="0"/>
              <a:t>4</a:t>
            </a:r>
            <a:r>
              <a:rPr lang="zh-CN" altLang="en-US" dirty="0"/>
              <a:t>，荧光均匀充满整个液滴，没有界面富集的特性。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图是液滴尺寸统计：不加多肽时液滴尺寸偏大；加入多肽</a:t>
            </a:r>
            <a:r>
              <a:rPr lang="en-US" altLang="zh-CN" dirty="0"/>
              <a:t>2</a:t>
            </a:r>
            <a:r>
              <a:rPr lang="zh-CN" altLang="en-US" dirty="0"/>
              <a:t>之后液滴显著变小，多肽</a:t>
            </a:r>
            <a:r>
              <a:rPr lang="en-US" altLang="zh-CN" dirty="0"/>
              <a:t>2</a:t>
            </a:r>
            <a:r>
              <a:rPr lang="zh-CN" altLang="en-US" dirty="0"/>
              <a:t>发挥类似表面活性剂的作用，降低界面张力，抑制液滴融合；而多肽</a:t>
            </a:r>
            <a:r>
              <a:rPr lang="en-US" altLang="zh-CN" dirty="0"/>
              <a:t>4</a:t>
            </a:r>
            <a:r>
              <a:rPr lang="zh-CN" altLang="en-US" dirty="0"/>
              <a:t>对液滴大小几乎没有影响。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D</a:t>
            </a:r>
            <a:r>
              <a:rPr lang="zh-CN" altLang="en-US" dirty="0"/>
              <a:t>图的荧光寿命用来表征凝聚体内部蛋白微环境。加入多肽</a:t>
            </a:r>
            <a:r>
              <a:rPr lang="en-US" altLang="zh-CN" dirty="0"/>
              <a:t>2</a:t>
            </a:r>
            <a:r>
              <a:rPr lang="zh-CN" altLang="en-US" dirty="0"/>
              <a:t>前后，两种探针的荧光寿命几乎没有变化。这就说明多肽</a:t>
            </a:r>
            <a:r>
              <a:rPr lang="en-US" altLang="zh-CN" dirty="0"/>
              <a:t>2</a:t>
            </a:r>
            <a:r>
              <a:rPr lang="zh-CN" altLang="en-US" dirty="0"/>
              <a:t>只作用在液滴表面，不会干扰凝聚体内部蛋白的相互作用。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论文给出三条核心证据：第一，多肽</a:t>
            </a:r>
            <a:r>
              <a:rPr lang="en-US" altLang="zh-CN" dirty="0"/>
              <a:t>2</a:t>
            </a:r>
            <a:r>
              <a:rPr lang="zh-CN" altLang="en-US" dirty="0"/>
              <a:t>的界面富集现象可重复，约</a:t>
            </a:r>
            <a:r>
              <a:rPr lang="en-US" altLang="zh-CN" dirty="0"/>
              <a:t>91%</a:t>
            </a:r>
            <a:r>
              <a:rPr lang="zh-CN" altLang="en-US" dirty="0"/>
              <a:t>凝聚体都能观察到完整界面覆盖；第二，多肽</a:t>
            </a:r>
            <a:r>
              <a:rPr lang="en-US" altLang="zh-CN" dirty="0"/>
              <a:t>2</a:t>
            </a:r>
            <a:r>
              <a:rPr lang="zh-CN" altLang="en-US" dirty="0"/>
              <a:t>可以显著缩小液滴尺寸；第三，该设计具备通用性，在</a:t>
            </a:r>
            <a:r>
              <a:rPr lang="en-US" altLang="zh-CN" dirty="0"/>
              <a:t>hnRNPA1‑LCD</a:t>
            </a:r>
            <a:r>
              <a:rPr lang="zh-CN" altLang="en-US" dirty="0"/>
              <a:t>、</a:t>
            </a:r>
            <a:r>
              <a:rPr lang="en-US" altLang="zh-CN" dirty="0"/>
              <a:t>LAF‑1‑RGG</a:t>
            </a:r>
            <a:r>
              <a:rPr lang="zh-CN" altLang="en-US" dirty="0"/>
              <a:t>、</a:t>
            </a:r>
            <a:r>
              <a:rPr lang="en-US" altLang="zh-CN" dirty="0"/>
              <a:t>DDX4N</a:t>
            </a:r>
            <a:r>
              <a:rPr lang="zh-CN" altLang="en-US" dirty="0"/>
              <a:t>多种凝聚体体系都可以复现效果。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16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整套工作完成了从目标定义到实验验证的完整研究闭环。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页 界面多肽工作闭环总结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88368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页 界面多肽工作闭环总结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我们来梳理这项界面多肽设计的完整闭环链条：</a:t>
            </a:r>
          </a:p>
          <a:p>
            <a:r>
              <a:rPr lang="zh-CN" altLang="en-US" dirty="0"/>
              <a:t>首先定义物理目标，我们想要实现多肽在凝聚体界面定位；</a:t>
            </a:r>
          </a:p>
          <a:p>
            <a:r>
              <a:rPr lang="zh-CN" altLang="en-US" dirty="0"/>
              <a:t>然后通过高通量分子模拟，定量得到多肽的</a:t>
            </a:r>
            <a:r>
              <a:rPr lang="en-US" altLang="zh-CN" dirty="0"/>
              <a:t>P_{int}</a:t>
            </a:r>
            <a:r>
              <a:rPr lang="zh-CN" altLang="en-US" dirty="0"/>
              <a:t>、</a:t>
            </a:r>
            <a:r>
              <a:rPr lang="en-US" altLang="zh-CN" dirty="0"/>
              <a:t>B_2</a:t>
            </a:r>
            <a:r>
              <a:rPr lang="zh-CN" altLang="en-US" dirty="0"/>
              <a:t>性质数据；</a:t>
            </a:r>
          </a:p>
          <a:p>
            <a:r>
              <a:rPr lang="zh-CN" altLang="en-US" dirty="0"/>
              <a:t>接着使用人工智能学习序列</a:t>
            </a:r>
            <a:r>
              <a:rPr lang="en-US" altLang="zh-CN" dirty="0"/>
              <a:t>‑</a:t>
            </a:r>
            <a:r>
              <a:rPr lang="zh-CN" altLang="en-US" dirty="0"/>
              <a:t>性质的映射关系；</a:t>
            </a:r>
          </a:p>
          <a:p>
            <a:r>
              <a:rPr lang="zh-CN" altLang="en-US" dirty="0"/>
              <a:t>再依靠混合整数线性规划做数学优化，筛选帕累托最优的候选多肽序列；</a:t>
            </a:r>
          </a:p>
          <a:p>
            <a:r>
              <a:rPr lang="zh-CN" altLang="en-US" dirty="0"/>
              <a:t>最后通过共聚焦显微镜等湿实验完成验证，并且从中提炼界面多肽的设计规律。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从物理目标，到计算模拟、</a:t>
            </a:r>
            <a:r>
              <a:rPr lang="en-US" altLang="zh-CN" dirty="0"/>
              <a:t>AI</a:t>
            </a:r>
            <a:r>
              <a:rPr lang="zh-CN" altLang="en-US" dirty="0"/>
              <a:t>学习、数学优化，再到湿实验验证，计算与实验相互印证，完成了针对相分离凝聚体的多肽理性设计。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16</a:t>
            </a:r>
            <a:r>
              <a:rPr lang="zh-CN" altLang="en-US" dirty="0"/>
              <a:t>页结束，衔接下一页过渡句）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讲完相分离的预测和界面多肽设计，接下来我们看另一项更有挑战的任务，针对柔性无序</a:t>
            </a:r>
            <a:r>
              <a:rPr lang="en-US" altLang="zh-CN" dirty="0"/>
              <a:t>IDR</a:t>
            </a:r>
            <a:r>
              <a:rPr lang="zh-CN" altLang="en-US" dirty="0"/>
              <a:t>，从头设计结合蛋白</a:t>
            </a:r>
            <a:r>
              <a:rPr lang="en-US" altLang="zh-CN" dirty="0"/>
              <a:t>binder</a:t>
            </a:r>
            <a:r>
              <a:rPr lang="zh-CN" altLang="en-US" dirty="0"/>
              <a:t>。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88882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zh-CN" altLang="en-US" dirty="0"/>
              <a:t>因此，它对高度不规则、富含</a:t>
            </a:r>
            <a:r>
              <a:rPr lang="en-US" altLang="zh-CN" dirty="0"/>
              <a:t>loop</a:t>
            </a:r>
            <a:r>
              <a:rPr lang="zh-CN" altLang="en-US" dirty="0"/>
              <a:t>、极度柔性或缺少二级结构倾向的</a:t>
            </a:r>
            <a:r>
              <a:rPr lang="en-US" altLang="zh-CN" dirty="0"/>
              <a:t>IDR</a:t>
            </a:r>
            <a:r>
              <a:rPr lang="zh-CN" altLang="en-US" dirty="0"/>
              <a:t>可能效果较弱。例如</a:t>
            </a:r>
            <a:r>
              <a:rPr lang="en-US" altLang="zh-CN" dirty="0"/>
              <a:t>FUS</a:t>
            </a:r>
            <a:r>
              <a:rPr lang="zh-CN" altLang="en-US" dirty="0"/>
              <a:t>目标中测试</a:t>
            </a:r>
            <a:r>
              <a:rPr lang="en-US" altLang="zh-CN" dirty="0"/>
              <a:t>94</a:t>
            </a:r>
            <a:r>
              <a:rPr lang="zh-CN" altLang="en-US" dirty="0"/>
              <a:t>个设计，只有</a:t>
            </a:r>
            <a:r>
              <a:rPr lang="en-US" altLang="zh-CN" dirty="0"/>
              <a:t>3</a:t>
            </a:r>
            <a:r>
              <a:rPr lang="zh-CN" altLang="en-US" dirty="0"/>
              <a:t>个表现出结合，最佳亲和力约</a:t>
            </a:r>
            <a:r>
              <a:rPr lang="en-US" altLang="zh-CN" dirty="0"/>
              <a:t>520 </a:t>
            </a:r>
            <a:r>
              <a:rPr lang="en-US" altLang="zh-CN" dirty="0" err="1"/>
              <a:t>nM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需要生成和筛选大量候选</a:t>
            </a:r>
          </a:p>
          <a:p>
            <a:r>
              <a:rPr lang="zh-CN" altLang="en-US" dirty="0"/>
              <a:t>每个</a:t>
            </a:r>
            <a:r>
              <a:rPr lang="en-US" altLang="zh-CN" dirty="0"/>
              <a:t>target</a:t>
            </a:r>
            <a:r>
              <a:rPr lang="zh-CN" altLang="en-US" dirty="0"/>
              <a:t>通常需要生成约</a:t>
            </a:r>
            <a:r>
              <a:rPr lang="en-US" altLang="zh-CN" dirty="0"/>
              <a:t>10,000–50,000</a:t>
            </a:r>
            <a:r>
              <a:rPr lang="zh-CN" altLang="en-US" dirty="0"/>
              <a:t>个设计，再经过</a:t>
            </a:r>
            <a:r>
              <a:rPr lang="en-US" altLang="zh-CN" dirty="0" err="1"/>
              <a:t>ProteinMPNN</a:t>
            </a:r>
            <a:r>
              <a:rPr lang="zh-CN" altLang="en-US" dirty="0"/>
              <a:t>、</a:t>
            </a:r>
            <a:r>
              <a:rPr lang="en-US" altLang="zh-CN" dirty="0"/>
              <a:t>AF2</a:t>
            </a:r>
            <a:r>
              <a:rPr lang="zh-CN" altLang="en-US" dirty="0"/>
              <a:t>和</a:t>
            </a:r>
            <a:r>
              <a:rPr lang="en-US" altLang="zh-CN" dirty="0"/>
              <a:t>Rosetta</a:t>
            </a:r>
            <a:r>
              <a:rPr lang="zh-CN" altLang="en-US" dirty="0"/>
              <a:t>筛选，最后选择</a:t>
            </a:r>
            <a:r>
              <a:rPr lang="en-US" altLang="zh-CN" dirty="0"/>
              <a:t>48–96</a:t>
            </a:r>
            <a:r>
              <a:rPr lang="zh-CN" altLang="en-US" dirty="0"/>
              <a:t>个进行实验。</a:t>
            </a:r>
          </a:p>
          <a:p>
            <a:r>
              <a:rPr lang="zh-CN" altLang="en-US" dirty="0"/>
              <a:t>这说明：</a:t>
            </a:r>
          </a:p>
          <a:p>
            <a:r>
              <a:rPr lang="zh-CN" altLang="en-US" dirty="0"/>
              <a:t>现有计算评分还不能准确判断哪个设计一定会结合。</a:t>
            </a:r>
          </a:p>
          <a:p>
            <a:r>
              <a:rPr lang="zh-CN" altLang="en-US" dirty="0"/>
              <a:t>论文证明了“大规模生成加实验筛选”能够找到</a:t>
            </a:r>
            <a:r>
              <a:rPr lang="en-US" altLang="zh-CN" dirty="0"/>
              <a:t>binder</a:t>
            </a:r>
            <a:r>
              <a:rPr lang="zh-CN" altLang="en-US" dirty="0"/>
              <a:t>，但没有证明计算评分可以准确预测实验成功率。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长蛋白不等于靶向整个长</a:t>
            </a:r>
            <a:r>
              <a:rPr lang="en-US" altLang="zh-CN" b="1" dirty="0"/>
              <a:t>IDR</a:t>
            </a:r>
          </a:p>
          <a:p>
            <a:r>
              <a:rPr lang="zh-CN" altLang="en-US" dirty="0"/>
              <a:t>例如</a:t>
            </a:r>
            <a:r>
              <a:rPr lang="en-US" altLang="zh-CN" dirty="0"/>
              <a:t>BRCA1_ARATH</a:t>
            </a:r>
            <a:r>
              <a:rPr lang="zh-CN" altLang="en-US" dirty="0"/>
              <a:t>有</a:t>
            </a:r>
            <a:r>
              <a:rPr lang="en-US" altLang="zh-CN" dirty="0"/>
              <a:t>941</a:t>
            </a:r>
            <a:r>
              <a:rPr lang="zh-CN" altLang="en-US" dirty="0"/>
              <a:t>个残基，但论文实际靶向的是其中</a:t>
            </a:r>
            <a:r>
              <a:rPr lang="en-US" altLang="zh-CN" dirty="0"/>
              <a:t>21</a:t>
            </a:r>
            <a:r>
              <a:rPr lang="zh-CN" altLang="en-US" dirty="0"/>
              <a:t>个残基的片段。</a:t>
            </a:r>
          </a:p>
          <a:p>
            <a:r>
              <a:rPr lang="zh-CN" altLang="en-US" dirty="0"/>
              <a:t>所以论文证明的是：</a:t>
            </a:r>
          </a:p>
          <a:p>
            <a:r>
              <a:rPr lang="zh-CN" altLang="en-US" dirty="0"/>
              <a:t>可以从长</a:t>
            </a:r>
            <a:r>
              <a:rPr lang="en-US" altLang="zh-CN" dirty="0"/>
              <a:t>IDP</a:t>
            </a:r>
            <a:r>
              <a:rPr lang="zh-CN" altLang="en-US" dirty="0"/>
              <a:t>中选择一段短区域进行</a:t>
            </a:r>
            <a:r>
              <a:rPr lang="en-US" altLang="zh-CN" dirty="0"/>
              <a:t>binder</a:t>
            </a:r>
            <a:r>
              <a:rPr lang="zh-CN" altLang="en-US" dirty="0"/>
              <a:t>设计。</a:t>
            </a:r>
          </a:p>
          <a:p>
            <a:r>
              <a:rPr lang="zh-CN" altLang="en-US" dirty="0"/>
              <a:t>没有证明一个</a:t>
            </a:r>
            <a:r>
              <a:rPr lang="en-US" altLang="zh-CN" dirty="0"/>
              <a:t>binder</a:t>
            </a:r>
            <a:r>
              <a:rPr lang="zh-CN" altLang="en-US" dirty="0"/>
              <a:t>能够识别整条长</a:t>
            </a:r>
            <a:r>
              <a:rPr lang="en-US" altLang="zh-CN" dirty="0"/>
              <a:t>IDP</a:t>
            </a:r>
            <a:r>
              <a:rPr lang="zh-CN" altLang="en-US" dirty="0"/>
              <a:t>的所有构象，也没有证明方法能够自动选择最适合靶向的片段。</a:t>
            </a:r>
          </a:p>
          <a:p>
            <a:endParaRPr lang="zh-CN" altLang="en-US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3EC5-3C1C-907A-F884-2511832F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E0893-8A80-977C-801E-16B041960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C6C4E-7E8B-3B6C-6163-58E047259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 dirty="0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27694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235C-28B1-9713-A17A-3959C47A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645C5-900A-AD14-B0DA-9746EB1F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E3001-6FA0-9C2C-A2B3-B4CA0FD10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总结来看，这篇论文最大的贡献，是把基于结构的 binder 设计从固定靶标扩展到了柔性 IDR。模型只需要靶标序列，就能联合生成靶标结合态和 binder，并通过二级结构条件和双向部分扩散进一步优化。实验上，代表性设计获得了纳摩尔级亲和力、晶体结构以及细胞功能验证。</a:t>
            </a:r>
          </a:p>
          <a:p>
            <a:endParaRPr dirty="0"/>
          </a:p>
          <a:p>
            <a:r>
              <a:rPr dirty="0"/>
              <a:t>但是，模型直接围绕一个生成的结合态进行设计，没有显式考虑靶标的自由态 ensemble，因此不知道该结合态原本是否容易出现、需要多大的构象重组代价。另外它主要针对单一结合态，能否结合多个构象、只选择特定功能状态、应对环境引起的构象变化，都还不清楚；每个靶标仍然需要生成大量候选，再经过 ProteinMPNN、AF2 和实验筛选，模型还无法预判哪些候选最终会成功。</a:t>
            </a:r>
          </a:p>
          <a:p>
            <a:r>
              <a:rPr lang="zh-CN" altLang="en-US" dirty="0"/>
              <a:t>之后是对未来的展望，一共有三个方面</a:t>
            </a:r>
            <a:endParaRPr lang="en-US" altLang="zh-CN" dirty="0"/>
          </a:p>
          <a:p>
            <a:r>
              <a:rPr lang="zh-CN" altLang="en-US" dirty="0"/>
              <a:t>首先是。。。</a:t>
            </a:r>
            <a:endParaRPr lang="en-US" altLang="zh-CN" dirty="0"/>
          </a:p>
          <a:p>
            <a:r>
              <a:rPr lang="zh-CN" altLang="en-US" dirty="0"/>
              <a:t>其次是多构象与状态选择性设计，首先多构象就是某一个类型的构象共用一个</a:t>
            </a:r>
            <a:r>
              <a:rPr lang="en-US" altLang="zh-CN" dirty="0"/>
              <a:t>binder</a:t>
            </a:r>
            <a:r>
              <a:rPr lang="zh-CN" altLang="en-US" dirty="0"/>
              <a:t>，其次状态选择就是只结合某一个特定的构象其他的不结合</a:t>
            </a:r>
            <a:endParaRPr dirty="0"/>
          </a:p>
          <a:p>
            <a:r>
              <a:rPr lang="zh-CN" altLang="en-US" dirty="0"/>
              <a:t>我认为</a:t>
            </a:r>
            <a:r>
              <a:rPr dirty="0"/>
              <a:t>，最可行的下一步是把 IDPFold 或 STARLING 生成的自由态 ensemble 接入 binder 筛选，</a:t>
            </a:r>
            <a:r>
              <a:rPr lang="zh-CN" altLang="en-US" dirty="0"/>
              <a:t>之后评价结合态然后去排序</a:t>
            </a:r>
            <a:r>
              <a:rPr dirty="0"/>
              <a:t>。这样做不需要重新训练 RFdiffusion，也不依赖立即开展湿实验，可以先验证自由态 ensemble 是否为 binder 成功率提供额外的预测信息。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70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序列到</a:t>
            </a:r>
            <a:r>
              <a:rPr lang="en-US" altLang="zh-CN" dirty="0"/>
              <a:t>ensemble</a:t>
            </a:r>
            <a:r>
              <a:rPr lang="zh-CN" altLang="en-US" dirty="0"/>
              <a:t>可做的任务不是一个新的研究，而是一个类似于综述的工作</a:t>
            </a:r>
            <a:endParaRPr lang="en-US" altLang="zh-CN" dirty="0"/>
          </a:p>
          <a:p>
            <a:r>
              <a:rPr lang="zh-CN" altLang="en-US" dirty="0"/>
              <a:t>构象是否可达：某个构象是否有一定的概率</a:t>
            </a:r>
            <a:endParaRPr lang="en-US" altLang="zh-CN" dirty="0"/>
          </a:p>
          <a:p>
            <a:r>
              <a:rPr lang="zh-CN" altLang="en-US" dirty="0"/>
              <a:t>泛化：同一个</a:t>
            </a:r>
            <a:r>
              <a:rPr lang="en-US" altLang="zh-CN" dirty="0"/>
              <a:t>binder</a:t>
            </a:r>
            <a:r>
              <a:rPr lang="zh-CN" altLang="en-US" dirty="0"/>
              <a:t>是否能结合其他相似的</a:t>
            </a:r>
            <a:r>
              <a:rPr lang="en-US" altLang="zh-CN" dirty="0"/>
              <a:t>IDR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9/29/2026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4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9/29/2026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汇报人：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武文泽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、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王莉芬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、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陈术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　　时间：2026.</a:t>
            </a: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09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.</a:t>
            </a: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29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4990592"/>
            <a:ext cx="10424160" cy="809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  <a:r>
              <a:rPr lang="zh-CN" altLang="en-US" sz="1600" b="1" dirty="0">
                <a:solidFill>
                  <a:srgbClr val="FFFFFF"/>
                </a:solidFill>
                <a:latin typeface="Arial"/>
                <a:ea typeface="Microsoft YaHei"/>
              </a:rPr>
              <a:t>：把构象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Microsoft YaHei"/>
              </a:rPr>
              <a:t>ensemble</a:t>
            </a:r>
            <a:r>
              <a:rPr lang="zh-CN" altLang="en-US" sz="1600" b="1" dirty="0">
                <a:solidFill>
                  <a:srgbClr val="FFFFFF"/>
                </a:solidFill>
                <a:latin typeface="Arial"/>
                <a:ea typeface="Microsoft YaHei"/>
              </a:rPr>
              <a:t>转换成实验可观测量</a:t>
            </a:r>
          </a:p>
          <a:p>
            <a:pPr>
              <a:lnSpc>
                <a:spcPct val="128000"/>
              </a:lnSpc>
            </a:pPr>
            <a:r>
              <a:rPr lang="zh-CN" altLang="en-US" sz="1300" b="0" spc="100" dirty="0">
                <a:solidFill>
                  <a:srgbClr val="FFFFFF"/>
                </a:solidFill>
                <a:latin typeface="Arial"/>
                <a:ea typeface="Microsoft YaHei"/>
              </a:rPr>
              <a:t>生成的多个构象</a:t>
            </a:r>
            <a:r>
              <a:rPr lang="zh-CN" altLang="en-US" sz="1300" spc="100" dirty="0">
                <a:solidFill>
                  <a:srgbClr val="FFFFFF"/>
                </a:solidFill>
                <a:latin typeface="Arial"/>
                <a:ea typeface="Microsoft YaHei"/>
              </a:rPr>
              <a:t>→</a:t>
            </a:r>
            <a:r>
              <a:rPr lang="zh-CN" altLang="en-US" sz="1300" b="0" spc="100" dirty="0">
                <a:solidFill>
                  <a:srgbClr val="FFFFFF"/>
                </a:solidFill>
                <a:latin typeface="Arial"/>
                <a:ea typeface="Microsoft YaHei"/>
              </a:rPr>
              <a:t>逐个构象计算理论信号→按构象概率加权平均</a:t>
            </a:r>
            <a:r>
              <a:rPr lang="zh-CN" altLang="en-US" sz="1300" spc="100" dirty="0">
                <a:solidFill>
                  <a:srgbClr val="FFFFFF"/>
                </a:solidFill>
                <a:latin typeface="Arial"/>
                <a:ea typeface="Microsoft YaHei"/>
              </a:rPr>
              <a:t>→与公开实验比较</a:t>
            </a:r>
            <a:endParaRPr sz="1300" b="0" spc="100" dirty="0">
              <a:solidFill>
                <a:srgbClr val="FFFFFF"/>
              </a:solidFill>
              <a:latin typeface="Arial"/>
              <a:ea typeface="Microsoft YaHei"/>
            </a:endParaRP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nector 44">
            <a:extLst>
              <a:ext uri="{FF2B5EF4-FFF2-40B4-BE49-F238E27FC236}">
                <a16:creationId xmlns:a16="http://schemas.microsoft.com/office/drawing/2014/main" id="{A233D555-2F2A-ACE2-A321-7009AAC68381}"/>
              </a:ext>
            </a:extLst>
          </p:cNvPr>
          <p:cNvCxnSpPr>
            <a:cxnSpLocks/>
          </p:cNvCxnSpPr>
          <p:nvPr/>
        </p:nvCxnSpPr>
        <p:spPr>
          <a:xfrm>
            <a:off x="6839031" y="2658752"/>
            <a:ext cx="2745922" cy="16335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44">
            <a:extLst>
              <a:ext uri="{FF2B5EF4-FFF2-40B4-BE49-F238E27FC236}">
                <a16:creationId xmlns:a16="http://schemas.microsoft.com/office/drawing/2014/main" id="{0C7D2B2B-D0AE-6413-9640-748B279C32B3}"/>
              </a:ext>
            </a:extLst>
          </p:cNvPr>
          <p:cNvCxnSpPr>
            <a:cxnSpLocks/>
          </p:cNvCxnSpPr>
          <p:nvPr/>
        </p:nvCxnSpPr>
        <p:spPr>
          <a:xfrm>
            <a:off x="4100695" y="2001679"/>
            <a:ext cx="2754855" cy="678392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44">
            <a:extLst>
              <a:ext uri="{FF2B5EF4-FFF2-40B4-BE49-F238E27FC236}">
                <a16:creationId xmlns:a16="http://schemas.microsoft.com/office/drawing/2014/main" id="{945F190B-DD56-3C49-336F-4148B885135F}"/>
              </a:ext>
            </a:extLst>
          </p:cNvPr>
          <p:cNvCxnSpPr>
            <a:cxnSpLocks/>
          </p:cNvCxnSpPr>
          <p:nvPr/>
        </p:nvCxnSpPr>
        <p:spPr>
          <a:xfrm>
            <a:off x="3653179" y="1984248"/>
            <a:ext cx="4154557" cy="4204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44">
            <a:extLst>
              <a:ext uri="{FF2B5EF4-FFF2-40B4-BE49-F238E27FC236}">
                <a16:creationId xmlns:a16="http://schemas.microsoft.com/office/drawing/2014/main" id="{F5F73B7F-ABAA-3B08-BC44-0AA031A9B5B8}"/>
              </a:ext>
            </a:extLst>
          </p:cNvPr>
          <p:cNvCxnSpPr>
            <a:cxnSpLocks/>
          </p:cNvCxnSpPr>
          <p:nvPr/>
        </p:nvCxnSpPr>
        <p:spPr>
          <a:xfrm>
            <a:off x="6839031" y="1274741"/>
            <a:ext cx="2783124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44">
            <a:extLst>
              <a:ext uri="{FF2B5EF4-FFF2-40B4-BE49-F238E27FC236}">
                <a16:creationId xmlns:a16="http://schemas.microsoft.com/office/drawing/2014/main" id="{6D16DDEB-8BC2-8632-9D5E-0C8B44210806}"/>
              </a:ext>
            </a:extLst>
          </p:cNvPr>
          <p:cNvCxnSpPr>
            <a:cxnSpLocks/>
          </p:cNvCxnSpPr>
          <p:nvPr/>
        </p:nvCxnSpPr>
        <p:spPr>
          <a:xfrm flipV="1">
            <a:off x="4087368" y="1316625"/>
            <a:ext cx="2751663" cy="65394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cxnSpLocks/>
          </p:cNvCxnSpPr>
          <p:nvPr/>
        </p:nvCxnSpPr>
        <p:spPr>
          <a:xfrm>
            <a:off x="1527048" y="1975104"/>
            <a:ext cx="2126131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27048" y="1755648"/>
            <a:ext cx="8272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7624856" y="1802819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Target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3930680" y="1802819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30554" y="2276856"/>
            <a:ext cx="11660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50" b="1" dirty="0">
                <a:solidFill>
                  <a:srgbClr val="153A2A"/>
                </a:solidFill>
                <a:latin typeface="Arial"/>
                <a:ea typeface="Microsoft YaHei"/>
              </a:rPr>
              <a:t>sequence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86470" y="1440603"/>
            <a:ext cx="14538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672816" y="1091861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29722" y="2234178"/>
            <a:ext cx="11560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性质</a:t>
            </a:r>
            <a:r>
              <a:rPr lang="en-US" altLang="zh-CN" sz="1250" b="1" dirty="0">
                <a:solidFill>
                  <a:srgbClr val="153A2A"/>
                </a:solidFill>
                <a:latin typeface="Arial"/>
                <a:ea typeface="Microsoft YaHei"/>
              </a:rPr>
              <a:t>/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功能预测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38140" y="1988452"/>
            <a:ext cx="99974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zh-CN"/>
            </a:defPPr>
            <a:lvl1pPr algn="ctr">
              <a:lnSpc>
                <a:spcPct val="115000"/>
              </a:lnSpc>
              <a:defRPr sz="1100" b="0">
                <a:solidFill>
                  <a:srgbClr val="007A3D"/>
                </a:solidFill>
                <a:latin typeface="Arial"/>
                <a:ea typeface="Microsoft YaHei"/>
              </a:defRPr>
            </a:lvl1pPr>
          </a:lstStyle>
          <a:p>
            <a:r>
              <a:rPr dirty="0"/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6672670" y="2472048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20801" y="2898493"/>
            <a:ext cx="103416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分子设计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267069" y="2635895"/>
            <a:ext cx="1698093" cy="4825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zh-CN"/>
            </a:defPPr>
            <a:lvl1pPr algn="ctr">
              <a:lnSpc>
                <a:spcPct val="115000"/>
              </a:lnSpc>
              <a:defRPr sz="1100"/>
            </a:lvl1pPr>
          </a:lstStyle>
          <a:p>
            <a:r>
              <a:rPr lang="zh-CN" altLang="en-US" dirty="0">
                <a:solidFill>
                  <a:srgbClr val="007A3D"/>
                </a:solidFill>
                <a:latin typeface="Arial"/>
                <a:ea typeface="Microsoft YaHei"/>
              </a:rPr>
              <a:t>Diffusing protein b</a:t>
            </a:r>
            <a:r>
              <a:rPr lang="en-US" altLang="zh-CN" dirty="0" err="1">
                <a:solidFill>
                  <a:srgbClr val="007A3D"/>
                </a:solidFill>
                <a:latin typeface="Arial"/>
                <a:ea typeface="Microsoft YaHei"/>
              </a:rPr>
              <a:t>inders</a:t>
            </a:r>
            <a:endParaRPr lang="en-US" altLang="zh-CN" dirty="0">
              <a:solidFill>
                <a:srgbClr val="007A3D"/>
              </a:solidFill>
              <a:latin typeface="Arial"/>
              <a:ea typeface="Microsoft YaHei"/>
            </a:endParaRPr>
          </a:p>
          <a:p>
            <a:r>
              <a:rPr lang="en-US" altLang="zh-CN" dirty="0">
                <a:solidFill>
                  <a:srgbClr val="007A3D"/>
                </a:solidFill>
                <a:latin typeface="Arial"/>
                <a:ea typeface="Microsoft YaHei"/>
              </a:rPr>
              <a:t>Peptides design</a:t>
            </a:r>
            <a:endParaRPr lang="zh-CN" altLang="en-US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9439275" y="1089493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1546" y="1535699"/>
            <a:ext cx="10024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50" b="1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6552" y="3162723"/>
            <a:ext cx="3480816" cy="153337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720" y="3282357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3162723"/>
            <a:ext cx="3480816" cy="150071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3712" y="3281209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3162723"/>
            <a:ext cx="3480816" cy="150071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65795" y="3284851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  <p:sp>
        <p:nvSpPr>
          <p:cNvPr id="3" name="TextBox 51">
            <a:extLst>
              <a:ext uri="{FF2B5EF4-FFF2-40B4-BE49-F238E27FC236}">
                <a16:creationId xmlns:a16="http://schemas.microsoft.com/office/drawing/2014/main" id="{CE3397E5-2E58-F32E-462A-4903262974DC}"/>
              </a:ext>
            </a:extLst>
          </p:cNvPr>
          <p:cNvSpPr txBox="1"/>
          <p:nvPr/>
        </p:nvSpPr>
        <p:spPr>
          <a:xfrm>
            <a:off x="9006939" y="1457621"/>
            <a:ext cx="11560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28" name="Oval 59">
            <a:extLst>
              <a:ext uri="{FF2B5EF4-FFF2-40B4-BE49-F238E27FC236}">
                <a16:creationId xmlns:a16="http://schemas.microsoft.com/office/drawing/2014/main" id="{C0D000A3-F0E9-D835-CAB5-EC72542A3895}"/>
              </a:ext>
            </a:extLst>
          </p:cNvPr>
          <p:cNvSpPr/>
          <p:nvPr/>
        </p:nvSpPr>
        <p:spPr>
          <a:xfrm>
            <a:off x="9439275" y="2470960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31" name="TextBox 57">
            <a:extLst>
              <a:ext uri="{FF2B5EF4-FFF2-40B4-BE49-F238E27FC236}">
                <a16:creationId xmlns:a16="http://schemas.microsoft.com/office/drawing/2014/main" id="{95941E1D-013F-00F5-6C78-6790594C523E}"/>
              </a:ext>
            </a:extLst>
          </p:cNvPr>
          <p:cNvSpPr txBox="1"/>
          <p:nvPr/>
        </p:nvSpPr>
        <p:spPr>
          <a:xfrm>
            <a:off x="9089109" y="2856584"/>
            <a:ext cx="103416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50" b="1" dirty="0">
                <a:solidFill>
                  <a:srgbClr val="153A2A"/>
                </a:solidFill>
                <a:latin typeface="Arial"/>
                <a:ea typeface="Microsoft YaHei"/>
              </a:rPr>
              <a:t>Binder/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功能肽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725" y="1014730"/>
            <a:ext cx="5927090" cy="4445000"/>
          </a:xfrm>
          <a:prstGeom prst="rect">
            <a:avLst/>
          </a:prstGeom>
        </p:spPr>
      </p:pic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4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从“构象预测”到“序列设计”：两篇工作的互补与研究空白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09600" y="1206500"/>
            <a:ext cx="3540125" cy="300482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zh-CN" sz="24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STARLING 还缺什么？</a:t>
            </a:r>
            <a:endParaRPr lang="zh-CN" altLang="en-US" sz="2400" b="1"/>
          </a:p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预测端不足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环境条件仍有限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粗粒化表示丢失部分细节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实验 </a:t>
            </a:r>
            <a:r>
              <a:rPr lang="en-US" alt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benchmark </a:t>
            </a:r>
            <a:r>
              <a:rPr lang="zh-CN" altLang="en-US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与环境条件覆盖有限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93685" y="1206500"/>
            <a:ext cx="4298315" cy="28086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zh-CN" sz="24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GOOSE 还缺什么？</a:t>
            </a:r>
          </a:p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设计端不足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目标函数依赖已有预测器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“性质可设计” ≠ “功能可直接设计”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功能具有明显 sequence-context dependence</a:t>
            </a:r>
          </a:p>
        </p:txBody>
      </p:sp>
      <p:sp>
        <p:nvSpPr>
          <p:cNvPr id="9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当前研究空白：从“预测—设计”计算闭环进一步走向“设计—实验—学习—再设计”的真实闭环。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585" y="1470660"/>
            <a:ext cx="6488430" cy="3651885"/>
          </a:xfrm>
          <a:prstGeom prst="rect">
            <a:avLst/>
          </a:prstGeom>
        </p:spPr>
      </p:pic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5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计算研究：从序列分析走向构象预测与理性设计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0" y="1138555"/>
            <a:ext cx="5143500" cy="1299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ct val="60000"/>
              </a:spcAft>
              <a:buClrTx/>
              <a:buSzTx/>
              <a:buFontTx/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① 研究对象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内在无序蛋白区域（IDR）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缺乏唯一稳定三维结构，以动态构象集合存在。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0" y="2562225"/>
                <a:ext cx="5585460" cy="173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Aft>
                    <a:spcPct val="60000"/>
                  </a:spcAft>
                </a:pPr>
                <a:r>
                  <a:rPr lang="zh-CN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② 现有计算方法的不足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分子动力学模拟： 能得到构象集合，但计算成本高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传统深度学习： 多预测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𝑅</m:t>
                        </m:r>
                      </m:e>
                      <m:sub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𝑔</m:t>
                        </m:r>
                      </m:sub>
                    </m:sSub>
                    <m:r>
                      <a:rPr lang="zh-CN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、</m:t>
                    </m:r>
                    <m:sSub>
                      <m:sSubPr>
                        <m:ctrlPr>
                          <a:rPr 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𝑅</m:t>
                        </m:r>
                      </m:e>
                      <m:sub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等平均性质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序列设计： 大规模、可控地探索sequence–function仍然困难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62225"/>
                <a:ext cx="5585460" cy="17399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0" y="4618990"/>
            <a:ext cx="6983730" cy="8775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③ 核心问题</a:t>
            </a:r>
          </a:p>
          <a:p>
            <a:pPr>
              <a:spcAft>
                <a:spcPct val="60000"/>
              </a:spcAft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如何既能快速理解 IDR 的构象，又能反向设计满足目标性质的 IDR？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6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从平均性质预测走向完整构象集合生成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0" y="1138555"/>
                <a:ext cx="6219825" cy="18522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① </a:t>
                </a:r>
                <a:r>
                  <a:rPr lang="zh-CN" altLang="en-US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现有不足</a:t>
                </a:r>
                <a:endParaRPr lang="zh-CN" b="1">
                  <a:solidFill>
                    <a:srgbClr val="007A3D"/>
                  </a:solidFill>
                  <a:latin typeface="Arial" panose="020B0604020202020204"/>
                  <a:ea typeface="微软雅黑" panose="020B0503020204020204" charset="-122"/>
                </a:endParaRP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分子动力学模拟： 能得到完整 ensemble，但计算成本高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已有深度学习： 多数只预测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𝑔</m:t>
                        </m:r>
                      </m:sub>
                    </m:sSub>
                    <m:r>
                      <a:rPr lang="en-US" altLang="zh-CN" i="1">
                        <a:solidFill>
                          <a:srgbClr val="153A2A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、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等平均指标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折叠蛋白结构预测范式： 更适合“单一稳定结构”，不适合 IDR 的多构象特性。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8555"/>
                <a:ext cx="6219825" cy="18522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0" y="3121660"/>
            <a:ext cx="5257800" cy="1219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② </a:t>
            </a: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 核心问题</a:t>
            </a:r>
          </a:p>
          <a:p>
            <a:pPr indent="0" algn="l">
              <a:lnSpc>
                <a:spcPct val="100000"/>
              </a:lnSpc>
              <a:buClrTx/>
              <a:buSzTx/>
              <a:buNone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能否直接从氨基酸序列，快速生成一组彼此不同、</a:t>
            </a:r>
          </a:p>
          <a:p>
            <a:pPr indent="0" algn="l">
              <a:lnSpc>
                <a:spcPct val="100000"/>
              </a:lnSpc>
              <a:buClrTx/>
              <a:buSzTx/>
              <a:buNone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但都符合该序列物理特征的 IDR 构象？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4569460"/>
            <a:ext cx="4637405" cy="989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③ 核心创新</a:t>
            </a:r>
            <a:endParaRPr lang="zh-CN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spcAft>
                <a:spcPct val="60000"/>
              </a:spcAft>
            </a:pPr>
            <a:r>
              <a:rPr lang="zh-CN" altLang="en-US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将 </a:t>
            </a:r>
            <a:r>
              <a:rPr lang="en-US" alt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</a:t>
            </a:r>
            <a:r>
              <a:rPr lang="zh-CN" altLang="en-US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构象预测转化为“条件生成”问题</a:t>
            </a:r>
            <a:r>
              <a:rPr lang="en-US" alt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390" y="3432810"/>
            <a:ext cx="5026025" cy="2199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985" y="1260475"/>
            <a:ext cx="5619750" cy="2266950"/>
          </a:xfrm>
          <a:prstGeom prst="rect">
            <a:avLst/>
          </a:prstGeom>
        </p:spPr>
      </p:pic>
      <p:sp>
        <p:nvSpPr>
          <p:cNvPr id="12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STARLING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的关键变化：从“预测一个数”升级为“生成完整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ensemble”。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7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基于 </a:t>
            </a: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VAE + Latent Diffusion 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的条件生成框架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99540" y="133699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① 数据构建：Sequence → MD → Distance Map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051550" y="1337310"/>
            <a:ext cx="59874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② VAE 压缩：</a:t>
            </a:r>
            <a:r>
              <a:rPr lang="zh-CN" altLang="en-US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最大 384×384 </a:t>
            </a:r>
            <a:r>
              <a:rPr lang="en-US" alt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Distance Map → 24×24 latent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7790" y="4460875"/>
            <a:ext cx="1693545" cy="11106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③ 条件扩散生成：Sequence + Ionic Strength → Conformers</a:t>
            </a:r>
            <a:endParaRPr lang="en-US" alt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530" y="1805940"/>
            <a:ext cx="8786893" cy="43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8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从正向构象预测转向反向序列设计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09600" y="1174433"/>
            <a:ext cx="5080000" cy="14262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现有方法的问题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天然 IDR 中多个性质往往同时变化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难以只改变一个变量做机制验证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数百～数千条可控序列难以人工设计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2775" y="2992755"/>
            <a:ext cx="5444490" cy="871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ct val="60000"/>
              </a:spcAft>
              <a:buClrTx/>
              <a:buSzTx/>
              <a:buFontTx/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核心问题</a:t>
            </a:r>
          </a:p>
          <a:p>
            <a:r>
              <a:rPr lang="zh-CN" altLang="en-US"/>
              <a:t>能否给定目标性质，自动搜索满足条件的 </a:t>
            </a:r>
            <a:r>
              <a:rPr lang="en-US" altLang="zh-CN"/>
              <a:t>IDR </a:t>
            </a:r>
            <a:r>
              <a:rPr lang="zh-CN" altLang="en-US"/>
              <a:t>序列？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12775" y="4146233"/>
                <a:ext cx="5080000" cy="140525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计算挑战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US" altLang="zh-CN" sz="1600"/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 sz="180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蛋白序列搜索空间巨大，无法穷举。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 sz="180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需要“生成 + 评估 + 优化”的搜索策略。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4146233"/>
                <a:ext cx="5080000" cy="1405255"/>
              </a:xfrm>
              <a:prstGeom prst="rect">
                <a:avLst/>
              </a:prstGeom>
              <a:blipFill rotWithShape="1">
                <a:blip r:embed="rId4"/>
                <a:stretch>
                  <a:fillRect t="-2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GOOSE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的核心创新：把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IDR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序列设计转化为一个“可解释、可优化”的搜索问题。</a:t>
            </a:r>
          </a:p>
        </p:txBody>
      </p:sp>
      <p:pic>
        <p:nvPicPr>
          <p:cNvPr id="10" name="图片 9" descr="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265" y="1096645"/>
            <a:ext cx="5822315" cy="4366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1477108" y="24955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9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生成—评估—修改的迭代序列设计框架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56260" y="1057592"/>
                <a:ext cx="5080000" cy="47351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搜索空间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sz="1800" dirty="0"/>
                  <a:t>无法穷举</a:t>
                </a:r>
              </a:p>
              <a:p>
                <a:endParaRPr lang="zh-CN" altLang="en-US" sz="1800" dirty="0"/>
              </a:p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优化形式</a:t>
                </a:r>
              </a:p>
              <a:p>
                <a:pPr>
                  <a:spcAft>
                    <a:spcPct val="6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</m:oMath>
                  </m:oMathPara>
                </a14:m>
                <a:endParaRPr lang="en-US" altLang="zh-CN" sz="1600" dirty="0"/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其中：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𝑆</m:t>
                    </m:r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：候选序列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𝑓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𝑆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：预测器给出的性质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sz="1800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pPr>
                      <m:e>
                        <m:r>
                          <a:rPr lang="zh-CN" sz="1800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𝑦</m:t>
                        </m:r>
                      </m:e>
                      <m:sup>
                        <m:r>
                          <a:rPr lang="zh-CN" sz="1800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：目标值</a:t>
                </a:r>
              </a:p>
              <a:p>
                <a:endParaRPr lang="zh-CN" altLang="en-US" sz="1600" dirty="0"/>
              </a:p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模块化特点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搜索算法 + 可插拔目标函数 </a:t>
                </a:r>
                <a:endParaRPr lang="en-US" altLang="zh-CN" sz="1800" dirty="0"/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+ 生物物理预测器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1057592"/>
                <a:ext cx="5080000" cy="4735195"/>
              </a:xfrm>
              <a:prstGeom prst="rect">
                <a:avLst/>
              </a:prstGeom>
              <a:blipFill>
                <a:blip r:embed="rId4"/>
                <a:stretch>
                  <a:fillRect l="-959" t="-644" b="-1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015365"/>
            <a:ext cx="7883525" cy="443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15D7-02F0-42AC-D50B-7EA59C3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>
            <a:extLst>
              <a:ext uri="{FF2B5EF4-FFF2-40B4-BE49-F238E27FC236}">
                <a16:creationId xmlns:a16="http://schemas.microsoft.com/office/drawing/2014/main" id="{ADAC5BF9-78CE-87D7-1A7F-523F668DBEEB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>
              <a:extLst>
                <a:ext uri="{FF2B5EF4-FFF2-40B4-BE49-F238E27FC236}">
                  <a16:creationId xmlns:a16="http://schemas.microsoft.com/office/drawing/2014/main" id="{805ACBE5-07FC-64BB-E1A6-9188B9089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B614E6AB-3398-B5C8-7A4F-A1944B34E3FA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07B2E6E-2E70-51D1-9CBD-46C2A5181556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123C47A-7799-D6F3-0072-5E8FA5D64F0F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IDPFold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验证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07A6A5F5-624B-F2BE-9357-CD5D679A617E}"/>
              </a:ext>
            </a:extLst>
          </p:cNvPr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1AB30A-57FB-81EA-0811-F3BC9ABC6E60}"/>
              </a:ext>
            </a:extLst>
          </p:cNvPr>
          <p:cNvSpPr txBox="1"/>
          <p:nvPr/>
        </p:nvSpPr>
        <p:spPr>
          <a:xfrm>
            <a:off x="6632448" y="1094897"/>
            <a:ext cx="4956048" cy="190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00" dirty="0"/>
              <a:t>验证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能否仅从氨基酸序列生成具有合理全局尺寸和局部结构的</a:t>
            </a:r>
            <a:r>
              <a:rPr lang="en-US" altLang="zh-CN" sz="1200" dirty="0"/>
              <a:t>IDP</a:t>
            </a:r>
            <a:r>
              <a:rPr lang="zh-CN" altLang="en-US" sz="1200" dirty="0"/>
              <a:t>构象</a:t>
            </a:r>
            <a:r>
              <a:rPr lang="en-US" altLang="zh-CN" sz="1200" dirty="0"/>
              <a:t>ensemble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优于</a:t>
            </a:r>
            <a:r>
              <a:rPr lang="en-US" altLang="zh-CN" sz="1200" dirty="0" err="1"/>
              <a:t>idpGAN</a:t>
            </a:r>
            <a:r>
              <a:rPr lang="zh-CN" altLang="en-US" sz="1200" dirty="0"/>
              <a:t>，但</a:t>
            </a:r>
            <a:r>
              <a:rPr lang="en-US" altLang="zh-CN" sz="1200" dirty="0"/>
              <a:t>CALVADOS</a:t>
            </a:r>
            <a:r>
              <a:rPr lang="zh-CN" altLang="en-US" sz="1200" dirty="0"/>
              <a:t>平均值仍更接近实验；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与</a:t>
            </a:r>
            <a:r>
              <a:rPr lang="en-US" altLang="zh-CN" sz="1200" dirty="0"/>
              <a:t>CALVADOS</a:t>
            </a:r>
            <a:r>
              <a:rPr lang="zh-CN" altLang="en-US" sz="1200" dirty="0"/>
              <a:t>之间的差异未达到显著水平。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能够生成整体尺寸基本合理、具有一定局部结构信息的主链级构象集合。</a:t>
            </a:r>
            <a:endParaRPr lang="en-US" altLang="zh-CN" sz="120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0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aaa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82B404-8A37-F3FC-0D76-F8B64BD451D2}"/>
              </a:ext>
            </a:extLst>
          </p:cNvPr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17C24-3307-3C7D-C8E0-D1AF180CB0E0}"/>
              </a:ext>
            </a:extLst>
          </p:cNvPr>
          <p:cNvPicPr>
            <a:picLocks/>
          </p:cNvPicPr>
          <p:nvPr/>
        </p:nvPicPr>
        <p:blipFill>
          <a:blip r:embed="rId4"/>
          <a:srcRect l="11630" t="1169" r="11404" b="6496"/>
          <a:stretch>
            <a:fillRect/>
          </a:stretch>
        </p:blipFill>
        <p:spPr>
          <a:xfrm>
            <a:off x="761565" y="1308496"/>
            <a:ext cx="5657523" cy="46085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0EF7E1-0C53-6CB9-F454-AA72034AB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157493"/>
            <a:ext cx="5242077" cy="3149248"/>
          </a:xfrm>
          <a:prstGeom prst="rect">
            <a:avLst/>
          </a:prstGeom>
        </p:spPr>
      </p:pic>
      <p:sp>
        <p:nvSpPr>
          <p:cNvPr id="2" name="wash-7">
            <a:extLst>
              <a:ext uri="{FF2B5EF4-FFF2-40B4-BE49-F238E27FC236}">
                <a16:creationId xmlns:a16="http://schemas.microsoft.com/office/drawing/2014/main" id="{DBC0C9B8-C323-2B34-3373-6096DEDD555A}"/>
              </a:ext>
            </a:extLst>
          </p:cNvPr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4639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42950" y="4171113"/>
            <a:ext cx="2084832" cy="3483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519427"/>
            <a:ext cx="10972800" cy="472433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660656"/>
            <a:ext cx="2084832" cy="3706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8852" y="4551276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604430"/>
            <a:ext cx="2747956" cy="4175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13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LLPSense：从“序列预测”走向“条件依赖预测”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llp_fig1_main.png"/>
          <p:cNvPicPr>
            <a:picLocks noChangeAspect="1"/>
          </p:cNvPicPr>
          <p:nvPr/>
        </p:nvPicPr>
        <p:blipFill>
          <a:blip r:embed="rId4"/>
          <a:srcRect t="4980" r="24422" b="28500"/>
          <a:stretch>
            <a:fillRect/>
          </a:stretch>
        </p:blipFill>
        <p:spPr>
          <a:xfrm>
            <a:off x="731520" y="1392555"/>
            <a:ext cx="5253990" cy="32708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108702"/>
            <a:ext cx="54864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图 1｜序列信息与环境条件共同进入模型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1261872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93992" y="137160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先看领域中的“旧问题”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1700784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过去的相分离预测常以序列为主要输入，但同一个蛋白在不同温度、盐浓度、酸碱度或蛋白浓度下，可能表现出不同的相分离行为。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2487168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93992" y="259689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这篇论文的核心推进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2926080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把“蛋白质序列”与“外部环境”同时纳入预测：先用 ProtT5 表征序列，再结合环境变量，由 XGBoost 输出特定条件下的相分离倾向。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93992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序列表征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407390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ProtT5</a:t>
            </a:r>
            <a:br/>
            <a:r>
              <a:t>把序列转成高维表示</a:t>
            </a:r>
            <a:br/>
            <a:r>
              <a:t>→ 更丰富的序列信息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3608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环境变量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15137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温度、酸碱度、盐、浓度等</a:t>
            </a:r>
            <a:br/>
            <a:r>
              <a:t>→ 描述条件依赖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57816" y="3712463"/>
            <a:ext cx="1563624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22408" y="3822191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评测设计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22408" y="4151375"/>
            <a:ext cx="1234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按同源簇划分训练与测试</a:t>
            </a:r>
            <a:br/>
            <a:r>
              <a:t>→ 减少同源泄漏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5138928"/>
            <a:ext cx="4892040" cy="658368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5150485"/>
            <a:ext cx="4526280" cy="6343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研究方向：序列 → 功能 </a:t>
            </a:r>
          </a:p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进一步变成： 序列 + 环境 → 条件依赖行为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4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LLPSense：不仅预测相分离，还验证了“条件依赖”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91566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原文图 2｜模型筛选与 SGTA 条件依赖行为的实验验证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1225296"/>
            <a:ext cx="4892040" cy="102412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93992" y="1335024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模型表现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1664208"/>
            <a:ext cx="4562855" cy="380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4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按同源簇进行五折交叉验证：</a:t>
            </a:r>
            <a:r>
              <a:rPr lang="en-US" altLang="zh-CN"/>
              <a:t>AUROC=</a:t>
            </a:r>
            <a:r>
              <a:t>0.77，</a:t>
            </a:r>
            <a:r>
              <a:rPr lang="en-US" altLang="zh-CN"/>
              <a:t>AUPRC=</a:t>
            </a:r>
            <a:r>
              <a:t> 0.74。说明模型在未见蛋白上仍有较好的区分能力。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2395728"/>
            <a:ext cx="4892040" cy="118872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93992" y="250545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关键验证：SGTA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2834640"/>
            <a:ext cx="45628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模型预测 SGTA 存在随温度变化的非单调相分离行为；实验进一步用浊度和显微观察验证了温度、聚乙二醇浓度对相分离的影响。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730752"/>
            <a:ext cx="489204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93992" y="384048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从“预测”走向“可调控”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4169664"/>
            <a:ext cx="4562855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论文还展示了突变对 α-突触核蛋白相分离行为的预测，以及通过突变改变 UBQLN4 温度响应类型的概念验证。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5010912"/>
            <a:ext cx="4892040" cy="896112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39712" y="5120640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论文边界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404104"/>
            <a:ext cx="446227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它没有显式建模构象系综，因此还不能证明“构象分布 → 多价相互作用 → 相分离”的机制链。</a:t>
            </a:r>
          </a:p>
        </p:txBody>
      </p:sp>
      <p:pic>
        <p:nvPicPr>
          <p:cNvPr id="4" name="Picture 35" descr="LLPSense_Figure2_完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95" y="1225550"/>
            <a:ext cx="5756910" cy="440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从“预测相分离”到“设计干预分子”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3895" y="1134110"/>
            <a:ext cx="3052445" cy="403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下一步有两条自然路线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1664208"/>
            <a:ext cx="324612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1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方向一｜继续提高预测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在序列 + 环境的基础上加入构象系综，回答：</a:t>
            </a:r>
            <a:br/>
            <a:r>
              <a:t>“系综是否提供额外信息？”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96512" y="1664208"/>
            <a:ext cx="3246120" cy="1115568"/>
          </a:xfrm>
          <a:prstGeom prst="roundRect">
            <a:avLst/>
          </a:prstGeom>
          <a:solidFill>
            <a:srgbClr val="EFF7F3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61104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方向二｜直接进入工程设计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1104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不只预测“会不会相分离”，而是进一步设计一个分子，主动改变凝聚体的空间组织和行为。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2944" y="1664208"/>
            <a:ext cx="3968496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17536" y="177393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这篇论文选择方向二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2103120"/>
            <a:ext cx="363931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因为设计目标可以直接量化为“界面定位 + 自相互作用”，最终还能用显微实验直接验证。</a:t>
            </a:r>
          </a:p>
        </p:txBody>
      </p:sp>
      <p:pic>
        <p:nvPicPr>
          <p:cNvPr id="46" name="Picture 45" descr="int_fig1_nocap.png"/>
          <p:cNvPicPr>
            <a:picLocks noChangeAspect="1"/>
          </p:cNvPicPr>
          <p:nvPr/>
        </p:nvPicPr>
        <p:blipFill>
          <a:blip r:embed="rId3"/>
          <a:srcRect b="5054"/>
          <a:stretch>
            <a:fillRect/>
          </a:stretch>
        </p:blipFill>
        <p:spPr>
          <a:xfrm>
            <a:off x="520700" y="2832100"/>
            <a:ext cx="6821805" cy="3077845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552944" y="2999232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17536" y="310896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第一步：定义“好肽”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7536" y="3438144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不是让肽进入凝聚体内部，而是让它优先停留在凝聚体界面。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52944" y="4041648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7536" y="415137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第二步：把目标变成两个指标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4480560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界面定位能力：p*int 越高越好。</a:t>
            </a:r>
            <a:br/>
            <a:r>
              <a:t>相同多肽之间的相互作用：B₂* 越高，越偏向排斥。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52944" y="5084064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17536" y="519379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第三步：人工智能负责“学”，优化算法负责“找”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7536" y="5669025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神经网络学习序列与性质的关系；混合整数线性规划在巨大序列空间中搜索候选序列。</a:t>
            </a:r>
          </a:p>
        </p:txBody>
      </p:sp>
      <p:grpSp>
        <p:nvGrpSpPr>
          <p:cNvPr id="3" name="footer-15">
            <a:extLst>
              <a:ext uri="{FF2B5EF4-FFF2-40B4-BE49-F238E27FC236}">
                <a16:creationId xmlns:a16="http://schemas.microsoft.com/office/drawing/2014/main" id="{F4931B3D-9323-A195-ED18-C165C60641C8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" name="Image 28">
              <a:extLst>
                <a:ext uri="{FF2B5EF4-FFF2-40B4-BE49-F238E27FC236}">
                  <a16:creationId xmlns:a16="http://schemas.microsoft.com/office/drawing/2014/main" id="{60FEEC18-6333-9946-7501-F21D63535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" name="Rectangle 29">
              <a:extLst>
                <a:ext uri="{FF2B5EF4-FFF2-40B4-BE49-F238E27FC236}">
                  <a16:creationId xmlns:a16="http://schemas.microsoft.com/office/drawing/2014/main" id="{B3D757AE-D004-1D45-1604-C6076D85A26E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30">
              <a:extLst>
                <a:ext uri="{FF2B5EF4-FFF2-40B4-BE49-F238E27FC236}">
                  <a16:creationId xmlns:a16="http://schemas.microsoft.com/office/drawing/2014/main" id="{4614ADF5-5BFF-B7DC-2DE6-DE498E41B05C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5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界面多肽：从计算设计到实验验证，形成完整闭环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32" y="906318"/>
            <a:ext cx="7590431" cy="469332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143670" y="5577078"/>
            <a:ext cx="9904660" cy="914400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83304" y="5672736"/>
            <a:ext cx="18521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rPr dirty="0"/>
              <a:t>论文最终形成的闭环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0829" y="5990919"/>
            <a:ext cx="7037062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40" b="1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rPr dirty="0"/>
              <a:t>物理目标定义 → 分子模拟定量 → 人工智能学习 → 数学优化设计 → 显微实验验证 → 提炼设计规律</a:t>
            </a:r>
          </a:p>
        </p:txBody>
      </p:sp>
      <p:grpSp>
        <p:nvGrpSpPr>
          <p:cNvPr id="3" name="footer-15">
            <a:extLst>
              <a:ext uri="{FF2B5EF4-FFF2-40B4-BE49-F238E27FC236}">
                <a16:creationId xmlns:a16="http://schemas.microsoft.com/office/drawing/2014/main" id="{028C2619-9BED-FCC4-655A-686509C043CC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" name="Image 28">
              <a:extLst>
                <a:ext uri="{FF2B5EF4-FFF2-40B4-BE49-F238E27FC236}">
                  <a16:creationId xmlns:a16="http://schemas.microsoft.com/office/drawing/2014/main" id="{01935854-9509-51CD-373E-211395EAF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" name="Rectangle 29">
              <a:extLst>
                <a:ext uri="{FF2B5EF4-FFF2-40B4-BE49-F238E27FC236}">
                  <a16:creationId xmlns:a16="http://schemas.microsoft.com/office/drawing/2014/main" id="{51112586-6CD3-4C2F-F8CB-118CE3388279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30">
              <a:extLst>
                <a:ext uri="{FF2B5EF4-FFF2-40B4-BE49-F238E27FC236}">
                  <a16:creationId xmlns:a16="http://schemas.microsoft.com/office/drawing/2014/main" id="{1925484A-3F35-95C7-FAF8-50A20688191E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6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网络结构图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60E7A6-C42D-77E5-AB42-E5A98D90572C}"/>
              </a:ext>
            </a:extLst>
          </p:cNvPr>
          <p:cNvSpPr txBox="1"/>
          <p:nvPr/>
        </p:nvSpPr>
        <p:spPr>
          <a:xfrm>
            <a:off x="7796477" y="665706"/>
            <a:ext cx="38133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Diffusing protein binders to intrinsically disordered proteins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6EAF-7040-3A57-41DB-E78C130D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60FEB7-63BC-23AF-1A03-EE5B55A8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8" y="4033075"/>
            <a:ext cx="9312310" cy="2619088"/>
          </a:xfrm>
          <a:prstGeom prst="rect">
            <a:avLst/>
          </a:prstGeom>
        </p:spPr>
      </p:pic>
      <p:grpSp>
        <p:nvGrpSpPr>
          <p:cNvPr id="31" name="footer-13">
            <a:extLst>
              <a:ext uri="{FF2B5EF4-FFF2-40B4-BE49-F238E27FC236}">
                <a16:creationId xmlns:a16="http://schemas.microsoft.com/office/drawing/2014/main" id="{2FAC3EBF-9F2C-83CD-6D56-C8F4B6F04D08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2187B30-1960-7CCF-C523-13EFEDC46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521C856-F8E1-B39F-E4D1-99272B47E854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2930659-5F09-9109-8AEF-556D2E69092D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C2970EF-9163-1DC2-4FF4-523476267263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实验结果</a:t>
            </a:r>
            <a:r>
              <a:rPr lang="en-US" altLang="zh-CN" sz="2800" b="1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BD06AE-8341-7C32-12AC-31B112005407}"/>
              </a:ext>
            </a:extLst>
          </p:cNvPr>
          <p:cNvSpPr/>
          <p:nvPr/>
        </p:nvSpPr>
        <p:spPr>
          <a:xfrm>
            <a:off x="8134760" y="1318836"/>
            <a:ext cx="3047590" cy="2714239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从“结合能力”和“结构准确性”两个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层面验证计算设计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ea typeface="Microsoft YaHei"/>
              </a:rPr>
              <a:t>均</a:t>
            </a:r>
            <a:r>
              <a:rPr lang="en-US" altLang="zh-CN" sz="1400" dirty="0"/>
              <a:t>Figure A–C</a:t>
            </a:r>
            <a:r>
              <a:rPr lang="zh-CN" altLang="en-US" sz="1400" dirty="0"/>
              <a:t>中的三种</a:t>
            </a:r>
            <a:r>
              <a:rPr lang="en-US" altLang="zh-CN" sz="1400" dirty="0"/>
              <a:t>amylin binder</a:t>
            </a:r>
            <a:r>
              <a:rPr lang="zh-CN" altLang="en-US" sz="1400" dirty="0"/>
              <a:t>均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获得纳摩尔级亲和力。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模型设计的</a:t>
            </a:r>
            <a:r>
              <a:rPr lang="en-US" altLang="zh-CN" sz="1400" dirty="0"/>
              <a:t>binder</a:t>
            </a:r>
            <a:r>
              <a:rPr lang="zh-CN" altLang="en-US" sz="1400" dirty="0"/>
              <a:t>能够在实验中结合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en-US" altLang="zh-CN" sz="1400" dirty="0"/>
              <a:t>amylin</a:t>
            </a:r>
            <a:r>
              <a:rPr lang="zh-CN" altLang="en-US" sz="1400" dirty="0"/>
              <a:t>，部分设计的实际结合结构也与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预测模型基本一致。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不同设计结合态均能产生具有较强亲和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力的</a:t>
            </a:r>
            <a:r>
              <a:rPr lang="en-US" altLang="zh-CN" sz="1400" dirty="0"/>
              <a:t>binder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E9C4824-5E5C-4727-6FE4-C8D3C22124F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44C72EE4-CFD0-2088-C7F0-975126877978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C7C331-6BC4-6CF8-1C89-C0A0D5CC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45" y="1032795"/>
            <a:ext cx="7263575" cy="29001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1C7ECA0-B24F-D20C-8C4B-E11D7977EFFC}"/>
              </a:ext>
            </a:extLst>
          </p:cNvPr>
          <p:cNvSpPr txBox="1"/>
          <p:nvPr/>
        </p:nvSpPr>
        <p:spPr>
          <a:xfrm>
            <a:off x="7796477" y="665706"/>
            <a:ext cx="38133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Diffusing protein binders to intrinsically disordered proteins</a:t>
            </a:r>
          </a:p>
        </p:txBody>
      </p:sp>
    </p:spTree>
    <p:extLst>
      <p:ext uri="{BB962C8B-B14F-4D97-AF65-F5344CB8AC3E}">
        <p14:creationId xmlns:p14="http://schemas.microsoft.com/office/powerpoint/2010/main" val="127849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2D38-AD14-CB0A-3D5A-58862853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>
            <a:extLst>
              <a:ext uri="{FF2B5EF4-FFF2-40B4-BE49-F238E27FC236}">
                <a16:creationId xmlns:a16="http://schemas.microsoft.com/office/drawing/2014/main" id="{27380853-9763-3ABC-2171-2913CD5C453D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634A08C-1D3C-F009-E513-07D8D1CC1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69D63BFE-FDDC-DFA4-6D00-223420636D18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79634A5-CF71-1651-5B9E-C0A755A37D3B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7BE327-6E1F-87E9-11FA-6ECE004D4B38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ea typeface="Microsoft YaHei"/>
              </a:rPr>
              <a:t>柔性 </a:t>
            </a:r>
            <a:r>
              <a:rPr lang="en-US" altLang="zh-CN" sz="2800" b="1" dirty="0">
                <a:solidFill>
                  <a:srgbClr val="153A2A"/>
                </a:solidFill>
                <a:ea typeface="Microsoft YaHei"/>
              </a:rPr>
              <a:t>IDR </a:t>
            </a:r>
            <a:r>
              <a:rPr lang="zh-CN" altLang="en-US" sz="2800" b="1" dirty="0">
                <a:solidFill>
                  <a:srgbClr val="153A2A"/>
                </a:solidFill>
                <a:ea typeface="Microsoft YaHei"/>
              </a:rPr>
              <a:t>靶标的</a:t>
            </a: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核心贡献、局限与未来方向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D647C74-C6F4-9FB0-D15B-DF10DDF3022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37DBFE15-A5A0-5F3E-F8EF-42A373753EDE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sp>
        <p:nvSpPr>
          <p:cNvPr id="34" name="Rectangle 33"/>
          <p:cNvSpPr/>
          <p:nvPr/>
        </p:nvSpPr>
        <p:spPr>
          <a:xfrm>
            <a:off x="612648" y="1097280"/>
            <a:ext cx="10972800" cy="73279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" y="1097280"/>
            <a:ext cx="54864" cy="73279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" y="1243583"/>
            <a:ext cx="10424160" cy="5351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 没有固定结构，并不意味着无法设计 binder</a:t>
            </a:r>
          </a:p>
          <a:p>
            <a:pPr>
              <a:lnSpc>
                <a:spcPct val="124000"/>
              </a:lnSpc>
            </a:pPr>
            <a:r>
              <a:rPr sz="1150" b="0" dirty="0">
                <a:solidFill>
                  <a:srgbClr val="5C6E63"/>
                </a:solidFill>
                <a:latin typeface="Arial"/>
                <a:ea typeface="Microsoft YaHei"/>
              </a:rPr>
              <a:t>该工作证明“柔性 IDR 可以设计 binder”；下一步的问题是：怎样利用完整 ensemble 提高设计可靠性与功能可控性。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2648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" y="2365024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核心贡献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6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13816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① 从固定靶标扩展到柔性 IDR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不需要 target 三维结构，仅凭序列联合生成 target 结合态与 binder 主链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② 柔性靶标设计策略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target 二级结构条件、target–binder 联合扩散、two-sided partial diffusion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③ 多层实验验证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纳摩尔级亲和力、与设计一致的晶体结构、细胞内 target engagement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8640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58640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82668" y="2347405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局限性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59808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559808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24400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① 未显式使用自由态 ensemble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直接生成一个结合态，未评估其出现概率、可达性与构象重组代价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9808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24400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② 主要针对单一结合态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能否结合多构象、只选特定功能状态、应对环境构象变化，仍不清楚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9808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24400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③ 仍依赖大量生成与筛选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尚不能预判哪些候选会成功，计算评分与实验亲和力的关系也未建立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8536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04632" y="2049526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05800" y="2344928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未来展望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305800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8305800" y="3027934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70392" y="2982214"/>
            <a:ext cx="2913888" cy="5627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189"/>
              </a:spcAft>
            </a:pPr>
            <a:r>
              <a:rPr sz="1181" b="1">
                <a:solidFill>
                  <a:srgbClr val="153A2A"/>
                </a:solidFill>
                <a:latin typeface="Arial"/>
                <a:ea typeface="Microsoft YaHei"/>
              </a:rPr>
              <a:t>① Ensemble-aware 排序</a:t>
            </a:r>
          </a:p>
          <a:p>
            <a:pPr>
              <a:lnSpc>
                <a:spcPct val="122000"/>
              </a:lnSpc>
            </a:pPr>
            <a:r>
              <a:rPr sz="1087" b="0">
                <a:solidFill>
                  <a:srgbClr val="5C6E63"/>
                </a:solidFill>
                <a:latin typeface="Arial"/>
                <a:ea typeface="Microsoft YaHei"/>
              </a:rPr>
              <a:t>用 STARLING / IDPFold 生成自由态 ensemble，评价结合态可达性并加入候选重排序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11662" y="4123838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08492" y="4049511"/>
            <a:ext cx="2913888" cy="619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 dirty="0">
                <a:solidFill>
                  <a:srgbClr val="153A2A"/>
                </a:solidFill>
                <a:latin typeface="Arial"/>
                <a:ea typeface="Microsoft YaHei"/>
              </a:rPr>
              <a:t>② 多构象与状态选择性设计</a:t>
            </a:r>
          </a:p>
          <a:p>
            <a:pPr>
              <a:lnSpc>
                <a:spcPct val="122000"/>
              </a:lnSpc>
            </a:pPr>
            <a:r>
              <a:rPr sz="1150" b="0" dirty="0">
                <a:solidFill>
                  <a:srgbClr val="5C6E63"/>
                </a:solidFill>
                <a:latin typeface="Arial"/>
                <a:ea typeface="Microsoft YaHei"/>
              </a:rPr>
              <a:t>设计跨构象稳定结合的 binder，或选择性稳定某个功能相关构象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" y="5431536"/>
            <a:ext cx="10972800" cy="6722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86968" y="5577840"/>
            <a:ext cx="10424160" cy="3796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50" b="1">
                <a:solidFill>
                  <a:srgbClr val="FFFFFF"/>
                </a:solidFill>
                <a:latin typeface="Arial"/>
                <a:ea typeface="Microsoft YaHei"/>
              </a:rPr>
              <a:t>最可行的切入点｜</a:t>
            </a:r>
            <a:r>
              <a:rPr sz="1350" b="0">
                <a:solidFill>
                  <a:srgbClr val="FFFFFF"/>
                </a:solidFill>
                <a:latin typeface="Arial"/>
                <a:ea typeface="Microsoft YaHei"/>
              </a:rPr>
              <a:t>用 IDPFold 或 STARLING 生成自由态 ensemble，对现有 binder 候选做可达性评分与重新排序。</a:t>
            </a:r>
          </a:p>
          <a:p>
            <a:pPr>
              <a:lnSpc>
                <a:spcPct val="122000"/>
              </a:lnSpc>
            </a:pPr>
            <a:r>
              <a:rPr sz="1100" b="0">
                <a:solidFill>
                  <a:srgbClr val="D2E9DB"/>
                </a:solidFill>
                <a:latin typeface="Arial"/>
                <a:ea typeface="Microsoft YaHei"/>
              </a:rPr>
              <a:t>无需重新训练 RFdiffusion，也不依赖立即开展湿实验；先验证自由态 ensemble 是否为 binder 成功率提供额外预测信息。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2C3A43-9964-8A2C-2CB5-43216089957D}"/>
              </a:ext>
            </a:extLst>
          </p:cNvPr>
          <p:cNvSpPr txBox="1"/>
          <p:nvPr/>
        </p:nvSpPr>
        <p:spPr>
          <a:xfrm>
            <a:off x="7796477" y="665706"/>
            <a:ext cx="38133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Diffusing protein binders to intrinsically disordered proteins</a:t>
            </a:r>
          </a:p>
        </p:txBody>
      </p:sp>
    </p:spTree>
    <p:extLst>
      <p:ext uri="{BB962C8B-B14F-4D97-AF65-F5344CB8AC3E}">
        <p14:creationId xmlns:p14="http://schemas.microsoft.com/office/powerpoint/2010/main" val="17287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20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 dirty="0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153A2A"/>
                </a:solidFill>
                <a:latin typeface="Arial"/>
                <a:ea typeface="Microsoft YaHei"/>
              </a:rPr>
              <a:t>构象是否可达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r>
              <a:rPr lang="zh-CN" altLang="en-US" sz="1200" dirty="0">
                <a:solidFill>
                  <a:srgbClr val="153A2A"/>
                </a:solidFill>
                <a:latin typeface="Arial"/>
                <a:ea typeface="Microsoft YaHei"/>
              </a:rPr>
              <a:t>能否泛化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endParaRPr sz="120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加入自由态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信息是否可以更准确的识别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  <a:endParaRPr sz="1200" b="0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21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未来可能的研究方向：</a:t>
            </a: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52" y="2493266"/>
            <a:ext cx="5623560" cy="77482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6552" y="2493266"/>
            <a:ext cx="54864" cy="77482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720" y="2612137"/>
            <a:ext cx="5349240" cy="651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521011"/>
            <a:ext cx="5623560" cy="83946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521012"/>
            <a:ext cx="100584" cy="83946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639884"/>
            <a:ext cx="5349240" cy="532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二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、</a:t>
            </a:r>
            <a:r>
              <a:rPr lang="en-US" altLang="zh-CN" sz="1550" b="1" dirty="0">
                <a:solidFill>
                  <a:srgbClr val="007A3D"/>
                </a:solidFill>
                <a:latin typeface="Arial"/>
                <a:ea typeface="Microsoft YaHei"/>
              </a:rPr>
              <a:t> 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结果解释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89427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907585"/>
            <a:ext cx="3934734" cy="1141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M1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dirty="0">
                <a:solidFill>
                  <a:srgbClr val="153A2A"/>
                </a:solidFill>
                <a:latin typeface="Arial"/>
                <a:ea typeface="Microsoft YaHei"/>
              </a:rPr>
              <a:t>说明加入环境条件可以带来增益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241243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475262"/>
            <a:ext cx="3934734" cy="623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说明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有着自己的信息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29400" y="293059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994060"/>
            <a:ext cx="4608576" cy="51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泛化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在新的蛋白以及新的环境中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依旧优于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证明有不错的泛化能力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29400" y="3448751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570246"/>
            <a:ext cx="3934734" cy="656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生成的结构依然可以证明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16664"/>
            <a:ext cx="10497312" cy="8384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dirty="0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dirty="0"/>
              <a:t>支持：只有当</a:t>
            </a:r>
            <a:r>
              <a:rPr lang="en-US" altLang="zh-CN" sz="1400" dirty="0"/>
              <a:t>M3</a:t>
            </a:r>
            <a:r>
              <a:rPr lang="zh-CN" altLang="en-US" sz="1400" dirty="0"/>
              <a:t>在未见蛋白、新环境和不同生成器下仍稳定优于</a:t>
            </a:r>
            <a:r>
              <a:rPr lang="en-US" altLang="zh-CN" sz="1400" dirty="0"/>
              <a:t>M2</a:t>
            </a:r>
            <a:r>
              <a:rPr lang="zh-CN" altLang="en-US" sz="1400" dirty="0"/>
              <a:t>，才能说明</a:t>
            </a:r>
            <a:r>
              <a:rPr lang="en-US" altLang="zh-CN" sz="1400" dirty="0"/>
              <a:t>ensemble</a:t>
            </a:r>
            <a:r>
              <a:rPr lang="zh-CN" altLang="en-US" sz="1400" dirty="0"/>
              <a:t>提供了额外信息。</a:t>
            </a:r>
            <a:endParaRPr lang="en-US" altLang="zh-CN" sz="1400" dirty="0"/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b="0" dirty="0">
                <a:solidFill>
                  <a:srgbClr val="5C6E63"/>
                </a:solidFill>
                <a:latin typeface="Arial"/>
                <a:ea typeface="Microsoft YaHei"/>
              </a:rPr>
              <a:t>不支持：只有训练数据有提升或者只有某个生成器生成的有提升。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0" t="1008" r="16790" b="-802"/>
          <a:stretch>
            <a:fillRect/>
          </a:stretch>
        </p:blipFill>
        <p:spPr>
          <a:xfrm>
            <a:off x="-186267" y="0"/>
            <a:ext cx="12564534" cy="7067550"/>
          </a:xfrm>
          <a:prstGeom prst="rect">
            <a:avLst/>
          </a:prstGeom>
          <a:gradFill>
            <a:gsLst>
              <a:gs pos="10000">
                <a:schemeClr val="accent6">
                  <a:lumMod val="90000"/>
                </a:schemeClr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</p:pic>
      <p:sp>
        <p:nvSpPr>
          <p:cNvPr id="5" name="矩形 4"/>
          <p:cNvSpPr/>
          <p:nvPr/>
        </p:nvSpPr>
        <p:spPr>
          <a:xfrm>
            <a:off x="-186266" y="0"/>
            <a:ext cx="12564533" cy="5676900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0"/>
                  <a:lumOff val="100000"/>
                  <a:alpha val="0"/>
                </a:srgbClr>
              </a:gs>
              <a:gs pos="26000">
                <a:schemeClr val="bg1">
                  <a:alpha val="70000"/>
                </a:schemeClr>
              </a:gs>
              <a:gs pos="79000">
                <a:schemeClr val="bg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0576" y="72762"/>
            <a:ext cx="12058933" cy="369449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715967" y="3038540"/>
            <a:ext cx="27600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kern="8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谢谢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281032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388936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7275</Words>
  <Application>Microsoft Office PowerPoint</Application>
  <PresentationFormat>宽屏</PresentationFormat>
  <Paragraphs>466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华文行楷</vt:lpstr>
      <vt:lpstr>Microsoft YaHei</vt:lpstr>
      <vt:lpstr>Arial</vt:lpstr>
      <vt:lpstr>Calibri</vt:lpstr>
      <vt:lpstr>Cambria Math</vt:lpstr>
      <vt:lpstr>Wingdings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99</cp:revision>
  <dcterms:created xsi:type="dcterms:W3CDTF">2026-09-25T08:55:11Z</dcterms:created>
  <dcterms:modified xsi:type="dcterms:W3CDTF">2026-09-29T08:01:23Z</dcterms:modified>
  <cp:category/>
  <cp:contentStatus/>
  <dc:language>zh-CN</dc:language>
</cp:coreProperties>
</file>