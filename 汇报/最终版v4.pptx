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86" r:id="rId5"/>
    <p:sldId id="258" r:id="rId6"/>
    <p:sldId id="264" r:id="rId7"/>
    <p:sldId id="283" r:id="rId8"/>
    <p:sldId id="284" r:id="rId9"/>
    <p:sldId id="285" r:id="rId10"/>
    <p:sldId id="263" r:id="rId11"/>
    <p:sldId id="276" r:id="rId12"/>
    <p:sldId id="275" r:id="rId13"/>
    <p:sldId id="279" r:id="rId14"/>
    <p:sldId id="280" r:id="rId15"/>
    <p:sldId id="281" r:id="rId16"/>
    <p:sldId id="282" r:id="rId17"/>
    <p:sldId id="269" r:id="rId18"/>
    <p:sldId id="278" r:id="rId19"/>
    <p:sldId id="277" r:id="rId20"/>
    <p:sldId id="272" r:id="rId21"/>
    <p:sldId id="268" r:id="rId22"/>
    <p:sldId id="288" r:id="rId23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001" autoAdjust="0"/>
  </p:normalViewPr>
  <p:slideViewPr>
    <p:cSldViewPr snapToGrid="0" snapToObjects="1">
      <p:cViewPr varScale="1">
        <p:scale>
          <a:sx n="66" d="100"/>
          <a:sy n="66" d="100"/>
        </p:scale>
        <p:origin x="8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GOOSE 主要做性质约束下的序列生成；STARLING 和 IDPFold 做 sequence 到 ensemble；LLPSense 处理 sequence、environment 与 LLPS 行为；</a:t>
            </a:r>
            <a:r>
              <a:rPr lang="zh-CN" altLang="zh-CN"/>
              <a:t>binder 工作</a:t>
            </a:r>
            <a:r>
              <a:rPr lang="zh-CN" altLang="zh-CN" dirty="0"/>
              <a:t>进一步走向功能分子设计。这里不是说六篇论文已经组成完整系统，而是把它们放到</a:t>
            </a:r>
            <a:r>
              <a:rPr lang="zh-CN" altLang="en-US" dirty="0"/>
              <a:t>一条序列上讲一下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en-US" dirty="0"/>
              <a:t>第一个问题是“生成是否可信”。模型能够生成很多外观合理的蛋白结构，并不代表这些结构会在真实条件下以明显概率存在。我们需要分别检查单个构象的几何合理性、整个</a:t>
            </a:r>
            <a:r>
              <a:rPr lang="en-US" altLang="zh-CN" dirty="0"/>
              <a:t>ensemble</a:t>
            </a:r>
            <a:r>
              <a:rPr lang="zh-CN" altLang="en-US" dirty="0"/>
              <a:t>的分布和权重，以及它能否解释独立实验数据。因此，这一步解决的是模型是否近似了真实的构象概率分布，而不只是生成了几张合理的结构图。</a:t>
            </a:r>
          </a:p>
          <a:p>
            <a:r>
              <a:rPr lang="zh-CN" altLang="en-US" dirty="0"/>
              <a:t>第二个问题是“</a:t>
            </a:r>
            <a:r>
              <a:rPr lang="en-US" altLang="zh-CN" dirty="0"/>
              <a:t>ensemble</a:t>
            </a:r>
            <a:r>
              <a:rPr lang="zh-CN" altLang="en-US" dirty="0"/>
              <a:t>是否真的有用”。</a:t>
            </a:r>
            <a:r>
              <a:rPr lang="en-US" altLang="zh-CN" dirty="0"/>
              <a:t>ensemble</a:t>
            </a:r>
            <a:r>
              <a:rPr lang="zh-CN" altLang="en-US" dirty="0"/>
              <a:t>本身由</a:t>
            </a:r>
            <a:r>
              <a:rPr lang="en-US" altLang="zh-CN" dirty="0"/>
              <a:t>sequence</a:t>
            </a:r>
            <a:r>
              <a:rPr lang="zh-CN" altLang="en-US" dirty="0"/>
              <a:t>和</a:t>
            </a:r>
            <a:r>
              <a:rPr lang="en-US" altLang="zh-CN" dirty="0"/>
              <a:t>environment</a:t>
            </a:r>
            <a:r>
              <a:rPr lang="zh-CN" altLang="en-US" dirty="0"/>
              <a:t>决定，因此加入</a:t>
            </a:r>
            <a:r>
              <a:rPr lang="en-US" altLang="zh-CN" dirty="0"/>
              <a:t>ensemble</a:t>
            </a:r>
            <a:r>
              <a:rPr lang="zh-CN" altLang="en-US" dirty="0"/>
              <a:t>特征后预测性能提高，也可能只是重复利用了序列长度、电荷或疏水性等已有信息。需要比较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sequence</a:t>
            </a:r>
            <a:r>
              <a:rPr lang="zh-CN" altLang="en-US" dirty="0"/>
              <a:t>加</a:t>
            </a:r>
            <a:r>
              <a:rPr lang="en-US" altLang="zh-CN" dirty="0"/>
              <a:t>environment</a:t>
            </a:r>
            <a:r>
              <a:rPr lang="zh-CN" altLang="en-US" dirty="0"/>
              <a:t>，以及进一步加入</a:t>
            </a:r>
            <a:r>
              <a:rPr lang="en-US" altLang="zh-CN" dirty="0"/>
              <a:t>ensemble</a:t>
            </a:r>
            <a:r>
              <a:rPr lang="zh-CN" altLang="en-US" dirty="0"/>
              <a:t>的三组模型。只有加入</a:t>
            </a:r>
            <a:r>
              <a:rPr lang="en-US" altLang="zh-CN" dirty="0"/>
              <a:t>ensemble</a:t>
            </a:r>
            <a:r>
              <a:rPr lang="zh-CN" altLang="en-US" dirty="0"/>
              <a:t>后，在功能预测等等测试中仍带来稳定增益，才能说明它包含额外的功能信息。</a:t>
            </a:r>
          </a:p>
          <a:p>
            <a:r>
              <a:rPr lang="zh-CN" altLang="en-US" dirty="0"/>
              <a:t>第三个问题是“能否走向设计”。如果前两步已经建立了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ensemble</a:t>
            </a:r>
            <a:r>
              <a:rPr lang="zh-CN" altLang="en-US" dirty="0"/>
              <a:t>和</a:t>
            </a:r>
            <a:r>
              <a:rPr lang="en-US" altLang="zh-CN" dirty="0"/>
              <a:t>function</a:t>
            </a:r>
            <a:r>
              <a:rPr lang="zh-CN" altLang="en-US" dirty="0"/>
              <a:t>之间的可靠关系，就可以反过来设计满足目标的</a:t>
            </a:r>
            <a:r>
              <a:rPr lang="en-US" altLang="zh-CN" dirty="0"/>
              <a:t>IDR</a:t>
            </a:r>
            <a:r>
              <a:rPr lang="zh-CN" altLang="en-US" dirty="0"/>
              <a:t>序列、</a:t>
            </a:r>
            <a:r>
              <a:rPr lang="en-US" altLang="zh-CN" dirty="0"/>
              <a:t>binder</a:t>
            </a:r>
            <a:r>
              <a:rPr lang="zh-CN" altLang="en-US" dirty="0"/>
              <a:t>或凝聚体定位肽。但设计不能只优化一个预测分数，还要考虑多个构象、不同环境、脱靶结合和聚集风险。纯计算研究可以完成候选生成和筛选，但在没有实验验证时，结论应限定为</a:t>
            </a:r>
            <a:r>
              <a:rPr lang="en-US" altLang="zh-CN" dirty="0"/>
              <a:t>in design candidates</a:t>
            </a:r>
            <a:r>
              <a:rPr lang="zh-CN" altLang="en-US" dirty="0"/>
              <a:t>。</a:t>
            </a:r>
            <a:br>
              <a:rPr lang="en-US" altLang="zh-CN" dirty="0"/>
            </a:b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最后我把这两篇工作放在一起看。</a:t>
            </a:r>
            <a:r>
              <a:rPr lang="en-US" altLang="zh-CN" dirty="0"/>
              <a:t>STARLING </a:t>
            </a:r>
            <a:r>
              <a:rPr lang="zh-CN" altLang="en-US" dirty="0"/>
              <a:t>解决的是正向问题，也就是从序列生成构象集合；</a:t>
            </a:r>
            <a:r>
              <a:rPr lang="en-US" altLang="zh-CN" dirty="0"/>
              <a:t>GOOSE </a:t>
            </a:r>
            <a:r>
              <a:rPr lang="zh-CN" altLang="en-US" dirty="0"/>
              <a:t>解决的是反向问题，也就是给定目标性质，再寻找满足条件的序列。</a:t>
            </a:r>
          </a:p>
          <a:p>
            <a:r>
              <a:rPr lang="zh-CN" altLang="en-US" dirty="0"/>
              <a:t>实际上，这两篇工作已经开始产生连接。</a:t>
            </a:r>
            <a:r>
              <a:rPr lang="en-US" altLang="zh-CN" dirty="0"/>
              <a:t>STARLING </a:t>
            </a:r>
            <a:r>
              <a:rPr lang="zh-CN" altLang="en-US" dirty="0"/>
              <a:t>可以得到 </a:t>
            </a:r>
            <a:r>
              <a:rPr lang="en-US" altLang="zh-CN" dirty="0"/>
              <a:t>ensemble representation，</a:t>
            </a:r>
            <a:r>
              <a:rPr lang="zh-CN" altLang="en-US" dirty="0"/>
              <a:t>而 </a:t>
            </a:r>
            <a:r>
              <a:rPr lang="en-US" altLang="zh-CN" dirty="0"/>
              <a:t>GOOSE </a:t>
            </a:r>
            <a:r>
              <a:rPr lang="zh-CN" altLang="en-US" dirty="0"/>
              <a:t>的 </a:t>
            </a:r>
            <a:r>
              <a:rPr lang="en-US" altLang="zh-CN" dirty="0"/>
              <a:t>SequenceOptimizer </a:t>
            </a:r>
            <a:r>
              <a:rPr lang="zh-CN" altLang="en-US" dirty="0"/>
              <a:t>可以利用这样的可计算目标进行反向序列设计。</a:t>
            </a:r>
          </a:p>
          <a:p>
            <a:r>
              <a:rPr lang="zh-CN" altLang="en-US" dirty="0"/>
              <a:t>但是目前这个闭环还不完整。</a:t>
            </a:r>
            <a:r>
              <a:rPr lang="en-US" altLang="zh-CN" dirty="0"/>
              <a:t>STARLING </a:t>
            </a:r>
            <a:r>
              <a:rPr lang="zh-CN" altLang="en-US" dirty="0"/>
              <a:t>在真实环境条件、精细结构信息和实验 </a:t>
            </a:r>
            <a:r>
              <a:rPr lang="en-US" altLang="zh-CN" dirty="0"/>
              <a:t>benchmark </a:t>
            </a:r>
            <a:r>
              <a:rPr lang="zh-CN" altLang="en-US" dirty="0"/>
              <a:t>方面仍有限；</a:t>
            </a:r>
            <a:r>
              <a:rPr lang="en-US" altLang="zh-CN" dirty="0"/>
              <a:t>GOOSE </a:t>
            </a:r>
            <a:r>
              <a:rPr lang="zh-CN" altLang="en-US" dirty="0"/>
              <a:t>虽然已经可以设计序列性质、构象和相互作用，但“性质可设计”还不等于“功能可以直接设计”，而且功能具有明显的序列背景依赖。</a:t>
            </a:r>
          </a:p>
          <a:p>
            <a:r>
              <a:rPr lang="zh-CN" altLang="en-US" dirty="0"/>
              <a:t>所以我认为，目前已经可以形成一个“预测—设计—再预测”的计算闭环，但下一步真正值得研究的是，如何把实验结果也反馈回来，进一步更新预测模型和优化目标，形成“设计—预测—实验—学习—再设计”的闭环系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我们这次调研的方向主要是 </a:t>
            </a:r>
            <a:r>
              <a:rPr lang="en-US" altLang="zh-CN" dirty="0"/>
              <a:t>IDR，</a:t>
            </a:r>
            <a:r>
              <a:rPr lang="zh-CN" altLang="en-US" dirty="0"/>
              <a:t>也就是内在无序蛋白区域的计算研究。和传统折叠蛋白不同，</a:t>
            </a:r>
            <a:r>
              <a:rPr lang="en-US" altLang="zh-CN" dirty="0"/>
              <a:t>IDR </a:t>
            </a:r>
            <a:r>
              <a:rPr lang="zh-CN" altLang="en-US" dirty="0"/>
              <a:t>没有唯一稳定的三维结构，而是以大量动态变化的构象组成一个 </a:t>
            </a:r>
            <a:r>
              <a:rPr lang="en-US" altLang="zh-CN" dirty="0"/>
              <a:t>ensemble，</a:t>
            </a:r>
            <a:r>
              <a:rPr lang="zh-CN" altLang="en-US" dirty="0"/>
              <a:t>所以它的研究逻辑更接近“序列、构象集合、相互作用，再到功能”这样一条链条。目前这个方向已经有一些计算方法。比如分子动力学模拟可以得到比较完整的构象集合，但计算成本比较高；一些深度学习方法虽然已经能够快速预测 \(</a:t>
            </a:r>
            <a:r>
              <a:rPr lang="en-US" altLang="zh-CN" dirty="0"/>
              <a:t>R_g\)、\(R_e\) </a:t>
            </a:r>
            <a:r>
              <a:rPr lang="zh-CN" altLang="en-US" dirty="0"/>
              <a:t>等性质，但很多时候预测的还是平均量，而不是完整构象集合。另外，如果我们反过来想根据目标性质设计大量 </a:t>
            </a:r>
            <a:r>
              <a:rPr lang="en-US" altLang="zh-CN" dirty="0"/>
              <a:t>IDR </a:t>
            </a:r>
            <a:r>
              <a:rPr lang="zh-CN" altLang="en-US" dirty="0"/>
              <a:t>序列，大规模可控设计本身又是一个问题。所以从计算角度看，我觉得现在主要有两条路线：一条是正向预测，也就是从序列预测构象集合；另一条是反向设计，也就是给定目标性质，再去设计序列。我们调研的两篇 </a:t>
            </a:r>
            <a:r>
              <a:rPr lang="en-US" altLang="zh-CN" dirty="0"/>
              <a:t>Nature </a:t>
            </a:r>
            <a:r>
              <a:rPr lang="zh-CN" altLang="en-US" dirty="0"/>
              <a:t>工作正好分别对应这两条路线：</a:t>
            </a:r>
            <a:r>
              <a:rPr lang="en-US" altLang="zh-CN" dirty="0"/>
              <a:t>STARLING </a:t>
            </a:r>
            <a:r>
              <a:rPr lang="zh-CN" altLang="en-US" dirty="0"/>
              <a:t>代表正向的构象生成，</a:t>
            </a:r>
            <a:r>
              <a:rPr lang="en-US" altLang="zh-CN" dirty="0"/>
              <a:t>GOOSE </a:t>
            </a:r>
            <a:r>
              <a:rPr lang="zh-CN" altLang="en-US" dirty="0"/>
              <a:t>代表反向的序列设计。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第一条路线是正向预测，也就是从序列预测构象集合。传统上，如果想得到 </a:t>
            </a:r>
            <a:r>
              <a:rPr lang="en-US" altLang="zh-CN" dirty="0"/>
              <a:t>IDR </a:t>
            </a:r>
            <a:r>
              <a:rPr lang="zh-CN" altLang="en-US" dirty="0"/>
              <a:t>的完整构象集合，可以做分子动力学模拟，但即使是粗粒化模拟，计算成本仍然比较高。另外，已有一些深度学习方法虽然可以快速预测 \(</a:t>
            </a:r>
            <a:r>
              <a:rPr lang="en-US" altLang="zh-CN" dirty="0"/>
              <a:t>R_g\)、\(R_e\) </a:t>
            </a:r>
            <a:r>
              <a:rPr lang="zh-CN" altLang="en-US" dirty="0"/>
              <a:t>等指标，但这些通常只是 </a:t>
            </a:r>
            <a:r>
              <a:rPr lang="en-US" altLang="zh-CN" dirty="0"/>
              <a:t>ensemble </a:t>
            </a:r>
            <a:r>
              <a:rPr lang="zh-CN" altLang="en-US" dirty="0"/>
              <a:t>的平均性质，并不能告诉我们完整的构象分布。所以 </a:t>
            </a:r>
            <a:r>
              <a:rPr lang="en-US" altLang="zh-CN" dirty="0"/>
              <a:t>STARLING </a:t>
            </a:r>
            <a:r>
              <a:rPr lang="zh-CN" altLang="en-US" dirty="0"/>
              <a:t>的核心问题是：能不能直接根据一条氨基酸序列，快速生成很多彼此不同、但都符合这条序列物理特征的构象。作者把这个问题类比成 </a:t>
            </a:r>
            <a:r>
              <a:rPr lang="en-US" altLang="zh-CN" dirty="0"/>
              <a:t>text-to-image：</a:t>
            </a:r>
            <a:r>
              <a:rPr lang="zh-CN" altLang="en-US" dirty="0"/>
              <a:t>同一句 </a:t>
            </a:r>
            <a:r>
              <a:rPr lang="en-US" altLang="zh-CN" dirty="0"/>
              <a:t>prompt </a:t>
            </a:r>
            <a:r>
              <a:rPr lang="zh-CN" altLang="en-US" dirty="0"/>
              <a:t>可以生成很多不同图像；类似地，同一条蛋白质序列也应该对应很多不同但合理的构象。因此，</a:t>
            </a:r>
            <a:r>
              <a:rPr lang="en-US" altLang="zh-CN" dirty="0"/>
              <a:t>STARLING </a:t>
            </a:r>
            <a:r>
              <a:rPr lang="zh-CN" altLang="en-US" dirty="0"/>
              <a:t>的核心创新不是“预测一个结构”，而是把 </a:t>
            </a:r>
            <a:r>
              <a:rPr lang="en-US" altLang="zh-CN" dirty="0"/>
              <a:t>IDR </a:t>
            </a:r>
            <a:r>
              <a:rPr lang="zh-CN" altLang="en-US" dirty="0"/>
              <a:t>预测转化成一个条件生成问题，直接生成完整的构象集合。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这一页主要看 </a:t>
            </a:r>
            <a:r>
              <a:rPr lang="en-US" altLang="zh-CN" dirty="0"/>
              <a:t>STARLING </a:t>
            </a:r>
            <a:r>
              <a:rPr lang="zh-CN" altLang="en-US" dirty="0"/>
              <a:t>的计算框架。首先，作者把 </a:t>
            </a:r>
            <a:r>
              <a:rPr lang="en-US" altLang="zh-CN" dirty="0"/>
              <a:t>IDR </a:t>
            </a:r>
            <a:r>
              <a:rPr lang="zh-CN" altLang="en-US" dirty="0"/>
              <a:t>序列通过粗粒化分子动力学模拟生成大量构象，再把三维构象转成 </a:t>
            </a:r>
            <a:r>
              <a:rPr lang="en-US" altLang="zh-CN" dirty="0"/>
              <a:t>residue–residue distance map，</a:t>
            </a:r>
            <a:r>
              <a:rPr lang="zh-CN" altLang="en-US" dirty="0"/>
              <a:t>相当于把构象问题转成图像生成问题。第二步，作者用 </a:t>
            </a:r>
            <a:r>
              <a:rPr lang="en-US" altLang="zh-CN" dirty="0"/>
              <a:t>VAE </a:t>
            </a:r>
            <a:r>
              <a:rPr lang="zh-CN" altLang="en-US" dirty="0"/>
              <a:t>把高维 </a:t>
            </a:r>
            <a:r>
              <a:rPr lang="en-US" altLang="zh-CN" dirty="0"/>
              <a:t>distance map </a:t>
            </a:r>
            <a:r>
              <a:rPr lang="zh-CN" altLang="en-US" dirty="0"/>
              <a:t>压缩到低维 </a:t>
            </a:r>
            <a:r>
              <a:rPr lang="en-US" altLang="zh-CN" dirty="0"/>
              <a:t>latent space，</a:t>
            </a:r>
            <a:r>
              <a:rPr lang="zh-CN" altLang="en-US" dirty="0"/>
              <a:t>降低扩散模型的计算成本。第三步，在 </a:t>
            </a:r>
            <a:r>
              <a:rPr lang="en-US" altLang="zh-CN" dirty="0"/>
              <a:t>latent space </a:t>
            </a:r>
            <a:r>
              <a:rPr lang="zh-CN" altLang="en-US" dirty="0"/>
              <a:t>中用 </a:t>
            </a:r>
            <a:r>
              <a:rPr lang="en-US" altLang="zh-CN" dirty="0"/>
              <a:t>DDPM </a:t>
            </a:r>
            <a:r>
              <a:rPr lang="zh-CN" altLang="en-US" dirty="0"/>
              <a:t>从高斯噪声逐步去噪，核心网络是 </a:t>
            </a:r>
            <a:r>
              <a:rPr lang="en-US" altLang="zh-CN" dirty="0"/>
              <a:t>Vision Transformer，</a:t>
            </a:r>
            <a:r>
              <a:rPr lang="zh-CN" altLang="en-US" dirty="0"/>
              <a:t>同时输入 </a:t>
            </a:r>
            <a:r>
              <a:rPr lang="en-US" altLang="zh-CN" dirty="0"/>
              <a:t>protein sequence </a:t>
            </a:r>
            <a:r>
              <a:rPr lang="zh-CN" altLang="en-US" dirty="0"/>
              <a:t>和 </a:t>
            </a:r>
            <a:r>
              <a:rPr lang="en-US" altLang="zh-CN" dirty="0"/>
              <a:t>ionic strength </a:t>
            </a:r>
            <a:r>
              <a:rPr lang="zh-CN" altLang="en-US" dirty="0"/>
              <a:t>作为条件。最后，</a:t>
            </a:r>
            <a:r>
              <a:rPr lang="en-US" altLang="zh-CN" dirty="0"/>
              <a:t>latent representation </a:t>
            </a:r>
            <a:r>
              <a:rPr lang="zh-CN" altLang="en-US" dirty="0"/>
              <a:t>经过 </a:t>
            </a:r>
            <a:r>
              <a:rPr lang="en-US" altLang="zh-CN" dirty="0"/>
              <a:t>decoder </a:t>
            </a:r>
            <a:r>
              <a:rPr lang="zh-CN" altLang="en-US" dirty="0"/>
              <a:t>还原成 </a:t>
            </a:r>
            <a:r>
              <a:rPr lang="en-US" altLang="zh-CN" dirty="0"/>
              <a:t>distance map，</a:t>
            </a:r>
            <a:r>
              <a:rPr lang="zh-CN" altLang="en-US" dirty="0"/>
              <a:t>再重建出多个构象。所以 </a:t>
            </a:r>
            <a:r>
              <a:rPr lang="en-US" altLang="zh-CN" dirty="0"/>
              <a:t>STARLING </a:t>
            </a:r>
            <a:r>
              <a:rPr lang="zh-CN" altLang="en-US" dirty="0"/>
              <a:t>本质上是一个 </a:t>
            </a:r>
            <a:r>
              <a:rPr lang="en-US" altLang="zh-CN" dirty="0"/>
              <a:t>sequence-conditioned latent diffusion model，</a:t>
            </a:r>
            <a:r>
              <a:rPr lang="zh-CN" altLang="en-US" dirty="0"/>
              <a:t>输出不是单一结构，而是一组构象集合。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前面的 </a:t>
            </a:r>
            <a:r>
              <a:rPr lang="en-US" altLang="zh-CN" dirty="0"/>
              <a:t>STARLING </a:t>
            </a:r>
            <a:r>
              <a:rPr lang="zh-CN" altLang="en-US" dirty="0"/>
              <a:t>解决的是一个正向问题，也就是给定一条序列，预测它可能形成什么样的构象。那接下来就可以反过来问：如果我已经知道想要什么性质，能不能直接设计一条满足这个目标的 </a:t>
            </a:r>
            <a:r>
              <a:rPr lang="en-US" altLang="zh-CN" dirty="0"/>
              <a:t>IDR </a:t>
            </a:r>
            <a:r>
              <a:rPr lang="zh-CN" altLang="en-US" dirty="0"/>
              <a:t>序列？这个问题其实并不简单。天然 </a:t>
            </a:r>
            <a:r>
              <a:rPr lang="en-US" altLang="zh-CN" dirty="0"/>
              <a:t>IDR </a:t>
            </a:r>
            <a:r>
              <a:rPr lang="zh-CN" altLang="en-US" dirty="0"/>
              <a:t>中很多性质往往是同时变化的，所以如果我们想研究某一个因素的作用，最好能够固定其他变量，只改变目标变量。另一方面，蛋白序列的理论搜索空间大约是 \(20^</a:t>
            </a:r>
            <a:r>
              <a:rPr lang="en-US" altLang="zh-CN" dirty="0"/>
              <a:t>L\)，</a:t>
            </a:r>
            <a:r>
              <a:rPr lang="zh-CN" altLang="en-US" dirty="0"/>
              <a:t>对于稍微长一点的序列几乎不可能直接穷举。</a:t>
            </a:r>
            <a:r>
              <a:rPr lang="en-US" altLang="zh-CN" dirty="0"/>
              <a:t>GOOSE </a:t>
            </a:r>
            <a:r>
              <a:rPr lang="zh-CN" altLang="en-US" dirty="0"/>
              <a:t>的思路就是把这个问题转化成一个可优化的搜索问题。研究者可以指定序列性质，比如疏水性、电荷；也可以直接指定构象尺寸，比如 \(</a:t>
            </a:r>
            <a:r>
              <a:rPr lang="en-US" altLang="zh-CN" dirty="0"/>
              <a:t>R_g\) </a:t>
            </a:r>
            <a:r>
              <a:rPr lang="zh-CN" altLang="en-US" dirty="0"/>
              <a:t>和 \(</a:t>
            </a:r>
            <a:r>
              <a:rPr lang="en-US" altLang="zh-CN" dirty="0"/>
              <a:t>R_e\)；</a:t>
            </a:r>
            <a:r>
              <a:rPr lang="zh-CN" altLang="en-US" dirty="0"/>
              <a:t>还可以指定分子间相互作用，甚至自定义一个数值目标函数。所以我认为 </a:t>
            </a:r>
            <a:r>
              <a:rPr lang="en-US" altLang="zh-CN" dirty="0"/>
              <a:t>GOOSE </a:t>
            </a:r>
            <a:r>
              <a:rPr lang="zh-CN" altLang="en-US" dirty="0"/>
              <a:t>最核心的创新，不只是“生成新序列”，而是把 </a:t>
            </a:r>
            <a:r>
              <a:rPr lang="en-US" altLang="zh-CN" dirty="0"/>
              <a:t>IDR </a:t>
            </a:r>
            <a:r>
              <a:rPr lang="zh-CN" altLang="en-US" dirty="0"/>
              <a:t>设计变成了一个可解释、可控制、可迭代优化的计算问题。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这一页主要从计算角度看 </a:t>
            </a:r>
            <a:r>
              <a:rPr lang="en-US" altLang="zh-CN" dirty="0"/>
              <a:t>GOOSE </a:t>
            </a:r>
            <a:r>
              <a:rPr lang="zh-CN" altLang="en-US" dirty="0"/>
              <a:t>是怎么完成序列设计的。首先，蛋白质序列的搜索空间大约是 \(20^</a:t>
            </a:r>
            <a:r>
              <a:rPr lang="en-US" altLang="zh-CN" dirty="0"/>
              <a:t>L\)，</a:t>
            </a:r>
            <a:r>
              <a:rPr lang="zh-CN" altLang="en-US" dirty="0"/>
              <a:t>所以不可能直接穷举。</a:t>
            </a:r>
            <a:r>
              <a:rPr lang="en-US" altLang="zh-CN" dirty="0"/>
              <a:t>GOOSE </a:t>
            </a:r>
            <a:r>
              <a:rPr lang="zh-CN" altLang="en-US" dirty="0"/>
              <a:t>的做法是先把用户希望达到的性质，比如 \(</a:t>
            </a:r>
            <a:r>
              <a:rPr lang="en-US" altLang="zh-CN" dirty="0"/>
              <a:t>R_g\)、\(R_e\)、</a:t>
            </a:r>
            <a:r>
              <a:rPr lang="zh-CN" altLang="en-US" dirty="0"/>
              <a:t>相互作用强度或者其他自定义目标，转化成一个可以计算的目标函数。然后它有两种主要方式生成候选序列。一种是预定义的 </a:t>
            </a:r>
            <a:r>
              <a:rPr lang="en-US" altLang="zh-CN" dirty="0"/>
              <a:t>generation </a:t>
            </a:r>
            <a:r>
              <a:rPr lang="zh-CN" altLang="en-US" dirty="0"/>
              <a:t>和 </a:t>
            </a:r>
            <a:r>
              <a:rPr lang="en-US" altLang="zh-CN" dirty="0"/>
              <a:t>variation，</a:t>
            </a:r>
            <a:r>
              <a:rPr lang="zh-CN" altLang="en-US" dirty="0"/>
              <a:t>根据规则直接生成或者修改序列；另一种是 </a:t>
            </a:r>
            <a:r>
              <a:rPr lang="en-US" altLang="zh-CN" dirty="0"/>
              <a:t>SequenceOptimizer，</a:t>
            </a:r>
            <a:r>
              <a:rPr lang="zh-CN" altLang="en-US" dirty="0"/>
              <a:t>只要用户提供一个能够返回数值的 </a:t>
            </a:r>
            <a:r>
              <a:rPr lang="en-US" altLang="zh-CN" dirty="0"/>
              <a:t>Python </a:t>
            </a:r>
            <a:r>
              <a:rPr lang="zh-CN" altLang="en-US" dirty="0"/>
              <a:t>函数，就可以作为优化目标。生成候选序列之后，需要判断它是否满足目标。这里会调用不同预测器，例如 </a:t>
            </a:r>
            <a:r>
              <a:rPr lang="en-US" altLang="zh-CN" dirty="0"/>
              <a:t>ALBATROSS </a:t>
            </a:r>
            <a:r>
              <a:rPr lang="zh-CN" altLang="en-US" dirty="0"/>
              <a:t>预测构象尺寸，</a:t>
            </a:r>
            <a:r>
              <a:rPr lang="en-US" altLang="zh-CN" dirty="0"/>
              <a:t>FINCHES </a:t>
            </a:r>
            <a:r>
              <a:rPr lang="zh-CN" altLang="en-US" dirty="0"/>
              <a:t>评估分子间相互作用，</a:t>
            </a:r>
            <a:r>
              <a:rPr lang="en-US" altLang="zh-CN" dirty="0"/>
              <a:t>metapredict </a:t>
            </a:r>
            <a:r>
              <a:rPr lang="zh-CN" altLang="en-US" dirty="0"/>
              <a:t>检查序列是否仍然保持无序特征。</a:t>
            </a:r>
          </a:p>
          <a:p>
            <a:r>
              <a:rPr lang="zh-CN" altLang="en-US" dirty="0"/>
              <a:t>如果结果没有达到目标，</a:t>
            </a:r>
            <a:r>
              <a:rPr lang="en-US" altLang="zh-CN" dirty="0"/>
              <a:t>GOOSE </a:t>
            </a:r>
            <a:r>
              <a:rPr lang="zh-CN" altLang="en-US" dirty="0"/>
              <a:t>就继续随机修改序列，再重新评估，不断迭代，直到找到满足约束的序列。论文中把这一过程描述为 </a:t>
            </a:r>
            <a:r>
              <a:rPr lang="en-US" altLang="zh-CN" dirty="0"/>
              <a:t>stochastic design，</a:t>
            </a:r>
            <a:r>
              <a:rPr lang="zh-CN" altLang="en-US" dirty="0"/>
              <a:t>也就是从一个接近目标的初始序列开始，再逐步 </a:t>
            </a:r>
            <a:r>
              <a:rPr lang="en-US" altLang="zh-CN" dirty="0"/>
              <a:t>fine-tune。</a:t>
            </a:r>
            <a:r>
              <a:rPr lang="zh-CN" altLang="en-US" dirty="0"/>
              <a:t>所以从计算机角度看，我认为 </a:t>
            </a:r>
            <a:r>
              <a:rPr lang="en-US" altLang="zh-CN" dirty="0"/>
              <a:t>GOOSE </a:t>
            </a:r>
            <a:r>
              <a:rPr lang="zh-CN" altLang="en-US" dirty="0"/>
              <a:t>可以概括成：搜索算法、目标函数和生物物理预测器三部分组成的可扩展优化框架。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前面介绍了</a:t>
            </a:r>
            <a:r>
              <a:rPr lang="en-US" altLang="zh-CN" dirty="0"/>
              <a:t>IDP</a:t>
            </a:r>
            <a:r>
              <a:rPr lang="zh-CN" altLang="en-US" dirty="0"/>
              <a:t>不是一个固定结构，而是在不同构象之间不断变化。因此，</a:t>
            </a:r>
            <a:r>
              <a:rPr lang="en-US" altLang="zh-CN" dirty="0" err="1"/>
              <a:t>IDPFold</a:t>
            </a:r>
            <a:r>
              <a:rPr lang="zh-CN" altLang="en-US" dirty="0"/>
              <a:t>的目标不是预测一个最可能结构，而是从同一条</a:t>
            </a:r>
            <a:r>
              <a:rPr lang="en-US" altLang="zh-CN" dirty="0"/>
              <a:t>IDR</a:t>
            </a:r>
            <a:r>
              <a:rPr lang="zh-CN" altLang="en-US" dirty="0"/>
              <a:t>序列中重复生成多个构象，用这些构象近似其构象</a:t>
            </a:r>
            <a:r>
              <a:rPr lang="en-US" altLang="zh-CN" dirty="0"/>
              <a:t>ensemble</a:t>
            </a:r>
            <a:r>
              <a:rPr lang="zh-CN" altLang="en-US" dirty="0"/>
              <a:t>。模型的输入主要是一条氨基酸序列。首先，</a:t>
            </a:r>
            <a:r>
              <a:rPr lang="en-US" altLang="zh-CN" dirty="0"/>
              <a:t>ESM2</a:t>
            </a:r>
            <a:r>
              <a:rPr lang="zh-CN" altLang="en-US" dirty="0"/>
              <a:t>把序列编码成每个残基的序列特征；随后，扩散模型从一组随机的残基刚体框架开始，逐步去除位置和方向上的噪声，最终生成一个完整构象。在每一步去噪过程中，模型同时维护三类信息：第一类是</a:t>
            </a:r>
            <a:r>
              <a:rPr lang="en-US" altLang="zh-CN" dirty="0"/>
              <a:t>single representation</a:t>
            </a:r>
            <a:r>
              <a:rPr lang="zh-CN" altLang="en-US" dirty="0"/>
              <a:t>，表示每个残基自身的特征；第二类是</a:t>
            </a:r>
            <a:r>
              <a:rPr lang="en-US" altLang="zh-CN" dirty="0"/>
              <a:t>pair representation</a:t>
            </a:r>
            <a:r>
              <a:rPr lang="zh-CN" altLang="en-US" dirty="0"/>
              <a:t>，描述残基对之间的关系；第三类是刚体框架 </a:t>
            </a:r>
            <a:r>
              <a:rPr lang="en-US" altLang="zh-CN" dirty="0"/>
              <a:t>Tl</a:t>
            </a:r>
            <a:r>
              <a:rPr lang="zh-CN" altLang="en-US" dirty="0"/>
              <a:t>，描述每个残基当前的位置和方向。</a:t>
            </a:r>
            <a:r>
              <a:rPr lang="en-US" altLang="zh-CN" dirty="0"/>
              <a:t>IPA</a:t>
            </a:r>
            <a:r>
              <a:rPr lang="zh-CN" altLang="en-US" dirty="0"/>
              <a:t>利用残基的特征、残基对关系和三维坐标，使序列信息与空间几何信息发生交互；随后网络更新</a:t>
            </a:r>
            <a:r>
              <a:rPr lang="en-US" altLang="zh-CN" dirty="0"/>
              <a:t>single</a:t>
            </a:r>
            <a:r>
              <a:rPr lang="zh-CN" altLang="en-US" dirty="0"/>
              <a:t>、</a:t>
            </a:r>
            <a:r>
              <a:rPr lang="en-US" altLang="zh-CN" dirty="0"/>
              <a:t>pair</a:t>
            </a:r>
            <a:r>
              <a:rPr lang="zh-CN" altLang="en-US" dirty="0"/>
              <a:t>和刚体框架，重复多个</a:t>
            </a:r>
            <a:r>
              <a:rPr lang="en-US" altLang="zh-CN" dirty="0"/>
              <a:t>denoising block</a:t>
            </a:r>
            <a:r>
              <a:rPr lang="zh-CN" altLang="en-US" dirty="0"/>
              <a:t>，逐渐得到无噪结构。</a:t>
            </a:r>
            <a:br>
              <a:rPr lang="en-US" altLang="zh-CN" dirty="0"/>
            </a:br>
            <a:r>
              <a:rPr lang="zh-CN" altLang="en-US" dirty="0"/>
              <a:t>这里最关键的一点是：一次扩散采样只生成一个构象。对同一条序列使用不同随机初始噪声，重复采样很多次，才得到一个</a:t>
            </a:r>
            <a:r>
              <a:rPr lang="en-US" altLang="zh-CN" dirty="0"/>
              <a:t>ensemble</a:t>
            </a:r>
            <a:r>
              <a:rPr lang="zh-CN" altLang="en-US" dirty="0"/>
              <a:t>。也就是说，</a:t>
            </a:r>
            <a:r>
              <a:rPr lang="en-US" altLang="zh-CN" dirty="0"/>
              <a:t>ensemble</a:t>
            </a:r>
            <a:r>
              <a:rPr lang="zh-CN" altLang="en-US" dirty="0"/>
              <a:t>不是一次性输入或一次性输出的，而是由多次独立生成的构象共同组成。论文结果表明，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ensemble</a:t>
            </a:r>
            <a:r>
              <a:rPr lang="zh-CN" altLang="en-US" dirty="0"/>
              <a:t>在回转半径、端到端距离、局部二级结构以及部分实验观测上能够接近参考数据。这说明刚体扩散可以用于</a:t>
            </a:r>
            <a:r>
              <a:rPr lang="en-US" altLang="zh-CN" dirty="0"/>
              <a:t>IDP</a:t>
            </a:r>
            <a:r>
              <a:rPr lang="zh-CN" altLang="en-US" dirty="0"/>
              <a:t>构象采样，而不仅是固定结构预测。</a:t>
            </a:r>
          </a:p>
          <a:p>
            <a:r>
              <a:rPr lang="zh-CN" altLang="en-US" dirty="0"/>
              <a:t>但需要注意，</a:t>
            </a:r>
            <a:r>
              <a:rPr lang="en-US" altLang="zh-CN" dirty="0" err="1"/>
              <a:t>IDPFold</a:t>
            </a:r>
            <a:r>
              <a:rPr lang="zh-CN" altLang="en-US" dirty="0"/>
              <a:t>学习到的是训练数据中构象分布的近似。单个生成构象几何合理，并不代表它一定在真实</a:t>
            </a:r>
            <a:r>
              <a:rPr lang="en-US" altLang="zh-CN" dirty="0"/>
              <a:t>ensemble</a:t>
            </a:r>
            <a:r>
              <a:rPr lang="zh-CN" altLang="en-US" dirty="0"/>
              <a:t>中具有较高概率；与模拟参考一致，也不能完全等同于与真实实验一致。因此，我们更关心的不是模型能否生成漂亮的结构，而是整个构象分布能否覆盖合理状态，并解释独立实验观测。”</a:t>
            </a:r>
          </a:p>
          <a:p>
            <a:r>
              <a:rPr lang="zh-CN" altLang="en-US" dirty="0"/>
              <a:t>这两个模型虽然在生成方式和结构分辨率上存在差异，但也面临四个共同局限。</a:t>
            </a:r>
          </a:p>
          <a:p>
            <a:r>
              <a:rPr lang="zh-CN" altLang="en-US" dirty="0"/>
              <a:t>第一，模型生成的</a:t>
            </a:r>
            <a:r>
              <a:rPr lang="en-US" altLang="zh-CN" dirty="0"/>
              <a:t>ensemble</a:t>
            </a:r>
            <a:r>
              <a:rPr lang="zh-CN" altLang="en-US" dirty="0"/>
              <a:t>本质上是对模拟数据分布的学习和近似，并不能直接等同于真实的生物构象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r>
              <a:rPr lang="en-US" altLang="zh-CN" dirty="0" err="1"/>
              <a:t>IDPFold</a:t>
            </a:r>
            <a:r>
              <a:rPr lang="zh-CN" altLang="en-US" dirty="0"/>
              <a:t>主要从</a:t>
            </a:r>
            <a:r>
              <a:rPr lang="en-US" altLang="zh-CN" dirty="0"/>
              <a:t>IDP</a:t>
            </a:r>
            <a:r>
              <a:rPr lang="zh-CN" altLang="en-US" dirty="0"/>
              <a:t>模拟轨迹中学习，</a:t>
            </a:r>
            <a:r>
              <a:rPr lang="en-US" altLang="zh-CN" dirty="0"/>
              <a:t>STARLING</a:t>
            </a:r>
            <a:r>
              <a:rPr lang="zh-CN" altLang="en-US" dirty="0"/>
              <a:t>主要学习</a:t>
            </a:r>
            <a:r>
              <a:rPr lang="en-US" altLang="zh-CN" dirty="0" err="1"/>
              <a:t>Mpipi</a:t>
            </a:r>
            <a:r>
              <a:rPr lang="en-US" altLang="zh-CN" dirty="0"/>
              <a:t>-GG</a:t>
            </a:r>
            <a:r>
              <a:rPr lang="zh-CN" altLang="en-US" dirty="0"/>
              <a:t>粗粒化模拟。因此，模型不仅会学习其中的物理规律，也可能继承模拟力场的偏差。模型与参考模拟结果一致，只能说明它较好地复现了教师模型，还需要通过独立实验数据进一步验证。</a:t>
            </a:r>
          </a:p>
          <a:p>
            <a:r>
              <a:rPr lang="zh-CN" altLang="en-US" dirty="0"/>
              <a:t>第二，它们生成的是平衡构象样本，而不是连续的动态轨迹。不同构象之间没有明确的时间顺序，所以我们可以利用这些样本分析回转半径、残基距离以及不同构象状态的分布，但不能直接判断一个构象如何转变为另一个构象，也不能得到转换速率、状态寿命或者具体的结合路径。也就是说，它们描述的是“体系可能处于哪些状态”，而不是“体系如何随时间运动”。</a:t>
            </a:r>
          </a:p>
          <a:p>
            <a:r>
              <a:rPr lang="zh-CN" altLang="en-US" dirty="0"/>
              <a:t>第三，两种方法都不是完整的全原子模型。</a:t>
            </a:r>
            <a:r>
              <a:rPr lang="en-US" altLang="zh-CN" dirty="0"/>
              <a:t>STARLING</a:t>
            </a:r>
            <a:r>
              <a:rPr lang="zh-CN" altLang="en-US" dirty="0"/>
              <a:t>采用每个残基一个珠子的粗粒化表示，</a:t>
            </a:r>
            <a:r>
              <a:rPr lang="en-US" altLang="zh-CN" dirty="0" err="1"/>
              <a:t>IDPFold</a:t>
            </a:r>
            <a:r>
              <a:rPr lang="zh-CN" altLang="en-US" dirty="0"/>
              <a:t>虽然分辨率更高，但主要生成主链骨架，仍然没有完整描述所有侧链原子、溶剂和离子。因此，它们适合研究整体尺寸、距离分布和主链结构倾向，但如果要分析精确氢键、侧链堆积、盐桥或配体结合，还需要进一步进行原子补全和结构优化。</a:t>
            </a:r>
          </a:p>
          <a:p>
            <a:r>
              <a:rPr lang="zh-CN" altLang="en-US" dirty="0"/>
              <a:t>第四，环境条件的描述仍然有限。真实</a:t>
            </a:r>
            <a:r>
              <a:rPr lang="en-US" altLang="zh-CN" dirty="0"/>
              <a:t>IDP</a:t>
            </a:r>
            <a:r>
              <a:rPr lang="zh-CN" altLang="en-US" dirty="0"/>
              <a:t>的</a:t>
            </a:r>
            <a:r>
              <a:rPr lang="en-US" altLang="zh-CN" dirty="0"/>
              <a:t>ensemble</a:t>
            </a:r>
            <a:r>
              <a:rPr lang="zh-CN" altLang="en-US" dirty="0"/>
              <a:t>会受到温度、</a:t>
            </a:r>
            <a:r>
              <a:rPr lang="en-US" altLang="zh-CN" dirty="0"/>
              <a:t>pH</a:t>
            </a:r>
            <a:r>
              <a:rPr lang="zh-CN" altLang="en-US" dirty="0"/>
              <a:t>、离子强度、翻译后修饰、分子拥挤以及结合伙伴等因素影响。</a:t>
            </a:r>
            <a:r>
              <a:rPr lang="en-US" altLang="zh-CN" dirty="0"/>
              <a:t>STARLING</a:t>
            </a:r>
            <a:r>
              <a:rPr lang="zh-CN" altLang="en-US" dirty="0"/>
              <a:t>能够输入有限范围的离子强度，而</a:t>
            </a:r>
            <a:r>
              <a:rPr lang="en-US" altLang="zh-CN" dirty="0" err="1"/>
              <a:t>IDPFold</a:t>
            </a:r>
            <a:r>
              <a:rPr lang="zh-CN" altLang="en-US" dirty="0"/>
              <a:t>主要以氨基酸序列作为条件，但两者都没有完整覆盖真实细胞环境。</a:t>
            </a:r>
          </a:p>
          <a:p>
            <a:r>
              <a:rPr lang="zh-CN" altLang="en-US" dirty="0"/>
              <a:t>并且这个只是生成的集合构象不能严格算</a:t>
            </a:r>
            <a:r>
              <a:rPr lang="en-US" altLang="zh-CN" dirty="0"/>
              <a:t>ensemble</a:t>
            </a:r>
            <a:r>
              <a:rPr lang="zh-CN" altLang="en-US" dirty="0"/>
              <a:t>，因为只有一对构象没有足够的概率，但是某种构象比另一种构象多又会隐含概率，所以算做了</a:t>
            </a:r>
            <a:r>
              <a:rPr lang="en-US" altLang="zh-CN" dirty="0"/>
              <a:t>ensemble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C9CD-9643-8F34-E9A2-064A2A12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6BDDF-5987-DF51-9958-9A85EEFCE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8AE21-D81C-F79C-B547-5A162C143E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是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58</a:t>
            </a:r>
            <a:r>
              <a:rPr lang="zh-CN" altLang="en-US" dirty="0"/>
              <a:t>条</a:t>
            </a:r>
            <a:r>
              <a:rPr lang="en-US" altLang="zh-CN" dirty="0"/>
              <a:t>ensemble</a:t>
            </a:r>
            <a:r>
              <a:rPr lang="zh-CN" altLang="en-US" dirty="0"/>
              <a:t>与真实的对比，</a:t>
            </a:r>
            <a:r>
              <a:rPr lang="en-US" altLang="zh-CN" dirty="0" err="1"/>
              <a:t>DeltaRg</a:t>
            </a:r>
            <a:r>
              <a:rPr lang="en-US" altLang="zh-CN" dirty="0"/>
              <a:t>=</a:t>
            </a:r>
            <a:r>
              <a:rPr lang="zh-CN" altLang="en-US" dirty="0"/>
              <a:t>实验室</a:t>
            </a:r>
            <a:r>
              <a:rPr lang="en-US" altLang="zh-CN" dirty="0"/>
              <a:t>-</a:t>
            </a:r>
            <a:r>
              <a:rPr lang="zh-CN" altLang="en-US" dirty="0"/>
              <a:t>真实值，也就是和实验的对比，然后发现平均的是</a:t>
            </a:r>
            <a:r>
              <a:rPr lang="en-US" altLang="zh-CN" dirty="0"/>
              <a:t>-0.06</a:t>
            </a:r>
            <a:r>
              <a:rPr lang="zh-CN" altLang="en-US" dirty="0"/>
              <a:t>也就是会预测差距</a:t>
            </a:r>
            <a:r>
              <a:rPr lang="en-US" altLang="zh-CN" dirty="0"/>
              <a:t>0.06</a:t>
            </a:r>
            <a:r>
              <a:rPr lang="zh-CN" altLang="en-US" dirty="0"/>
              <a:t>但也还可以了。</a:t>
            </a:r>
            <a:endParaRPr lang="en-US" altLang="zh-CN" dirty="0"/>
          </a:p>
          <a:p>
            <a:r>
              <a:rPr lang="zh-CN" altLang="en-US" dirty="0"/>
              <a:t>之后里面有八个是彩色的柱子，之后把那八个生成的</a:t>
            </a:r>
            <a:r>
              <a:rPr lang="en-US" altLang="zh-CN" dirty="0"/>
              <a:t>ensemble</a:t>
            </a:r>
            <a:r>
              <a:rPr lang="zh-CN" altLang="en-US" dirty="0"/>
              <a:t>放入</a:t>
            </a:r>
            <a:r>
              <a:rPr lang="en-US" altLang="zh-CN" dirty="0"/>
              <a:t>B</a:t>
            </a:r>
            <a:r>
              <a:rPr lang="zh-CN" altLang="en-US" dirty="0"/>
              <a:t>中进行比较，其中柱子上的黑色横线是</a:t>
            </a:r>
            <a:r>
              <a:rPr lang="en-US" altLang="zh-CN" dirty="0" err="1"/>
              <a:t>Rg</a:t>
            </a:r>
            <a:r>
              <a:rPr lang="zh-CN" altLang="en-US" dirty="0"/>
              <a:t>的波动范围</a:t>
            </a:r>
            <a:endParaRPr lang="en-US" altLang="zh-CN" dirty="0"/>
          </a:p>
          <a:p>
            <a:r>
              <a:rPr lang="en-US" altLang="zh-CN" dirty="0"/>
              <a:t>Figure 2B</a:t>
            </a:r>
            <a:r>
              <a:rPr lang="zh-CN" altLang="en-US" dirty="0"/>
              <a:t>进一步考察</a:t>
            </a:r>
            <a:r>
              <a:rPr lang="en-US" altLang="zh-CN" dirty="0" err="1"/>
              <a:t>IDPFold</a:t>
            </a:r>
            <a:r>
              <a:rPr lang="zh-CN" altLang="en-US" dirty="0"/>
              <a:t>能否预测构象尺寸的分布，而不仅是平均回转半径。彩色曲线是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300</a:t>
            </a:r>
            <a:r>
              <a:rPr lang="zh-CN" altLang="en-US" dirty="0"/>
              <a:t>个构象的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 </a:t>
            </a:r>
            <a:r>
              <a:rPr lang="zh-CN" altLang="en-US" dirty="0"/>
              <a:t>分布，黑色虚线是</a:t>
            </a:r>
            <a:r>
              <a:rPr lang="en-US" altLang="zh-CN" dirty="0"/>
              <a:t>CALVADOS</a:t>
            </a:r>
            <a:r>
              <a:rPr lang="zh-CN" altLang="en-US" dirty="0"/>
              <a:t>粗粒化模拟，黑色实线是实验测得的平均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</a:t>
            </a:r>
            <a:r>
              <a:rPr lang="zh-CN" altLang="en-US" dirty="0"/>
              <a:t>。多数蛋白中，</a:t>
            </a:r>
            <a:r>
              <a:rPr lang="en-US" altLang="zh-CN" dirty="0" err="1"/>
              <a:t>IDPFold</a:t>
            </a:r>
            <a:r>
              <a:rPr lang="zh-CN" altLang="en-US" dirty="0"/>
              <a:t>能够产生从紧凑到伸展的不同构象，其分布范围与</a:t>
            </a:r>
            <a:r>
              <a:rPr lang="en-US" altLang="zh-CN" dirty="0"/>
              <a:t>CALVADOS</a:t>
            </a:r>
            <a:r>
              <a:rPr lang="zh-CN" altLang="en-US" dirty="0"/>
              <a:t>大致相似。但实验只提供一个平均值，因此这张图主要证明</a:t>
            </a:r>
            <a:r>
              <a:rPr lang="en-US" altLang="zh-CN" dirty="0" err="1"/>
              <a:t>IDPFold</a:t>
            </a:r>
            <a:r>
              <a:rPr lang="zh-CN" altLang="en-US" dirty="0"/>
              <a:t>复现了模拟中的全局尺寸异质性，还不能证明完整分布就是真实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Figure 4A</a:t>
            </a:r>
            <a:r>
              <a:rPr lang="zh-CN" altLang="en-US" dirty="0"/>
              <a:t>包含三个柱状图，每组比较四种全原子</a:t>
            </a:r>
            <a:r>
              <a:rPr lang="en-US" altLang="zh-CN" dirty="0"/>
              <a:t>MD</a:t>
            </a:r>
            <a:r>
              <a:rPr lang="zh-CN" altLang="en-US" dirty="0"/>
              <a:t>力场与</a:t>
            </a:r>
            <a:r>
              <a:rPr lang="en-US" altLang="zh-CN" dirty="0" err="1"/>
              <a:t>IDPFold</a:t>
            </a:r>
            <a:r>
              <a:rPr lang="zh-CN" altLang="en-US" dirty="0"/>
              <a:t>。上面两图通过</a:t>
            </a:r>
            <a:r>
              <a:rPr lang="en-US" altLang="zh-CN" dirty="0"/>
              <a:t>Cα</a:t>
            </a:r>
            <a:r>
              <a:rPr lang="zh-CN" altLang="en-US" dirty="0"/>
              <a:t>和 </a:t>
            </a:r>
            <a:r>
              <a:rPr lang="en-US" altLang="zh-CN" dirty="0"/>
              <a:t>Cβ</a:t>
            </a:r>
            <a:r>
              <a:rPr lang="zh-CN" altLang="en-US" dirty="0"/>
              <a:t>化学位移误差评价局部结构，</a:t>
            </a:r>
            <a:r>
              <a:rPr lang="en-US" altLang="zh-CN" dirty="0" err="1"/>
              <a:t>IDPFold</a:t>
            </a:r>
            <a:r>
              <a:rPr lang="zh-CN" altLang="en-US" dirty="0"/>
              <a:t>与较好的全原子力场整体相当；最下面通过回转半径相对误差评价整体紧凑程度，</a:t>
            </a:r>
            <a:r>
              <a:rPr lang="en-US" altLang="zh-CN" dirty="0" err="1"/>
              <a:t>IDPFold</a:t>
            </a:r>
            <a:r>
              <a:rPr lang="zh-CN" altLang="en-US" dirty="0"/>
              <a:t>在这</a:t>
            </a:r>
            <a:r>
              <a:rPr lang="en-US" altLang="zh-CN" dirty="0"/>
              <a:t>7</a:t>
            </a:r>
            <a:r>
              <a:rPr lang="zh-CN" altLang="en-US" dirty="0"/>
              <a:t>种测试蛋白上的平均误差最低。因此它的主要优势体现在平均全局尺寸，而局部结构只是达到与先进力场相近的水平。</a:t>
            </a:r>
            <a:endParaRPr lang="en-US" altLang="zh-CN" dirty="0"/>
          </a:p>
          <a:p>
            <a:r>
              <a:rPr lang="en-US" altLang="zh-CN" dirty="0"/>
              <a:t>\(C_\alpha\) </a:t>
            </a:r>
            <a:r>
              <a:rPr lang="zh-CN" altLang="en-US" dirty="0"/>
              <a:t>是氨基酸主链上的中心碳，</a:t>
            </a:r>
            <a:r>
              <a:rPr lang="en-US" altLang="zh-CN" dirty="0"/>
              <a:t>\(C_\beta\) </a:t>
            </a:r>
            <a:r>
              <a:rPr lang="zh-CN" altLang="en-US" dirty="0"/>
              <a:t>是侧链上的第一个碳；化学位移会受到周围电子环境和局部构象影响。因此，通过 </a:t>
            </a:r>
            <a:r>
              <a:rPr lang="en-US" altLang="zh-CN" dirty="0"/>
              <a:t>\(C_\alpha\) </a:t>
            </a:r>
            <a:r>
              <a:rPr lang="zh-CN" altLang="en-US" dirty="0"/>
              <a:t>和 </a:t>
            </a:r>
            <a:r>
              <a:rPr lang="en-US" altLang="zh-CN" dirty="0"/>
              <a:t>\(C_\beta\) </a:t>
            </a:r>
            <a:r>
              <a:rPr lang="zh-CN" altLang="en-US" dirty="0"/>
              <a:t>的化学位移，可以判断某个残基有多少误差</a:t>
            </a:r>
            <a:endParaRPr lang="en-US" altLang="zh-CN" dirty="0"/>
          </a:p>
          <a:p>
            <a:r>
              <a:rPr lang="en-US" altLang="zh-CN" dirty="0"/>
              <a:t>Figure 4B</a:t>
            </a:r>
            <a:r>
              <a:rPr lang="zh-CN" altLang="en-US" dirty="0"/>
              <a:t>对比</a:t>
            </a:r>
            <a:r>
              <a:rPr lang="en-US" altLang="zh-CN" dirty="0"/>
              <a:t>70</a:t>
            </a:r>
            <a:r>
              <a:rPr lang="zh-CN" altLang="en-US" dirty="0"/>
              <a:t>微秒全原子</a:t>
            </a:r>
            <a:r>
              <a:rPr lang="en-US" altLang="zh-CN" dirty="0"/>
              <a:t>MD</a:t>
            </a:r>
            <a:r>
              <a:rPr lang="zh-CN" altLang="en-US" dirty="0"/>
              <a:t>和</a:t>
            </a:r>
            <a:r>
              <a:rPr lang="en-US" altLang="zh-CN" dirty="0" err="1"/>
              <a:t>IDPFold</a:t>
            </a:r>
            <a:r>
              <a:rPr lang="zh-CN" altLang="en-US" dirty="0"/>
              <a:t>生成的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\)-RMSD</a:t>
            </a:r>
            <a:r>
              <a:rPr lang="zh-CN" altLang="en-US" dirty="0"/>
              <a:t>联合分布。横坐标反映整体紧凑程度，纵坐标反映构象相对参考结构的变化程度。全原子</a:t>
            </a:r>
            <a:r>
              <a:rPr lang="en-US" altLang="zh-CN" dirty="0"/>
              <a:t>MD</a:t>
            </a:r>
            <a:r>
              <a:rPr lang="zh-CN" altLang="en-US" dirty="0"/>
              <a:t>覆盖了更广的构象空间和更多伸展状态，而</a:t>
            </a:r>
            <a:r>
              <a:rPr lang="en-US" altLang="zh-CN" dirty="0" err="1"/>
              <a:t>IDPFold</a:t>
            </a:r>
            <a:r>
              <a:rPr lang="zh-CN" altLang="en-US" dirty="0"/>
              <a:t>的分布更加集中。虽然</a:t>
            </a:r>
            <a:r>
              <a:rPr lang="en-US" altLang="zh-CN" dirty="0" err="1"/>
              <a:t>IDPFold</a:t>
            </a:r>
            <a:r>
              <a:rPr lang="zh-CN" altLang="en-US" dirty="0"/>
              <a:t>的平均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 </a:t>
            </a:r>
            <a:r>
              <a:rPr lang="zh-CN" altLang="en-US" dirty="0"/>
              <a:t>更接近实验，但它对完整构象空间的覆盖仍然不足。这说明平均尺寸准确不等于整个</a:t>
            </a:r>
            <a:r>
              <a:rPr lang="en-US" altLang="zh-CN" dirty="0"/>
              <a:t>ensemble</a:t>
            </a:r>
            <a:r>
              <a:rPr lang="zh-CN" altLang="en-US" dirty="0"/>
              <a:t>分布准确。</a:t>
            </a:r>
            <a:endParaRPr lang="en-US" altLang="zh-CN" dirty="0"/>
          </a:p>
          <a:p>
            <a:r>
              <a:rPr lang="zh-CN" altLang="en-US" dirty="0"/>
              <a:t>图</a:t>
            </a:r>
            <a:r>
              <a:rPr lang="en-US" altLang="zh-CN" dirty="0"/>
              <a:t>C</a:t>
            </a:r>
            <a:r>
              <a:rPr lang="zh-CN" altLang="en-US" dirty="0"/>
              <a:t>就是两个生成模型的相对比，都是各有优势</a:t>
            </a:r>
            <a:endParaRPr lang="en-US" altLang="zh-CN" dirty="0"/>
          </a:p>
          <a:p>
            <a:r>
              <a:rPr lang="zh-CN" altLang="en-US" dirty="0"/>
              <a:t>剩下的四个图是</a:t>
            </a:r>
            <a:r>
              <a:rPr lang="en-US" altLang="zh-CN" dirty="0"/>
              <a:t>Cα</a:t>
            </a:r>
            <a:r>
              <a:rPr lang="zh-CN" altLang="en-US" dirty="0"/>
              <a:t>等等是作者做的部分实验。</a:t>
            </a:r>
          </a:p>
        </p:txBody>
      </p:sp>
    </p:spTree>
    <p:extLst>
      <p:ext uri="{BB962C8B-B14F-4D97-AF65-F5344CB8AC3E}">
        <p14:creationId xmlns:p14="http://schemas.microsoft.com/office/powerpoint/2010/main" val="71204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我们不需要亲自做实验，也可以进行外部验证——已有论文和数据库提供了 SAXS、NMR、PRE 和 FRET 数据。</a:t>
            </a:r>
            <a:r>
              <a:rPr lang="zh-CN" altLang="en-US" dirty="0"/>
              <a:t>这四个数据主要是去评判生成的构象的化学特性，</a:t>
            </a:r>
            <a:r>
              <a:rPr lang="en-US" altLang="zh-CN" dirty="0"/>
              <a:t>SAXS</a:t>
            </a:r>
            <a:r>
              <a:rPr lang="zh-CN" altLang="en-US" dirty="0"/>
              <a:t>：整条链的大小和整体形状全局尺寸、紧凑程度</a:t>
            </a:r>
            <a:r>
              <a:rPr lang="en-US" altLang="zh-CN" dirty="0"/>
              <a:t>NMR chemical shift</a:t>
            </a:r>
            <a:r>
              <a:rPr lang="zh-CN" altLang="en-US" dirty="0"/>
              <a:t>每个残基附近的化学环境局部二级结构倾向</a:t>
            </a:r>
            <a:r>
              <a:rPr lang="en-US" altLang="zh-CN" dirty="0"/>
              <a:t>PRE</a:t>
            </a:r>
            <a:r>
              <a:rPr lang="zh-CN" altLang="en-US" dirty="0"/>
              <a:t>相距较远残基是否曾经短暂靠近瞬时长程接触</a:t>
            </a:r>
            <a:r>
              <a:rPr lang="en-US" altLang="zh-CN" dirty="0"/>
              <a:t>FRET</a:t>
            </a:r>
            <a:r>
              <a:rPr lang="zh-CN" altLang="en-US" dirty="0"/>
              <a:t>两个标记位点之间的距离特定位点距离分布</a:t>
            </a:r>
          </a:p>
          <a:p>
            <a:r>
              <a:rPr dirty="0"/>
              <a:t>模型生成 ensemble 后，通过统一的 forward model 计算这些实验理论上会观测到什么，再与公开数据比较。</a:t>
            </a:r>
            <a:endParaRPr lang="en-US" dirty="0"/>
          </a:p>
          <a:p>
            <a:r>
              <a:rPr lang="zh-CN" altLang="en-US" dirty="0"/>
              <a:t>实验仪器测到的通常不是三维构象本身，而是一条曲线、一个效率值或一组残基级数值。因此，必须把模型生成的三维构象“翻译”成实验能够测到的信号。</a:t>
            </a:r>
          </a:p>
          <a:p>
            <a:r>
              <a:rPr lang="zh-CN" altLang="en-US" dirty="0"/>
              <a:t>这个“从结构计算实验信号”的程序，就是</a:t>
            </a:r>
            <a:r>
              <a:rPr lang="en-US" altLang="zh-CN" dirty="0"/>
              <a:t>forward model</a:t>
            </a:r>
            <a:r>
              <a:rPr lang="zh-CN" altLang="en-US" dirty="0"/>
              <a:t>。</a:t>
            </a:r>
            <a:endParaRPr dirty="0"/>
          </a:p>
          <a:p>
            <a:r>
              <a:rPr lang="zh-CN" altLang="en-US" dirty="0"/>
              <a:t>“</a:t>
            </a:r>
            <a:r>
              <a:rPr lang="en-US" altLang="zh-CN" dirty="0"/>
              <a:t>held-out</a:t>
            </a:r>
            <a:r>
              <a:rPr lang="zh-CN" altLang="en-US" dirty="0"/>
              <a:t>公开数据”不是一种特殊实验，而是指：</a:t>
            </a:r>
          </a:p>
          <a:p>
            <a:r>
              <a:rPr lang="zh-CN" altLang="en-US" dirty="0"/>
              <a:t>数据已经公开，但在模型训练、调参、筛选和重加权过程中完全没有使用，只在模型确定以后用于最终考试。</a:t>
            </a:r>
            <a:endParaRPr dirty="0"/>
          </a:p>
          <a:p>
            <a:r>
              <a:rPr dirty="0"/>
              <a:t>需要特别注意三点。第一，几何合理性、参考模拟一致性和实验一致性代表三个不同的证据等级：几何检查只能排除“不像蛋白”的结构，参考模拟只能说明与某种力场或生成器一致，只有 held-out 实验数据才能提供外部验证。第二，开发集可以用于选择参数和 forward model，测试集只能用于最终评分，不能根据测试结果反复调整 ensemble 权重，否则得到的只是拟合效果，而不是泛化能力。第三，不同 ensemble 可能产生相似的实验观测，单一实验不能唯一确定 ensemble，应尽量使用多种互补观测。</a:t>
            </a:r>
          </a:p>
          <a:p>
            <a:endParaRPr dirty="0"/>
          </a:p>
          <a:p>
            <a:r>
              <a:rPr dirty="0"/>
              <a:t>因此本页结论只能限定为“与公开独立数据一致”，不能只根据结构图或参考模拟宣称 ensemble 真实准确。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13</a:t>
            </a:r>
            <a:r>
              <a:rPr lang="zh-CN" altLang="en-US" dirty="0"/>
              <a:t>页 </a:t>
            </a:r>
            <a:r>
              <a:rPr lang="en-US" altLang="zh-CN" dirty="0" err="1"/>
              <a:t>LLPSense</a:t>
            </a:r>
            <a:r>
              <a:rPr lang="zh-CN" altLang="en-US" dirty="0"/>
              <a:t>：不仅预测相分离，还验证了“条件依赖”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（翻页）</a:t>
            </a:r>
          </a:p>
          <a:p>
            <a:r>
              <a:rPr lang="zh-CN" altLang="en-US" dirty="0"/>
              <a:t>前面我们了解了如何用</a:t>
            </a:r>
            <a:r>
              <a:rPr lang="en-US" altLang="zh-CN" dirty="0"/>
              <a:t>AI</a:t>
            </a:r>
            <a:r>
              <a:rPr lang="zh-CN" altLang="en-US" dirty="0"/>
              <a:t>生成</a:t>
            </a:r>
            <a:r>
              <a:rPr lang="en-US" altLang="zh-CN" dirty="0"/>
              <a:t>IDR</a:t>
            </a:r>
            <a:r>
              <a:rPr lang="zh-CN" altLang="en-US" dirty="0"/>
              <a:t>蛋白的构象系综。接下来我们看相分离预测模型</a:t>
            </a:r>
            <a:r>
              <a:rPr lang="en-US" altLang="zh-CN" dirty="0" err="1"/>
              <a:t>LLPSense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传统的相分离预测大多只依靠蛋白氨基酸序列做判断。但液液相分离高度依赖外界环境，同一个蛋白，温度、盐浓度、</a:t>
            </a:r>
            <a:r>
              <a:rPr lang="en-US" altLang="zh-CN" dirty="0"/>
              <a:t>pH</a:t>
            </a:r>
            <a:r>
              <a:rPr lang="zh-CN" altLang="en-US" dirty="0"/>
              <a:t>、拥挤条件改变，相分离行为就会完全不一样，仅仅依靠序列无法解释这种条件依赖现象。</a:t>
            </a:r>
          </a:p>
          <a:p>
            <a:r>
              <a:rPr lang="zh-CN" altLang="en-US" dirty="0"/>
              <a:t> </a:t>
            </a:r>
          </a:p>
          <a:p>
            <a:r>
              <a:rPr lang="en-US" altLang="zh-CN" dirty="0" err="1"/>
              <a:t>LLPSense</a:t>
            </a:r>
            <a:r>
              <a:rPr lang="zh-CN" altLang="en-US" dirty="0"/>
              <a:t>的创新，就是将蛋白序列和环境条件共同作为模型输入。它使用</a:t>
            </a:r>
            <a:r>
              <a:rPr lang="en-US" altLang="zh-CN" dirty="0"/>
              <a:t>ProtT5</a:t>
            </a:r>
            <a:r>
              <a:rPr lang="zh-CN" altLang="en-US" dirty="0"/>
              <a:t>提取蛋白序列特征，同时把温度、盐浓度、</a:t>
            </a:r>
            <a:r>
              <a:rPr lang="en-US" altLang="zh-CN" dirty="0"/>
              <a:t>pH</a:t>
            </a:r>
            <a:r>
              <a:rPr lang="zh-CN" altLang="en-US" dirty="0"/>
              <a:t>等环境变量纳入，利用</a:t>
            </a:r>
            <a:r>
              <a:rPr lang="en-US" altLang="zh-CN" dirty="0" err="1"/>
              <a:t>XGBoost</a:t>
            </a:r>
            <a:r>
              <a:rPr lang="zh-CN" altLang="en-US" dirty="0"/>
              <a:t>输出特定条件下蛋白发生</a:t>
            </a:r>
            <a:r>
              <a:rPr lang="en-US" altLang="zh-CN" dirty="0"/>
              <a:t>LLPS</a:t>
            </a:r>
            <a:r>
              <a:rPr lang="zh-CN" altLang="en-US" dirty="0"/>
              <a:t>的概率；评测时按照同源簇划分数据集，避免同源信息泄露，保证模型对未知蛋白的泛化能力。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通过</a:t>
            </a:r>
            <a:r>
              <a:rPr lang="en-US" altLang="zh-CN" dirty="0" err="1"/>
              <a:t>LLPSense</a:t>
            </a:r>
            <a:r>
              <a:rPr lang="zh-CN" altLang="en-US" dirty="0"/>
              <a:t>做温度扫描筛选，一个有意思的结果出现：原来数据集里一部分被判定为非相分离的负样本蛋白，其中</a:t>
            </a:r>
            <a:r>
              <a:rPr lang="en-US" altLang="zh-CN" dirty="0"/>
              <a:t>16.4%</a:t>
            </a:r>
            <a:r>
              <a:rPr lang="zh-CN" altLang="en-US" dirty="0"/>
              <a:t>实际是温度依赖型相分离蛋白，只是在原有实验条件下没有表现出相分离。</a:t>
            </a:r>
          </a:p>
          <a:p>
            <a:r>
              <a:rPr lang="zh-CN" altLang="en-US" dirty="0"/>
              <a:t> </a:t>
            </a:r>
          </a:p>
          <a:p>
            <a:r>
              <a:rPr lang="en-US" altLang="zh-CN" dirty="0"/>
              <a:t>SGTA</a:t>
            </a:r>
            <a:r>
              <a:rPr lang="zh-CN" altLang="en-US" dirty="0"/>
              <a:t>就是代表性蛋白。像</a:t>
            </a:r>
            <a:r>
              <a:rPr lang="en-US" altLang="zh-CN" dirty="0"/>
              <a:t>SS18</a:t>
            </a:r>
            <a:r>
              <a:rPr lang="zh-CN" altLang="en-US" dirty="0"/>
              <a:t>、</a:t>
            </a:r>
            <a:r>
              <a:rPr lang="en-US" altLang="zh-CN" dirty="0"/>
              <a:t>FOXP2</a:t>
            </a:r>
            <a:r>
              <a:rPr lang="zh-CN" altLang="en-US" dirty="0"/>
              <a:t>这类普通相分离蛋白，温度升高，相分离概率单调下降；但</a:t>
            </a:r>
            <a:r>
              <a:rPr lang="en-US" altLang="zh-CN" dirty="0"/>
              <a:t>SGTA</a:t>
            </a:r>
            <a:r>
              <a:rPr lang="zh-CN" altLang="en-US" dirty="0"/>
              <a:t>呈现非单调温度响应，相分离概率先降低，高温条件下又重新上升。后续的浊度测定和显微成像实验，也在体外复现了</a:t>
            </a:r>
            <a:r>
              <a:rPr lang="en-US" altLang="zh-CN" dirty="0"/>
              <a:t>SGTA</a:t>
            </a:r>
            <a:r>
              <a:rPr lang="zh-CN" altLang="en-US" dirty="0"/>
              <a:t>这种特殊的温度</a:t>
            </a:r>
            <a:r>
              <a:rPr lang="en-US" altLang="zh-CN" dirty="0"/>
              <a:t>‑</a:t>
            </a:r>
            <a:r>
              <a:rPr lang="zh-CN" altLang="en-US" dirty="0"/>
              <a:t>浓度依赖相分离行为。论文还证明，可以通过突变改造蛋白的温度响应特性。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当然模型也存在局限：</a:t>
            </a:r>
            <a:r>
              <a:rPr lang="en-US" altLang="zh-CN" dirty="0" err="1"/>
              <a:t>LLPSense</a:t>
            </a:r>
            <a:r>
              <a:rPr lang="zh-CN" altLang="en-US" dirty="0"/>
              <a:t>并没有显式建模构象系综，因此无法完整解释“构象系综</a:t>
            </a:r>
            <a:r>
              <a:rPr lang="en-US" altLang="zh-CN" dirty="0"/>
              <a:t>‑</a:t>
            </a:r>
            <a:r>
              <a:rPr lang="zh-CN" altLang="en-US" dirty="0"/>
              <a:t>分子相互作用</a:t>
            </a:r>
            <a:r>
              <a:rPr lang="en-US" altLang="zh-CN" dirty="0"/>
              <a:t>‑</a:t>
            </a:r>
            <a:r>
              <a:rPr lang="zh-CN" altLang="en-US" dirty="0"/>
              <a:t>相分离”这一套底层机制链条。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（过渡，准备翻</a:t>
            </a:r>
            <a:r>
              <a:rPr lang="en-US" altLang="zh-CN" dirty="0"/>
              <a:t>14</a:t>
            </a:r>
            <a:r>
              <a:rPr lang="zh-CN" altLang="en-US" dirty="0"/>
              <a:t>页）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当我们可以实现条件依赖的相分离预测之后，研究就不再局限于预测，我们可以向前走一步，做分子工程设计，主动干预凝聚体。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页 从“预测相分离”到“设计干预分子”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页 从“预测相分离”到“设计干预分子”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（翻页）</a:t>
            </a:r>
          </a:p>
          <a:p>
            <a:r>
              <a:rPr lang="zh-CN" altLang="en-US" dirty="0"/>
              <a:t>在相分离这个方向有两条研究路线：第一条是继续优化预测模型，引入构象系综来完善机制解释；第二条就是直接走向工程设计。本篇工作选择了后者。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目标不再是判断蛋白会不会发生相分离，而是从头设计多肽分子，人为调控凝聚体的空间组织。</a:t>
            </a:r>
          </a:p>
          <a:p>
            <a:r>
              <a:rPr lang="zh-CN" altLang="en-US" dirty="0"/>
              <a:t>具体的设计目标：希望多肽不进入凝聚体液滴内部，而是优先富集在凝聚体与水溶液的交界面。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研究把这个物理目标转化成两个可定量计算的指标：</a:t>
            </a:r>
          </a:p>
          <a:p>
            <a:r>
              <a:rPr lang="zh-CN" altLang="en-US" dirty="0"/>
              <a:t>一个是</a:t>
            </a:r>
            <a:r>
              <a:rPr lang="en-US" altLang="zh-CN" dirty="0"/>
              <a:t>P_{int}</a:t>
            </a:r>
            <a:r>
              <a:rPr lang="zh-CN" altLang="en-US" dirty="0"/>
              <a:t>，代表界面定位能力，数值越高代表多肽越倾向停留在界面；</a:t>
            </a:r>
          </a:p>
          <a:p>
            <a:r>
              <a:rPr lang="zh-CN" altLang="en-US" dirty="0"/>
              <a:t>另一个是</a:t>
            </a:r>
            <a:r>
              <a:rPr lang="en-US" altLang="zh-CN" dirty="0"/>
              <a:t>B_2</a:t>
            </a:r>
            <a:r>
              <a:rPr lang="zh-CN" altLang="en-US" dirty="0"/>
              <a:t>，代表多肽自身的同型相互作用。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整套计算流水线是这样：首先确定目标凝聚体体系，生成大量随机多肽，过滤掉容易发生聚集沉淀的序列；依靠高通量分子模拟得到大量样本的</a:t>
            </a:r>
            <a:r>
              <a:rPr lang="en-US" altLang="zh-CN" dirty="0"/>
              <a:t>P_{int}</a:t>
            </a:r>
            <a:r>
              <a:rPr lang="zh-CN" altLang="en-US" dirty="0"/>
              <a:t>与</a:t>
            </a:r>
            <a:r>
              <a:rPr lang="en-US" altLang="zh-CN" dirty="0"/>
              <a:t>B_2</a:t>
            </a:r>
            <a:r>
              <a:rPr lang="zh-CN" altLang="en-US" dirty="0"/>
              <a:t>；用这些数据训练多输出神经网络，学习氨基酸序列和这两个性质之间的映射；再利用混合整数线性规划</a:t>
            </a:r>
            <a:r>
              <a:rPr lang="en-US" altLang="zh-CN" dirty="0"/>
              <a:t>MILP</a:t>
            </a:r>
            <a:r>
              <a:rPr lang="zh-CN" altLang="en-US" dirty="0"/>
              <a:t>，在巨大的序列空间中搜索帕累托最优候选多肽，最后选出候选序列开展湿实验验证。</a:t>
            </a:r>
          </a:p>
          <a:p>
            <a:r>
              <a:rPr lang="zh-CN" altLang="en-US" dirty="0"/>
              <a:t>简单来说，分子模拟提供数据，神经网络学习规律，数学优化完成序列搜索。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（过渡，准备翻</a:t>
            </a:r>
            <a:r>
              <a:rPr lang="en-US" altLang="zh-CN" dirty="0"/>
              <a:t>15</a:t>
            </a:r>
            <a:r>
              <a:rPr lang="zh-CN" altLang="en-US" dirty="0"/>
              <a:t>页）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经过计算筛选得到多肽</a:t>
            </a:r>
            <a:r>
              <a:rPr lang="en-US" altLang="zh-CN" dirty="0"/>
              <a:t>2</a:t>
            </a:r>
            <a:r>
              <a:rPr lang="zh-CN" altLang="en-US" dirty="0"/>
              <a:t>、多肽</a:t>
            </a:r>
            <a:r>
              <a:rPr lang="en-US" altLang="zh-CN" dirty="0"/>
              <a:t>4</a:t>
            </a:r>
            <a:r>
              <a:rPr lang="zh-CN" altLang="en-US" dirty="0"/>
              <a:t>等候选，接下来通过体外实验检验设计效果。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15</a:t>
            </a:r>
            <a:r>
              <a:rPr lang="zh-CN" altLang="en-US" dirty="0"/>
              <a:t>页 界面多肽：从计算设计到实验验证，形成完整闭环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翻页）</a:t>
            </a:r>
          </a:p>
          <a:p>
            <a:r>
              <a:rPr lang="zh-CN" altLang="en-US" dirty="0"/>
              <a:t>这一页就是候选多肽的体外共聚焦、统计与荧光寿命实验结果。</a:t>
            </a:r>
          </a:p>
          <a:p>
            <a:r>
              <a:rPr lang="zh-CN" altLang="en-US" dirty="0"/>
              <a:t> 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是荧光成像与线扫描结果。多肽</a:t>
            </a:r>
            <a:r>
              <a:rPr lang="en-US" altLang="zh-CN" dirty="0"/>
              <a:t>2</a:t>
            </a:r>
            <a:r>
              <a:rPr lang="zh-CN" altLang="en-US" dirty="0"/>
              <a:t>可以看到液滴外围一圈明显的红色荧光环，线扫描曲线呈现两边高、中间低的双峰，直接证明多肽</a:t>
            </a:r>
            <a:r>
              <a:rPr lang="en-US" altLang="zh-CN" dirty="0"/>
              <a:t>2</a:t>
            </a:r>
            <a:r>
              <a:rPr lang="zh-CN" altLang="en-US" dirty="0"/>
              <a:t>富集在凝聚体界面。作为对照的多肽</a:t>
            </a:r>
            <a:r>
              <a:rPr lang="en-US" altLang="zh-CN" dirty="0"/>
              <a:t>4</a:t>
            </a:r>
            <a:r>
              <a:rPr lang="zh-CN" altLang="en-US" dirty="0"/>
              <a:t>，荧光均匀充满整个液滴，没有界面富集的特性。</a:t>
            </a:r>
          </a:p>
          <a:p>
            <a:r>
              <a:rPr lang="zh-CN" altLang="en-US" dirty="0"/>
              <a:t> 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图是液滴尺寸统计：不加多肽时液滴尺寸偏大；加入多肽</a:t>
            </a:r>
            <a:r>
              <a:rPr lang="en-US" altLang="zh-CN" dirty="0"/>
              <a:t>2</a:t>
            </a:r>
            <a:r>
              <a:rPr lang="zh-CN" altLang="en-US" dirty="0"/>
              <a:t>之后液滴显著变小，多肽</a:t>
            </a:r>
            <a:r>
              <a:rPr lang="en-US" altLang="zh-CN" dirty="0"/>
              <a:t>2</a:t>
            </a:r>
            <a:r>
              <a:rPr lang="zh-CN" altLang="en-US" dirty="0"/>
              <a:t>发挥类似表面活性剂的作用，降低界面张力，抑制液滴融合；而多肽</a:t>
            </a:r>
            <a:r>
              <a:rPr lang="en-US" altLang="zh-CN" dirty="0"/>
              <a:t>4</a:t>
            </a:r>
            <a:r>
              <a:rPr lang="zh-CN" altLang="en-US" dirty="0"/>
              <a:t>对液滴大小几乎没有影响。</a:t>
            </a:r>
          </a:p>
          <a:p>
            <a:r>
              <a:rPr lang="zh-CN" altLang="en-US" dirty="0"/>
              <a:t> </a:t>
            </a:r>
          </a:p>
          <a:p>
            <a:r>
              <a:rPr lang="en-US" altLang="zh-CN" dirty="0"/>
              <a:t>D</a:t>
            </a:r>
            <a:r>
              <a:rPr lang="zh-CN" altLang="en-US" dirty="0"/>
              <a:t>图的荧光寿命用来表征凝聚体内部蛋白微环境。加入多肽</a:t>
            </a:r>
            <a:r>
              <a:rPr lang="en-US" altLang="zh-CN" dirty="0"/>
              <a:t>2</a:t>
            </a:r>
            <a:r>
              <a:rPr lang="zh-CN" altLang="en-US" dirty="0"/>
              <a:t>前后，两种探针的荧光寿命几乎没有变化。这就说明多肽</a:t>
            </a:r>
            <a:r>
              <a:rPr lang="en-US" altLang="zh-CN" dirty="0"/>
              <a:t>2</a:t>
            </a:r>
            <a:r>
              <a:rPr lang="zh-CN" altLang="en-US" dirty="0"/>
              <a:t>只作用在液滴表面，不会干扰凝聚体内部蛋白的相互作用。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论文给出三条核心证据：第一，多肽</a:t>
            </a:r>
            <a:r>
              <a:rPr lang="en-US" altLang="zh-CN" dirty="0"/>
              <a:t>2</a:t>
            </a:r>
            <a:r>
              <a:rPr lang="zh-CN" altLang="en-US" dirty="0"/>
              <a:t>的界面富集现象可重复，约</a:t>
            </a:r>
            <a:r>
              <a:rPr lang="en-US" altLang="zh-CN" dirty="0"/>
              <a:t>91%</a:t>
            </a:r>
            <a:r>
              <a:rPr lang="zh-CN" altLang="en-US" dirty="0"/>
              <a:t>凝聚体都能观察到完整界面覆盖；第二，多肽</a:t>
            </a:r>
            <a:r>
              <a:rPr lang="en-US" altLang="zh-CN" dirty="0"/>
              <a:t>2</a:t>
            </a:r>
            <a:r>
              <a:rPr lang="zh-CN" altLang="en-US" dirty="0"/>
              <a:t>可以显著缩小液滴尺寸；第三，该设计具备通用性，在</a:t>
            </a:r>
            <a:r>
              <a:rPr lang="en-US" altLang="zh-CN" dirty="0"/>
              <a:t>hnRNPA1‑LCD</a:t>
            </a:r>
            <a:r>
              <a:rPr lang="zh-CN" altLang="en-US" dirty="0"/>
              <a:t>、</a:t>
            </a:r>
            <a:r>
              <a:rPr lang="en-US" altLang="zh-CN" dirty="0"/>
              <a:t>LAF‑1‑RGG</a:t>
            </a:r>
            <a:r>
              <a:rPr lang="zh-CN" altLang="en-US" dirty="0"/>
              <a:t>、</a:t>
            </a:r>
            <a:r>
              <a:rPr lang="en-US" altLang="zh-CN" dirty="0"/>
              <a:t>DDX4N</a:t>
            </a:r>
            <a:r>
              <a:rPr lang="zh-CN" altLang="en-US" dirty="0"/>
              <a:t>多种凝聚体体系都可以复现效果。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（过渡，准备翻</a:t>
            </a:r>
            <a:r>
              <a:rPr lang="en-US" altLang="zh-CN" dirty="0"/>
              <a:t>16</a:t>
            </a:r>
            <a:r>
              <a:rPr lang="zh-CN" altLang="en-US" dirty="0"/>
              <a:t>页）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整套工作完成了从目标定义到实验验证的完整研究闭环。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16</a:t>
            </a:r>
            <a:r>
              <a:rPr lang="zh-CN" altLang="en-US" dirty="0"/>
              <a:t>页 界面多肽工作闭环总结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788368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16</a:t>
            </a:r>
            <a:r>
              <a:rPr lang="zh-CN" altLang="en-US" dirty="0"/>
              <a:t>页 界面多肽工作闭环总结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（翻页）</a:t>
            </a:r>
          </a:p>
          <a:p>
            <a:r>
              <a:rPr lang="zh-CN" altLang="en-US" dirty="0"/>
              <a:t>我们来梳理这项界面多肽设计的完整闭环链条：</a:t>
            </a:r>
          </a:p>
          <a:p>
            <a:r>
              <a:rPr lang="zh-CN" altLang="en-US" dirty="0"/>
              <a:t>首先定义物理目标，我们想要实现多肽在凝聚体界面定位；</a:t>
            </a:r>
          </a:p>
          <a:p>
            <a:r>
              <a:rPr lang="zh-CN" altLang="en-US" dirty="0"/>
              <a:t>然后通过高通量分子模拟，定量得到多肽的</a:t>
            </a:r>
            <a:r>
              <a:rPr lang="en-US" altLang="zh-CN" dirty="0"/>
              <a:t>P_{int}</a:t>
            </a:r>
            <a:r>
              <a:rPr lang="zh-CN" altLang="en-US" dirty="0"/>
              <a:t>、</a:t>
            </a:r>
            <a:r>
              <a:rPr lang="en-US" altLang="zh-CN" dirty="0"/>
              <a:t>B_2</a:t>
            </a:r>
            <a:r>
              <a:rPr lang="zh-CN" altLang="en-US" dirty="0"/>
              <a:t>性质数据；</a:t>
            </a:r>
          </a:p>
          <a:p>
            <a:r>
              <a:rPr lang="zh-CN" altLang="en-US" dirty="0"/>
              <a:t>接着使用人工智能学习序列</a:t>
            </a:r>
            <a:r>
              <a:rPr lang="en-US" altLang="zh-CN" dirty="0"/>
              <a:t>‑</a:t>
            </a:r>
            <a:r>
              <a:rPr lang="zh-CN" altLang="en-US" dirty="0"/>
              <a:t>性质的映射关系；</a:t>
            </a:r>
          </a:p>
          <a:p>
            <a:r>
              <a:rPr lang="zh-CN" altLang="en-US" dirty="0"/>
              <a:t>再依靠混合整数线性规划做数学优化，筛选帕累托最优的候选多肽序列；</a:t>
            </a:r>
          </a:p>
          <a:p>
            <a:r>
              <a:rPr lang="zh-CN" altLang="en-US" dirty="0"/>
              <a:t>最后通过共聚焦显微镜等湿实验完成验证，并且从中提炼界面多肽的设计规律。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从物理目标，到计算模拟、</a:t>
            </a:r>
            <a:r>
              <a:rPr lang="en-US" altLang="zh-CN" dirty="0"/>
              <a:t>AI</a:t>
            </a:r>
            <a:r>
              <a:rPr lang="zh-CN" altLang="en-US" dirty="0"/>
              <a:t>学习、数学优化，再到湿实验验证，计算与实验相互印证，完成了针对相分离凝聚体的多肽理性设计。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16</a:t>
            </a:r>
            <a:r>
              <a:rPr lang="zh-CN" altLang="en-US" dirty="0"/>
              <a:t>页结束，衔接下一页过渡句）</a:t>
            </a:r>
          </a:p>
          <a:p>
            <a:r>
              <a:rPr lang="zh-CN" altLang="en-US" dirty="0"/>
              <a:t> </a:t>
            </a:r>
          </a:p>
          <a:p>
            <a:r>
              <a:rPr lang="zh-CN" altLang="en-US" dirty="0"/>
              <a:t>讲完相分离的预测和界面多肽设计，接下来我们看另一项更有挑战的任务，针对柔性无序</a:t>
            </a:r>
            <a:r>
              <a:rPr lang="en-US" altLang="zh-CN" dirty="0"/>
              <a:t>IDR</a:t>
            </a:r>
            <a:r>
              <a:rPr lang="zh-CN" altLang="en-US" dirty="0"/>
              <a:t>，从头设计结合蛋白</a:t>
            </a:r>
            <a:r>
              <a:rPr lang="en-US" altLang="zh-CN" dirty="0"/>
              <a:t>binder</a:t>
            </a:r>
            <a:r>
              <a:rPr lang="zh-CN" altLang="en-US" dirty="0"/>
              <a:t>。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088882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 IDR 靶片段设计 binder。</a:t>
            </a:r>
            <a:br>
              <a:rPr lang="en-US" altLang="zh-CN" dirty="0"/>
            </a:br>
            <a:r>
              <a:rPr lang="zh-CN" altLang="en-US" dirty="0"/>
              <a:t>本文没有提出新的扩散理论，而是将</a:t>
            </a:r>
            <a:r>
              <a:rPr lang="en-US" altLang="zh-CN" dirty="0" err="1"/>
              <a:t>RFdiffusion</a:t>
            </a:r>
            <a:r>
              <a:rPr lang="zh-CN" altLang="en-US" dirty="0"/>
              <a:t>的蛋白质刚体扩散框架扩展到坐标未知的柔性</a:t>
            </a:r>
            <a:r>
              <a:rPr lang="en-US" altLang="zh-CN" dirty="0"/>
              <a:t>IDR</a:t>
            </a:r>
            <a:r>
              <a:rPr lang="zh-CN" altLang="en-US" dirty="0"/>
              <a:t>靶标，使靶标结合态构象与</a:t>
            </a:r>
            <a:r>
              <a:rPr lang="en-US" altLang="zh-CN" dirty="0"/>
              <a:t>binder</a:t>
            </a:r>
            <a:r>
              <a:rPr lang="zh-CN" altLang="en-US" dirty="0"/>
              <a:t>骨架能够联合生成。</a:t>
            </a:r>
            <a:br>
              <a:rPr lang="en-US" altLang="zh-CN" dirty="0"/>
            </a:br>
            <a:r>
              <a:rPr lang="zh-CN" altLang="en-US" dirty="0"/>
              <a:t>图</a:t>
            </a:r>
            <a:r>
              <a:rPr lang="en-US" altLang="zh-CN" dirty="0"/>
              <a:t>A</a:t>
            </a:r>
            <a:r>
              <a:rPr lang="zh-CN" altLang="en-US" dirty="0"/>
              <a:t>展示的是扩散模型生成蛋白质骨架的基本过程。</a:t>
            </a:r>
          </a:p>
          <a:p>
            <a:r>
              <a:rPr lang="zh-CN" altLang="en-US" dirty="0"/>
              <a:t>最左侧表示生成起点：模型从先验分布中随机采样一个高噪声结构。这里随机的是各个残基在三维空间中的位置和朝向，并不是给氨基酸序列加噪。</a:t>
            </a:r>
          </a:p>
          <a:p>
            <a:r>
              <a:rPr lang="zh-CN" altLang="en-US" dirty="0"/>
              <a:t>进入第 </a:t>
            </a:r>
            <a:r>
              <a:rPr lang="en-US" altLang="zh-CN" dirty="0"/>
              <a:t>t </a:t>
            </a:r>
            <a:r>
              <a:rPr lang="zh-CN" altLang="en-US" dirty="0"/>
              <a:t>步后，</a:t>
            </a:r>
            <a:r>
              <a:rPr lang="en-US" altLang="zh-CN" dirty="0" err="1"/>
              <a:t>RFdiffusion</a:t>
            </a:r>
            <a:r>
              <a:rPr lang="zh-CN" altLang="en-US" dirty="0"/>
              <a:t>接收当前带噪结构、时间步以及靶标条件，预测这个结构完全去噪后可能呈现的最终形态。这个预测结果只是模型在当前时刻对最终结构的估计，还不能直接作为输出。</a:t>
            </a:r>
          </a:p>
          <a:p>
            <a:r>
              <a:rPr lang="zh-CN" altLang="en-US" dirty="0"/>
              <a:t>随后，扩散更新过程综合当前带噪结构和预测的干净结构，只去除一部分噪声，得到下一步结构。新的结构再次输入网络，继续进行预测和更新。</a:t>
            </a:r>
          </a:p>
          <a:p>
            <a:r>
              <a:rPr lang="zh-CN" altLang="en-US" dirty="0"/>
              <a:t>随着这个过程反复进行，残基的位置和朝向逐渐从随机状态变得有序，最终形成</a:t>
            </a:r>
            <a:r>
              <a:rPr lang="en-US" altLang="zh-CN" dirty="0"/>
              <a:t>IDR</a:t>
            </a:r>
            <a:r>
              <a:rPr lang="zh-CN" altLang="en-US" dirty="0"/>
              <a:t>的结合态构象以及与它相互匹配的</a:t>
            </a:r>
            <a:r>
              <a:rPr lang="en-US" altLang="zh-CN" dirty="0"/>
              <a:t>binder</a:t>
            </a:r>
            <a:r>
              <a:rPr lang="zh-CN" altLang="en-US" dirty="0"/>
              <a:t>主链结构。</a:t>
            </a:r>
          </a:p>
          <a:p>
            <a:r>
              <a:rPr lang="zh-CN" altLang="en-US" dirty="0"/>
              <a:t>因此，图</a:t>
            </a:r>
            <a:r>
              <a:rPr lang="en-US" altLang="zh-CN" dirty="0"/>
              <a:t>A</a:t>
            </a:r>
            <a:r>
              <a:rPr lang="zh-CN" altLang="en-US" dirty="0"/>
              <a:t>的核心不是“一步预测蛋白质结构”，而是“每一步预测最终结构，再逐步向它靠近”，直到完成整个去噪过程。</a:t>
            </a:r>
            <a:br>
              <a:rPr lang="en-US" altLang="zh-CN" dirty="0"/>
            </a:br>
            <a:r>
              <a:rPr lang="zh-CN" dirty="0"/>
              <a:t>流程是先给出目标氨基酸片段，并可指定候选结合态的二级结构倾向；RFdiffusion 生成与该靶片段兼容的 binder 主链和复合物构象；ProteinMPNN 根据主链设计 binder 序列；AlphaFold 用于筛选单体是否稳定、复合物是否保持预期界面；</a:t>
            </a:r>
            <a:endParaRPr lang="en-US" altLang="zh-CN" dirty="0"/>
          </a:p>
          <a:p>
            <a:r>
              <a:rPr lang="zh-CN" altLang="en-US" dirty="0"/>
              <a:t>不足：</a:t>
            </a:r>
            <a:endParaRPr lang="en-US" altLang="zh-CN" dirty="0"/>
          </a:p>
          <a:p>
            <a:r>
              <a:rPr lang="zh-CN" altLang="en-US" dirty="0"/>
              <a:t>因此，它对高度不规则、富含</a:t>
            </a:r>
            <a:r>
              <a:rPr lang="en-US" altLang="zh-CN" dirty="0"/>
              <a:t>loop</a:t>
            </a:r>
            <a:r>
              <a:rPr lang="zh-CN" altLang="en-US" dirty="0"/>
              <a:t>、极度柔性或缺少二级结构倾向的</a:t>
            </a:r>
            <a:r>
              <a:rPr lang="en-US" altLang="zh-CN" dirty="0"/>
              <a:t>IDR</a:t>
            </a:r>
            <a:r>
              <a:rPr lang="zh-CN" altLang="en-US" dirty="0"/>
              <a:t>可能效果较弱。例如</a:t>
            </a:r>
            <a:r>
              <a:rPr lang="en-US" altLang="zh-CN" dirty="0"/>
              <a:t>FUS</a:t>
            </a:r>
            <a:r>
              <a:rPr lang="zh-CN" altLang="en-US" dirty="0"/>
              <a:t>目标中测试</a:t>
            </a:r>
            <a:r>
              <a:rPr lang="en-US" altLang="zh-CN" dirty="0"/>
              <a:t>94</a:t>
            </a:r>
            <a:r>
              <a:rPr lang="zh-CN" altLang="en-US" dirty="0"/>
              <a:t>个设计，只有</a:t>
            </a:r>
            <a:r>
              <a:rPr lang="en-US" altLang="zh-CN" dirty="0"/>
              <a:t>3</a:t>
            </a:r>
            <a:r>
              <a:rPr lang="zh-CN" altLang="en-US" dirty="0"/>
              <a:t>个表现出结合，最佳亲和力约</a:t>
            </a:r>
            <a:r>
              <a:rPr lang="en-US" altLang="zh-CN" dirty="0"/>
              <a:t>520 </a:t>
            </a:r>
            <a:r>
              <a:rPr lang="en-US" altLang="zh-CN" dirty="0" err="1"/>
              <a:t>nM</a:t>
            </a:r>
            <a:r>
              <a:rPr lang="zh-CN" altLang="en-US" dirty="0"/>
              <a:t>。</a:t>
            </a:r>
          </a:p>
          <a:p>
            <a:r>
              <a:rPr lang="en-US" altLang="zh-CN" b="1" dirty="0"/>
              <a:t>2. </a:t>
            </a:r>
            <a:r>
              <a:rPr lang="zh-CN" altLang="en-US" b="1" dirty="0"/>
              <a:t>需要生成和筛选大量候选</a:t>
            </a:r>
          </a:p>
          <a:p>
            <a:r>
              <a:rPr lang="zh-CN" altLang="en-US" dirty="0"/>
              <a:t>每个</a:t>
            </a:r>
            <a:r>
              <a:rPr lang="en-US" altLang="zh-CN" dirty="0"/>
              <a:t>target</a:t>
            </a:r>
            <a:r>
              <a:rPr lang="zh-CN" altLang="en-US" dirty="0"/>
              <a:t>通常需要生成约</a:t>
            </a:r>
            <a:r>
              <a:rPr lang="en-US" altLang="zh-CN" dirty="0"/>
              <a:t>10,000–50,000</a:t>
            </a:r>
            <a:r>
              <a:rPr lang="zh-CN" altLang="en-US" dirty="0"/>
              <a:t>个设计，再经过</a:t>
            </a:r>
            <a:r>
              <a:rPr lang="en-US" altLang="zh-CN" dirty="0" err="1"/>
              <a:t>ProteinMPNN</a:t>
            </a:r>
            <a:r>
              <a:rPr lang="zh-CN" altLang="en-US" dirty="0"/>
              <a:t>、</a:t>
            </a:r>
            <a:r>
              <a:rPr lang="en-US" altLang="zh-CN" dirty="0"/>
              <a:t>AF2</a:t>
            </a:r>
            <a:r>
              <a:rPr lang="zh-CN" altLang="en-US" dirty="0"/>
              <a:t>和</a:t>
            </a:r>
            <a:r>
              <a:rPr lang="en-US" altLang="zh-CN" dirty="0"/>
              <a:t>Rosetta</a:t>
            </a:r>
            <a:r>
              <a:rPr lang="zh-CN" altLang="en-US" dirty="0"/>
              <a:t>筛选，最后选择</a:t>
            </a:r>
            <a:r>
              <a:rPr lang="en-US" altLang="zh-CN" dirty="0"/>
              <a:t>48–96</a:t>
            </a:r>
            <a:r>
              <a:rPr lang="zh-CN" altLang="en-US" dirty="0"/>
              <a:t>个进行实验。</a:t>
            </a:r>
          </a:p>
          <a:p>
            <a:r>
              <a:rPr lang="zh-CN" altLang="en-US" dirty="0"/>
              <a:t>这说明：</a:t>
            </a:r>
          </a:p>
          <a:p>
            <a:r>
              <a:rPr lang="zh-CN" altLang="en-US" dirty="0"/>
              <a:t>现有计算评分还不能准确判断哪个设计一定会结合。</a:t>
            </a:r>
          </a:p>
          <a:p>
            <a:r>
              <a:rPr lang="zh-CN" altLang="en-US" dirty="0"/>
              <a:t>论文证明了“大规模生成加实验筛选”能够找到</a:t>
            </a:r>
            <a:r>
              <a:rPr lang="en-US" altLang="zh-CN" dirty="0"/>
              <a:t>binder</a:t>
            </a:r>
            <a:r>
              <a:rPr lang="zh-CN" altLang="en-US" dirty="0"/>
              <a:t>，但没有证明计算评分可以准确预测实验成功率。</a:t>
            </a:r>
            <a:endParaRPr lang="en-US" altLang="zh-CN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长蛋白不等于靶向整个长</a:t>
            </a:r>
            <a:r>
              <a:rPr lang="en-US" altLang="zh-CN" b="1" dirty="0"/>
              <a:t>IDR</a:t>
            </a:r>
          </a:p>
          <a:p>
            <a:r>
              <a:rPr lang="zh-CN" altLang="en-US" dirty="0"/>
              <a:t>例如</a:t>
            </a:r>
            <a:r>
              <a:rPr lang="en-US" altLang="zh-CN" dirty="0"/>
              <a:t>BRCA1_ARATH</a:t>
            </a:r>
            <a:r>
              <a:rPr lang="zh-CN" altLang="en-US" dirty="0"/>
              <a:t>有</a:t>
            </a:r>
            <a:r>
              <a:rPr lang="en-US" altLang="zh-CN" dirty="0"/>
              <a:t>941</a:t>
            </a:r>
            <a:r>
              <a:rPr lang="zh-CN" altLang="en-US" dirty="0"/>
              <a:t>个残基，但论文实际靶向的是其中</a:t>
            </a:r>
            <a:r>
              <a:rPr lang="en-US" altLang="zh-CN" dirty="0"/>
              <a:t>21</a:t>
            </a:r>
            <a:r>
              <a:rPr lang="zh-CN" altLang="en-US" dirty="0"/>
              <a:t>个残基的片段。</a:t>
            </a:r>
          </a:p>
          <a:p>
            <a:r>
              <a:rPr lang="zh-CN" altLang="en-US" dirty="0"/>
              <a:t>所以论文证明的是：</a:t>
            </a:r>
          </a:p>
          <a:p>
            <a:r>
              <a:rPr lang="zh-CN" altLang="en-US" dirty="0"/>
              <a:t>可以从长</a:t>
            </a:r>
            <a:r>
              <a:rPr lang="en-US" altLang="zh-CN" dirty="0"/>
              <a:t>IDP</a:t>
            </a:r>
            <a:r>
              <a:rPr lang="zh-CN" altLang="en-US" dirty="0"/>
              <a:t>中选择一段短区域进行</a:t>
            </a:r>
            <a:r>
              <a:rPr lang="en-US" altLang="zh-CN" dirty="0"/>
              <a:t>binder</a:t>
            </a:r>
            <a:r>
              <a:rPr lang="zh-CN" altLang="en-US" dirty="0"/>
              <a:t>设计。</a:t>
            </a:r>
          </a:p>
          <a:p>
            <a:r>
              <a:rPr lang="zh-CN" altLang="en-US" dirty="0"/>
              <a:t>没有证明一个</a:t>
            </a:r>
            <a:r>
              <a:rPr lang="en-US" altLang="zh-CN" dirty="0"/>
              <a:t>binder</a:t>
            </a:r>
            <a:r>
              <a:rPr lang="zh-CN" altLang="en-US" dirty="0"/>
              <a:t>能够识别整条长</a:t>
            </a:r>
            <a:r>
              <a:rPr lang="en-US" altLang="zh-CN" dirty="0"/>
              <a:t>IDP</a:t>
            </a:r>
            <a:r>
              <a:rPr lang="zh-CN" altLang="en-US" dirty="0"/>
              <a:t>的所有构象，也没有证明方法能够自动选择最适合靶向的片段。</a:t>
            </a:r>
          </a:p>
          <a:p>
            <a:endParaRPr lang="zh-CN" altLang="en-US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A3EC5-3C1C-907A-F884-2511832FB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E0893-8A80-977C-801E-16B041960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C6C4E-7E8B-3B6C-6163-58E047259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nM</a:t>
            </a:r>
            <a:r>
              <a:rPr lang="zh-CN" altLang="en-US" dirty="0"/>
              <a:t>读纳摩尔每升</a:t>
            </a:r>
            <a:endParaRPr lang="en-US" altLang="zh-CN" dirty="0"/>
          </a:p>
          <a:p>
            <a:r>
              <a:rPr lang="en-US" altLang="zh-CN" dirty="0"/>
              <a:t>Figure 2A</a:t>
            </a:r>
            <a:r>
              <a:rPr lang="zh-CN" altLang="en-US" dirty="0"/>
              <a:t>上方是模型生成的</a:t>
            </a:r>
            <a:r>
              <a:rPr lang="en-US" altLang="zh-CN" dirty="0"/>
              <a:t>amylin</a:t>
            </a:r>
            <a:r>
              <a:rPr lang="zh-CN" altLang="en-US" dirty="0"/>
              <a:t>与</a:t>
            </a:r>
            <a:r>
              <a:rPr lang="en-US" altLang="zh-CN" dirty="0"/>
              <a:t>binder</a:t>
            </a:r>
            <a:r>
              <a:rPr lang="zh-CN" altLang="en-US" dirty="0"/>
              <a:t>复合物。蓝色是</a:t>
            </a:r>
            <a:r>
              <a:rPr lang="en-US" altLang="zh-CN" dirty="0"/>
              <a:t>amylin</a:t>
            </a:r>
            <a:r>
              <a:rPr lang="zh-CN" altLang="en-US" dirty="0"/>
              <a:t>，粉色是设计</a:t>
            </a:r>
            <a:r>
              <a:rPr lang="en-US" altLang="zh-CN" dirty="0"/>
              <a:t>binder</a:t>
            </a:r>
            <a:r>
              <a:rPr lang="zh-CN" altLang="en-US" dirty="0"/>
              <a:t>，模型将柔性的</a:t>
            </a:r>
            <a:r>
              <a:rPr lang="en-US" altLang="zh-CN" dirty="0"/>
              <a:t>amylin</a:t>
            </a:r>
            <a:r>
              <a:rPr lang="zh-CN" altLang="en-US" dirty="0"/>
              <a:t>稳定在一个包含</a:t>
            </a:r>
            <a:r>
              <a:rPr lang="en-US" altLang="zh-CN" dirty="0"/>
              <a:t>α</a:t>
            </a:r>
            <a:r>
              <a:rPr lang="zh-CN" altLang="en-US" dirty="0"/>
              <a:t>和</a:t>
            </a:r>
            <a:r>
              <a:rPr lang="en-US" altLang="zh-CN" dirty="0"/>
              <a:t>β</a:t>
            </a:r>
            <a:r>
              <a:rPr lang="zh-CN" altLang="en-US" dirty="0"/>
              <a:t>局部结构的特定结合态，同时保留了关键二硫键。下方通过四种</a:t>
            </a:r>
            <a:r>
              <a:rPr lang="en-US" altLang="zh-CN" dirty="0"/>
              <a:t>binder</a:t>
            </a:r>
            <a:r>
              <a:rPr lang="zh-CN" altLang="en-US" dirty="0"/>
              <a:t>浓度的</a:t>
            </a:r>
            <a:r>
              <a:rPr lang="en-US" altLang="zh-CN" dirty="0"/>
              <a:t>BLI</a:t>
            </a:r>
            <a:r>
              <a:rPr lang="zh-CN" altLang="en-US" dirty="0"/>
              <a:t>实验验证结合，曲线上升表示结合、下降表示解离。</a:t>
            </a:r>
            <a:br>
              <a:rPr lang="en-US" altLang="zh-CN" dirty="0"/>
            </a:br>
            <a:r>
              <a:rPr lang="zh-CN" altLang="en-US" dirty="0"/>
              <a:t>作者做的实验是先把这些</a:t>
            </a:r>
            <a:r>
              <a:rPr lang="en-US" altLang="zh-CN" dirty="0"/>
              <a:t>Target</a:t>
            </a:r>
            <a:r>
              <a:rPr lang="zh-CN" altLang="en-US" dirty="0"/>
              <a:t>放入不同浓度的含有</a:t>
            </a:r>
            <a:r>
              <a:rPr lang="en-US" altLang="zh-CN" dirty="0"/>
              <a:t>binder</a:t>
            </a:r>
            <a:r>
              <a:rPr lang="zh-CN" altLang="en-US" dirty="0"/>
              <a:t>溶液中，后面下降越慢说明结合越紧密。</a:t>
            </a:r>
            <a:br>
              <a:rPr lang="en-US" altLang="zh-CN" dirty="0"/>
            </a:br>
            <a:r>
              <a:rPr lang="zh-CN" altLang="en-US" dirty="0"/>
              <a:t>多个浓度的全局拟合得到</a:t>
            </a:r>
            <a:r>
              <a:rPr lang="en-US" altLang="zh-CN" dirty="0"/>
              <a:t>3.8</a:t>
            </a:r>
            <a:r>
              <a:rPr lang="zh-CN" altLang="en-US" dirty="0"/>
              <a:t>纳摩尔的解离常数，证明该设计具有较强的实际亲和力。但这只能验证两者确实结合，不能单独证明计算预测的结合姿势以及自由态构象概率完全正确。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7276942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2235C-28B1-9713-A17A-3959C47A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645C5-900A-AD14-B0DA-9746EB1F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E3001-6FA0-9C2C-A2B3-B4CA0FD10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总结来看，这篇论文最大的贡献，是把基于结构的 binder 设计从固定靶标扩展到了柔性 IDR。模型只需要靶标序列，就能联合生成靶标结合态和 binder，并通过二级结构条件和双向部分扩散进一步优化。实验上，代表性设计获得了纳摩尔级亲和力、晶体结构以及细胞功能验证。</a:t>
            </a:r>
          </a:p>
          <a:p>
            <a:endParaRPr dirty="0"/>
          </a:p>
          <a:p>
            <a:r>
              <a:rPr dirty="0"/>
              <a:t>但是，模型直接围绕一个生成的结合态进行设计，没有显式考虑靶标的自由态 ensemble，因此不知道该结合态原本是否容易出现、需要多大的构象重组代价。另外它主要针对单一结合态，能否结合多个构象、只选择特定功能状态、应对环境引起的构象变化，都还不清楚；每个靶标仍然需要生成大量候选，再经过 ProteinMPNN、AF2 和实验筛选，模型还无法预判哪些候选最终会成功。</a:t>
            </a:r>
          </a:p>
          <a:p>
            <a:r>
              <a:rPr lang="zh-CN" altLang="en-US" dirty="0"/>
              <a:t>之后是对未来的展望，一共有三个方面</a:t>
            </a:r>
            <a:endParaRPr lang="en-US" altLang="zh-CN" dirty="0"/>
          </a:p>
          <a:p>
            <a:r>
              <a:rPr lang="zh-CN" altLang="en-US" dirty="0"/>
              <a:t>首先是。。。</a:t>
            </a:r>
            <a:endParaRPr lang="en-US" altLang="zh-CN" dirty="0"/>
          </a:p>
          <a:p>
            <a:r>
              <a:rPr lang="zh-CN" altLang="en-US" dirty="0"/>
              <a:t>其次是多构象与状态选择性设计，首先多构象就是某一个类型的构象共用一个</a:t>
            </a:r>
            <a:r>
              <a:rPr lang="en-US" altLang="zh-CN" dirty="0"/>
              <a:t>binder</a:t>
            </a:r>
            <a:r>
              <a:rPr lang="zh-CN" altLang="en-US" dirty="0"/>
              <a:t>，其次状态选择就是只结合某一个特定的构象其他的不结合</a:t>
            </a:r>
            <a:endParaRPr dirty="0"/>
          </a:p>
          <a:p>
            <a:r>
              <a:rPr lang="zh-CN" altLang="en-US" dirty="0"/>
              <a:t>我认为</a:t>
            </a:r>
            <a:r>
              <a:rPr dirty="0"/>
              <a:t>，最可行的下一步是把 IDPFold 或 STARLING 生成的自由态 ensemble 接入 binder 筛选，</a:t>
            </a:r>
            <a:r>
              <a:rPr lang="zh-CN" altLang="en-US" dirty="0"/>
              <a:t>之后评价结合态然后去排序</a:t>
            </a:r>
            <a:r>
              <a:rPr dirty="0"/>
              <a:t>。这样做不需要重新训练 RFdiffusion，也不依赖立即开展湿实验，可以先验证自由态 ensemble 是否为 binder 成功率提供额外的预测信息。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8708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序列到</a:t>
            </a:r>
            <a:r>
              <a:rPr lang="en-US" altLang="zh-CN" dirty="0"/>
              <a:t>ensemble</a:t>
            </a:r>
            <a:r>
              <a:rPr lang="zh-CN" altLang="en-US" dirty="0"/>
              <a:t>可做的任务不是一个新的研究，而是一个类似于综述的工作</a:t>
            </a:r>
            <a:endParaRPr lang="en-US" altLang="zh-CN" dirty="0"/>
          </a:p>
          <a:p>
            <a:r>
              <a:rPr lang="zh-CN" altLang="en-US" dirty="0"/>
              <a:t>构象是否可达：某个构象是否有一定的概率</a:t>
            </a:r>
            <a:endParaRPr lang="en-US" altLang="zh-CN" dirty="0"/>
          </a:p>
          <a:p>
            <a:r>
              <a:rPr lang="zh-CN" altLang="en-US" dirty="0"/>
              <a:t>泛化：同一个</a:t>
            </a:r>
            <a:r>
              <a:rPr lang="en-US" altLang="zh-CN" dirty="0"/>
              <a:t>binder</a:t>
            </a:r>
            <a:r>
              <a:rPr lang="zh-CN" altLang="en-US" dirty="0"/>
              <a:t>是否能结合其他相似的</a:t>
            </a:r>
            <a:r>
              <a:rPr lang="en-US" altLang="zh-CN" dirty="0"/>
              <a:t>IDR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9/29/2026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64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9/29/2026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2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汇报人：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武文泽</a:t>
            </a: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、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王莉芬</a:t>
            </a: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、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陈术</a:t>
            </a: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　　时间：2026.</a:t>
            </a:r>
            <a:r>
              <a:rPr 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09</a:t>
            </a: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.</a:t>
            </a:r>
            <a:r>
              <a:rPr 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29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IDP 与 IDR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的区别：</a:t>
            </a:r>
            <a:endParaRPr sz="1600" b="1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578989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84704"/>
            <a:ext cx="4617719" cy="13771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四个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专业术语</a:t>
            </a: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6812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 dirty="0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 dirty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逐构象计算实验可观测量，再按统计权重求平均。所以“模型生成很多结构”并不自动等于得到可信的统计 ensemble。</a:t>
            </a:r>
          </a:p>
        </p:txBody>
      </p:sp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AI–IDP 研究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路径以及一些标准化问题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8" y="148132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IDR</a:t>
            </a: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序列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 dirty="0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38400" y="1462279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binder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加入</a:t>
            </a: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ensemble 能否稳定提升功能预测？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1334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  <p:sp>
        <p:nvSpPr>
          <p:cNvPr id="3" name="TextBox 51">
            <a:extLst>
              <a:ext uri="{FF2B5EF4-FFF2-40B4-BE49-F238E27FC236}">
                <a16:creationId xmlns:a16="http://schemas.microsoft.com/office/drawing/2014/main" id="{CE3397E5-2E58-F32E-462A-4903262974DC}"/>
              </a:ext>
            </a:extLst>
          </p:cNvPr>
          <p:cNvSpPr txBox="1"/>
          <p:nvPr/>
        </p:nvSpPr>
        <p:spPr>
          <a:xfrm>
            <a:off x="4309873" y="226771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725" y="1014730"/>
            <a:ext cx="5927090" cy="4445000"/>
          </a:xfrm>
          <a:prstGeom prst="rect">
            <a:avLst/>
          </a:prstGeom>
        </p:spPr>
      </p:pic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4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从“构象预测”到“序列设计”：两篇工作的互补与研究空白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09600" y="1206500"/>
            <a:ext cx="3540125" cy="300482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zh-CN" sz="24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STARLING 还缺什么？</a:t>
            </a:r>
            <a:endParaRPr lang="zh-CN" altLang="en-US" sz="2400" b="1"/>
          </a:p>
          <a:p>
            <a:pPr>
              <a:spcAft>
                <a:spcPct val="60000"/>
              </a:spcAft>
            </a:pPr>
            <a:r>
              <a:rPr lang="zh-CN" sz="18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预测端不足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环境条件仍有限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粗粒化表示丢失部分细节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实验 </a:t>
            </a:r>
            <a:r>
              <a:rPr lang="en-US" alt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benchmark </a:t>
            </a:r>
            <a:r>
              <a:rPr lang="zh-CN" altLang="en-US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与环境条件覆盖有限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893685" y="1206500"/>
            <a:ext cx="4298315" cy="280860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zh-CN" sz="24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GOOSE 还缺什么？</a:t>
            </a:r>
          </a:p>
          <a:p>
            <a:pPr>
              <a:spcAft>
                <a:spcPct val="60000"/>
              </a:spcAft>
            </a:pPr>
            <a:r>
              <a:rPr lang="zh-CN" sz="18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设计端不足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目标函数依赖已有预测器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“性质可设计” ≠ “功能可直接设计”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功能具有明显 sequence-context dependence</a:t>
            </a:r>
          </a:p>
        </p:txBody>
      </p:sp>
      <p:sp>
        <p:nvSpPr>
          <p:cNvPr id="9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当前研究空白：从“预测—设计”计算闭环进一步走向“设计—实验—学习—再设计”的真实闭环。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585" y="1470660"/>
            <a:ext cx="6488430" cy="3651885"/>
          </a:xfrm>
          <a:prstGeom prst="rect">
            <a:avLst/>
          </a:prstGeom>
        </p:spPr>
      </p:pic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5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IDR 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计算研究：从序列分析走向构象预测与理性设计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0" y="1138555"/>
            <a:ext cx="5143500" cy="1299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Aft>
                <a:spcPct val="60000"/>
              </a:spcAft>
              <a:buClrTx/>
              <a:buSzTx/>
              <a:buFontTx/>
            </a:pPr>
            <a:r>
              <a:rPr lang="zh-CN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① 研究对象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内在无序蛋白区域（IDR）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缺乏唯一稳定三维结构，以动态构象集合存在。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0" y="2562225"/>
                <a:ext cx="5585460" cy="173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Aft>
                    <a:spcPct val="60000"/>
                  </a:spcAft>
                </a:pPr>
                <a:r>
                  <a:rPr lang="zh-CN" b="1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② 现有计算方法的不足</a:t>
                </a: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分子动力学模拟： 能得到构象集合，但计算成本高</a:t>
                </a: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传统深度学习： 多预测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i="1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zh-CN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𝑅</m:t>
                        </m:r>
                      </m:e>
                      <m:sub>
                        <m:r>
                          <a:rPr lang="zh-CN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𝑔</m:t>
                        </m:r>
                      </m:sub>
                    </m:sSub>
                    <m:r>
                      <a:rPr lang="zh-CN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、</m:t>
                    </m:r>
                    <m:sSub>
                      <m:sSubPr>
                        <m:ctrlPr>
                          <a:rPr lang="zh-CN" i="1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zh-CN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𝑅</m:t>
                        </m:r>
                      </m:e>
                      <m:sub>
                        <m:r>
                          <a:rPr lang="zh-CN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等平均性质</a:t>
                </a: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序列设计： 大规模、可控地探索sequence–function仍然困难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62225"/>
                <a:ext cx="5585460" cy="17399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0" y="4618990"/>
            <a:ext cx="6983730" cy="8775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zh-CN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③ 核心问题</a:t>
            </a:r>
          </a:p>
          <a:p>
            <a:pPr>
              <a:spcAft>
                <a:spcPct val="60000"/>
              </a:spcAft>
            </a:pPr>
            <a:r>
              <a:rPr 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如何既能快速理解 IDR 的构象，又能反向设计满足目标性质的 IDR？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6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STARLING：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从平均性质预测走向完整构象集合生成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0" y="1138555"/>
                <a:ext cx="6219825" cy="18522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spcAft>
                    <a:spcPct val="60000"/>
                  </a:spcAft>
                  <a:buClrTx/>
                  <a:buSzTx/>
                  <a:buFontTx/>
                </a:pPr>
                <a:r>
                  <a:rPr lang="zh-CN" b="1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① </a:t>
                </a:r>
                <a:r>
                  <a:rPr lang="zh-CN" altLang="en-US" b="1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现有不足</a:t>
                </a:r>
                <a:endParaRPr lang="zh-CN" b="1">
                  <a:solidFill>
                    <a:srgbClr val="007A3D"/>
                  </a:solidFill>
                  <a:latin typeface="Arial" panose="020B0604020202020204"/>
                  <a:ea typeface="微软雅黑" panose="020B0503020204020204" charset="-122"/>
                </a:endParaRP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分子动力学模拟： 能得到完整 ensemble，但计算成本高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已有深度学习： 多数只预测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𝑔</m:t>
                        </m:r>
                      </m:sub>
                    </m:sSub>
                    <m:r>
                      <a:rPr lang="en-US" altLang="zh-CN" i="1">
                        <a:solidFill>
                          <a:srgbClr val="153A2A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、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153A2A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等平均指标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折叠蛋白结构预测范式： 更适合“单一稳定结构”，不适合 IDR 的多构象特性。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38555"/>
                <a:ext cx="6219825" cy="18522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0" y="3121660"/>
            <a:ext cx="5257800" cy="1219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zh-CN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② </a:t>
            </a:r>
            <a:r>
              <a:rPr lang="zh-CN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 核心问题</a:t>
            </a:r>
          </a:p>
          <a:p>
            <a:pPr indent="0" algn="l">
              <a:lnSpc>
                <a:spcPct val="100000"/>
              </a:lnSpc>
              <a:buClrTx/>
              <a:buSzTx/>
              <a:buNone/>
            </a:pPr>
            <a:r>
              <a:rPr 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能否直接从氨基酸序列，快速生成一组彼此不同、</a:t>
            </a:r>
          </a:p>
          <a:p>
            <a:pPr indent="0" algn="l">
              <a:lnSpc>
                <a:spcPct val="100000"/>
              </a:lnSpc>
              <a:buClrTx/>
              <a:buSzTx/>
              <a:buNone/>
            </a:pPr>
            <a:r>
              <a:rPr 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但都符合该序列物理特征的 IDR 构象？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0" y="4569460"/>
            <a:ext cx="4637405" cy="989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zh-CN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③ 核心创新</a:t>
            </a:r>
            <a:endParaRPr lang="zh-CN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spcAft>
                <a:spcPct val="60000"/>
              </a:spcAft>
            </a:pPr>
            <a:r>
              <a:rPr lang="zh-CN" altLang="en-US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将 </a:t>
            </a:r>
            <a:r>
              <a:rPr lang="en-US" alt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IDR </a:t>
            </a:r>
            <a:r>
              <a:rPr lang="zh-CN" altLang="en-US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构象预测转化为“条件生成”问题</a:t>
            </a:r>
            <a:r>
              <a:rPr lang="en-US" altLang="zh-CN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390" y="3432810"/>
            <a:ext cx="5026025" cy="21996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985" y="1260475"/>
            <a:ext cx="5619750" cy="2266950"/>
          </a:xfrm>
          <a:prstGeom prst="rect">
            <a:avLst/>
          </a:prstGeom>
        </p:spPr>
      </p:pic>
      <p:sp>
        <p:nvSpPr>
          <p:cNvPr id="12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STARLING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的关键变化：从“预测一个数”升级为“生成完整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ensemble”。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7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STARLING：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基于 </a:t>
            </a: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VAE + Latent Diffusion 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的条件生成框架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399540" y="133699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① 数据构建：Sequence → MD → Distance Map</a:t>
            </a:r>
            <a:endParaRPr lang="en-US" altLang="zh-CN" sz="1600"/>
          </a:p>
        </p:txBody>
      </p:sp>
      <p:sp>
        <p:nvSpPr>
          <p:cNvPr id="12" name="文本框 11"/>
          <p:cNvSpPr txBox="1"/>
          <p:nvPr/>
        </p:nvSpPr>
        <p:spPr>
          <a:xfrm>
            <a:off x="6051550" y="1337310"/>
            <a:ext cx="59874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② VAE 压缩：</a:t>
            </a:r>
            <a:r>
              <a:rPr lang="zh-CN" altLang="en-US"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最大 384×384 </a:t>
            </a:r>
            <a:r>
              <a:rPr lang="en-US" altLang="zh-CN"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Distance Map → 24×24 latent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7790" y="4460875"/>
            <a:ext cx="1693545" cy="111061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③ 条件扩散生成：Sequence + Ionic Strength → Conformers</a:t>
            </a:r>
            <a:endParaRPr lang="en-US" altLang="zh-CN" sz="16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530" y="1805940"/>
            <a:ext cx="8786893" cy="43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8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GOOSE：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从正向构象预测转向反向序列设计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09600" y="1174433"/>
            <a:ext cx="5080000" cy="14262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zh-CN" sz="18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现有方法的问题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天然 IDR 中多个性质往往同时变化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难以只改变一个变量做机制验证</a:t>
            </a:r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sz="180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数百～数千条可控序列难以人工设计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2775" y="2992755"/>
            <a:ext cx="5444490" cy="871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ct val="60000"/>
              </a:spcAft>
              <a:buClrTx/>
              <a:buSzTx/>
              <a:buFontTx/>
            </a:pPr>
            <a:r>
              <a:rPr lang="zh-CN" sz="18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核心问题</a:t>
            </a:r>
          </a:p>
          <a:p>
            <a:r>
              <a:rPr lang="zh-CN" altLang="en-US"/>
              <a:t>能否给定目标性质，自动搜索满足条件的 </a:t>
            </a:r>
            <a:r>
              <a:rPr lang="en-US" altLang="zh-CN"/>
              <a:t>IDR </a:t>
            </a:r>
            <a:r>
              <a:rPr lang="zh-CN" altLang="en-US"/>
              <a:t>序列？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12775" y="4146233"/>
                <a:ext cx="5080000" cy="140525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l">
                  <a:spcAft>
                    <a:spcPct val="60000"/>
                  </a:spcAft>
                  <a:buClrTx/>
                  <a:buSzTx/>
                  <a:buFontTx/>
                </a:pPr>
                <a:r>
                  <a:rPr lang="zh-CN" sz="1800" b="1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计算挑战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sup>
                      </m:sSup>
                    </m:oMath>
                  </m:oMathPara>
                </a14:m>
                <a:endParaRPr lang="en-US" altLang="zh-CN" sz="1600"/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 sz="1800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蛋白序列搜索空间巨大，无法穷举。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 sz="1800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需要“生成 + 评估 + 优化”的搜索策略。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75" y="4146233"/>
                <a:ext cx="5080000" cy="1405255"/>
              </a:xfrm>
              <a:prstGeom prst="rect">
                <a:avLst/>
              </a:prstGeom>
              <a:blipFill rotWithShape="1">
                <a:blip r:embed="rId4"/>
                <a:stretch>
                  <a:fillRect t="-23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GOOSE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的核心创新：把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IDR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序列设计转化为一个“可解释、可优化”的搜索问题。</a:t>
            </a:r>
          </a:p>
        </p:txBody>
      </p:sp>
      <p:pic>
        <p:nvPicPr>
          <p:cNvPr id="10" name="图片 9" descr="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265" y="1096645"/>
            <a:ext cx="5822315" cy="4366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1477108" y="24955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5001" y="6355556"/>
              <a:ext cx="7854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9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zh-CN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GOOSE：</a:t>
            </a:r>
            <a:r>
              <a:rPr lang="zh-CN" altLang="en-US"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生成—评估—修改的迭代序列设计框架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56260" y="1057592"/>
                <a:ext cx="5080000" cy="473519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l">
                  <a:spcAft>
                    <a:spcPct val="60000"/>
                  </a:spcAft>
                  <a:buClrTx/>
                  <a:buSzTx/>
                  <a:buFontTx/>
                </a:pPr>
                <a:r>
                  <a:rPr lang="zh-CN" sz="1800" b="1" dirty="0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搜索空间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r>
                  <a:rPr lang="zh-CN" altLang="en-US" sz="1800" dirty="0"/>
                  <a:t>无法穷举</a:t>
                </a:r>
              </a:p>
              <a:p>
                <a:endParaRPr lang="zh-CN" altLang="en-US" sz="1800" dirty="0"/>
              </a:p>
              <a:p>
                <a:pPr algn="l">
                  <a:spcAft>
                    <a:spcPct val="60000"/>
                  </a:spcAft>
                  <a:buClrTx/>
                  <a:buSzTx/>
                  <a:buFontTx/>
                </a:pPr>
                <a:r>
                  <a:rPr lang="zh-CN" sz="1800" b="1" dirty="0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优化形式</a:t>
                </a:r>
              </a:p>
              <a:p>
                <a:pPr>
                  <a:spcAft>
                    <a:spcPct val="60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𝑆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|</m:t>
                      </m:r>
                    </m:oMath>
                  </m:oMathPara>
                </a14:m>
                <a:endParaRPr lang="en-US" altLang="zh-CN" sz="1600" dirty="0"/>
              </a:p>
              <a:p>
                <a:pPr algn="l">
                  <a:buClrTx/>
                  <a:buSzTx/>
                  <a:buFontTx/>
                </a:pPr>
                <a:r>
                  <a:rPr lang="zh-CN" altLang="en-US" sz="1800" dirty="0"/>
                  <a:t>其中：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r>
                      <a:rPr lang="zh-CN" sz="1800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𝑆</m:t>
                    </m:r>
                  </m:oMath>
                </a14:m>
                <a:r>
                  <a:rPr lang="zh-CN" sz="1800" dirty="0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：候选序列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r>
                      <a:rPr lang="zh-CN" sz="1800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𝑓</m:t>
                    </m:r>
                    <m:r>
                      <a:rPr lang="zh-CN" sz="1800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(</m:t>
                    </m:r>
                    <m:r>
                      <a:rPr lang="zh-CN" sz="1800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𝑆</m:t>
                    </m:r>
                    <m:r>
                      <a:rPr lang="zh-CN" sz="1800">
                        <a:solidFill>
                          <a:srgbClr val="153A2A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)</m:t>
                    </m:r>
                  </m:oMath>
                </a14:m>
                <a:r>
                  <a:rPr lang="zh-CN" sz="1800" dirty="0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：预测器给出的性质</a:t>
                </a:r>
              </a:p>
              <a:p>
                <a:pPr marL="285750" indent="-285750" algn="l">
                  <a:buClrTx/>
                  <a:buSzTx/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sz="1800" i="1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pPr>
                      <m:e>
                        <m:r>
                          <a:rPr lang="zh-CN" sz="1800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𝑦</m:t>
                        </m:r>
                      </m:e>
                      <m:sup>
                        <m:r>
                          <a:rPr lang="zh-CN" sz="1800">
                            <a:solidFill>
                              <a:srgbClr val="153A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sz="1800" dirty="0">
                    <a:solidFill>
                      <a:srgbClr val="153A2A"/>
                    </a:solidFill>
                    <a:latin typeface="Arial" panose="020B0604020202020204"/>
                    <a:ea typeface="微软雅黑" panose="020B0503020204020204" charset="-122"/>
                  </a:rPr>
                  <a:t>：目标值</a:t>
                </a:r>
              </a:p>
              <a:p>
                <a:endParaRPr lang="zh-CN" altLang="en-US" sz="1600" dirty="0"/>
              </a:p>
              <a:p>
                <a:pPr algn="l">
                  <a:spcAft>
                    <a:spcPct val="60000"/>
                  </a:spcAft>
                  <a:buClrTx/>
                  <a:buSzTx/>
                  <a:buFontTx/>
                </a:pPr>
                <a:r>
                  <a:rPr lang="zh-CN" sz="1800" b="1" dirty="0">
                    <a:solidFill>
                      <a:srgbClr val="007A3D"/>
                    </a:solidFill>
                    <a:latin typeface="Arial" panose="020B0604020202020204"/>
                    <a:ea typeface="微软雅黑" panose="020B0503020204020204" charset="-122"/>
                  </a:rPr>
                  <a:t>模块化特点</a:t>
                </a:r>
              </a:p>
              <a:p>
                <a:pPr algn="l">
                  <a:buClrTx/>
                  <a:buSzTx/>
                  <a:buFontTx/>
                </a:pPr>
                <a:r>
                  <a:rPr lang="zh-CN" altLang="en-US" sz="1800" dirty="0"/>
                  <a:t>搜索算法 + 可插拔目标函数 </a:t>
                </a:r>
                <a:endParaRPr lang="en-US" altLang="zh-CN" sz="1800" dirty="0"/>
              </a:p>
              <a:p>
                <a:pPr algn="l">
                  <a:buClrTx/>
                  <a:buSzTx/>
                  <a:buFontTx/>
                </a:pPr>
                <a:r>
                  <a:rPr lang="zh-CN" altLang="en-US" sz="1800" dirty="0"/>
                  <a:t>+ 生物物理预测器</a:t>
                </a: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" y="1057592"/>
                <a:ext cx="5080000" cy="4735195"/>
              </a:xfrm>
              <a:prstGeom prst="rect">
                <a:avLst/>
              </a:prstGeom>
              <a:blipFill>
                <a:blip r:embed="rId4"/>
                <a:stretch>
                  <a:fillRect l="-959" t="-644" b="-1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1015365"/>
            <a:ext cx="7883525" cy="443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322" y="1275763"/>
            <a:ext cx="5077092" cy="4982162"/>
          </a:xfrm>
          <a:prstGeom prst="rect">
            <a:avLst/>
          </a:prstGeom>
        </p:spPr>
      </p:pic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sp>
        <p:nvSpPr>
          <p:cNvPr id="32" name="TextBox 31"/>
          <p:cNvSpPr txBox="1"/>
          <p:nvPr/>
        </p:nvSpPr>
        <p:spPr>
          <a:xfrm>
            <a:off x="6629400" y="1308497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主要创新点：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400" dirty="0"/>
              <a:t>以往很多方法只能预测 回转半径、端到端距离等统计性质，或者生成较粗粒度的构象。</a:t>
            </a:r>
            <a:r>
              <a:rPr lang="en-US" altLang="zh-CN" sz="1400" dirty="0" err="1"/>
              <a:t>IDPFold</a:t>
            </a:r>
            <a:r>
              <a:rPr lang="zh-CN" altLang="en-US" sz="1400" dirty="0"/>
              <a:t>直接从单条氨基酸序列出发，生成残基主链级三维构象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29400" y="2683935"/>
            <a:ext cx="4956048" cy="11150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和</a:t>
            </a:r>
            <a:r>
              <a:rPr lang="en-US" altLang="zh-CN" sz="1400" dirty="0"/>
              <a:t>STARLING</a:t>
            </a:r>
            <a:r>
              <a:rPr lang="zh-CN" altLang="en-US" sz="1400" dirty="0"/>
              <a:t>都属于“</a:t>
            </a:r>
            <a:r>
              <a:rPr lang="en-US" altLang="zh-CN" sz="1400" dirty="0"/>
              <a:t>sequence → ensemble”</a:t>
            </a:r>
            <a:r>
              <a:rPr lang="zh-CN" altLang="en-US" sz="1400" dirty="0"/>
              <a:t>生成模型，但二者解决问题的侧重点不同：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强调主链级三维结构与局部几何；</a:t>
            </a:r>
            <a:r>
              <a:rPr lang="en-US" altLang="zh-CN" sz="1400" dirty="0"/>
              <a:t>STARLING</a:t>
            </a:r>
            <a:r>
              <a:rPr lang="zh-CN" altLang="en-US" sz="1400" dirty="0"/>
              <a:t>强调粗粒化</a:t>
            </a:r>
            <a:r>
              <a:rPr lang="en-US" altLang="zh-CN" sz="1400" dirty="0"/>
              <a:t>ensemble</a:t>
            </a:r>
            <a:r>
              <a:rPr lang="zh-CN" altLang="en-US" sz="1400" dirty="0"/>
              <a:t>的速度、分布覆盖和大规模应用。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299795"/>
            <a:ext cx="4956048" cy="15432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1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）生成的都是模拟的</a:t>
            </a:r>
            <a:r>
              <a:rPr lang="en-US" altLang="zh-CN" sz="1350" b="0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不是真实的</a:t>
            </a:r>
            <a:endParaRPr lang="en-US" altLang="zh-CN" sz="135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dirty="0">
                <a:solidFill>
                  <a:srgbClr val="153A2A"/>
                </a:solidFill>
                <a:latin typeface="Arial"/>
                <a:ea typeface="Microsoft YaHei"/>
              </a:rPr>
              <a:t>2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生成的是平衡构象样本，不是动态轨迹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3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都不是完整的全原子模型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4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环境条件描述仍然有限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15D7-02F0-42AC-D50B-7EA59C35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>
            <a:extLst>
              <a:ext uri="{FF2B5EF4-FFF2-40B4-BE49-F238E27FC236}">
                <a16:creationId xmlns:a16="http://schemas.microsoft.com/office/drawing/2014/main" id="{ADAC5BF9-78CE-87D7-1A7F-523F668DBEEB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>
              <a:extLst>
                <a:ext uri="{FF2B5EF4-FFF2-40B4-BE49-F238E27FC236}">
                  <a16:creationId xmlns:a16="http://schemas.microsoft.com/office/drawing/2014/main" id="{805ACBE5-07FC-64BB-E1A6-9188B9089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B614E6AB-3398-B5C8-7A4F-A1944B34E3FA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07B2E6E-2E70-51D1-9CBD-46C2A5181556}"/>
                </a:ext>
              </a:extLst>
            </p:cNvPr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123C47A-7799-D6F3-0072-5E8FA5D64F0F}"/>
              </a:ext>
            </a:extLst>
          </p:cNvPr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IDPFold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验证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07A6A5F5-624B-F2BE-9357-CD5D679A617E}"/>
              </a:ext>
            </a:extLst>
          </p:cNvPr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61AB30A-57FB-81EA-0811-F3BC9ABC6E60}"/>
              </a:ext>
            </a:extLst>
          </p:cNvPr>
          <p:cNvSpPr txBox="1"/>
          <p:nvPr/>
        </p:nvSpPr>
        <p:spPr>
          <a:xfrm>
            <a:off x="6632448" y="1094897"/>
            <a:ext cx="4956048" cy="1906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实验目的：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00" dirty="0"/>
              <a:t>验证</a:t>
            </a:r>
            <a:r>
              <a:rPr lang="en-US" altLang="zh-CN" sz="1200" dirty="0" err="1"/>
              <a:t>IDPFold</a:t>
            </a:r>
            <a:r>
              <a:rPr lang="zh-CN" altLang="en-US" sz="1200" dirty="0"/>
              <a:t>能否仅从氨基酸序列生成具有合理全局尺寸和局部结构的</a:t>
            </a:r>
            <a:r>
              <a:rPr lang="en-US" altLang="zh-CN" sz="1200" dirty="0"/>
              <a:t>IDP</a:t>
            </a:r>
            <a:r>
              <a:rPr lang="zh-CN" altLang="en-US" sz="1200" dirty="0"/>
              <a:t>构象</a:t>
            </a:r>
            <a:r>
              <a:rPr lang="en-US" altLang="zh-CN" sz="1200" dirty="0"/>
              <a:t>ensemble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实验结果：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altLang="zh-CN" sz="1200" dirty="0" err="1"/>
              <a:t>IDPFold</a:t>
            </a:r>
            <a:r>
              <a:rPr lang="zh-CN" altLang="en-US" sz="1200" dirty="0"/>
              <a:t>优于</a:t>
            </a:r>
            <a:r>
              <a:rPr lang="en-US" altLang="zh-CN" sz="1200" dirty="0" err="1"/>
              <a:t>idpGAN</a:t>
            </a:r>
            <a:r>
              <a:rPr lang="zh-CN" altLang="en-US" sz="1200" dirty="0"/>
              <a:t>，但</a:t>
            </a:r>
            <a:r>
              <a:rPr lang="en-US" altLang="zh-CN" sz="1200" dirty="0"/>
              <a:t>CALVADOS</a:t>
            </a:r>
            <a:r>
              <a:rPr lang="zh-CN" altLang="en-US" sz="1200" dirty="0"/>
              <a:t>平均值仍更接近实验；</a:t>
            </a:r>
            <a:r>
              <a:rPr lang="en-US" altLang="zh-CN" sz="1200" dirty="0" err="1"/>
              <a:t>IDPFold</a:t>
            </a:r>
            <a:r>
              <a:rPr lang="zh-CN" altLang="en-US" sz="1200" dirty="0"/>
              <a:t>与</a:t>
            </a:r>
            <a:r>
              <a:rPr lang="en-US" altLang="zh-CN" sz="1200" dirty="0"/>
              <a:t>CALVADOS</a:t>
            </a:r>
            <a:r>
              <a:rPr lang="zh-CN" altLang="en-US" sz="1200" dirty="0"/>
              <a:t>之间的差异未达到显著水平。</a:t>
            </a:r>
            <a:endParaRPr lang="en-US" altLang="zh-CN" sz="1200" dirty="0"/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实验结论：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altLang="zh-CN" sz="1200" dirty="0" err="1"/>
              <a:t>IDPFold</a:t>
            </a:r>
            <a:r>
              <a:rPr lang="zh-CN" altLang="en-US" sz="1200" dirty="0"/>
              <a:t>能够生成整体尺寸基本合理、具有一定局部结构信息的主链级构象集合。</a:t>
            </a:r>
            <a:endParaRPr lang="en-US" altLang="zh-CN" sz="120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endParaRPr lang="en-US" altLang="zh-CN" sz="120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altLang="zh-CN" sz="1200" dirty="0" err="1"/>
              <a:t>aaa</a:t>
            </a:r>
            <a:endParaRPr lang="en-US" altLang="zh-CN" sz="1200" dirty="0"/>
          </a:p>
          <a:p>
            <a:pPr>
              <a:lnSpc>
                <a:spcPct val="110000"/>
              </a:lnSpc>
              <a:spcAft>
                <a:spcPts val="400"/>
              </a:spcAft>
            </a:pP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82B404-8A37-F3FC-0D76-F8B64BD451D2}"/>
              </a:ext>
            </a:extLst>
          </p:cNvPr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917C24-3307-3C7D-C8E0-D1AF180CB0E0}"/>
              </a:ext>
            </a:extLst>
          </p:cNvPr>
          <p:cNvPicPr>
            <a:picLocks/>
          </p:cNvPicPr>
          <p:nvPr/>
        </p:nvPicPr>
        <p:blipFill>
          <a:blip r:embed="rId4"/>
          <a:srcRect l="11630" t="1169" r="11404" b="6496"/>
          <a:stretch>
            <a:fillRect/>
          </a:stretch>
        </p:blipFill>
        <p:spPr>
          <a:xfrm>
            <a:off x="761565" y="1308496"/>
            <a:ext cx="5657523" cy="46085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C0EF7E1-0C53-6CB9-F454-AA72034AB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3157493"/>
            <a:ext cx="5242077" cy="3149248"/>
          </a:xfrm>
          <a:prstGeom prst="rect">
            <a:avLst/>
          </a:prstGeom>
        </p:spPr>
      </p:pic>
      <p:sp>
        <p:nvSpPr>
          <p:cNvPr id="2" name="wash-7">
            <a:extLst>
              <a:ext uri="{FF2B5EF4-FFF2-40B4-BE49-F238E27FC236}">
                <a16:creationId xmlns:a16="http://schemas.microsoft.com/office/drawing/2014/main" id="{DBC0C9B8-C323-2B34-3373-6096DEDD555A}"/>
              </a:ext>
            </a:extLst>
          </p:cNvPr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</p:spTree>
    <p:extLst>
      <p:ext uri="{BB962C8B-B14F-4D97-AF65-F5344CB8AC3E}">
        <p14:creationId xmlns:p14="http://schemas.microsoft.com/office/powerpoint/2010/main" val="46390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2648" y="1152144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300" b="1" dirty="0">
                <a:solidFill>
                  <a:srgbClr val="007A3D"/>
                </a:solidFill>
                <a:latin typeface="Arial"/>
                <a:ea typeface="Microsoft YaHei"/>
              </a:rPr>
              <a:t>核心问题｜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不重做</a:t>
            </a:r>
            <a:r>
              <a:rPr lang="zh-CN" altLang="en-US" sz="1300" b="0" dirty="0">
                <a:solidFill>
                  <a:srgbClr val="153A2A"/>
                </a:solidFill>
                <a:latin typeface="Arial"/>
                <a:ea typeface="Microsoft YaHei"/>
              </a:rPr>
              <a:t>湿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实验，怎样判断模型生成的 ensemble 是否可信？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序列 + 条件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3328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81071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生成 ensemble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1751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9495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Arial"/>
                <a:ea typeface="Microsoft YaHei"/>
              </a:rPr>
              <a:t>forward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0175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19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预测实验观测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48599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6343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 dirty="0">
                <a:solidFill>
                  <a:srgbClr val="FFFFFF"/>
                </a:solidFill>
                <a:latin typeface="Arial"/>
                <a:ea typeface="Microsoft YaHei"/>
              </a:rPr>
              <a:t>held-out 公开数据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7023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54767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误差与置信区间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" y="2304287"/>
            <a:ext cx="10972800" cy="473709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2304287"/>
            <a:ext cx="54864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" y="2450591"/>
            <a:ext cx="10460736" cy="181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1" dirty="0">
                <a:solidFill>
                  <a:srgbClr val="007A3D"/>
                </a:solidFill>
                <a:latin typeface="Arial"/>
                <a:ea typeface="Microsoft YaHei"/>
              </a:rPr>
              <a:t>公开数据来源｜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SAXS / </a:t>
            </a:r>
            <a:r>
              <a:rPr lang="en-US" sz="1150" b="0" dirty="0">
                <a:solidFill>
                  <a:srgbClr val="153A2A"/>
                </a:solidFill>
                <a:latin typeface="Arial"/>
                <a:ea typeface="Microsoft YaHei"/>
              </a:rPr>
              <a:t>NMR / 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PRE / FRET / Rg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600" y="361713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>
            <a:cxnSpLocks/>
          </p:cNvCxnSpPr>
          <p:nvPr/>
        </p:nvCxnSpPr>
        <p:spPr>
          <a:xfrm>
            <a:off x="609600" y="3617139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09600" y="3251378"/>
            <a:ext cx="10972800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5904" y="361713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几何检查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3334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构象在结构上基本合理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3102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不能证明分布正确</a:t>
            </a:r>
          </a:p>
        </p:txBody>
      </p:sp>
      <p:cxnSp>
        <p:nvCxnSpPr>
          <p:cNvPr id="69" name="Connector 68"/>
          <p:cNvCxnSpPr>
            <a:cxnSpLocks/>
          </p:cNvCxnSpPr>
          <p:nvPr/>
        </p:nvCxnSpPr>
        <p:spPr>
          <a:xfrm flipV="1">
            <a:off x="609600" y="4095750"/>
            <a:ext cx="10975848" cy="73151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55904" y="4037897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 dirty="0">
                <a:solidFill>
                  <a:srgbClr val="007A3D"/>
                </a:solidFill>
                <a:latin typeface="Arial"/>
                <a:ea typeface="Microsoft YaHei"/>
              </a:rPr>
              <a:t>参考模拟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33344" y="4088763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与某种力场或生成器一致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31024" y="4079613"/>
            <a:ext cx="2969020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不能证明符合真实体系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600" y="444009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>
            <a:cxnSpLocks/>
          </p:cNvCxnSpPr>
          <p:nvPr/>
        </p:nvCxnSpPr>
        <p:spPr>
          <a:xfrm>
            <a:off x="612648" y="4580381"/>
            <a:ext cx="10969752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55904" y="444009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公开实验数据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33344" y="444009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对真实观测具有解释能力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31024" y="4440099"/>
            <a:ext cx="2747956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仍不能唯一确定 ensemble</a:t>
            </a:r>
          </a:p>
        </p:txBody>
      </p:sp>
      <p:cxnSp>
        <p:nvCxnSpPr>
          <p:cNvPr id="78" name="Connector 77"/>
          <p:cNvCxnSpPr>
            <a:cxnSpLocks/>
          </p:cNvCxnSpPr>
          <p:nvPr/>
        </p:nvCxnSpPr>
        <p:spPr>
          <a:xfrm flipV="1">
            <a:off x="664464" y="5114610"/>
            <a:ext cx="10863072" cy="1"/>
          </a:xfrm>
          <a:prstGeom prst="line">
            <a:avLst/>
          </a:prstGeom>
          <a:ln w="1270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2648" y="5546852"/>
            <a:ext cx="10972800" cy="51231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86968" y="5702300"/>
            <a:ext cx="10424160" cy="201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00" b="0" dirty="0">
                <a:solidFill>
                  <a:srgbClr val="FFFFFF"/>
                </a:solidFill>
                <a:latin typeface="Arial"/>
                <a:ea typeface="Microsoft YaHei"/>
              </a:rPr>
              <a:t>本页结论｜结论只能写成“与公开独立数据一致”，不能凭结构图或参考模拟宣称 ensemble 真实准确。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5904" y="3251378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证据等级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3334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能说明什么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3102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不能说明什么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  <p:txBody>
          <a:bodyPr/>
          <a:lstStyle/>
          <a:p>
            <a:endParaRPr/>
          </a:p>
        </p:txBody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13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LLPSense：从“序列预测”走向“条件依赖预测”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llp_fig1_main.png"/>
          <p:cNvPicPr>
            <a:picLocks noChangeAspect="1"/>
          </p:cNvPicPr>
          <p:nvPr/>
        </p:nvPicPr>
        <p:blipFill>
          <a:blip r:embed="rId4"/>
          <a:srcRect t="4980" r="24422" b="28500"/>
          <a:stretch>
            <a:fillRect/>
          </a:stretch>
        </p:blipFill>
        <p:spPr>
          <a:xfrm>
            <a:off x="731520" y="1392555"/>
            <a:ext cx="5253990" cy="32708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1520" y="5108702"/>
            <a:ext cx="5486400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666C68"/>
                </a:solidFill>
                <a:latin typeface="微软雅黑" panose="020B0503020204020204" charset="-122"/>
              </a:defRPr>
            </a:pPr>
            <a:r>
              <a:t>图 1｜序列信息与环境条件共同进入模型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1261872"/>
            <a:ext cx="4892040" cy="1078992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93992" y="1371600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先看领域中的“旧问题”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992" y="1700784"/>
            <a:ext cx="45628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8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过去的相分离预测常以序列为主要输入，但同一个蛋白在不同温度、盐浓度、酸碱度或蛋白浓度下，可能表现出不同的相分离行为。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2487168"/>
            <a:ext cx="4892040" cy="1078992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93992" y="2596896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这篇论文的核心推进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3992" y="2926080"/>
            <a:ext cx="45628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8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把“蛋白质序列”与“外部环境”同时纳入预测：先用 ProtT5 表征序列，再结合环境变量，由 XGBoost 输出特定条件下的相分离倾向。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9400" y="3712463"/>
            <a:ext cx="1554480" cy="1225296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93992" y="3822191"/>
            <a:ext cx="1225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序列表征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3992" y="4073905"/>
            <a:ext cx="122529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ProtT5</a:t>
            </a:r>
            <a:br/>
            <a:r>
              <a:t>把序列转成高维表示</a:t>
            </a:r>
            <a:br/>
            <a:r>
              <a:t>→ 更丰富的序列信息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93608" y="3712463"/>
            <a:ext cx="1554480" cy="1225296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58200" y="3822191"/>
            <a:ext cx="1225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环境变量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151375"/>
            <a:ext cx="122529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温度、酸碱度、盐、浓度等</a:t>
            </a:r>
            <a:br/>
            <a:r>
              <a:t>→ 描述条件依赖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57816" y="3712463"/>
            <a:ext cx="1563624" cy="1225296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22408" y="3822191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评测设计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22408" y="4151375"/>
            <a:ext cx="12344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按同源簇划分训练与测试</a:t>
            </a:r>
            <a:br/>
            <a:r>
              <a:t>→ 减少同源泄漏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9400" y="5138928"/>
            <a:ext cx="4892040" cy="658368"/>
          </a:xfrm>
          <a:prstGeom prst="roundRect">
            <a:avLst/>
          </a:prstGeom>
          <a:solidFill>
            <a:srgbClr val="EFF7F3"/>
          </a:solidFill>
          <a:ln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12280" y="5150485"/>
            <a:ext cx="4526280" cy="6343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研究方向：序列 → 功能 </a:t>
            </a:r>
          </a:p>
          <a:p>
            <a:pPr algn="ctr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进一步变成： 序列 + 环境 → 条件依赖行为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lstStyle/>
          <a:p>
            <a:endParaRPr/>
          </a:p>
        </p:txBody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rPr dirty="0"/>
                <a:t>1</a:t>
              </a:r>
              <a:r>
                <a:rPr lang="en-US" dirty="0"/>
                <a:t>4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LLPSense：不仅预测相分离，还验证了“条件依赖”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91566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666C68"/>
                </a:solidFill>
                <a:latin typeface="微软雅黑" panose="020B0503020204020204" charset="-122"/>
              </a:defRPr>
            </a:pPr>
            <a:r>
              <a:t>原文图 2｜模型筛选与 SGTA 条件依赖行为的实验验证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1225296"/>
            <a:ext cx="4892040" cy="102412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93992" y="1335024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模型表现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3992" y="1664208"/>
            <a:ext cx="4562855" cy="380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4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按同源簇进行五折交叉验证：</a:t>
            </a:r>
            <a:r>
              <a:rPr lang="en-US" altLang="zh-CN"/>
              <a:t>AUROC=</a:t>
            </a:r>
            <a:r>
              <a:t>0.77，</a:t>
            </a:r>
            <a:r>
              <a:rPr lang="en-US" altLang="zh-CN"/>
              <a:t>AUPRC=</a:t>
            </a:r>
            <a:r>
              <a:t> 0.74。说明模型在未见蛋白上仍有较好的区分能力。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29400" y="2395728"/>
            <a:ext cx="4892040" cy="118872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93992" y="2505456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关键验证：SGTA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3992" y="2834640"/>
            <a:ext cx="456285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模型预测 SGTA 存在随温度变化的非单调相分离行为；实验进一步用浊度和显微观察验证了温度、聚乙二醇浓度对相分离的影响。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3730752"/>
            <a:ext cx="4892040" cy="111556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93992" y="3840480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从“预测”走向“可调控”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3992" y="4169664"/>
            <a:ext cx="4562855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论文还展示了突变对 α-突触核蛋白相分离行为的预测，以及通过突变改变 UBQLN4 温度响应类型的概念验证。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9400" y="5010912"/>
            <a:ext cx="4892040" cy="896112"/>
          </a:xfrm>
          <a:prstGeom prst="roundRect">
            <a:avLst/>
          </a:prstGeom>
          <a:solidFill>
            <a:srgbClr val="EFF7F3"/>
          </a:solidFill>
          <a:ln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39712" y="5120640"/>
            <a:ext cx="44622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论文边界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9712" y="5404104"/>
            <a:ext cx="446227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5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它没有显式建模构象系综，因此还不能证明“构象分布 → 多价相互作用 → 相分离”的机制链。</a:t>
            </a:r>
          </a:p>
        </p:txBody>
      </p:sp>
      <p:pic>
        <p:nvPicPr>
          <p:cNvPr id="4" name="Picture 35" descr="LLPSense_Figure2_完整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95" y="1225550"/>
            <a:ext cx="5756910" cy="440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从“预测相分离”到“设计干预分子”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3895" y="1134110"/>
            <a:ext cx="3052445" cy="403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17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下一步有两条自然路线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1664208"/>
            <a:ext cx="3246120" cy="111556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1" y="1773936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方向一｜继续提高预测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" y="2103120"/>
            <a:ext cx="291693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在序列 + 环境的基础上加入构象系综，回答：</a:t>
            </a:r>
            <a:br/>
            <a:r>
              <a:t>“系综是否提供额外信息？”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96512" y="1664208"/>
            <a:ext cx="3246120" cy="1115568"/>
          </a:xfrm>
          <a:prstGeom prst="roundRect">
            <a:avLst/>
          </a:prstGeom>
          <a:solidFill>
            <a:srgbClr val="EFF7F3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61104" y="1773936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方向二｜直接进入工程设计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1104" y="2103120"/>
            <a:ext cx="291693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不只预测“会不会相分离”，而是进一步设计一个分子，主动改变凝聚体的空间组织和行为。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52944" y="1664208"/>
            <a:ext cx="3968496" cy="111556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17536" y="1773936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这篇论文选择方向二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7536" y="2103120"/>
            <a:ext cx="363931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因为设计目标可以直接量化为“界面定位 + 自相互作用”，最终还能用显微实验直接验证。</a:t>
            </a:r>
          </a:p>
        </p:txBody>
      </p:sp>
      <p:pic>
        <p:nvPicPr>
          <p:cNvPr id="46" name="Picture 45" descr="int_fig1_nocap.png"/>
          <p:cNvPicPr>
            <a:picLocks noChangeAspect="1"/>
          </p:cNvPicPr>
          <p:nvPr/>
        </p:nvPicPr>
        <p:blipFill>
          <a:blip r:embed="rId3"/>
          <a:srcRect b="5054"/>
          <a:stretch>
            <a:fillRect/>
          </a:stretch>
        </p:blipFill>
        <p:spPr>
          <a:xfrm>
            <a:off x="520700" y="2832100"/>
            <a:ext cx="6821805" cy="3077845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7552944" y="2999232"/>
            <a:ext cx="3968496" cy="91440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17536" y="3108960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第一步：定义“好肽”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7536" y="3438144"/>
            <a:ext cx="3639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不是让肽进入凝聚体内部，而是让它优先停留在凝聚体界面。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52944" y="4041648"/>
            <a:ext cx="3968496" cy="91440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17536" y="4151376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第二步：把目标变成两个指标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17536" y="4480560"/>
            <a:ext cx="3639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9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界面定位能力：p*int 越高越好。</a:t>
            </a:r>
            <a:br/>
            <a:r>
              <a:t>相同多肽之间的相互作用：B₂* 越高，越偏向排斥。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52944" y="5084064"/>
            <a:ext cx="3968496" cy="91440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17536" y="5193792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第三步：人工智能负责“学”，优化算法负责“找”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7536" y="5669025"/>
            <a:ext cx="3639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9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神经网络学习序列与性质的关系；混合整数线性规划在巨大序列空间中搜索候选序列。</a:t>
            </a:r>
          </a:p>
        </p:txBody>
      </p:sp>
      <p:grpSp>
        <p:nvGrpSpPr>
          <p:cNvPr id="3" name="footer-15">
            <a:extLst>
              <a:ext uri="{FF2B5EF4-FFF2-40B4-BE49-F238E27FC236}">
                <a16:creationId xmlns:a16="http://schemas.microsoft.com/office/drawing/2014/main" id="{F4931B3D-9323-A195-ED18-C165C60641C8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" name="Image 28">
              <a:extLst>
                <a:ext uri="{FF2B5EF4-FFF2-40B4-BE49-F238E27FC236}">
                  <a16:creationId xmlns:a16="http://schemas.microsoft.com/office/drawing/2014/main" id="{60FEEC18-6333-9946-7501-F21D63535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" name="Rectangle 29">
              <a:extLst>
                <a:ext uri="{FF2B5EF4-FFF2-40B4-BE49-F238E27FC236}">
                  <a16:creationId xmlns:a16="http://schemas.microsoft.com/office/drawing/2014/main" id="{B3D757AE-D004-1D45-1604-C6076D85A26E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30">
              <a:extLst>
                <a:ext uri="{FF2B5EF4-FFF2-40B4-BE49-F238E27FC236}">
                  <a16:creationId xmlns:a16="http://schemas.microsoft.com/office/drawing/2014/main" id="{4614ADF5-5BFF-B7DC-2DE6-DE498E41B05C}"/>
                </a:ext>
              </a:extLst>
            </p:cNvPr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rPr dirty="0"/>
                <a:t>1</a:t>
              </a:r>
              <a:r>
                <a:rPr lang="en-US" dirty="0"/>
                <a:t>5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界面多肽：从计算设计到实验验证，形成完整闭环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332" y="906318"/>
            <a:ext cx="7590431" cy="469332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143670" y="5577078"/>
            <a:ext cx="9904660" cy="914400"/>
          </a:xfrm>
          <a:prstGeom prst="roundRect">
            <a:avLst/>
          </a:prstGeom>
          <a:solidFill>
            <a:srgbClr val="EFF7F3"/>
          </a:solidFill>
          <a:ln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83304" y="5672736"/>
            <a:ext cx="185211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rPr dirty="0"/>
              <a:t>论文最终形成的闭环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90829" y="5990919"/>
            <a:ext cx="7037062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40" b="1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rPr dirty="0"/>
              <a:t>物理目标定义 → 分子模拟定量 → 人工智能学习 → 数学优化设计 → 显微实验验证 → 提炼设计规律</a:t>
            </a:r>
          </a:p>
        </p:txBody>
      </p:sp>
      <p:grpSp>
        <p:nvGrpSpPr>
          <p:cNvPr id="3" name="footer-15">
            <a:extLst>
              <a:ext uri="{FF2B5EF4-FFF2-40B4-BE49-F238E27FC236}">
                <a16:creationId xmlns:a16="http://schemas.microsoft.com/office/drawing/2014/main" id="{028C2619-9BED-FCC4-655A-686509C043CC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" name="Image 28">
              <a:extLst>
                <a:ext uri="{FF2B5EF4-FFF2-40B4-BE49-F238E27FC236}">
                  <a16:creationId xmlns:a16="http://schemas.microsoft.com/office/drawing/2014/main" id="{01935854-9509-51CD-373E-211395EAF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" name="Rectangle 29">
              <a:extLst>
                <a:ext uri="{FF2B5EF4-FFF2-40B4-BE49-F238E27FC236}">
                  <a16:creationId xmlns:a16="http://schemas.microsoft.com/office/drawing/2014/main" id="{51112586-6CD3-4C2F-F8CB-118CE3388279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30">
              <a:extLst>
                <a:ext uri="{FF2B5EF4-FFF2-40B4-BE49-F238E27FC236}">
                  <a16:creationId xmlns:a16="http://schemas.microsoft.com/office/drawing/2014/main" id="{1925484A-3F35-95C7-FAF8-50A20688191E}"/>
                </a:ext>
              </a:extLst>
            </p:cNvPr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rPr dirty="0"/>
                <a:t>1</a:t>
              </a:r>
              <a:r>
                <a:rPr lang="en-US" dirty="0"/>
                <a:t>6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AECDFB1B-E823-AC93-0F87-908E5069A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215" y="845669"/>
            <a:ext cx="7639318" cy="5968217"/>
          </a:xfrm>
          <a:prstGeom prst="rect">
            <a:avLst/>
          </a:prstGeom>
        </p:spPr>
      </p:pic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</a:t>
              </a:r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柔性 IDR 靶标的 binder 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网络结构图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7" name="TextBox 36"/>
          <p:cNvSpPr/>
          <p:nvPr/>
        </p:nvSpPr>
        <p:spPr>
          <a:xfrm>
            <a:off x="8179357" y="1250728"/>
            <a:ext cx="3047590" cy="473678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86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lnSpc>
                <a:spcPts val="1860"/>
              </a:lnSpc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联合生成 target 结合构象与 binder 主链。</a:t>
            </a:r>
          </a:p>
        </p:txBody>
      </p:sp>
      <p:sp>
        <p:nvSpPr>
          <p:cNvPr id="38" name="TextBox 37"/>
          <p:cNvSpPr/>
          <p:nvPr/>
        </p:nvSpPr>
        <p:spPr>
          <a:xfrm>
            <a:off x="8179357" y="2354961"/>
            <a:ext cx="3047590" cy="72199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 1｜Sequence-input RFdiffusion</a:t>
            </a:r>
          </a:p>
          <a:p>
            <a:pPr algn="l">
              <a:lnSpc>
                <a:spcPts val="1755"/>
              </a:lnSpc>
              <a:spcBef>
                <a:spcPts val="105"/>
              </a:spcBef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不提供 target 三维坐标，仅输入靶序列；</a:t>
            </a:r>
            <a:br>
              <a:rPr dirty="0"/>
            </a:b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与 binder 在扩散过程中共同成形。</a:t>
            </a:r>
          </a:p>
        </p:txBody>
      </p:sp>
      <p:grpSp>
        <p:nvGrpSpPr>
          <p:cNvPr id="16" name="TextBox 38"/>
          <p:cNvGrpSpPr/>
          <p:nvPr/>
        </p:nvGrpSpPr>
        <p:grpSpPr>
          <a:xfrm>
            <a:off x="8179357" y="3707511"/>
            <a:ext cx="3047589" cy="712375"/>
            <a:chOff x="6622542" y="3645503"/>
            <a:chExt cx="4962906" cy="712375"/>
          </a:xfrm>
        </p:grpSpPr>
        <p:sp>
          <p:nvSpPr>
            <p:cNvPr id="13" name="Freeform 13"/>
            <p:cNvSpPr/>
            <p:nvPr/>
          </p:nvSpPr>
          <p:spPr>
            <a:xfrm>
              <a:off x="6629400" y="3645503"/>
              <a:ext cx="4956048" cy="696658"/>
            </a:xfrm>
            <a:custGeom>
              <a:avLst/>
              <a:gdLst/>
              <a:ahLst/>
              <a:cxnLst/>
              <a:rect l="l" t="t" r="r" b="b"/>
              <a:pathLst>
                <a:path w="4956048" h="696658">
                  <a:moveTo>
                    <a:pt x="0" y="0"/>
                  </a:moveTo>
                  <a:lnTo>
                    <a:pt x="4956048" y="0"/>
                  </a:lnTo>
                  <a:lnTo>
                    <a:pt x="4956048" y="696658"/>
                  </a:lnTo>
                  <a:lnTo>
                    <a:pt x="0" y="69665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23049" y="3645508"/>
              <a:ext cx="183579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2｜二级结构条件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2542" y="3870960"/>
              <a:ext cx="260480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可指定 helix、β-strand 或 loop，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但不固定 target 的精确三维坐标。</a:t>
              </a: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8183568" y="5034634"/>
            <a:ext cx="3038736" cy="712370"/>
            <a:chOff x="6622542" y="4972626"/>
            <a:chExt cx="4962906" cy="712370"/>
          </a:xfrm>
        </p:grpSpPr>
        <p:sp>
          <p:nvSpPr>
            <p:cNvPr id="17" name="Freeform 17"/>
            <p:cNvSpPr/>
            <p:nvPr/>
          </p:nvSpPr>
          <p:spPr>
            <a:xfrm>
              <a:off x="6629400" y="4972717"/>
              <a:ext cx="4956048" cy="696563"/>
            </a:xfrm>
            <a:custGeom>
              <a:avLst/>
              <a:gdLst/>
              <a:ahLst/>
              <a:cxnLst/>
              <a:rect l="l" t="t" r="r" b="b"/>
              <a:pathLst>
                <a:path w="4956048" h="696563">
                  <a:moveTo>
                    <a:pt x="0" y="0"/>
                  </a:moveTo>
                  <a:lnTo>
                    <a:pt x="4956048" y="0"/>
                  </a:lnTo>
                  <a:lnTo>
                    <a:pt x="4956048" y="696563"/>
                  </a:lnTo>
                  <a:lnTo>
                    <a:pt x="0" y="696563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3049" y="4972626"/>
              <a:ext cx="297195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3｜Two-sided partial diffusion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2542" y="5198078"/>
              <a:ext cx="27569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对 target 与 binder 同时部分加噪，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在初始命中附近共同优化结合界面。</a:t>
              </a:r>
            </a:p>
          </p:txBody>
        </p:sp>
      </p:grpSp>
      <p:cxnSp>
        <p:nvCxnSpPr>
          <p:cNvPr id="33" name="Connector 32"/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F6EAF-7040-3A57-41DB-E78C130D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A60FEB7-63BC-23AF-1A03-EE5B55A80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88" y="4033075"/>
            <a:ext cx="9312310" cy="2619088"/>
          </a:xfrm>
          <a:prstGeom prst="rect">
            <a:avLst/>
          </a:prstGeom>
        </p:spPr>
      </p:pic>
      <p:grpSp>
        <p:nvGrpSpPr>
          <p:cNvPr id="31" name="footer-13">
            <a:extLst>
              <a:ext uri="{FF2B5EF4-FFF2-40B4-BE49-F238E27FC236}">
                <a16:creationId xmlns:a16="http://schemas.microsoft.com/office/drawing/2014/main" id="{2FAC3EBF-9F2C-83CD-6D56-C8F4B6F04D08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>
              <a:extLst>
                <a:ext uri="{FF2B5EF4-FFF2-40B4-BE49-F238E27FC236}">
                  <a16:creationId xmlns:a16="http://schemas.microsoft.com/office/drawing/2014/main" id="{52187B30-1960-7CCF-C523-13EFEDC46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B521C856-F8E1-B39F-E4D1-99272B47E854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2930659-5F09-9109-8AEF-556D2E69092D}"/>
                </a:ext>
              </a:extLst>
            </p:cNvPr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</a:t>
              </a:r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C2970EF-9163-1DC2-4FF4-523476267263}"/>
              </a:ext>
            </a:extLst>
          </p:cNvPr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柔性 IDR 靶标的 binder 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实验结果</a:t>
            </a:r>
            <a:r>
              <a:rPr lang="en-US" altLang="zh-CN" sz="2800" b="1" dirty="0">
                <a:solidFill>
                  <a:srgbClr val="153A2A"/>
                </a:solidFill>
                <a:latin typeface="Arial"/>
                <a:ea typeface="Microsoft YaHei"/>
              </a:rPr>
              <a:t>1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BD06AE-8341-7C32-12AC-31B112005407}"/>
              </a:ext>
            </a:extLst>
          </p:cNvPr>
          <p:cNvSpPr/>
          <p:nvPr/>
        </p:nvSpPr>
        <p:spPr>
          <a:xfrm>
            <a:off x="8134760" y="1318836"/>
            <a:ext cx="3047590" cy="2714239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实验目的：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  <a:cs typeface="Arial"/>
            </a:endParaRPr>
          </a:p>
          <a:p>
            <a:pPr>
              <a:lnSpc>
                <a:spcPts val="1755"/>
              </a:lnSpc>
            </a:pPr>
            <a:r>
              <a:rPr lang="zh-CN" altLang="en-US" sz="1400" dirty="0"/>
              <a:t>从“结合能力”和“结构准确性”两个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层面验证计算设计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ea typeface="Microsoft YaHei"/>
              </a:rPr>
              <a:t>实验结果：</a:t>
            </a:r>
            <a:endParaRPr lang="en-US" altLang="zh-CN" sz="1250" b="1" dirty="0">
              <a:solidFill>
                <a:srgbClr val="007A3D"/>
              </a:solidFill>
              <a:ea typeface="Microsoft YaHei"/>
            </a:endParaRPr>
          </a:p>
          <a:p>
            <a:pPr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ea typeface="Microsoft YaHei"/>
              </a:rPr>
              <a:t>均</a:t>
            </a:r>
            <a:r>
              <a:rPr lang="en-US" altLang="zh-CN" sz="1400" dirty="0"/>
              <a:t>Figure A–C</a:t>
            </a:r>
            <a:r>
              <a:rPr lang="zh-CN" altLang="en-US" sz="1400" dirty="0"/>
              <a:t>中的三种</a:t>
            </a:r>
            <a:r>
              <a:rPr lang="en-US" altLang="zh-CN" sz="1400" dirty="0"/>
              <a:t>amylin binder</a:t>
            </a:r>
            <a:r>
              <a:rPr lang="zh-CN" altLang="en-US" sz="1400" dirty="0"/>
              <a:t>均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获得纳摩尔级亲和力。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ea typeface="Microsoft YaHei"/>
              </a:rPr>
              <a:t>实验结论：</a:t>
            </a:r>
            <a:endParaRPr lang="en-US" altLang="zh-CN" sz="1250" b="1" dirty="0">
              <a:solidFill>
                <a:srgbClr val="007A3D"/>
              </a:solidFill>
              <a:ea typeface="Microsoft YaHei"/>
            </a:endParaRPr>
          </a:p>
          <a:p>
            <a:pPr>
              <a:lnSpc>
                <a:spcPts val="1755"/>
              </a:lnSpc>
            </a:pPr>
            <a:r>
              <a:rPr lang="zh-CN" altLang="en-US" sz="1400" dirty="0"/>
              <a:t>模型设计的</a:t>
            </a:r>
            <a:r>
              <a:rPr lang="en-US" altLang="zh-CN" sz="1400" dirty="0"/>
              <a:t>binder</a:t>
            </a:r>
            <a:r>
              <a:rPr lang="zh-CN" altLang="en-US" sz="1400" dirty="0"/>
              <a:t>能够在实验中结合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en-US" altLang="zh-CN" sz="1400" dirty="0"/>
              <a:t>amylin</a:t>
            </a:r>
            <a:r>
              <a:rPr lang="zh-CN" altLang="en-US" sz="1400" dirty="0"/>
              <a:t>，部分设计的实际结合结构也与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预测模型基本一致。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不同设计结合态均能产生具有较强亲和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力的</a:t>
            </a:r>
            <a:r>
              <a:rPr lang="en-US" altLang="zh-CN" sz="1400" dirty="0"/>
              <a:t>binder</a:t>
            </a:r>
            <a:r>
              <a:rPr lang="zh-CN" altLang="en-US" sz="1400" dirty="0"/>
              <a:t>。</a:t>
            </a:r>
            <a:endParaRPr lang="en-US" altLang="zh-CN" sz="1400" dirty="0"/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CE9C4824-5E5C-4727-6FE4-C8D3C22124F9}"/>
              </a:ext>
            </a:extLst>
          </p:cNvPr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>
            <a:extLst>
              <a:ext uri="{FF2B5EF4-FFF2-40B4-BE49-F238E27FC236}">
                <a16:creationId xmlns:a16="http://schemas.microsoft.com/office/drawing/2014/main" id="{44C72EE4-CFD0-2088-C7F0-975126877978}"/>
              </a:ext>
            </a:extLst>
          </p:cNvPr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C7C331-6BC4-6CF8-1C89-C0A0D5CCC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45" y="1032795"/>
            <a:ext cx="7263575" cy="290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9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2D38-AD14-CB0A-3D5A-58862853F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footer-13">
            <a:extLst>
              <a:ext uri="{FF2B5EF4-FFF2-40B4-BE49-F238E27FC236}">
                <a16:creationId xmlns:a16="http://schemas.microsoft.com/office/drawing/2014/main" id="{27380853-9763-3ABC-2171-2913CD5C453D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>
              <a:extLst>
                <a:ext uri="{FF2B5EF4-FFF2-40B4-BE49-F238E27FC236}">
                  <a16:creationId xmlns:a16="http://schemas.microsoft.com/office/drawing/2014/main" id="{5634A08C-1D3C-F009-E513-07D8D1CC1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69D63BFE-FDDC-DFA4-6D00-223420636D18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79634A5-CF71-1651-5B9E-C0A755A37D3B}"/>
                </a:ext>
              </a:extLst>
            </p:cNvPr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1</a:t>
              </a:r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97BE327-6E1F-87E9-11FA-6ECE004D4B38}"/>
              </a:ext>
            </a:extLst>
          </p:cNvPr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ea typeface="Microsoft YaHei"/>
              </a:rPr>
              <a:t>柔性 </a:t>
            </a:r>
            <a:r>
              <a:rPr lang="en-US" altLang="zh-CN" sz="2800" b="1" dirty="0">
                <a:solidFill>
                  <a:srgbClr val="153A2A"/>
                </a:solidFill>
                <a:ea typeface="Microsoft YaHei"/>
              </a:rPr>
              <a:t>IDR </a:t>
            </a:r>
            <a:r>
              <a:rPr lang="zh-CN" altLang="en-US" sz="2800" b="1" dirty="0">
                <a:solidFill>
                  <a:srgbClr val="153A2A"/>
                </a:solidFill>
                <a:ea typeface="Microsoft YaHei"/>
              </a:rPr>
              <a:t>靶标的</a:t>
            </a: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核心贡献、局限与未来方向</a:t>
            </a: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8D647C74-C6F4-9FB0-D15B-DF10DDF30229}"/>
              </a:ext>
            </a:extLst>
          </p:cNvPr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>
            <a:extLst>
              <a:ext uri="{FF2B5EF4-FFF2-40B4-BE49-F238E27FC236}">
                <a16:creationId xmlns:a16="http://schemas.microsoft.com/office/drawing/2014/main" id="{37DBFE15-A5A0-5F3E-F8EF-42A373753EDE}"/>
              </a:ext>
            </a:extLst>
          </p:cNvPr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sp>
        <p:nvSpPr>
          <p:cNvPr id="34" name="Rectangle 33"/>
          <p:cNvSpPr/>
          <p:nvPr/>
        </p:nvSpPr>
        <p:spPr>
          <a:xfrm>
            <a:off x="612648" y="1097280"/>
            <a:ext cx="10972800" cy="732790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2648" y="1097280"/>
            <a:ext cx="54864" cy="73279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6968" y="1243583"/>
            <a:ext cx="10424160" cy="5351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IDR 没有固定结构，并不意味着无法设计 binder</a:t>
            </a:r>
          </a:p>
          <a:p>
            <a:pPr>
              <a:lnSpc>
                <a:spcPct val="124000"/>
              </a:lnSpc>
            </a:pPr>
            <a:r>
              <a:rPr sz="1150" b="0" dirty="0">
                <a:solidFill>
                  <a:srgbClr val="5C6E63"/>
                </a:solidFill>
                <a:latin typeface="Arial"/>
                <a:ea typeface="Microsoft YaHei"/>
              </a:rPr>
              <a:t>该工作证明“柔性 IDR 可以设计 binder”；下一步的问题是：怎样利用完整 ensemble 提高设计可靠性与功能可控性。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" y="2049526"/>
            <a:ext cx="3480816" cy="316255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2648" y="2049526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6676" y="2365024"/>
            <a:ext cx="307848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153A2A"/>
                </a:solidFill>
                <a:latin typeface="Arial"/>
                <a:ea typeface="Microsoft YaHei"/>
              </a:rPr>
              <a:t>核心贡献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3816" y="2890774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13816" y="3027934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8408" y="2982214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① 从固定靶标扩展到柔性 IDR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不需要 target 三维结构，仅凭序列联合生成 target 结合态与 binder 主链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" y="3762311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" y="3716591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② 柔性靶标设计策略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target 二级结构条件、target–binder 联合扩散、two-sided partial diffusion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" y="4496689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8408" y="4450969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③ 多层实验验证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纳摩尔级亲和力、与设计一致的晶体结构、细胞内 target engagement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58640" y="2049526"/>
            <a:ext cx="3480816" cy="316255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358640" y="2049526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82668" y="2347405"/>
            <a:ext cx="307848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153A2A"/>
                </a:solidFill>
                <a:latin typeface="Arial"/>
                <a:ea typeface="Microsoft YaHei"/>
              </a:rPr>
              <a:t>局限性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559808" y="2890774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559808" y="3027934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24400" y="2982214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① 未显式使用自由态 ensemble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直接生成一个结合态，未评估其出现概率、可达性与构象重组代价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9808" y="3762311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24400" y="3716591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② 主要针对单一结合态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能否结合多构象、只选特定功能状态、应对环境构象变化，仍不清楚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59808" y="4496689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24400" y="4450969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③ 仍依赖大量生成与筛选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尚不能预判哪些候选会成功，计算评分与实验亲和力的关系也未建立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98536" y="2049526"/>
            <a:ext cx="3480816" cy="316255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04632" y="2049526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05800" y="2344928"/>
            <a:ext cx="307848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153A2A"/>
                </a:solidFill>
                <a:latin typeface="Arial"/>
                <a:ea typeface="Microsoft YaHei"/>
              </a:rPr>
              <a:t>未来展望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305800" y="2890774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8305800" y="3027934"/>
            <a:ext cx="45720" cy="471296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70392" y="2982214"/>
            <a:ext cx="2913888" cy="5627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189"/>
              </a:spcAft>
            </a:pPr>
            <a:r>
              <a:rPr sz="1181" b="1">
                <a:solidFill>
                  <a:srgbClr val="153A2A"/>
                </a:solidFill>
                <a:latin typeface="Arial"/>
                <a:ea typeface="Microsoft YaHei"/>
              </a:rPr>
              <a:t>① Ensemble-aware 排序</a:t>
            </a:r>
          </a:p>
          <a:p>
            <a:pPr>
              <a:lnSpc>
                <a:spcPct val="122000"/>
              </a:lnSpc>
            </a:pPr>
            <a:r>
              <a:rPr sz="1087" b="0">
                <a:solidFill>
                  <a:srgbClr val="5C6E63"/>
                </a:solidFill>
                <a:latin typeface="Arial"/>
                <a:ea typeface="Microsoft YaHei"/>
              </a:rPr>
              <a:t>用 STARLING / IDPFold 生成自由态 ensemble，评价结合态可达性并加入候选重排序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11662" y="4123838"/>
            <a:ext cx="45720" cy="471296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08492" y="4049511"/>
            <a:ext cx="2913888" cy="619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 dirty="0">
                <a:solidFill>
                  <a:srgbClr val="153A2A"/>
                </a:solidFill>
                <a:latin typeface="Arial"/>
                <a:ea typeface="Microsoft YaHei"/>
              </a:rPr>
              <a:t>② 多构象与状态选择性设计</a:t>
            </a:r>
          </a:p>
          <a:p>
            <a:pPr>
              <a:lnSpc>
                <a:spcPct val="122000"/>
              </a:lnSpc>
            </a:pPr>
            <a:r>
              <a:rPr sz="1150" b="0" dirty="0">
                <a:solidFill>
                  <a:srgbClr val="5C6E63"/>
                </a:solidFill>
                <a:latin typeface="Arial"/>
                <a:ea typeface="Microsoft YaHei"/>
              </a:rPr>
              <a:t>设计跨构象稳定结合的 binder，或选择性稳定某个功能相关构象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" y="5431536"/>
            <a:ext cx="10972800" cy="6722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86968" y="5577840"/>
            <a:ext cx="10424160" cy="3796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50" b="1">
                <a:solidFill>
                  <a:srgbClr val="FFFFFF"/>
                </a:solidFill>
                <a:latin typeface="Arial"/>
                <a:ea typeface="Microsoft YaHei"/>
              </a:rPr>
              <a:t>最可行的切入点｜</a:t>
            </a:r>
            <a:r>
              <a:rPr sz="1350" b="0">
                <a:solidFill>
                  <a:srgbClr val="FFFFFF"/>
                </a:solidFill>
                <a:latin typeface="Arial"/>
                <a:ea typeface="Microsoft YaHei"/>
              </a:rPr>
              <a:t>用 IDPFold 或 STARLING 生成自由态 ensemble，对现有 binder 候选做可达性评分与重新排序。</a:t>
            </a:r>
          </a:p>
          <a:p>
            <a:pPr>
              <a:lnSpc>
                <a:spcPct val="122000"/>
              </a:lnSpc>
            </a:pPr>
            <a:r>
              <a:rPr sz="1100" b="0">
                <a:solidFill>
                  <a:srgbClr val="D2E9DB"/>
                </a:solidFill>
                <a:latin typeface="Arial"/>
                <a:ea typeface="Microsoft YaHei"/>
              </a:rPr>
              <a:t>无需重新训练 RFdiffusion，也不依赖立即开展湿实验；先验证自由态 ensemble 是否为 binder 成功率提供额外预测信息。</a:t>
            </a:r>
          </a:p>
        </p:txBody>
      </p:sp>
    </p:spTree>
    <p:extLst>
      <p:ext uri="{BB962C8B-B14F-4D97-AF65-F5344CB8AC3E}">
        <p14:creationId xmlns:p14="http://schemas.microsoft.com/office/powerpoint/2010/main" val="172877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20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 dirty="0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zh-CN" altLang="en-US" sz="1200" b="0" dirty="0">
                <a:solidFill>
                  <a:srgbClr val="153A2A"/>
                </a:solidFill>
                <a:latin typeface="Arial"/>
                <a:ea typeface="Microsoft YaHei"/>
              </a:rPr>
              <a:t>构象是否可达</a:t>
            </a:r>
            <a:endParaRPr lang="en-US" altLang="zh-CN" sz="120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24000"/>
              </a:lnSpc>
            </a:pPr>
            <a:r>
              <a:rPr lang="zh-CN" altLang="en-US" sz="1200" dirty="0">
                <a:solidFill>
                  <a:srgbClr val="153A2A"/>
                </a:solidFill>
                <a:latin typeface="Arial"/>
                <a:ea typeface="Microsoft YaHei"/>
              </a:rPr>
              <a:t>能否泛化</a:t>
            </a:r>
            <a:endParaRPr lang="en-US" altLang="zh-CN" sz="120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24000"/>
              </a:lnSpc>
            </a:pPr>
            <a:endParaRPr sz="120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zh-CN" altLang="en-US" sz="1200" b="0" dirty="0">
                <a:solidFill>
                  <a:srgbClr val="007A3D"/>
                </a:solidFill>
                <a:latin typeface="Arial"/>
                <a:ea typeface="Microsoft YaHei"/>
              </a:rPr>
              <a:t>加入自由态</a:t>
            </a:r>
            <a:r>
              <a:rPr lang="en-US" altLang="zh-CN" sz="1200" b="0" dirty="0">
                <a:solidFill>
                  <a:srgbClr val="007A3D"/>
                </a:solidFill>
                <a:latin typeface="Arial"/>
                <a:ea typeface="Microsoft YaHei"/>
              </a:rPr>
              <a:t>ensemble</a:t>
            </a:r>
            <a:r>
              <a:rPr lang="zh-CN" altLang="en-US" sz="1200" b="0" dirty="0">
                <a:solidFill>
                  <a:srgbClr val="007A3D"/>
                </a:solidFill>
                <a:latin typeface="Arial"/>
                <a:ea typeface="Microsoft YaHei"/>
              </a:rPr>
              <a:t>信息是否可以更准确的识别</a:t>
            </a:r>
            <a:r>
              <a:rPr lang="en-US" altLang="zh-CN" sz="1200" b="0" dirty="0">
                <a:solidFill>
                  <a:srgbClr val="007A3D"/>
                </a:solidFill>
                <a:latin typeface="Arial"/>
                <a:ea typeface="Microsoft YaHei"/>
              </a:rPr>
              <a:t>binder</a:t>
            </a:r>
            <a:endParaRPr sz="1200" b="0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65728" y="6355556"/>
              <a:ext cx="15709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Arial"/>
                  <a:ea typeface="Microsoft YaHei"/>
                </a:rPr>
                <a:t>21</a:t>
              </a:r>
              <a:endParaRPr sz="1100" b="1" dirty="0">
                <a:solidFill>
                  <a:srgbClr val="FFFFFF"/>
                </a:solidFill>
                <a:latin typeface="Arial"/>
                <a:ea typeface="Microsoft YaHei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未来可能的研究方向：</a:t>
            </a: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6552" y="2493266"/>
            <a:ext cx="5623560" cy="77482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6552" y="2493266"/>
            <a:ext cx="54864" cy="77482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7720" y="2612137"/>
            <a:ext cx="5349240" cy="651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 dirty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521011"/>
            <a:ext cx="5623560" cy="83946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521012"/>
            <a:ext cx="100584" cy="83946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639884"/>
            <a:ext cx="5349240" cy="5327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 dirty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007A3D"/>
                </a:solidFill>
                <a:latin typeface="Arial"/>
                <a:ea typeface="Microsoft YaHei"/>
              </a:rPr>
              <a:t>二</a:t>
            </a:r>
            <a:r>
              <a:rPr lang="zh-CN" altLang="en-US" sz="1550" b="1" dirty="0">
                <a:solidFill>
                  <a:srgbClr val="007A3D"/>
                </a:solidFill>
                <a:latin typeface="Arial"/>
                <a:ea typeface="Microsoft YaHei"/>
              </a:rPr>
              <a:t>、</a:t>
            </a:r>
            <a:r>
              <a:rPr lang="en-US" altLang="zh-CN" sz="1550" b="1" dirty="0">
                <a:solidFill>
                  <a:srgbClr val="007A3D"/>
                </a:solidFill>
                <a:latin typeface="Arial"/>
                <a:ea typeface="Microsoft YaHei"/>
              </a:rPr>
              <a:t> </a:t>
            </a:r>
            <a:r>
              <a:rPr lang="zh-CN" altLang="en-US" sz="1550" b="1" dirty="0">
                <a:solidFill>
                  <a:srgbClr val="007A3D"/>
                </a:solidFill>
                <a:latin typeface="Arial"/>
                <a:ea typeface="Microsoft YaHei"/>
              </a:rPr>
              <a:t>结果解释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89427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907585"/>
            <a:ext cx="3934734" cy="11419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M2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</a:rPr>
              <a:t>M1</a:t>
            </a:r>
            <a:endParaRPr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22000"/>
              </a:lnSpc>
            </a:pPr>
            <a:r>
              <a:rPr lang="zh-CN" altLang="en-US" sz="1250" dirty="0">
                <a:solidFill>
                  <a:srgbClr val="153A2A"/>
                </a:solidFill>
                <a:latin typeface="Arial"/>
                <a:ea typeface="Microsoft YaHei"/>
              </a:rPr>
              <a:t>说明加入环境条件可以带来增益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29400" y="241243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475262"/>
            <a:ext cx="3934734" cy="6238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</a:rPr>
              <a:t>M2</a:t>
            </a:r>
            <a:endParaRPr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22000"/>
              </a:lnSpc>
            </a:pP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说明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有着自己的信息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629400" y="293059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994060"/>
            <a:ext cx="4608576" cy="5183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泛化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在新的蛋白以及新的环境中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依旧优于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M2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证明有不错的泛化能力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629400" y="3448751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570246"/>
            <a:ext cx="3934734" cy="6568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生成的结构依然可以证明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M2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16664"/>
            <a:ext cx="10497312" cy="8384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 dirty="0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lang="zh-CN" altLang="en-US" sz="1400" dirty="0"/>
              <a:t>支持：只有当</a:t>
            </a:r>
            <a:r>
              <a:rPr lang="en-US" altLang="zh-CN" sz="1400" dirty="0"/>
              <a:t>M3</a:t>
            </a:r>
            <a:r>
              <a:rPr lang="zh-CN" altLang="en-US" sz="1400" dirty="0"/>
              <a:t>在未见蛋白、新环境和不同生成器下仍稳定优于</a:t>
            </a:r>
            <a:r>
              <a:rPr lang="en-US" altLang="zh-CN" sz="1400" dirty="0"/>
              <a:t>M2</a:t>
            </a:r>
            <a:r>
              <a:rPr lang="zh-CN" altLang="en-US" sz="1400" dirty="0"/>
              <a:t>，才能说明</a:t>
            </a:r>
            <a:r>
              <a:rPr lang="en-US" altLang="zh-CN" sz="1400" dirty="0"/>
              <a:t>ensemble</a:t>
            </a:r>
            <a:r>
              <a:rPr lang="zh-CN" altLang="en-US" sz="1400" dirty="0"/>
              <a:t>提供了额外信息。</a:t>
            </a:r>
            <a:endParaRPr lang="en-US" altLang="zh-CN" sz="1400" dirty="0"/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lang="zh-CN" altLang="en-US" sz="1400" b="0" dirty="0">
                <a:solidFill>
                  <a:srgbClr val="5C6E63"/>
                </a:solidFill>
                <a:latin typeface="Arial"/>
                <a:ea typeface="Microsoft YaHei"/>
              </a:rPr>
              <a:t>不支持：只有训练数据有提升或者只有某个生成器生成的有提升。</a:t>
            </a:r>
            <a:endParaRPr sz="1250" b="0" dirty="0">
              <a:solidFill>
                <a:srgbClr val="5C6E63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0" t="1008" r="16790" b="-802"/>
          <a:stretch>
            <a:fillRect/>
          </a:stretch>
        </p:blipFill>
        <p:spPr>
          <a:xfrm>
            <a:off x="-186267" y="0"/>
            <a:ext cx="12564534" cy="7067550"/>
          </a:xfrm>
          <a:prstGeom prst="rect">
            <a:avLst/>
          </a:prstGeom>
          <a:gradFill>
            <a:gsLst>
              <a:gs pos="10000">
                <a:schemeClr val="accent6">
                  <a:lumMod val="90000"/>
                </a:schemeClr>
              </a:gs>
              <a:gs pos="100000">
                <a:schemeClr val="bg1">
                  <a:alpha val="0"/>
                </a:schemeClr>
              </a:gs>
              <a:gs pos="48000">
                <a:schemeClr val="bg1">
                  <a:alpha val="50000"/>
                </a:schemeClr>
              </a:gs>
            </a:gsLst>
            <a:lin ang="5400000" scaled="1"/>
          </a:gradFill>
          <a:ln w="0">
            <a:noFill/>
          </a:ln>
        </p:spPr>
      </p:pic>
      <p:sp>
        <p:nvSpPr>
          <p:cNvPr id="5" name="矩形 4"/>
          <p:cNvSpPr/>
          <p:nvPr/>
        </p:nvSpPr>
        <p:spPr>
          <a:xfrm>
            <a:off x="-186266" y="0"/>
            <a:ext cx="12564533" cy="5676900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0"/>
                  <a:lumOff val="100000"/>
                  <a:alpha val="0"/>
                </a:srgbClr>
              </a:gs>
              <a:gs pos="26000">
                <a:schemeClr val="bg1">
                  <a:alpha val="70000"/>
                </a:schemeClr>
              </a:gs>
              <a:gs pos="79000">
                <a:schemeClr val="bg1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0576" y="72762"/>
            <a:ext cx="12058933" cy="369449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715967" y="3038540"/>
            <a:ext cx="27600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kern="8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谢谢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4281032" y="3423261"/>
            <a:ext cx="52203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388936" y="3423261"/>
            <a:ext cx="52203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7232</Words>
  <Application>Microsoft Office PowerPoint</Application>
  <PresentationFormat>宽屏</PresentationFormat>
  <Paragraphs>461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华文行楷</vt:lpstr>
      <vt:lpstr>Microsoft YaHei</vt:lpstr>
      <vt:lpstr>Arial</vt:lpstr>
      <vt:lpstr>Calibri</vt:lpstr>
      <vt:lpstr>Cambria Math</vt:lpstr>
      <vt:lpstr>Wingdings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92</cp:revision>
  <dcterms:created xsi:type="dcterms:W3CDTF">2026-09-25T08:55:11Z</dcterms:created>
  <dcterms:modified xsi:type="dcterms:W3CDTF">2026-09-29T03:07:48Z</dcterms:modified>
  <cp:category/>
  <cp:contentStatus/>
  <dc:language>zh-CN</dc:language>
</cp:coreProperties>
</file>